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Lst>
  <p:sldIdLst>
    <p:sldId id="256" r:id="rId3"/>
    <p:sldId id="257" r:id="rId4"/>
    <p:sldId id="258" r:id="rId5"/>
    <p:sldId id="259" r:id="rId6"/>
    <p:sldId id="260" r:id="rId7"/>
    <p:sldId id="261" r:id="rId8"/>
    <p:sldId id="262" r:id="rId9"/>
    <p:sldId id="263" r:id="rId10"/>
    <p:sldId id="265" r:id="rId11"/>
    <p:sldId id="264"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537" r:id="rId26"/>
    <p:sldId id="279" r:id="rId27"/>
    <p:sldId id="539" r:id="rId28"/>
    <p:sldId id="538" r:id="rId29"/>
    <p:sldId id="540" r:id="rId30"/>
    <p:sldId id="541" r:id="rId31"/>
    <p:sldId id="542" r:id="rId32"/>
    <p:sldId id="543" r:id="rId33"/>
    <p:sldId id="544" r:id="rId34"/>
    <p:sldId id="545" r:id="rId35"/>
    <p:sldId id="546"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38" d="100"/>
          <a:sy n="38" d="100"/>
        </p:scale>
        <p:origin x="204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22ACB3-F48E-46B7-B1B6-7F4378D3FB34}" type="datetimeFigureOut">
              <a:rPr lang="en-US" smtClean="0"/>
              <a:t>1/4/2025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1665571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22ACB3-F48E-46B7-B1B6-7F4378D3FB34}" type="datetimeFigureOut">
              <a:rPr lang="en-US" smtClean="0"/>
              <a:t>1/4/2025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2891070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22ACB3-F48E-46B7-B1B6-7F4378D3FB34}" type="datetimeFigureOut">
              <a:rPr lang="en-US" smtClean="0"/>
              <a:t>1/4/2025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314661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22ACB3-F48E-46B7-B1B6-7F4378D3FB34}" type="datetimeFigureOut">
              <a:rPr lang="en-US" smtClean="0"/>
              <a:t>1/4/2025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44008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22ACB3-F48E-46B7-B1B6-7F4378D3FB34}" type="datetimeFigureOut">
              <a:rPr lang="en-US" smtClean="0"/>
              <a:t>1/4/2025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1053654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22ACB3-F48E-46B7-B1B6-7F4378D3FB34}" type="datetimeFigureOut">
              <a:rPr lang="en-US" smtClean="0"/>
              <a:t>1/4/2025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1801791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22ACB3-F48E-46B7-B1B6-7F4378D3FB34}" type="datetimeFigureOut">
              <a:rPr lang="en-US" smtClean="0"/>
              <a:t>1/4/2025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986975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22ACB3-F48E-46B7-B1B6-7F4378D3FB34}" type="datetimeFigureOut">
              <a:rPr lang="en-US" smtClean="0"/>
              <a:t>1/4/2025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3220865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22ACB3-F48E-46B7-B1B6-7F4378D3FB34}" type="datetimeFigureOut">
              <a:rPr lang="en-US" smtClean="0"/>
              <a:t>1/4/2025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2429922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22ACB3-F48E-46B7-B1B6-7F4378D3FB34}" type="datetimeFigureOut">
              <a:rPr lang="en-US" smtClean="0"/>
              <a:t>1/4/2025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3502926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22ACB3-F48E-46B7-B1B6-7F4378D3FB34}" type="datetimeFigureOut">
              <a:rPr lang="en-US" smtClean="0"/>
              <a:t>1/4/2025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02F1B5F-5405-4D6A-84F0-B81B5FCDB19A}"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19718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022ACB3-F48E-46B7-B1B6-7F4378D3FB34}" type="datetimeFigureOut">
              <a:rPr lang="en-US" smtClean="0"/>
              <a:t>1/4/2025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3462514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022ACB3-F48E-46B7-B1B6-7F4378D3FB34}" type="datetimeFigureOut">
              <a:rPr lang="en-US" smtClean="0"/>
              <a:t>1/4/2025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2F1B5F-5405-4D6A-84F0-B81B5FCDB19A}"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794351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022ACB3-F48E-46B7-B1B6-7F4378D3FB34}" type="datetimeFigureOut">
              <a:rPr lang="en-US" smtClean="0"/>
              <a:t>1/4/2025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18488159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22ACB3-F48E-46B7-B1B6-7F4378D3FB34}" type="datetimeFigureOut">
              <a:rPr lang="en-US" smtClean="0"/>
              <a:t>1/4/2025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40085916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22ACB3-F48E-46B7-B1B6-7F4378D3FB34}" type="datetimeFigureOut">
              <a:rPr lang="en-US" smtClean="0"/>
              <a:t>1/4/2025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02F1B5F-5405-4D6A-84F0-B81B5FCDB19A}" type="slidenum">
              <a:rPr lang="en-US" smtClean="0"/>
              <a:t>‹#›</a:t>
            </a:fld>
            <a:endParaRPr lang="en-US"/>
          </a:p>
        </p:txBody>
      </p:sp>
    </p:spTree>
    <p:extLst>
      <p:ext uri="{BB962C8B-B14F-4D97-AF65-F5344CB8AC3E}">
        <p14:creationId xmlns:p14="http://schemas.microsoft.com/office/powerpoint/2010/main" val="3055802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889" y="2514601"/>
            <a:ext cx="880060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889" y="4777381"/>
            <a:ext cx="880060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Liang, Introduction to Java Programming, Ninth Edition, (c) 2013 Pearson Education, Inc. All rights reserved. </a:t>
            </a:r>
          </a:p>
        </p:txBody>
      </p:sp>
      <p:sp>
        <p:nvSpPr>
          <p:cNvPr id="9" name="Freeform 8"/>
          <p:cNvSpPr/>
          <p:nvPr/>
        </p:nvSpPr>
        <p:spPr bwMode="auto">
          <a:xfrm>
            <a:off x="-42292" y="4321159"/>
            <a:ext cx="1860631"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564445" y="4529542"/>
            <a:ext cx="779971" cy="365125"/>
          </a:xfrm>
        </p:spPr>
        <p:txBody>
          <a:bodyPr/>
          <a:lstStyle/>
          <a:p>
            <a:pPr>
              <a:defRPr/>
            </a:pPr>
            <a:fld id="{13A72901-9E9E-4505-89F0-AF548C90FB9E}" type="slidenum">
              <a:rPr lang="en-US" altLang="en-US" smtClean="0"/>
              <a:pPr>
                <a:defRPr/>
              </a:pPr>
              <a:t>‹#›</a:t>
            </a:fld>
            <a:endParaRPr lang="en-US" altLang="en-US"/>
          </a:p>
        </p:txBody>
      </p:sp>
    </p:spTree>
    <p:extLst>
      <p:ext uri="{BB962C8B-B14F-4D97-AF65-F5344CB8AC3E}">
        <p14:creationId xmlns:p14="http://schemas.microsoft.com/office/powerpoint/2010/main" val="33571342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3602" y="624110"/>
            <a:ext cx="87855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888" y="2133600"/>
            <a:ext cx="8789313"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a:defRPr/>
            </a:pPr>
            <a:fld id="{5BD68175-1EB6-4BF6-BC2F-CB9A64C7E904}" type="slidenum">
              <a:rPr lang="en-US" altLang="en-US" smtClean="0"/>
              <a:pPr>
                <a:defRPr/>
              </a:pPr>
              <a:t>‹#›</a:t>
            </a:fld>
            <a:endParaRPr lang="en-US" altLang="en-US"/>
          </a:p>
        </p:txBody>
      </p:sp>
    </p:spTree>
    <p:extLst>
      <p:ext uri="{BB962C8B-B14F-4D97-AF65-F5344CB8AC3E}">
        <p14:creationId xmlns:p14="http://schemas.microsoft.com/office/powerpoint/2010/main" val="22654533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888" y="2074562"/>
            <a:ext cx="8789313"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888" y="3581400"/>
            <a:ext cx="8789313"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11"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pPr>
              <a:defRPr/>
            </a:pPr>
            <a:fld id="{D786CDD4-EDEA-4628-8458-C50FBCC4AC69}" type="slidenum">
              <a:rPr lang="en-US" altLang="en-US" smtClean="0"/>
              <a:pPr>
                <a:defRPr/>
              </a:pPr>
              <a:t>‹#›</a:t>
            </a:fld>
            <a:endParaRPr lang="en-US" altLang="en-US"/>
          </a:p>
        </p:txBody>
      </p:sp>
    </p:spTree>
    <p:extLst>
      <p:ext uri="{BB962C8B-B14F-4D97-AF65-F5344CB8AC3E}">
        <p14:creationId xmlns:p14="http://schemas.microsoft.com/office/powerpoint/2010/main" val="12225718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889" y="2136707"/>
            <a:ext cx="4263375"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16410" y="2136707"/>
            <a:ext cx="426279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p>
        </p:txBody>
      </p:sp>
      <p:sp>
        <p:nvSpPr>
          <p:cNvPr id="9"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681637" y="787784"/>
            <a:ext cx="779971" cy="365125"/>
          </a:xfrm>
        </p:spPr>
        <p:txBody>
          <a:bodyPr/>
          <a:lstStyle/>
          <a:p>
            <a:pPr>
              <a:defRPr/>
            </a:pPr>
            <a:fld id="{39A4FFC8-03FC-4D76-8B19-F460126D5B32}" type="slidenum">
              <a:rPr lang="en-US" altLang="en-US" smtClean="0"/>
              <a:pPr>
                <a:defRPr/>
              </a:pPr>
              <a:t>‹#›</a:t>
            </a:fld>
            <a:endParaRPr lang="en-US" altLang="en-US"/>
          </a:p>
        </p:txBody>
      </p:sp>
    </p:spTree>
    <p:extLst>
      <p:ext uri="{BB962C8B-B14F-4D97-AF65-F5344CB8AC3E}">
        <p14:creationId xmlns:p14="http://schemas.microsoft.com/office/powerpoint/2010/main" val="41813946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020469" y="2226626"/>
            <a:ext cx="383279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887" y="2802889"/>
            <a:ext cx="4263376"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41540" y="2223398"/>
            <a:ext cx="383098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11620" y="2799661"/>
            <a:ext cx="4260907"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endParaRPr lang="en-US"/>
          </a:p>
        </p:txBody>
      </p:sp>
      <p:sp>
        <p:nvSpPr>
          <p:cNvPr id="11"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681637" y="787784"/>
            <a:ext cx="779971" cy="365125"/>
          </a:xfrm>
        </p:spPr>
        <p:txBody>
          <a:bodyPr/>
          <a:lstStyle/>
          <a:p>
            <a:pPr>
              <a:defRPr/>
            </a:pPr>
            <a:fld id="{E6A9F099-AC94-4E7F-A16E-8C3519E30E66}" type="slidenum">
              <a:rPr lang="en-US" altLang="en-US" smtClean="0"/>
              <a:pPr>
                <a:defRPr/>
              </a:pPr>
              <a:t>‹#›</a:t>
            </a:fld>
            <a:endParaRPr lang="en-US" altLang="en-US"/>
          </a:p>
        </p:txBody>
      </p:sp>
    </p:spTree>
    <p:extLst>
      <p:ext uri="{BB962C8B-B14F-4D97-AF65-F5344CB8AC3E}">
        <p14:creationId xmlns:p14="http://schemas.microsoft.com/office/powerpoint/2010/main" val="39490340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93600" y="624110"/>
            <a:ext cx="87856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endParaRPr lang="en-US"/>
          </a:p>
        </p:txBody>
      </p:sp>
      <p:sp>
        <p:nvSpPr>
          <p:cNvPr id="8"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a:defRPr/>
            </a:pPr>
            <a:fld id="{F0A108B5-555B-4CDA-82C9-FFCACE0FDE20}" type="slidenum">
              <a:rPr lang="en-US" altLang="en-US" smtClean="0"/>
              <a:pPr>
                <a:defRPr/>
              </a:pPr>
              <a:t>‹#›</a:t>
            </a:fld>
            <a:endParaRPr lang="en-US" altLang="en-US"/>
          </a:p>
        </p:txBody>
      </p:sp>
    </p:spTree>
    <p:extLst>
      <p:ext uri="{BB962C8B-B14F-4D97-AF65-F5344CB8AC3E}">
        <p14:creationId xmlns:p14="http://schemas.microsoft.com/office/powerpoint/2010/main" val="4776763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a:p>
        </p:txBody>
      </p:sp>
      <p:sp>
        <p:nvSpPr>
          <p:cNvPr id="3" name="Footer Placeholder 2"/>
          <p:cNvSpPr>
            <a:spLocks noGrp="1"/>
          </p:cNvSpPr>
          <p:nvPr>
            <p:ph type="ftr" sz="quarter" idx="11"/>
          </p:nvPr>
        </p:nvSpPr>
        <p:spPr/>
        <p:txBody>
          <a:bodyPr/>
          <a:lstStyle/>
          <a:p>
            <a:pPr>
              <a:defRPr/>
            </a:pPr>
            <a:endParaRPr lang="en-US"/>
          </a:p>
        </p:txBody>
      </p:sp>
      <p:sp>
        <p:nvSpPr>
          <p:cNvPr id="6"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a:defRPr/>
            </a:pPr>
            <a:fld id="{64E00B64-68D4-4482-99B3-FA36EF99A8C5}" type="slidenum">
              <a:rPr lang="en-US" altLang="en-US" smtClean="0"/>
              <a:pPr>
                <a:defRPr/>
              </a:pPr>
              <a:t>‹#›</a:t>
            </a:fld>
            <a:endParaRPr lang="en-US" altLang="en-US"/>
          </a:p>
        </p:txBody>
      </p:sp>
    </p:spTree>
    <p:extLst>
      <p:ext uri="{BB962C8B-B14F-4D97-AF65-F5344CB8AC3E}">
        <p14:creationId xmlns:p14="http://schemas.microsoft.com/office/powerpoint/2010/main" val="18640225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7" y="446088"/>
            <a:ext cx="3506112"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4659" y="446090"/>
            <a:ext cx="5054541"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887" y="1598613"/>
            <a:ext cx="3506112"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a:defRPr/>
            </a:pPr>
            <a:fld id="{23A25441-19CB-4047-ACBB-1F9430FB3CE3}" type="slidenum">
              <a:rPr lang="en-US" altLang="en-US" smtClean="0"/>
              <a:pPr>
                <a:defRPr/>
              </a:pPr>
              <a:t>‹#›</a:t>
            </a:fld>
            <a:endParaRPr lang="en-US" altLang="en-US"/>
          </a:p>
        </p:txBody>
      </p:sp>
    </p:spTree>
    <p:extLst>
      <p:ext uri="{BB962C8B-B14F-4D97-AF65-F5344CB8AC3E}">
        <p14:creationId xmlns:p14="http://schemas.microsoft.com/office/powerpoint/2010/main" val="2086987789"/>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8" y="4800600"/>
            <a:ext cx="8789313"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888" y="634965"/>
            <a:ext cx="8789313"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888" y="5367338"/>
            <a:ext cx="8789313"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p>
        </p:txBody>
      </p:sp>
      <p:sp>
        <p:nvSpPr>
          <p:cNvPr id="1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pPr>
              <a:defRPr/>
            </a:pPr>
            <a:fld id="{3FFA9630-F9FD-464A-837F-EA1123DA02E1}" type="slidenum">
              <a:rPr lang="en-US" altLang="en-US" smtClean="0"/>
              <a:pPr>
                <a:defRPr/>
              </a:pPr>
              <a:t>‹#›</a:t>
            </a:fld>
            <a:endParaRPr lang="en-US" altLang="en-US"/>
          </a:p>
        </p:txBody>
      </p:sp>
    </p:spTree>
    <p:extLst>
      <p:ext uri="{BB962C8B-B14F-4D97-AF65-F5344CB8AC3E}">
        <p14:creationId xmlns:p14="http://schemas.microsoft.com/office/powerpoint/2010/main" val="23100602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8" y="609600"/>
            <a:ext cx="8789313"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888"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10"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pPr>
              <a:defRPr/>
            </a:pPr>
            <a:fld id="{36D6750A-47F6-4034-8399-2DEFE13A62B8}" type="slidenum">
              <a:rPr lang="en-US" altLang="en-US" smtClean="0"/>
              <a:pPr>
                <a:defRPr/>
              </a:pPr>
              <a:t>‹#›</a:t>
            </a:fld>
            <a:endParaRPr lang="en-US" altLang="en-US"/>
          </a:p>
        </p:txBody>
      </p:sp>
    </p:spTree>
    <p:extLst>
      <p:ext uri="{BB962C8B-B14F-4D97-AF65-F5344CB8AC3E}">
        <p14:creationId xmlns:p14="http://schemas.microsoft.com/office/powerpoint/2010/main" val="3272086035"/>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17498"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21296" y="3505200"/>
            <a:ext cx="7538517"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888"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19"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pPr>
              <a:defRPr/>
            </a:pPr>
            <a:fld id="{36D6750A-47F6-4034-8399-2DEFE13A62B8}" type="slidenum">
              <a:rPr lang="en-US" altLang="en-US" smtClean="0"/>
              <a:pPr>
                <a:defRPr/>
              </a:pPr>
              <a:t>‹#›</a:t>
            </a:fld>
            <a:endParaRPr lang="en-US" altLang="en-US"/>
          </a:p>
        </p:txBody>
      </p:sp>
      <p:sp>
        <p:nvSpPr>
          <p:cNvPr id="14" name="TextBox 13"/>
          <p:cNvSpPr txBox="1"/>
          <p:nvPr/>
        </p:nvSpPr>
        <p:spPr>
          <a:xfrm>
            <a:off x="2411089" y="648005"/>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0892711" y="2905306"/>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66740526"/>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888" y="2438402"/>
            <a:ext cx="8789313"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888" y="5181600"/>
            <a:ext cx="878931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p>
        </p:txBody>
      </p:sp>
      <p:sp>
        <p:nvSpPr>
          <p:cNvPr id="11"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pPr>
              <a:defRPr/>
            </a:pPr>
            <a:fld id="{36D6750A-47F6-4034-8399-2DEFE13A62B8}" type="slidenum">
              <a:rPr lang="en-US" altLang="en-US" smtClean="0"/>
              <a:pPr>
                <a:defRPr/>
              </a:pPr>
              <a:t>‹#›</a:t>
            </a:fld>
            <a:endParaRPr lang="en-US" altLang="en-US"/>
          </a:p>
        </p:txBody>
      </p:sp>
    </p:spTree>
    <p:extLst>
      <p:ext uri="{BB962C8B-B14F-4D97-AF65-F5344CB8AC3E}">
        <p14:creationId xmlns:p14="http://schemas.microsoft.com/office/powerpoint/2010/main" val="8490281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917498"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887" y="4343400"/>
            <a:ext cx="891772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887" y="5181600"/>
            <a:ext cx="891772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p>
        </p:txBody>
      </p:sp>
      <p:sp>
        <p:nvSpPr>
          <p:cNvPr id="2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pPr>
              <a:defRPr/>
            </a:pPr>
            <a:fld id="{36D6750A-47F6-4034-8399-2DEFE13A62B8}" type="slidenum">
              <a:rPr lang="en-US" altLang="en-US" smtClean="0"/>
              <a:pPr>
                <a:defRPr/>
              </a:pPr>
              <a:t>‹#›</a:t>
            </a:fld>
            <a:endParaRPr lang="en-US" altLang="en-US"/>
          </a:p>
        </p:txBody>
      </p:sp>
      <p:sp>
        <p:nvSpPr>
          <p:cNvPr id="11" name="TextBox 10"/>
          <p:cNvSpPr txBox="1"/>
          <p:nvPr/>
        </p:nvSpPr>
        <p:spPr>
          <a:xfrm>
            <a:off x="2411089" y="648005"/>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10892711" y="2905306"/>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07883415"/>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888" y="627407"/>
            <a:ext cx="8789312"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888" y="4343400"/>
            <a:ext cx="878931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888" y="5181600"/>
            <a:ext cx="878931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p>
        </p:txBody>
      </p:sp>
      <p:sp>
        <p:nvSpPr>
          <p:cNvPr id="1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pPr>
              <a:defRPr/>
            </a:pPr>
            <a:fld id="{36D6750A-47F6-4034-8399-2DEFE13A62B8}" type="slidenum">
              <a:rPr lang="en-US" altLang="en-US" smtClean="0"/>
              <a:pPr>
                <a:defRPr/>
              </a:pPr>
              <a:t>‹#›</a:t>
            </a:fld>
            <a:endParaRPr lang="en-US" altLang="en-US"/>
          </a:p>
        </p:txBody>
      </p:sp>
    </p:spTree>
    <p:extLst>
      <p:ext uri="{BB962C8B-B14F-4D97-AF65-F5344CB8AC3E}">
        <p14:creationId xmlns:p14="http://schemas.microsoft.com/office/powerpoint/2010/main" val="3960925488"/>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a:defRPr/>
            </a:pPr>
            <a:fld id="{3FBFF932-5F88-4A99-A807-8F7BA2CDA144}" type="slidenum">
              <a:rPr lang="en-US" altLang="en-US" smtClean="0"/>
              <a:pPr>
                <a:defRPr/>
              </a:pPr>
              <a:t>‹#›</a:t>
            </a:fld>
            <a:endParaRPr lang="en-US" altLang="en-US"/>
          </a:p>
        </p:txBody>
      </p:sp>
    </p:spTree>
    <p:extLst>
      <p:ext uri="{BB962C8B-B14F-4D97-AF65-F5344CB8AC3E}">
        <p14:creationId xmlns:p14="http://schemas.microsoft.com/office/powerpoint/2010/main" val="16159899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71380" y="627407"/>
            <a:ext cx="2208176"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888" y="627407"/>
            <a:ext cx="6288464"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a:defRPr/>
            </a:pPr>
            <a:fld id="{92E6258B-4C8E-4E14-AE9B-0D99B13D1253}" type="slidenum">
              <a:rPr lang="en-US" altLang="en-US" smtClean="0"/>
              <a:pPr>
                <a:defRPr/>
              </a:pPr>
              <a:t>‹#›</a:t>
            </a:fld>
            <a:endParaRPr lang="en-US" altLang="en-US"/>
          </a:p>
        </p:txBody>
      </p:sp>
    </p:spTree>
    <p:extLst>
      <p:ext uri="{BB962C8B-B14F-4D97-AF65-F5344CB8AC3E}">
        <p14:creationId xmlns:p14="http://schemas.microsoft.com/office/powerpoint/2010/main" val="185270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022ACB3-F48E-46B7-B1B6-7F4378D3FB34}" type="datetimeFigureOut">
              <a:rPr lang="en-US" smtClean="0"/>
              <a:t>1/4/2025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02F1B5F-5405-4D6A-84F0-B81B5FCDB19A}" type="slidenum">
              <a:rPr lang="en-US" smtClean="0"/>
              <a:t>‹#›</a:t>
            </a:fld>
            <a:endParaRPr lang="en-US"/>
          </a:p>
        </p:txBody>
      </p:sp>
    </p:spTree>
    <p:extLst>
      <p:ext uri="{BB962C8B-B14F-4D97-AF65-F5344CB8AC3E}">
        <p14:creationId xmlns:p14="http://schemas.microsoft.com/office/powerpoint/2010/main" val="38204348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26416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7228" y="285"/>
            <a:ext cx="2603029"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24384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3600" y="624110"/>
            <a:ext cx="87856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888" y="2133600"/>
            <a:ext cx="8789313"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3200" y="6135090"/>
            <a:ext cx="1021840" cy="370171"/>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endParaRPr lang="en-US" altLang="en-US"/>
          </a:p>
        </p:txBody>
      </p:sp>
      <p:sp>
        <p:nvSpPr>
          <p:cNvPr id="5" name="Footer Placeholder 4"/>
          <p:cNvSpPr>
            <a:spLocks noGrp="1"/>
          </p:cNvSpPr>
          <p:nvPr>
            <p:ph type="ftr" sz="quarter" idx="3"/>
          </p:nvPr>
        </p:nvSpPr>
        <p:spPr>
          <a:xfrm>
            <a:off x="2589887" y="6135810"/>
            <a:ext cx="7621984"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bwMode="gray">
          <a:xfrm>
            <a:off x="681637" y="787784"/>
            <a:ext cx="779971" cy="365125"/>
          </a:xfrm>
          <a:prstGeom prst="rect">
            <a:avLst/>
          </a:prstGeom>
        </p:spPr>
        <p:txBody>
          <a:bodyPr vert="horz" lIns="91440" tIns="45720" rIns="91440" bIns="45720" rtlCol="0" anchor="ctr"/>
          <a:lstStyle>
            <a:lvl1pPr algn="r">
              <a:defRPr sz="2000">
                <a:solidFill>
                  <a:srgbClr val="FEFFFF"/>
                </a:solidFill>
              </a:defRPr>
            </a:lvl1pPr>
          </a:lstStyle>
          <a:p>
            <a:pPr>
              <a:defRPr/>
            </a:pPr>
            <a:fld id="{36D6750A-47F6-4034-8399-2DEFE13A62B8}" type="slidenum">
              <a:rPr lang="en-US" altLang="en-US" smtClean="0"/>
              <a:pPr>
                <a:defRPr/>
              </a:pPr>
              <a:t>‹#›</a:t>
            </a:fld>
            <a:endParaRPr lang="en-US" altLang="en-US"/>
          </a:p>
        </p:txBody>
      </p:sp>
      <p:sp>
        <p:nvSpPr>
          <p:cNvPr id="7" name="Rectangle 35">
            <a:extLst>
              <a:ext uri="{FF2B5EF4-FFF2-40B4-BE49-F238E27FC236}">
                <a16:creationId xmlns:a16="http://schemas.microsoft.com/office/drawing/2014/main" id="{F0FD2A53-729B-D71F-DA93-5BC7490B4AB6}"/>
              </a:ext>
            </a:extLst>
          </p:cNvPr>
          <p:cNvSpPr>
            <a:spLocks noChangeArrowheads="1"/>
          </p:cNvSpPr>
          <p:nvPr userDrawn="1"/>
        </p:nvSpPr>
        <p:spPr bwMode="auto">
          <a:xfrm>
            <a:off x="2235200" y="6438900"/>
            <a:ext cx="7442200" cy="419100"/>
          </a:xfrm>
          <a:prstGeom prst="rect">
            <a:avLst/>
          </a:prstGeom>
          <a:noFill/>
          <a:ln>
            <a:noFill/>
          </a:ln>
          <a:effec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000">
                <a:latin typeface="Arial" panose="020B0604020202020204" pitchFamily="34" charset="0"/>
              </a:rPr>
              <a:t>Liang, Introduction to Java Programming, Ninth Edition, (c) 2013 Pearson Education, Inc. All rights reserved. </a:t>
            </a:r>
          </a:p>
        </p:txBody>
      </p:sp>
    </p:spTree>
    <p:extLst>
      <p:ext uri="{BB962C8B-B14F-4D97-AF65-F5344CB8AC3E}">
        <p14:creationId xmlns:p14="http://schemas.microsoft.com/office/powerpoint/2010/main" val="358829564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oleObject" Target="../embeddings/oleObject2.bin"/><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4A853-D2E0-1D60-AFF6-661DF4D6E318}"/>
              </a:ext>
            </a:extLst>
          </p:cNvPr>
          <p:cNvSpPr>
            <a:spLocks noGrp="1"/>
          </p:cNvSpPr>
          <p:nvPr>
            <p:ph type="ctrTitle"/>
          </p:nvPr>
        </p:nvSpPr>
        <p:spPr/>
        <p:txBody>
          <a:bodyPr/>
          <a:lstStyle/>
          <a:p>
            <a:r>
              <a:rPr lang="en-US" dirty="0"/>
              <a:t>Java Graphics</a:t>
            </a:r>
          </a:p>
        </p:txBody>
      </p:sp>
      <p:sp>
        <p:nvSpPr>
          <p:cNvPr id="3" name="Subtitle 2">
            <a:extLst>
              <a:ext uri="{FF2B5EF4-FFF2-40B4-BE49-F238E27FC236}">
                <a16:creationId xmlns:a16="http://schemas.microsoft.com/office/drawing/2014/main" id="{EAC24DA7-454F-A18C-56A2-7FA120186141}"/>
              </a:ext>
            </a:extLst>
          </p:cNvPr>
          <p:cNvSpPr>
            <a:spLocks noGrp="1"/>
          </p:cNvSpPr>
          <p:nvPr>
            <p:ph type="subTitle" idx="1"/>
          </p:nvPr>
        </p:nvSpPr>
        <p:spPr>
          <a:xfrm>
            <a:off x="2589213" y="5158379"/>
            <a:ext cx="8915399" cy="1126283"/>
          </a:xfrm>
        </p:spPr>
        <p:txBody>
          <a:bodyPr>
            <a:normAutofit/>
          </a:bodyPr>
          <a:lstStyle/>
          <a:p>
            <a:r>
              <a:rPr lang="en-US" sz="2000" dirty="0"/>
              <a:t>Liang, Introduction  to java Programming, Ninth Edition, Pearson Education</a:t>
            </a:r>
          </a:p>
        </p:txBody>
      </p:sp>
    </p:spTree>
    <p:extLst>
      <p:ext uri="{BB962C8B-B14F-4D97-AF65-F5344CB8AC3E}">
        <p14:creationId xmlns:p14="http://schemas.microsoft.com/office/powerpoint/2010/main" val="3021105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A56BF-29AA-0EC2-ED7A-6368BAE156A3}"/>
              </a:ext>
            </a:extLst>
          </p:cNvPr>
          <p:cNvSpPr>
            <a:spLocks noGrp="1"/>
          </p:cNvSpPr>
          <p:nvPr>
            <p:ph type="title"/>
          </p:nvPr>
        </p:nvSpPr>
        <p:spPr/>
        <p:txBody>
          <a:bodyPr/>
          <a:lstStyle/>
          <a:p>
            <a:pPr algn="ctr"/>
            <a:r>
              <a:rPr lang="en-US" dirty="0"/>
              <a:t>Motivation</a:t>
            </a:r>
          </a:p>
        </p:txBody>
      </p:sp>
      <p:sp>
        <p:nvSpPr>
          <p:cNvPr id="3" name="Content Placeholder 2">
            <a:extLst>
              <a:ext uri="{FF2B5EF4-FFF2-40B4-BE49-F238E27FC236}">
                <a16:creationId xmlns:a16="http://schemas.microsoft.com/office/drawing/2014/main" id="{10499291-68D6-09E0-59BB-3B3599118C0D}"/>
              </a:ext>
            </a:extLst>
          </p:cNvPr>
          <p:cNvSpPr>
            <a:spLocks noGrp="1"/>
          </p:cNvSpPr>
          <p:nvPr>
            <p:ph idx="1"/>
          </p:nvPr>
        </p:nvSpPr>
        <p:spPr>
          <a:xfrm>
            <a:off x="2713037" y="1438275"/>
            <a:ext cx="8915400" cy="5124450"/>
          </a:xfrm>
        </p:spPr>
        <p:txBody>
          <a:bodyPr>
            <a:normAutofit/>
          </a:bodyPr>
          <a:lstStyle/>
          <a:p>
            <a:pPr marL="0" indent="0">
              <a:buNone/>
            </a:pPr>
            <a:r>
              <a:rPr lang="en-US" sz="2400" dirty="0"/>
              <a:t>If you want to draw shapes such as a bar chart, a clock, or a stop sign,   how do you do it?</a:t>
            </a:r>
          </a:p>
          <a:p>
            <a:pPr marL="0" indent="0">
              <a:buNone/>
            </a:pPr>
            <a:endParaRPr lang="en-US" sz="2400" dirty="0"/>
          </a:p>
        </p:txBody>
      </p:sp>
      <p:pic>
        <p:nvPicPr>
          <p:cNvPr id="4" name="Picture 3">
            <a:extLst>
              <a:ext uri="{FF2B5EF4-FFF2-40B4-BE49-F238E27FC236}">
                <a16:creationId xmlns:a16="http://schemas.microsoft.com/office/drawing/2014/main" id="{C9EC5CF8-33F9-5C8A-B345-C903CEB9372E}"/>
              </a:ext>
            </a:extLst>
          </p:cNvPr>
          <p:cNvPicPr>
            <a:picLocks noChangeAspect="1"/>
          </p:cNvPicPr>
          <p:nvPr/>
        </p:nvPicPr>
        <p:blipFill>
          <a:blip r:embed="rId2"/>
          <a:stretch>
            <a:fillRect/>
          </a:stretch>
        </p:blipFill>
        <p:spPr>
          <a:xfrm>
            <a:off x="4838839" y="4746058"/>
            <a:ext cx="4035902" cy="1347333"/>
          </a:xfrm>
          <a:prstGeom prst="rect">
            <a:avLst/>
          </a:prstGeom>
        </p:spPr>
      </p:pic>
      <p:pic>
        <p:nvPicPr>
          <p:cNvPr id="5" name="Picture 4">
            <a:extLst>
              <a:ext uri="{FF2B5EF4-FFF2-40B4-BE49-F238E27FC236}">
                <a16:creationId xmlns:a16="http://schemas.microsoft.com/office/drawing/2014/main" id="{6D659CFD-2D00-90AA-B344-DC32F7602F1F}"/>
              </a:ext>
            </a:extLst>
          </p:cNvPr>
          <p:cNvPicPr>
            <a:picLocks noChangeAspect="1"/>
          </p:cNvPicPr>
          <p:nvPr/>
        </p:nvPicPr>
        <p:blipFill>
          <a:blip r:embed="rId3"/>
          <a:stretch>
            <a:fillRect/>
          </a:stretch>
        </p:blipFill>
        <p:spPr>
          <a:xfrm>
            <a:off x="7810541" y="2740588"/>
            <a:ext cx="1298561" cy="1298561"/>
          </a:xfrm>
          <a:prstGeom prst="rect">
            <a:avLst/>
          </a:prstGeom>
        </p:spPr>
      </p:pic>
      <p:pic>
        <p:nvPicPr>
          <p:cNvPr id="6" name="Picture 5">
            <a:extLst>
              <a:ext uri="{FF2B5EF4-FFF2-40B4-BE49-F238E27FC236}">
                <a16:creationId xmlns:a16="http://schemas.microsoft.com/office/drawing/2014/main" id="{0F2894E3-C8B7-AD41-21FC-7ED237BDA315}"/>
              </a:ext>
            </a:extLst>
          </p:cNvPr>
          <p:cNvPicPr>
            <a:picLocks noChangeAspect="1"/>
          </p:cNvPicPr>
          <p:nvPr/>
        </p:nvPicPr>
        <p:blipFill>
          <a:blip r:embed="rId4"/>
          <a:stretch>
            <a:fillRect/>
          </a:stretch>
        </p:blipFill>
        <p:spPr>
          <a:xfrm>
            <a:off x="4878519" y="2770884"/>
            <a:ext cx="1371719" cy="1249788"/>
          </a:xfrm>
          <a:prstGeom prst="rect">
            <a:avLst/>
          </a:prstGeom>
        </p:spPr>
      </p:pic>
    </p:spTree>
    <p:extLst>
      <p:ext uri="{BB962C8B-B14F-4D97-AF65-F5344CB8AC3E}">
        <p14:creationId xmlns:p14="http://schemas.microsoft.com/office/powerpoint/2010/main" val="3379105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3E618-4979-3A62-233C-D69E8A737E89}"/>
              </a:ext>
            </a:extLst>
          </p:cNvPr>
          <p:cNvSpPr>
            <a:spLocks noGrp="1"/>
          </p:cNvSpPr>
          <p:nvPr>
            <p:ph type="title"/>
          </p:nvPr>
        </p:nvSpPr>
        <p:spPr/>
        <p:txBody>
          <a:bodyPr/>
          <a:lstStyle/>
          <a:p>
            <a:pPr algn="ctr"/>
            <a:r>
              <a:rPr lang="en-US" dirty="0"/>
              <a:t>The Graphics Class: </a:t>
            </a:r>
            <a:r>
              <a:rPr lang="en-US" dirty="0" err="1"/>
              <a:t>java.awt.graphics</a:t>
            </a:r>
            <a:endParaRPr lang="en-US" dirty="0"/>
          </a:p>
        </p:txBody>
      </p:sp>
      <p:sp>
        <p:nvSpPr>
          <p:cNvPr id="3" name="Content Placeholder 2">
            <a:extLst>
              <a:ext uri="{FF2B5EF4-FFF2-40B4-BE49-F238E27FC236}">
                <a16:creationId xmlns:a16="http://schemas.microsoft.com/office/drawing/2014/main" id="{24176AB7-59D1-0902-AEBD-BAEE9CBA64B1}"/>
              </a:ext>
            </a:extLst>
          </p:cNvPr>
          <p:cNvSpPr>
            <a:spLocks noGrp="1"/>
          </p:cNvSpPr>
          <p:nvPr>
            <p:ph idx="1"/>
          </p:nvPr>
        </p:nvSpPr>
        <p:spPr/>
        <p:txBody>
          <a:bodyPr>
            <a:normAutofit/>
          </a:bodyPr>
          <a:lstStyle/>
          <a:p>
            <a:pPr marL="0" indent="0">
              <a:buNone/>
            </a:pPr>
            <a:r>
              <a:rPr lang="en-US" sz="2400" dirty="0"/>
              <a:t>The Graphics class provides the methods for drawing strings, lines, rectangles, ovals, arcs, polygons and polylines.</a:t>
            </a:r>
          </a:p>
          <a:p>
            <a:pPr marL="0" indent="0">
              <a:buNone/>
            </a:pPr>
            <a:r>
              <a:rPr lang="en-US" sz="2400" dirty="0"/>
              <a:t>Think of a GUI component as a piece of paper and the graphics class object as a pencil or paintbrush. </a:t>
            </a:r>
          </a:p>
          <a:p>
            <a:pPr marL="0" indent="0">
              <a:buNone/>
            </a:pPr>
            <a:r>
              <a:rPr lang="en-US" sz="2400" dirty="0"/>
              <a:t>To paint, you need to specify WHERE to paint.  Each component has its own coordinate system with the origin at the upper left hand corner. </a:t>
            </a:r>
          </a:p>
          <a:p>
            <a:pPr marL="0" indent="0">
              <a:buNone/>
            </a:pPr>
            <a:endParaRPr lang="en-US" sz="2400" dirty="0"/>
          </a:p>
        </p:txBody>
      </p:sp>
    </p:spTree>
    <p:extLst>
      <p:ext uri="{BB962C8B-B14F-4D97-AF65-F5344CB8AC3E}">
        <p14:creationId xmlns:p14="http://schemas.microsoft.com/office/powerpoint/2010/main" val="3598156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8EB5F-4D9F-EFF0-6918-BD8A79C8C299}"/>
              </a:ext>
            </a:extLst>
          </p:cNvPr>
          <p:cNvSpPr>
            <a:spLocks noGrp="1"/>
          </p:cNvSpPr>
          <p:nvPr>
            <p:ph type="title"/>
          </p:nvPr>
        </p:nvSpPr>
        <p:spPr/>
        <p:txBody>
          <a:bodyPr/>
          <a:lstStyle/>
          <a:p>
            <a:pPr algn="ctr"/>
            <a:r>
              <a:rPr lang="en-US" dirty="0"/>
              <a:t>The Java Coordinate System</a:t>
            </a:r>
          </a:p>
        </p:txBody>
      </p:sp>
      <p:pic>
        <p:nvPicPr>
          <p:cNvPr id="4" name="Content Placeholder 3">
            <a:extLst>
              <a:ext uri="{FF2B5EF4-FFF2-40B4-BE49-F238E27FC236}">
                <a16:creationId xmlns:a16="http://schemas.microsoft.com/office/drawing/2014/main" id="{36FEA402-0526-5405-4A5A-2256DB2D22FE}"/>
              </a:ext>
            </a:extLst>
          </p:cNvPr>
          <p:cNvPicPr>
            <a:picLocks noGrp="1" noChangeAspect="1"/>
          </p:cNvPicPr>
          <p:nvPr>
            <p:ph idx="1"/>
          </p:nvPr>
        </p:nvPicPr>
        <p:blipFill>
          <a:blip r:embed="rId2"/>
          <a:stretch>
            <a:fillRect/>
          </a:stretch>
        </p:blipFill>
        <p:spPr>
          <a:xfrm>
            <a:off x="3195384" y="2084959"/>
            <a:ext cx="7264908" cy="3075432"/>
          </a:xfrm>
          <a:prstGeom prst="rect">
            <a:avLst/>
          </a:prstGeom>
        </p:spPr>
      </p:pic>
    </p:spTree>
    <p:extLst>
      <p:ext uri="{BB962C8B-B14F-4D97-AF65-F5344CB8AC3E}">
        <p14:creationId xmlns:p14="http://schemas.microsoft.com/office/powerpoint/2010/main" val="1901041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2A6D7-AB3B-C24F-12FB-741984167513}"/>
              </a:ext>
            </a:extLst>
          </p:cNvPr>
          <p:cNvSpPr>
            <a:spLocks noGrp="1"/>
          </p:cNvSpPr>
          <p:nvPr>
            <p:ph type="title"/>
          </p:nvPr>
        </p:nvSpPr>
        <p:spPr/>
        <p:txBody>
          <a:bodyPr/>
          <a:lstStyle/>
          <a:p>
            <a:pPr algn="ctr"/>
            <a:r>
              <a:rPr lang="en-US" altLang="en-US" sz="3600" dirty="0"/>
              <a:t>Each GUI Component Has its Own Coordinate System</a:t>
            </a:r>
            <a:endParaRPr lang="en-US" dirty="0"/>
          </a:p>
        </p:txBody>
      </p:sp>
      <p:pic>
        <p:nvPicPr>
          <p:cNvPr id="4" name="Content Placeholder 3">
            <a:extLst>
              <a:ext uri="{FF2B5EF4-FFF2-40B4-BE49-F238E27FC236}">
                <a16:creationId xmlns:a16="http://schemas.microsoft.com/office/drawing/2014/main" id="{50FE80B3-AADB-193B-D680-4363ED1B45FC}"/>
              </a:ext>
            </a:extLst>
          </p:cNvPr>
          <p:cNvPicPr>
            <a:picLocks noGrp="1" noChangeAspect="1"/>
          </p:cNvPicPr>
          <p:nvPr>
            <p:ph idx="1"/>
          </p:nvPr>
        </p:nvPicPr>
        <p:blipFill>
          <a:blip r:embed="rId2"/>
          <a:stretch>
            <a:fillRect/>
          </a:stretch>
        </p:blipFill>
        <p:spPr>
          <a:xfrm>
            <a:off x="2969451" y="2762377"/>
            <a:ext cx="8154924" cy="2520696"/>
          </a:xfrm>
          <a:prstGeom prst="rect">
            <a:avLst/>
          </a:prstGeom>
        </p:spPr>
      </p:pic>
    </p:spTree>
    <p:extLst>
      <p:ext uri="{BB962C8B-B14F-4D97-AF65-F5344CB8AC3E}">
        <p14:creationId xmlns:p14="http://schemas.microsoft.com/office/powerpoint/2010/main" val="974594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93AA3-83E3-225B-85B2-CDFBF5A9DC61}"/>
              </a:ext>
            </a:extLst>
          </p:cNvPr>
          <p:cNvSpPr>
            <a:spLocks noGrp="1"/>
          </p:cNvSpPr>
          <p:nvPr>
            <p:ph type="title"/>
          </p:nvPr>
        </p:nvSpPr>
        <p:spPr/>
        <p:txBody>
          <a:bodyPr/>
          <a:lstStyle/>
          <a:p>
            <a:pPr algn="ctr"/>
            <a:r>
              <a:rPr lang="en-US" dirty="0"/>
              <a:t>Graphics Class Methods</a:t>
            </a:r>
          </a:p>
        </p:txBody>
      </p:sp>
      <p:sp>
        <p:nvSpPr>
          <p:cNvPr id="3" name="Content Placeholder 2">
            <a:extLst>
              <a:ext uri="{FF2B5EF4-FFF2-40B4-BE49-F238E27FC236}">
                <a16:creationId xmlns:a16="http://schemas.microsoft.com/office/drawing/2014/main" id="{9E789496-3FC7-4A63-1D91-586F497BAF1A}"/>
              </a:ext>
            </a:extLst>
          </p:cNvPr>
          <p:cNvSpPr>
            <a:spLocks noGrp="1"/>
          </p:cNvSpPr>
          <p:nvPr>
            <p:ph idx="1"/>
          </p:nvPr>
        </p:nvSpPr>
        <p:spPr/>
        <p:txBody>
          <a:bodyPr>
            <a:normAutofit/>
          </a:bodyPr>
          <a:lstStyle/>
          <a:p>
            <a:pPr marL="0" indent="0">
              <a:buNone/>
            </a:pPr>
            <a:r>
              <a:rPr lang="en-US" sz="2400" dirty="0"/>
              <a:t>You can draw strings, lines, rectangles, ovals, arcs, polygons, and polylines, using the methods in the Graphics class. Some examples:</a:t>
            </a:r>
          </a:p>
          <a:p>
            <a:pPr marL="0" indent="0">
              <a:buNone/>
            </a:pPr>
            <a:endParaRPr lang="en-US" sz="2400" dirty="0"/>
          </a:p>
          <a:p>
            <a:pPr marL="0" indent="0">
              <a:buNone/>
            </a:pPr>
            <a:endParaRPr lang="en-US" sz="2400" dirty="0"/>
          </a:p>
        </p:txBody>
      </p:sp>
      <p:pic>
        <p:nvPicPr>
          <p:cNvPr id="5" name="Picture 4">
            <a:extLst>
              <a:ext uri="{FF2B5EF4-FFF2-40B4-BE49-F238E27FC236}">
                <a16:creationId xmlns:a16="http://schemas.microsoft.com/office/drawing/2014/main" id="{C6C7072C-0845-D92A-9643-15125673530B}"/>
              </a:ext>
            </a:extLst>
          </p:cNvPr>
          <p:cNvPicPr>
            <a:picLocks noChangeAspect="1"/>
          </p:cNvPicPr>
          <p:nvPr/>
        </p:nvPicPr>
        <p:blipFill>
          <a:blip r:embed="rId2"/>
          <a:stretch>
            <a:fillRect/>
          </a:stretch>
        </p:blipFill>
        <p:spPr>
          <a:xfrm>
            <a:off x="4269068" y="3429000"/>
            <a:ext cx="4534532" cy="2381582"/>
          </a:xfrm>
          <a:prstGeom prst="rect">
            <a:avLst/>
          </a:prstGeom>
        </p:spPr>
      </p:pic>
    </p:spTree>
    <p:extLst>
      <p:ext uri="{BB962C8B-B14F-4D97-AF65-F5344CB8AC3E}">
        <p14:creationId xmlns:p14="http://schemas.microsoft.com/office/powerpoint/2010/main" val="4041785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58FF6-4C9B-F9E8-3126-E079BFEB6636}"/>
              </a:ext>
            </a:extLst>
          </p:cNvPr>
          <p:cNvSpPr>
            <a:spLocks noGrp="1"/>
          </p:cNvSpPr>
          <p:nvPr>
            <p:ph type="title"/>
          </p:nvPr>
        </p:nvSpPr>
        <p:spPr/>
        <p:txBody>
          <a:bodyPr/>
          <a:lstStyle/>
          <a:p>
            <a:pPr algn="ctr"/>
            <a:r>
              <a:rPr lang="en-US" dirty="0"/>
              <a:t>The Paint Component Method</a:t>
            </a:r>
          </a:p>
        </p:txBody>
      </p:sp>
      <p:sp>
        <p:nvSpPr>
          <p:cNvPr id="3" name="Content Placeholder 2">
            <a:extLst>
              <a:ext uri="{FF2B5EF4-FFF2-40B4-BE49-F238E27FC236}">
                <a16:creationId xmlns:a16="http://schemas.microsoft.com/office/drawing/2014/main" id="{134EB40B-424F-5569-B449-7ED24B1E18B9}"/>
              </a:ext>
            </a:extLst>
          </p:cNvPr>
          <p:cNvSpPr>
            <a:spLocks noGrp="1"/>
          </p:cNvSpPr>
          <p:nvPr>
            <p:ph idx="1"/>
          </p:nvPr>
        </p:nvSpPr>
        <p:spPr/>
        <p:txBody>
          <a:bodyPr>
            <a:normAutofit/>
          </a:bodyPr>
          <a:lstStyle/>
          <a:p>
            <a:pPr marL="0" indent="0">
              <a:buNone/>
            </a:pPr>
            <a:r>
              <a:rPr lang="en-US" sz="2800" dirty="0"/>
              <a:t>We will put all of our drawing code into a </a:t>
            </a:r>
            <a:r>
              <a:rPr lang="en-US" sz="2800" dirty="0" err="1"/>
              <a:t>paintComponent</a:t>
            </a:r>
            <a:r>
              <a:rPr lang="en-US" sz="2800" dirty="0"/>
              <a:t> method. We will pass it a Graphics object to use to draw.</a:t>
            </a:r>
          </a:p>
          <a:p>
            <a:pPr marL="0" indent="0">
              <a:buNone/>
            </a:pPr>
            <a:r>
              <a:rPr lang="en-US" sz="2800" dirty="0" err="1"/>
              <a:t>paintComponent</a:t>
            </a:r>
            <a:r>
              <a:rPr lang="en-US" sz="2800" dirty="0"/>
              <a:t> redraws your graphics area in a </a:t>
            </a:r>
            <a:r>
              <a:rPr lang="en-US" sz="2800" dirty="0" err="1"/>
              <a:t>JPanel</a:t>
            </a:r>
            <a:r>
              <a:rPr lang="en-US" sz="2800" dirty="0"/>
              <a:t>, not in a </a:t>
            </a:r>
            <a:r>
              <a:rPr lang="en-US" sz="2800" dirty="0" err="1"/>
              <a:t>JFrame</a:t>
            </a:r>
            <a:r>
              <a:rPr lang="en-US" sz="2800" dirty="0"/>
              <a:t>. </a:t>
            </a:r>
          </a:p>
          <a:p>
            <a:pPr marL="0" indent="0">
              <a:buNone/>
            </a:pPr>
            <a:r>
              <a:rPr lang="en-US" sz="2800" dirty="0"/>
              <a:t>There are two ways </a:t>
            </a:r>
            <a:r>
              <a:rPr lang="en-US" sz="2800" dirty="0" err="1"/>
              <a:t>paintComponent</a:t>
            </a:r>
            <a:r>
              <a:rPr lang="en-US" sz="2800" dirty="0"/>
              <a:t>() can get called. One is automatic, the other is up to you.</a:t>
            </a:r>
          </a:p>
          <a:p>
            <a:pPr marL="0" indent="0">
              <a:buNone/>
            </a:pPr>
            <a:endParaRPr lang="en-US" sz="2800" dirty="0"/>
          </a:p>
          <a:p>
            <a:pPr marL="0" indent="0">
              <a:buNone/>
            </a:pPr>
            <a:endParaRPr lang="en-US" sz="2800" dirty="0"/>
          </a:p>
        </p:txBody>
      </p:sp>
    </p:spTree>
    <p:extLst>
      <p:ext uri="{BB962C8B-B14F-4D97-AF65-F5344CB8AC3E}">
        <p14:creationId xmlns:p14="http://schemas.microsoft.com/office/powerpoint/2010/main" val="1204037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009-73A6-483B-263D-E5AD6E4A7530}"/>
              </a:ext>
            </a:extLst>
          </p:cNvPr>
          <p:cNvSpPr>
            <a:spLocks noGrp="1"/>
          </p:cNvSpPr>
          <p:nvPr>
            <p:ph type="title"/>
          </p:nvPr>
        </p:nvSpPr>
        <p:spPr/>
        <p:txBody>
          <a:bodyPr/>
          <a:lstStyle/>
          <a:p>
            <a:r>
              <a:rPr lang="en-US" dirty="0"/>
              <a:t>Automatic Draw</a:t>
            </a:r>
          </a:p>
        </p:txBody>
      </p:sp>
      <p:sp>
        <p:nvSpPr>
          <p:cNvPr id="3" name="Content Placeholder 2">
            <a:extLst>
              <a:ext uri="{FF2B5EF4-FFF2-40B4-BE49-F238E27FC236}">
                <a16:creationId xmlns:a16="http://schemas.microsoft.com/office/drawing/2014/main" id="{223277BB-7D02-D955-3B2A-8B7061C83DD7}"/>
              </a:ext>
            </a:extLst>
          </p:cNvPr>
          <p:cNvSpPr>
            <a:spLocks noGrp="1"/>
          </p:cNvSpPr>
          <p:nvPr>
            <p:ph idx="1"/>
          </p:nvPr>
        </p:nvSpPr>
        <p:spPr>
          <a:xfrm>
            <a:off x="2360612" y="1540188"/>
            <a:ext cx="8915400" cy="4993961"/>
          </a:xfrm>
        </p:spPr>
        <p:txBody>
          <a:bodyPr>
            <a:normAutofit/>
          </a:bodyPr>
          <a:lstStyle/>
          <a:p>
            <a:pPr marL="0" indent="0">
              <a:buNone/>
            </a:pPr>
            <a:r>
              <a:rPr lang="en-US" sz="2000" dirty="0"/>
              <a:t>The computer's window manager automatically calls for your program to redraw its graphics whenever a window it owns appears to need redrawing. </a:t>
            </a:r>
          </a:p>
          <a:p>
            <a:pPr marL="0" indent="0">
              <a:buNone/>
            </a:pPr>
            <a:r>
              <a:rPr lang="en-US" sz="2000" dirty="0"/>
              <a:t>For instance, when the window initially appears on screen.  Or maybe the window had been minimized, and has just been restored.</a:t>
            </a:r>
          </a:p>
          <a:p>
            <a:pPr marL="0" indent="0">
              <a:buNone/>
            </a:pPr>
            <a:r>
              <a:rPr lang="en-US" sz="2000" dirty="0"/>
              <a:t>When these sort of things happen, the Java Runtime Environment calls the paint() method for your container. </a:t>
            </a:r>
          </a:p>
          <a:p>
            <a:pPr marL="0" indent="0">
              <a:buNone/>
            </a:pPr>
            <a:r>
              <a:rPr lang="en-US" sz="2000" dirty="0"/>
              <a:t>In our discussion so far, our container has been a </a:t>
            </a:r>
            <a:r>
              <a:rPr lang="en-US" sz="2000" dirty="0" err="1"/>
              <a:t>JFrame</a:t>
            </a:r>
            <a:r>
              <a:rPr lang="en-US" sz="2000" dirty="0"/>
              <a:t>. It will be a "heavyweight" component.  Once the container redraws itself, it'll pass the command down to its children, that is, the lightweight components that live inside it. </a:t>
            </a:r>
          </a:p>
          <a:p>
            <a:pPr marL="0" indent="0">
              <a:buNone/>
            </a:pPr>
            <a:r>
              <a:rPr lang="en-US" sz="2000" dirty="0"/>
              <a:t>A lightweight component from the Swing package uses the </a:t>
            </a:r>
            <a:r>
              <a:rPr lang="en-US" sz="2000" dirty="0" err="1"/>
              <a:t>paintComponent</a:t>
            </a:r>
            <a:r>
              <a:rPr lang="en-US" sz="2000" dirty="0"/>
              <a:t>() method to redraw itself. So that's what gets called. </a:t>
            </a:r>
          </a:p>
          <a:p>
            <a:pPr marL="0" indent="0">
              <a:buNone/>
            </a:pPr>
            <a:endParaRPr lang="en-US" sz="2000" dirty="0"/>
          </a:p>
        </p:txBody>
      </p:sp>
    </p:spTree>
    <p:extLst>
      <p:ext uri="{BB962C8B-B14F-4D97-AF65-F5344CB8AC3E}">
        <p14:creationId xmlns:p14="http://schemas.microsoft.com/office/powerpoint/2010/main" val="1887672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0431E-C021-77B8-823E-51A8C6A48624}"/>
              </a:ext>
            </a:extLst>
          </p:cNvPr>
          <p:cNvSpPr>
            <a:spLocks noGrp="1"/>
          </p:cNvSpPr>
          <p:nvPr>
            <p:ph type="title"/>
          </p:nvPr>
        </p:nvSpPr>
        <p:spPr/>
        <p:txBody>
          <a:bodyPr/>
          <a:lstStyle/>
          <a:p>
            <a:r>
              <a:rPr lang="en-US" dirty="0"/>
              <a:t>Setting up </a:t>
            </a:r>
            <a:r>
              <a:rPr lang="en-US" dirty="0" err="1"/>
              <a:t>paintComponent</a:t>
            </a:r>
            <a:r>
              <a:rPr lang="en-US" dirty="0"/>
              <a:t>()</a:t>
            </a:r>
          </a:p>
        </p:txBody>
      </p:sp>
      <p:sp>
        <p:nvSpPr>
          <p:cNvPr id="3" name="Content Placeholder 2">
            <a:extLst>
              <a:ext uri="{FF2B5EF4-FFF2-40B4-BE49-F238E27FC236}">
                <a16:creationId xmlns:a16="http://schemas.microsoft.com/office/drawing/2014/main" id="{DA561DE5-E505-1098-5F6D-2C6708B28C99}"/>
              </a:ext>
            </a:extLst>
          </p:cNvPr>
          <p:cNvSpPr>
            <a:spLocks noGrp="1"/>
          </p:cNvSpPr>
          <p:nvPr>
            <p:ph idx="1"/>
          </p:nvPr>
        </p:nvSpPr>
        <p:spPr/>
        <p:txBody>
          <a:bodyPr>
            <a:normAutofit/>
          </a:bodyPr>
          <a:lstStyle/>
          <a:p>
            <a:pPr marL="0" indent="0">
              <a:buNone/>
            </a:pPr>
            <a:r>
              <a:rPr lang="en-US" sz="2400" dirty="0"/>
              <a:t>This means you want to set up </a:t>
            </a:r>
            <a:r>
              <a:rPr lang="en-US" sz="2400" dirty="0" err="1"/>
              <a:t>paintComponent</a:t>
            </a:r>
            <a:r>
              <a:rPr lang="en-US" sz="2400" dirty="0"/>
              <a:t>() to draw things the way you want them when it gets called. </a:t>
            </a:r>
          </a:p>
          <a:p>
            <a:pPr marL="0" indent="0">
              <a:buNone/>
            </a:pPr>
            <a:r>
              <a:rPr lang="en-US" sz="2400" dirty="0"/>
              <a:t>If you're doing drawings that don't change, then you don't need to look up any information. </a:t>
            </a:r>
          </a:p>
          <a:p>
            <a:pPr marL="0" indent="0">
              <a:buNone/>
            </a:pPr>
            <a:r>
              <a:rPr lang="en-US" sz="2400" dirty="0"/>
              <a:t>If you're doing anything animated or that otherwise changes over time, you need to have </a:t>
            </a:r>
            <a:r>
              <a:rPr lang="en-US" sz="2400" dirty="0" err="1"/>
              <a:t>paintComponent</a:t>
            </a:r>
            <a:r>
              <a:rPr lang="en-US" sz="2400" dirty="0"/>
              <a:t>() be able to look things up at the time of drawing to properly reflect conditions in the drawing.</a:t>
            </a:r>
          </a:p>
          <a:p>
            <a:pPr marL="0" indent="0">
              <a:buNone/>
            </a:pPr>
            <a:endParaRPr lang="en-US" sz="2400" dirty="0"/>
          </a:p>
        </p:txBody>
      </p:sp>
    </p:spTree>
    <p:extLst>
      <p:ext uri="{BB962C8B-B14F-4D97-AF65-F5344CB8AC3E}">
        <p14:creationId xmlns:p14="http://schemas.microsoft.com/office/powerpoint/2010/main" val="2480874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C9702-FCF7-1C5E-A39B-048F2485C069}"/>
              </a:ext>
            </a:extLst>
          </p:cNvPr>
          <p:cNvSpPr>
            <a:spLocks noGrp="1"/>
          </p:cNvSpPr>
          <p:nvPr>
            <p:ph type="title"/>
          </p:nvPr>
        </p:nvSpPr>
        <p:spPr/>
        <p:txBody>
          <a:bodyPr/>
          <a:lstStyle/>
          <a:p>
            <a:r>
              <a:rPr lang="en-US" dirty="0"/>
              <a:t>When you want to Redraw</a:t>
            </a:r>
          </a:p>
        </p:txBody>
      </p:sp>
      <p:sp>
        <p:nvSpPr>
          <p:cNvPr id="3" name="Content Placeholder 2">
            <a:extLst>
              <a:ext uri="{FF2B5EF4-FFF2-40B4-BE49-F238E27FC236}">
                <a16:creationId xmlns:a16="http://schemas.microsoft.com/office/drawing/2014/main" id="{7ADBD8CF-7155-B52C-D1F6-90EAE2B8E285}"/>
              </a:ext>
            </a:extLst>
          </p:cNvPr>
          <p:cNvSpPr>
            <a:spLocks noGrp="1"/>
          </p:cNvSpPr>
          <p:nvPr>
            <p:ph idx="1"/>
          </p:nvPr>
        </p:nvSpPr>
        <p:spPr/>
        <p:txBody>
          <a:bodyPr>
            <a:normAutofit/>
          </a:bodyPr>
          <a:lstStyle/>
          <a:p>
            <a:pPr marL="0" indent="0">
              <a:buNone/>
            </a:pPr>
            <a:r>
              <a:rPr lang="en-US" sz="2400" dirty="0"/>
              <a:t>Now, let's say you've changed something in your program and you want to redraw to show the change. </a:t>
            </a:r>
          </a:p>
          <a:p>
            <a:pPr marL="0" indent="0">
              <a:buNone/>
            </a:pPr>
            <a:r>
              <a:rPr lang="en-US" sz="2400" dirty="0"/>
              <a:t>You probably don't want to wait until the window manager thinks your window needs redrawing. If nobody is changing things on the screen otherwise, it may not redraw until way too late!</a:t>
            </a:r>
          </a:p>
          <a:p>
            <a:pPr marL="0" indent="0">
              <a:buNone/>
            </a:pPr>
            <a:r>
              <a:rPr lang="en-US" sz="2400" dirty="0"/>
              <a:t>If you have new information you want depicted on screen, call repaint().</a:t>
            </a:r>
          </a:p>
        </p:txBody>
      </p:sp>
    </p:spTree>
    <p:extLst>
      <p:ext uri="{BB962C8B-B14F-4D97-AF65-F5344CB8AC3E}">
        <p14:creationId xmlns:p14="http://schemas.microsoft.com/office/powerpoint/2010/main" val="2918083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E973-13CD-2703-B94E-DEF8C91C92A8}"/>
              </a:ext>
            </a:extLst>
          </p:cNvPr>
          <p:cNvSpPr>
            <a:spLocks noGrp="1"/>
          </p:cNvSpPr>
          <p:nvPr>
            <p:ph type="title"/>
          </p:nvPr>
        </p:nvSpPr>
        <p:spPr/>
        <p:txBody>
          <a:bodyPr/>
          <a:lstStyle/>
          <a:p>
            <a:pPr algn="ctr"/>
            <a:r>
              <a:rPr lang="en-US" dirty="0" err="1"/>
              <a:t>paintComponent</a:t>
            </a:r>
            <a:r>
              <a:rPr lang="en-US" dirty="0"/>
              <a:t> Example</a:t>
            </a:r>
          </a:p>
        </p:txBody>
      </p:sp>
      <p:sp>
        <p:nvSpPr>
          <p:cNvPr id="3" name="Content Placeholder 2">
            <a:extLst>
              <a:ext uri="{FF2B5EF4-FFF2-40B4-BE49-F238E27FC236}">
                <a16:creationId xmlns:a16="http://schemas.microsoft.com/office/drawing/2014/main" id="{ACC24FB9-28F0-4CA2-1B17-54E590119ED5}"/>
              </a:ext>
            </a:extLst>
          </p:cNvPr>
          <p:cNvSpPr>
            <a:spLocks noGrp="1"/>
          </p:cNvSpPr>
          <p:nvPr>
            <p:ph idx="1"/>
          </p:nvPr>
        </p:nvSpPr>
        <p:spPr/>
        <p:txBody>
          <a:bodyPr>
            <a:normAutofit/>
          </a:bodyPr>
          <a:lstStyle/>
          <a:p>
            <a:pPr marL="0" indent="0">
              <a:buNone/>
            </a:pPr>
            <a:r>
              <a:rPr lang="en-US" sz="2400" dirty="0"/>
              <a:t>In order to draw things on a component, you will actually draw in a </a:t>
            </a:r>
            <a:r>
              <a:rPr lang="en-US" sz="2400" dirty="0" err="1"/>
              <a:t>JPanel</a:t>
            </a:r>
            <a:r>
              <a:rPr lang="en-US" sz="2400" dirty="0"/>
              <a:t> that is created for that purpose.  </a:t>
            </a:r>
          </a:p>
          <a:p>
            <a:pPr marL="0" indent="0">
              <a:buNone/>
            </a:pPr>
            <a:r>
              <a:rPr lang="en-US" sz="2400" dirty="0"/>
              <a:t>You will need to define a class  that extends </a:t>
            </a:r>
            <a:r>
              <a:rPr lang="en-US" sz="2400" dirty="0" err="1"/>
              <a:t>JPanel</a:t>
            </a:r>
            <a:r>
              <a:rPr lang="en-US" sz="2400" dirty="0"/>
              <a:t> and overrides its </a:t>
            </a:r>
            <a:r>
              <a:rPr lang="en-US" sz="2400" dirty="0" err="1"/>
              <a:t>paintComponent</a:t>
            </a:r>
            <a:r>
              <a:rPr lang="en-US" sz="2400" dirty="0"/>
              <a:t> method to specify what to draw. </a:t>
            </a:r>
          </a:p>
          <a:p>
            <a:pPr marL="0" indent="0">
              <a:buNone/>
            </a:pPr>
            <a:r>
              <a:rPr lang="en-US" sz="2400" dirty="0"/>
              <a:t>This  program demonstrates drawing a line and a text string using </a:t>
            </a:r>
            <a:r>
              <a:rPr lang="en-US" sz="2400" dirty="0" err="1"/>
              <a:t>paintComponent</a:t>
            </a:r>
            <a:r>
              <a:rPr lang="en-US" sz="2400" dirty="0"/>
              <a:t>. </a:t>
            </a:r>
          </a:p>
          <a:p>
            <a:pPr marL="0" indent="0">
              <a:buNone/>
            </a:pPr>
            <a:endParaRPr lang="en-US" sz="2400" dirty="0"/>
          </a:p>
        </p:txBody>
      </p:sp>
    </p:spTree>
    <p:extLst>
      <p:ext uri="{BB962C8B-B14F-4D97-AF65-F5344CB8AC3E}">
        <p14:creationId xmlns:p14="http://schemas.microsoft.com/office/powerpoint/2010/main" val="1329912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FE02A-F564-B77D-BD72-45132754213B}"/>
              </a:ext>
            </a:extLst>
          </p:cNvPr>
          <p:cNvSpPr>
            <a:spLocks noGrp="1"/>
          </p:cNvSpPr>
          <p:nvPr>
            <p:ph type="title"/>
          </p:nvPr>
        </p:nvSpPr>
        <p:spPr>
          <a:xfrm>
            <a:off x="2592925" y="306333"/>
            <a:ext cx="8911687" cy="779517"/>
          </a:xfrm>
        </p:spPr>
        <p:txBody>
          <a:bodyPr/>
          <a:lstStyle/>
          <a:p>
            <a:r>
              <a:rPr lang="en-US" dirty="0" err="1"/>
              <a:t>paintComponent</a:t>
            </a:r>
            <a:r>
              <a:rPr lang="en-US" dirty="0"/>
              <a:t> creates a message</a:t>
            </a:r>
          </a:p>
        </p:txBody>
      </p:sp>
      <p:sp>
        <p:nvSpPr>
          <p:cNvPr id="3" name="Content Placeholder 2">
            <a:extLst>
              <a:ext uri="{FF2B5EF4-FFF2-40B4-BE49-F238E27FC236}">
                <a16:creationId xmlns:a16="http://schemas.microsoft.com/office/drawing/2014/main" id="{8AC7C666-FAA4-C8E0-A6F3-947DB44EEA9D}"/>
              </a:ext>
            </a:extLst>
          </p:cNvPr>
          <p:cNvSpPr>
            <a:spLocks noGrp="1"/>
          </p:cNvSpPr>
          <p:nvPr>
            <p:ph idx="1"/>
          </p:nvPr>
        </p:nvSpPr>
        <p:spPr>
          <a:xfrm>
            <a:off x="2760662" y="1085850"/>
            <a:ext cx="8915400" cy="5581650"/>
          </a:xfrm>
        </p:spPr>
        <p:txBody>
          <a:bodyPr>
            <a:normAutofit fontScale="85000" lnSpcReduction="20000"/>
          </a:bodyPr>
          <a:lstStyle/>
          <a:p>
            <a:pPr marL="0" indent="0">
              <a:buNone/>
            </a:pPr>
            <a:r>
              <a:rPr lang="en-US" dirty="0"/>
              <a:t>First, we  create our project with a </a:t>
            </a:r>
            <a:r>
              <a:rPr lang="en-US" dirty="0" err="1"/>
              <a:t>JFrame</a:t>
            </a:r>
            <a:r>
              <a:rPr lang="en-US" dirty="0"/>
              <a:t> class called </a:t>
            </a:r>
            <a:r>
              <a:rPr lang="en-US" dirty="0" err="1"/>
              <a:t>TestPaintComponent</a:t>
            </a:r>
            <a:r>
              <a:rPr lang="en-US" dirty="0"/>
              <a:t>:</a:t>
            </a:r>
          </a:p>
          <a:p>
            <a:pPr marL="0" indent="0">
              <a:buNone/>
            </a:pPr>
            <a:r>
              <a:rPr lang="en-US" b="1" dirty="0"/>
              <a:t>public class </a:t>
            </a:r>
            <a:r>
              <a:rPr lang="en-US" b="1" dirty="0" err="1"/>
              <a:t>TestPaintComponent</a:t>
            </a:r>
            <a:r>
              <a:rPr lang="en-US" b="1" dirty="0"/>
              <a:t> extends </a:t>
            </a:r>
            <a:r>
              <a:rPr lang="en-US" b="1" dirty="0" err="1"/>
              <a:t>JFrame</a:t>
            </a:r>
            <a:r>
              <a:rPr lang="en-US" b="1" dirty="0"/>
              <a:t> {</a:t>
            </a:r>
          </a:p>
          <a:p>
            <a:endParaRPr lang="en-US" b="1" dirty="0"/>
          </a:p>
          <a:p>
            <a:pPr marL="0" indent="0">
              <a:buNone/>
            </a:pPr>
            <a:r>
              <a:rPr lang="en-US" dirty="0"/>
              <a:t>Add a new Panel() to the constructor of the class:</a:t>
            </a:r>
          </a:p>
          <a:p>
            <a:pPr marL="0" indent="0">
              <a:buNone/>
            </a:pPr>
            <a:r>
              <a:rPr lang="en-US" dirty="0"/>
              <a:t> </a:t>
            </a:r>
            <a:r>
              <a:rPr lang="en-US" b="1" dirty="0"/>
              <a:t>public </a:t>
            </a:r>
            <a:r>
              <a:rPr lang="en-US" b="1" dirty="0" err="1"/>
              <a:t>TestPaintComponent</a:t>
            </a:r>
            <a:r>
              <a:rPr lang="en-US" b="1" dirty="0"/>
              <a:t>() {</a:t>
            </a:r>
          </a:p>
          <a:p>
            <a:pPr marL="0" indent="0">
              <a:buNone/>
            </a:pPr>
            <a:r>
              <a:rPr lang="en-US" b="1" dirty="0"/>
              <a:t>    add(new </a:t>
            </a:r>
            <a:r>
              <a:rPr lang="en-US" b="1" dirty="0" err="1"/>
              <a:t>NewPanel</a:t>
            </a:r>
            <a:r>
              <a:rPr lang="en-US" b="1" dirty="0"/>
              <a:t>());</a:t>
            </a:r>
          </a:p>
          <a:p>
            <a:pPr marL="0" indent="0">
              <a:buNone/>
            </a:pPr>
            <a:r>
              <a:rPr lang="en-US" b="1" dirty="0"/>
              <a:t>  }</a:t>
            </a:r>
          </a:p>
          <a:p>
            <a:pPr marL="0" indent="0">
              <a:buNone/>
            </a:pPr>
            <a:endParaRPr lang="en-US" b="1" dirty="0"/>
          </a:p>
          <a:p>
            <a:pPr marL="0" indent="0">
              <a:buNone/>
            </a:pPr>
            <a:r>
              <a:rPr lang="en-US" dirty="0"/>
              <a:t>Now add main and set the project properties:</a:t>
            </a:r>
          </a:p>
          <a:p>
            <a:pPr marL="0" indent="0">
              <a:buNone/>
            </a:pPr>
            <a:r>
              <a:rPr lang="en-US" b="1" dirty="0"/>
              <a:t> public static void main(String[] </a:t>
            </a:r>
            <a:r>
              <a:rPr lang="en-US" b="1" dirty="0" err="1"/>
              <a:t>args</a:t>
            </a:r>
            <a:r>
              <a:rPr lang="en-US" b="1" dirty="0"/>
              <a:t>) {</a:t>
            </a:r>
          </a:p>
          <a:p>
            <a:pPr marL="0" indent="0">
              <a:buNone/>
            </a:pPr>
            <a:r>
              <a:rPr lang="en-US" b="1" dirty="0"/>
              <a:t>    </a:t>
            </a:r>
            <a:r>
              <a:rPr lang="en-US" b="1" dirty="0" err="1"/>
              <a:t>TestPaintComponent</a:t>
            </a:r>
            <a:r>
              <a:rPr lang="en-US" b="1" dirty="0"/>
              <a:t> frame = new </a:t>
            </a:r>
            <a:r>
              <a:rPr lang="en-US" b="1" dirty="0" err="1"/>
              <a:t>TestPaintComponent</a:t>
            </a:r>
            <a:r>
              <a:rPr lang="en-US" b="1" dirty="0"/>
              <a:t>();</a:t>
            </a:r>
          </a:p>
          <a:p>
            <a:pPr marL="0" indent="0">
              <a:buNone/>
            </a:pPr>
            <a:r>
              <a:rPr lang="en-US" b="1" dirty="0"/>
              <a:t>    </a:t>
            </a:r>
            <a:r>
              <a:rPr lang="en-US" b="1" dirty="0" err="1"/>
              <a:t>frame.setTitle</a:t>
            </a:r>
            <a:r>
              <a:rPr lang="en-US" b="1" dirty="0"/>
              <a:t>("</a:t>
            </a:r>
            <a:r>
              <a:rPr lang="en-US" b="1" dirty="0" err="1"/>
              <a:t>TestPaintComponent</a:t>
            </a:r>
            <a:r>
              <a:rPr lang="en-US" b="1" dirty="0"/>
              <a:t>");</a:t>
            </a:r>
          </a:p>
          <a:p>
            <a:pPr marL="0" indent="0">
              <a:buNone/>
            </a:pPr>
            <a:r>
              <a:rPr lang="en-US" b="1" dirty="0"/>
              <a:t>    </a:t>
            </a:r>
            <a:r>
              <a:rPr lang="en-US" b="1" dirty="0" err="1"/>
              <a:t>frame.setSize</a:t>
            </a:r>
            <a:r>
              <a:rPr lang="en-US" b="1" dirty="0"/>
              <a:t>(200, 100);</a:t>
            </a:r>
          </a:p>
          <a:p>
            <a:pPr marL="0" indent="0">
              <a:buNone/>
            </a:pPr>
            <a:r>
              <a:rPr lang="en-US" b="1" dirty="0"/>
              <a:t>    </a:t>
            </a:r>
            <a:r>
              <a:rPr lang="en-US" b="1" dirty="0" err="1"/>
              <a:t>frame.setLocationRelativeTo</a:t>
            </a:r>
            <a:r>
              <a:rPr lang="en-US" b="1" dirty="0"/>
              <a:t>(null); // Center the frame   </a:t>
            </a:r>
          </a:p>
          <a:p>
            <a:pPr marL="0" indent="0">
              <a:buNone/>
            </a:pPr>
            <a:r>
              <a:rPr lang="en-US" b="1" dirty="0"/>
              <a:t>    </a:t>
            </a:r>
            <a:r>
              <a:rPr lang="en-US" b="1" dirty="0" err="1"/>
              <a:t>frame.setDefaultCloseOperation</a:t>
            </a:r>
            <a:r>
              <a:rPr lang="en-US" b="1" dirty="0"/>
              <a:t>(</a:t>
            </a:r>
            <a:r>
              <a:rPr lang="en-US" b="1" dirty="0" err="1"/>
              <a:t>JFrame.EXIT_ON_CLOSE</a:t>
            </a:r>
            <a:r>
              <a:rPr lang="en-US" b="1" dirty="0"/>
              <a:t>);</a:t>
            </a:r>
          </a:p>
          <a:p>
            <a:pPr marL="0" indent="0">
              <a:buNone/>
            </a:pPr>
            <a:r>
              <a:rPr lang="en-US" b="1" dirty="0"/>
              <a:t>    </a:t>
            </a:r>
            <a:r>
              <a:rPr lang="en-US" b="1" dirty="0" err="1"/>
              <a:t>frame.setVisible</a:t>
            </a:r>
            <a:r>
              <a:rPr lang="en-US" b="1" dirty="0"/>
              <a:t>(true);    </a:t>
            </a:r>
          </a:p>
          <a:p>
            <a:pPr marL="0" indent="0">
              <a:buNone/>
            </a:pPr>
            <a:r>
              <a:rPr lang="en-US" b="1" dirty="0"/>
              <a:t>  }</a:t>
            </a:r>
          </a:p>
          <a:p>
            <a:pPr marL="0" indent="0">
              <a:buNone/>
            </a:pPr>
            <a:r>
              <a:rPr lang="en-US" b="1" dirty="0"/>
              <a:t>}</a:t>
            </a:r>
          </a:p>
        </p:txBody>
      </p:sp>
    </p:spTree>
    <p:extLst>
      <p:ext uri="{BB962C8B-B14F-4D97-AF65-F5344CB8AC3E}">
        <p14:creationId xmlns:p14="http://schemas.microsoft.com/office/powerpoint/2010/main" val="2709244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41167-8E98-E032-6C06-56168476B1EC}"/>
              </a:ext>
            </a:extLst>
          </p:cNvPr>
          <p:cNvSpPr>
            <a:spLocks noGrp="1"/>
          </p:cNvSpPr>
          <p:nvPr>
            <p:ph type="title"/>
          </p:nvPr>
        </p:nvSpPr>
        <p:spPr/>
        <p:txBody>
          <a:bodyPr/>
          <a:lstStyle/>
          <a:p>
            <a:r>
              <a:rPr lang="en-US" dirty="0" err="1"/>
              <a:t>paintComponent</a:t>
            </a:r>
            <a:r>
              <a:rPr lang="en-US" dirty="0"/>
              <a:t> creates a message, cont.</a:t>
            </a:r>
          </a:p>
        </p:txBody>
      </p:sp>
      <p:sp>
        <p:nvSpPr>
          <p:cNvPr id="3" name="Content Placeholder 2">
            <a:extLst>
              <a:ext uri="{FF2B5EF4-FFF2-40B4-BE49-F238E27FC236}">
                <a16:creationId xmlns:a16="http://schemas.microsoft.com/office/drawing/2014/main" id="{E13E96D9-7019-780F-E0F4-DCEA4E781382}"/>
              </a:ext>
            </a:extLst>
          </p:cNvPr>
          <p:cNvSpPr>
            <a:spLocks noGrp="1"/>
          </p:cNvSpPr>
          <p:nvPr>
            <p:ph idx="1"/>
          </p:nvPr>
        </p:nvSpPr>
        <p:spPr/>
        <p:txBody>
          <a:bodyPr>
            <a:normAutofit fontScale="92500" lnSpcReduction="20000"/>
          </a:bodyPr>
          <a:lstStyle/>
          <a:p>
            <a:pPr marL="0" indent="0">
              <a:buNone/>
            </a:pPr>
            <a:r>
              <a:rPr lang="en-US" dirty="0"/>
              <a:t>Create  the </a:t>
            </a:r>
            <a:r>
              <a:rPr lang="en-US" dirty="0" err="1"/>
              <a:t>NewPanel</a:t>
            </a:r>
            <a:r>
              <a:rPr lang="en-US" dirty="0"/>
              <a:t>:</a:t>
            </a:r>
          </a:p>
          <a:p>
            <a:pPr marL="0" indent="0">
              <a:buNone/>
            </a:pPr>
            <a:r>
              <a:rPr lang="en-US" b="1" dirty="0"/>
              <a:t>class </a:t>
            </a:r>
            <a:r>
              <a:rPr lang="en-US" b="1" dirty="0" err="1"/>
              <a:t>NewPanel</a:t>
            </a:r>
            <a:r>
              <a:rPr lang="en-US" b="1" dirty="0"/>
              <a:t> extends </a:t>
            </a:r>
            <a:r>
              <a:rPr lang="en-US" b="1" dirty="0" err="1"/>
              <a:t>JPanel</a:t>
            </a:r>
            <a:r>
              <a:rPr lang="en-US" b="1" dirty="0"/>
              <a:t> {</a:t>
            </a:r>
          </a:p>
          <a:p>
            <a:endParaRPr lang="en-US" dirty="0"/>
          </a:p>
          <a:p>
            <a:pPr marL="0" indent="0">
              <a:buNone/>
            </a:pPr>
            <a:r>
              <a:rPr lang="en-US" dirty="0"/>
              <a:t>And override the </a:t>
            </a:r>
            <a:r>
              <a:rPr lang="en-US" dirty="0" err="1"/>
              <a:t>paintComponent</a:t>
            </a:r>
            <a:r>
              <a:rPr lang="en-US" dirty="0"/>
              <a:t> method, passing it a Graphics object:</a:t>
            </a:r>
          </a:p>
          <a:p>
            <a:pPr marL="0" indent="0">
              <a:buNone/>
            </a:pPr>
            <a:r>
              <a:rPr lang="en-US" b="1" dirty="0"/>
              <a:t> @Override</a:t>
            </a:r>
          </a:p>
          <a:p>
            <a:pPr marL="0" indent="0">
              <a:buNone/>
            </a:pPr>
            <a:r>
              <a:rPr lang="en-US" b="1" dirty="0"/>
              <a:t>  protected void </a:t>
            </a:r>
            <a:r>
              <a:rPr lang="en-US" b="1" dirty="0" err="1"/>
              <a:t>paintComponent</a:t>
            </a:r>
            <a:r>
              <a:rPr lang="en-US" b="1" dirty="0"/>
              <a:t>(Graphics g) {</a:t>
            </a:r>
          </a:p>
          <a:p>
            <a:pPr marL="0" indent="0">
              <a:buNone/>
            </a:pPr>
            <a:r>
              <a:rPr lang="en-US" b="1" dirty="0"/>
              <a:t>    </a:t>
            </a:r>
            <a:r>
              <a:rPr lang="en-US" b="1" dirty="0" err="1"/>
              <a:t>super.paintComponent</a:t>
            </a:r>
            <a:r>
              <a:rPr lang="en-US" b="1" dirty="0"/>
              <a:t>(g);</a:t>
            </a:r>
          </a:p>
          <a:p>
            <a:pPr marL="0" indent="0">
              <a:buNone/>
            </a:pPr>
            <a:r>
              <a:rPr lang="en-US" b="1" dirty="0"/>
              <a:t>    </a:t>
            </a:r>
            <a:r>
              <a:rPr lang="en-US" b="1" dirty="0" err="1"/>
              <a:t>g.drawLine</a:t>
            </a:r>
            <a:r>
              <a:rPr lang="en-US" b="1" dirty="0"/>
              <a:t>(0, 0, 50, 50);</a:t>
            </a:r>
          </a:p>
          <a:p>
            <a:pPr marL="0" indent="0">
              <a:buNone/>
            </a:pPr>
            <a:r>
              <a:rPr lang="en-US" b="1" dirty="0"/>
              <a:t>    </a:t>
            </a:r>
            <a:r>
              <a:rPr lang="en-US" b="1" dirty="0" err="1"/>
              <a:t>g.drawString</a:t>
            </a:r>
            <a:r>
              <a:rPr lang="en-US" b="1" dirty="0"/>
              <a:t>("Banner", 0, 40);</a:t>
            </a:r>
          </a:p>
          <a:p>
            <a:pPr marL="0" indent="0">
              <a:buNone/>
            </a:pPr>
            <a:r>
              <a:rPr lang="en-US" b="1" dirty="0"/>
              <a:t>  }</a:t>
            </a:r>
          </a:p>
          <a:p>
            <a:pPr marL="0" indent="0">
              <a:buNone/>
            </a:pPr>
            <a:r>
              <a:rPr lang="en-US" b="1" dirty="0"/>
              <a:t>}</a:t>
            </a:r>
          </a:p>
        </p:txBody>
      </p:sp>
    </p:spTree>
    <p:extLst>
      <p:ext uri="{BB962C8B-B14F-4D97-AF65-F5344CB8AC3E}">
        <p14:creationId xmlns:p14="http://schemas.microsoft.com/office/powerpoint/2010/main" val="2637982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8BE0F-322D-75CD-6628-45536D56894D}"/>
              </a:ext>
            </a:extLst>
          </p:cNvPr>
          <p:cNvSpPr>
            <a:spLocks noGrp="1"/>
          </p:cNvSpPr>
          <p:nvPr>
            <p:ph type="title"/>
          </p:nvPr>
        </p:nvSpPr>
        <p:spPr/>
        <p:txBody>
          <a:bodyPr/>
          <a:lstStyle/>
          <a:p>
            <a:r>
              <a:rPr lang="en-US" dirty="0"/>
              <a:t>Drawing Geometric Figures</a:t>
            </a:r>
          </a:p>
        </p:txBody>
      </p:sp>
      <p:sp>
        <p:nvSpPr>
          <p:cNvPr id="3" name="Content Placeholder 2">
            <a:extLst>
              <a:ext uri="{FF2B5EF4-FFF2-40B4-BE49-F238E27FC236}">
                <a16:creationId xmlns:a16="http://schemas.microsoft.com/office/drawing/2014/main" id="{7A0FF084-6FF7-6495-61DD-1A2785B8615F}"/>
              </a:ext>
            </a:extLst>
          </p:cNvPr>
          <p:cNvSpPr>
            <a:spLocks noGrp="1"/>
          </p:cNvSpPr>
          <p:nvPr>
            <p:ph idx="1"/>
          </p:nvPr>
        </p:nvSpPr>
        <p:spPr/>
        <p:txBody>
          <a:bodyPr>
            <a:normAutofit/>
          </a:bodyPr>
          <a:lstStyle/>
          <a:p>
            <a:r>
              <a:rPr lang="en-US" sz="2400" dirty="0"/>
              <a:t>Drawing Strings</a:t>
            </a:r>
          </a:p>
          <a:p>
            <a:r>
              <a:rPr lang="en-US" sz="2400" dirty="0"/>
              <a:t>Drawing Lines</a:t>
            </a:r>
          </a:p>
          <a:p>
            <a:r>
              <a:rPr lang="en-US" sz="2400" dirty="0"/>
              <a:t>Drawing Rectangles</a:t>
            </a:r>
          </a:p>
          <a:p>
            <a:r>
              <a:rPr lang="en-US" sz="2400" dirty="0"/>
              <a:t>Drawing Ovals</a:t>
            </a:r>
          </a:p>
          <a:p>
            <a:r>
              <a:rPr lang="en-US" sz="2400" dirty="0"/>
              <a:t>Drawing Arcs</a:t>
            </a:r>
          </a:p>
          <a:p>
            <a:r>
              <a:rPr lang="en-US" sz="2400" dirty="0"/>
              <a:t>Drawing Polygons</a:t>
            </a:r>
          </a:p>
          <a:p>
            <a:endParaRPr lang="en-US" sz="2400" dirty="0"/>
          </a:p>
        </p:txBody>
      </p:sp>
    </p:spTree>
    <p:extLst>
      <p:ext uri="{BB962C8B-B14F-4D97-AF65-F5344CB8AC3E}">
        <p14:creationId xmlns:p14="http://schemas.microsoft.com/office/powerpoint/2010/main" val="2544403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57797-B537-CF3E-EE97-C1D2A4322A93}"/>
              </a:ext>
            </a:extLst>
          </p:cNvPr>
          <p:cNvSpPr>
            <a:spLocks noGrp="1"/>
          </p:cNvSpPr>
          <p:nvPr>
            <p:ph type="title"/>
          </p:nvPr>
        </p:nvSpPr>
        <p:spPr/>
        <p:txBody>
          <a:bodyPr/>
          <a:lstStyle/>
          <a:p>
            <a:pPr algn="ctr"/>
            <a:r>
              <a:rPr lang="en-US" dirty="0"/>
              <a:t>Drawing Strings</a:t>
            </a:r>
          </a:p>
        </p:txBody>
      </p:sp>
      <p:pic>
        <p:nvPicPr>
          <p:cNvPr id="4" name="Content Placeholder 3">
            <a:extLst>
              <a:ext uri="{FF2B5EF4-FFF2-40B4-BE49-F238E27FC236}">
                <a16:creationId xmlns:a16="http://schemas.microsoft.com/office/drawing/2014/main" id="{AE3AA0C4-F198-082E-8AD4-F4388AB5507E}"/>
              </a:ext>
            </a:extLst>
          </p:cNvPr>
          <p:cNvPicPr>
            <a:picLocks noGrp="1" noChangeAspect="1"/>
          </p:cNvPicPr>
          <p:nvPr>
            <p:ph idx="1"/>
          </p:nvPr>
        </p:nvPicPr>
        <p:blipFill>
          <a:blip r:embed="rId2"/>
          <a:stretch>
            <a:fillRect/>
          </a:stretch>
        </p:blipFill>
        <p:spPr>
          <a:xfrm>
            <a:off x="2836863" y="1630497"/>
            <a:ext cx="8915400" cy="2060306"/>
          </a:xfrm>
          <a:prstGeom prst="rect">
            <a:avLst/>
          </a:prstGeom>
          <a:ln>
            <a:solidFill>
              <a:schemeClr val="tx1"/>
            </a:solidFill>
          </a:ln>
        </p:spPr>
      </p:pic>
      <p:pic>
        <p:nvPicPr>
          <p:cNvPr id="5" name="Picture 4">
            <a:extLst>
              <a:ext uri="{FF2B5EF4-FFF2-40B4-BE49-F238E27FC236}">
                <a16:creationId xmlns:a16="http://schemas.microsoft.com/office/drawing/2014/main" id="{23D5A20B-B81A-2E4B-5668-A4ECCF2D0EAE}"/>
              </a:ext>
            </a:extLst>
          </p:cNvPr>
          <p:cNvPicPr>
            <a:picLocks noChangeAspect="1"/>
          </p:cNvPicPr>
          <p:nvPr/>
        </p:nvPicPr>
        <p:blipFill>
          <a:blip r:embed="rId3"/>
          <a:stretch>
            <a:fillRect/>
          </a:stretch>
        </p:blipFill>
        <p:spPr>
          <a:xfrm>
            <a:off x="3125074" y="3952765"/>
            <a:ext cx="4090771" cy="499915"/>
          </a:xfrm>
          <a:prstGeom prst="rect">
            <a:avLst/>
          </a:prstGeom>
        </p:spPr>
      </p:pic>
      <p:pic>
        <p:nvPicPr>
          <p:cNvPr id="6" name="Picture 5">
            <a:extLst>
              <a:ext uri="{FF2B5EF4-FFF2-40B4-BE49-F238E27FC236}">
                <a16:creationId xmlns:a16="http://schemas.microsoft.com/office/drawing/2014/main" id="{5553C0E3-42CE-8AF6-3724-BCDD7DC0EEFC}"/>
              </a:ext>
            </a:extLst>
          </p:cNvPr>
          <p:cNvPicPr>
            <a:picLocks noChangeAspect="1"/>
          </p:cNvPicPr>
          <p:nvPr/>
        </p:nvPicPr>
        <p:blipFill>
          <a:blip r:embed="rId4"/>
          <a:stretch>
            <a:fillRect/>
          </a:stretch>
        </p:blipFill>
        <p:spPr>
          <a:xfrm>
            <a:off x="7215845" y="3958861"/>
            <a:ext cx="4090771" cy="493819"/>
          </a:xfrm>
          <a:prstGeom prst="rect">
            <a:avLst/>
          </a:prstGeom>
        </p:spPr>
      </p:pic>
    </p:spTree>
    <p:extLst>
      <p:ext uri="{BB962C8B-B14F-4D97-AF65-F5344CB8AC3E}">
        <p14:creationId xmlns:p14="http://schemas.microsoft.com/office/powerpoint/2010/main" val="561928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7E8D7-A9A7-4BF4-DD5A-681C9F5CABA4}"/>
              </a:ext>
            </a:extLst>
          </p:cNvPr>
          <p:cNvSpPr>
            <a:spLocks noGrp="1"/>
          </p:cNvSpPr>
          <p:nvPr>
            <p:ph type="title"/>
          </p:nvPr>
        </p:nvSpPr>
        <p:spPr/>
        <p:txBody>
          <a:bodyPr/>
          <a:lstStyle/>
          <a:p>
            <a:pPr algn="ctr"/>
            <a:r>
              <a:rPr lang="en-US" dirty="0"/>
              <a:t>Drawing Rectangles</a:t>
            </a:r>
          </a:p>
        </p:txBody>
      </p:sp>
      <p:sp>
        <p:nvSpPr>
          <p:cNvPr id="3" name="Content Placeholder 2">
            <a:extLst>
              <a:ext uri="{FF2B5EF4-FFF2-40B4-BE49-F238E27FC236}">
                <a16:creationId xmlns:a16="http://schemas.microsoft.com/office/drawing/2014/main" id="{4CF5262C-6BA4-5240-BDAC-BC0CB015FABC}"/>
              </a:ext>
            </a:extLst>
          </p:cNvPr>
          <p:cNvSpPr>
            <a:spLocks noGrp="1"/>
          </p:cNvSpPr>
          <p:nvPr>
            <p:ph idx="1"/>
          </p:nvPr>
        </p:nvSpPr>
        <p:spPr>
          <a:xfrm>
            <a:off x="2295525" y="1400175"/>
            <a:ext cx="9304337" cy="3777622"/>
          </a:xfrm>
        </p:spPr>
        <p:txBody>
          <a:bodyPr>
            <a:normAutofit/>
          </a:bodyPr>
          <a:lstStyle/>
          <a:p>
            <a:pPr marL="0" indent="0">
              <a:buNone/>
            </a:pPr>
            <a:r>
              <a:rPr lang="en-US" sz="2400" dirty="0" err="1"/>
              <a:t>drawRect</a:t>
            </a:r>
            <a:r>
              <a:rPr lang="en-US" sz="2400" dirty="0"/>
              <a:t>(int x, int y, int w, int h);</a:t>
            </a:r>
          </a:p>
          <a:p>
            <a:pPr marL="0" indent="0">
              <a:buNone/>
            </a:pPr>
            <a:r>
              <a:rPr lang="en-US" sz="2400" dirty="0"/>
              <a:t>                                                        </a:t>
            </a:r>
            <a:r>
              <a:rPr lang="en-US" sz="2400" dirty="0" err="1"/>
              <a:t>fillRect</a:t>
            </a:r>
            <a:r>
              <a:rPr lang="en-US" sz="2400" dirty="0"/>
              <a:t>(int x, int y, int w, int h);</a:t>
            </a:r>
          </a:p>
          <a:p>
            <a:endParaRPr lang="en-US" sz="2400" dirty="0"/>
          </a:p>
        </p:txBody>
      </p:sp>
      <p:pic>
        <p:nvPicPr>
          <p:cNvPr id="4" name="Picture 3">
            <a:extLst>
              <a:ext uri="{FF2B5EF4-FFF2-40B4-BE49-F238E27FC236}">
                <a16:creationId xmlns:a16="http://schemas.microsoft.com/office/drawing/2014/main" id="{6691CEFD-0F89-8D8A-7EEF-F2BB36A372FA}"/>
              </a:ext>
            </a:extLst>
          </p:cNvPr>
          <p:cNvPicPr>
            <a:picLocks noChangeAspect="1"/>
          </p:cNvPicPr>
          <p:nvPr/>
        </p:nvPicPr>
        <p:blipFill>
          <a:blip r:embed="rId2"/>
          <a:stretch>
            <a:fillRect/>
          </a:stretch>
        </p:blipFill>
        <p:spPr>
          <a:xfrm>
            <a:off x="2684462" y="2767203"/>
            <a:ext cx="3756660" cy="2257044"/>
          </a:xfrm>
          <a:prstGeom prst="rect">
            <a:avLst/>
          </a:prstGeom>
        </p:spPr>
      </p:pic>
      <p:pic>
        <p:nvPicPr>
          <p:cNvPr id="5" name="Picture 4">
            <a:extLst>
              <a:ext uri="{FF2B5EF4-FFF2-40B4-BE49-F238E27FC236}">
                <a16:creationId xmlns:a16="http://schemas.microsoft.com/office/drawing/2014/main" id="{EB8586F6-2BFB-2D77-1E8B-A13397B5D804}"/>
              </a:ext>
            </a:extLst>
          </p:cNvPr>
          <p:cNvPicPr>
            <a:picLocks noChangeAspect="1"/>
          </p:cNvPicPr>
          <p:nvPr/>
        </p:nvPicPr>
        <p:blipFill>
          <a:blip r:embed="rId3"/>
          <a:stretch>
            <a:fillRect/>
          </a:stretch>
        </p:blipFill>
        <p:spPr>
          <a:xfrm>
            <a:off x="7142162" y="2737108"/>
            <a:ext cx="3756660" cy="2257044"/>
          </a:xfrm>
          <a:prstGeom prst="rect">
            <a:avLst/>
          </a:prstGeom>
        </p:spPr>
      </p:pic>
      <p:sp>
        <p:nvSpPr>
          <p:cNvPr id="6" name="Line 7">
            <a:extLst>
              <a:ext uri="{FF2B5EF4-FFF2-40B4-BE49-F238E27FC236}">
                <a16:creationId xmlns:a16="http://schemas.microsoft.com/office/drawing/2014/main" id="{98D02CEC-47AB-7B85-40DB-357681576431}"/>
              </a:ext>
            </a:extLst>
          </p:cNvPr>
          <p:cNvSpPr>
            <a:spLocks noChangeShapeType="1"/>
          </p:cNvSpPr>
          <p:nvPr/>
        </p:nvSpPr>
        <p:spPr bwMode="auto">
          <a:xfrm>
            <a:off x="8915400" y="2305050"/>
            <a:ext cx="0" cy="6096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Line 6">
            <a:extLst>
              <a:ext uri="{FF2B5EF4-FFF2-40B4-BE49-F238E27FC236}">
                <a16:creationId xmlns:a16="http://schemas.microsoft.com/office/drawing/2014/main" id="{6A25D96B-A271-7EA0-672C-32D5A2E3DE5C}"/>
              </a:ext>
            </a:extLst>
          </p:cNvPr>
          <p:cNvSpPr>
            <a:spLocks noChangeShapeType="1"/>
          </p:cNvSpPr>
          <p:nvPr/>
        </p:nvSpPr>
        <p:spPr bwMode="auto">
          <a:xfrm>
            <a:off x="4295775" y="1847850"/>
            <a:ext cx="0" cy="12954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209290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2A953-2C72-7DAD-7EF4-764DAD8DD3CD}"/>
              </a:ext>
            </a:extLst>
          </p:cNvPr>
          <p:cNvSpPr>
            <a:spLocks noGrp="1"/>
          </p:cNvSpPr>
          <p:nvPr>
            <p:ph type="title"/>
          </p:nvPr>
        </p:nvSpPr>
        <p:spPr/>
        <p:txBody>
          <a:bodyPr/>
          <a:lstStyle/>
          <a:p>
            <a:r>
              <a:rPr lang="en-US" dirty="0"/>
              <a:t>Drawing Rounded Rectangles</a:t>
            </a:r>
          </a:p>
        </p:txBody>
      </p:sp>
      <p:sp>
        <p:nvSpPr>
          <p:cNvPr id="3" name="Content Placeholder 2">
            <a:extLst>
              <a:ext uri="{FF2B5EF4-FFF2-40B4-BE49-F238E27FC236}">
                <a16:creationId xmlns:a16="http://schemas.microsoft.com/office/drawing/2014/main" id="{2B570380-0A00-6B79-A19A-16DA14276F2F}"/>
              </a:ext>
            </a:extLst>
          </p:cNvPr>
          <p:cNvSpPr>
            <a:spLocks noGrp="1"/>
          </p:cNvSpPr>
          <p:nvPr>
            <p:ph idx="1"/>
          </p:nvPr>
        </p:nvSpPr>
        <p:spPr>
          <a:xfrm>
            <a:off x="2417762" y="1590674"/>
            <a:ext cx="8915400" cy="1076325"/>
          </a:xfrm>
        </p:spPr>
        <p:txBody>
          <a:bodyPr>
            <a:normAutofit/>
          </a:bodyPr>
          <a:lstStyle/>
          <a:p>
            <a:pPr marL="0" indent="0">
              <a:buNone/>
            </a:pPr>
            <a:r>
              <a:rPr lang="en-US" sz="2400" dirty="0" err="1"/>
              <a:t>drawRoundRect</a:t>
            </a:r>
            <a:r>
              <a:rPr lang="en-US" sz="2400" dirty="0"/>
              <a:t>(int x, int y, int w, int h, int aw, int ah);</a:t>
            </a:r>
          </a:p>
          <a:p>
            <a:pPr marL="0" indent="0">
              <a:buNone/>
            </a:pPr>
            <a:r>
              <a:rPr lang="en-US" sz="2400" dirty="0" err="1"/>
              <a:t>fillRoundRect</a:t>
            </a:r>
            <a:r>
              <a:rPr lang="en-US" sz="2400" dirty="0"/>
              <a:t>(int x, int y, int w, int h, int aw, int ah);</a:t>
            </a:r>
          </a:p>
          <a:p>
            <a:pPr marL="0" indent="0">
              <a:buNone/>
            </a:pPr>
            <a:endParaRPr lang="en-US" sz="2400" dirty="0"/>
          </a:p>
        </p:txBody>
      </p:sp>
      <p:pic>
        <p:nvPicPr>
          <p:cNvPr id="4" name="Picture 3">
            <a:extLst>
              <a:ext uri="{FF2B5EF4-FFF2-40B4-BE49-F238E27FC236}">
                <a16:creationId xmlns:a16="http://schemas.microsoft.com/office/drawing/2014/main" id="{58DCD28A-9BCF-114F-9B38-FF9020F51717}"/>
              </a:ext>
            </a:extLst>
          </p:cNvPr>
          <p:cNvPicPr>
            <a:picLocks noChangeAspect="1"/>
          </p:cNvPicPr>
          <p:nvPr/>
        </p:nvPicPr>
        <p:blipFill>
          <a:blip r:embed="rId2"/>
          <a:stretch>
            <a:fillRect/>
          </a:stretch>
        </p:blipFill>
        <p:spPr>
          <a:xfrm>
            <a:off x="3695319" y="3170650"/>
            <a:ext cx="4972812" cy="3063240"/>
          </a:xfrm>
          <a:prstGeom prst="rect">
            <a:avLst/>
          </a:prstGeom>
        </p:spPr>
      </p:pic>
    </p:spTree>
    <p:extLst>
      <p:ext uri="{BB962C8B-B14F-4D97-AF65-F5344CB8AC3E}">
        <p14:creationId xmlns:p14="http://schemas.microsoft.com/office/powerpoint/2010/main" val="3507237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E8924-148C-E2CD-0D33-F20CAF12B4E0}"/>
              </a:ext>
            </a:extLst>
          </p:cNvPr>
          <p:cNvSpPr>
            <a:spLocks noGrp="1"/>
          </p:cNvSpPr>
          <p:nvPr>
            <p:ph type="title"/>
          </p:nvPr>
        </p:nvSpPr>
        <p:spPr/>
        <p:txBody>
          <a:bodyPr/>
          <a:lstStyle/>
          <a:p>
            <a:pPr algn="ctr"/>
            <a:r>
              <a:rPr lang="en-US" dirty="0"/>
              <a:t>Drawing Ovals</a:t>
            </a:r>
          </a:p>
        </p:txBody>
      </p:sp>
      <p:sp>
        <p:nvSpPr>
          <p:cNvPr id="3" name="Content Placeholder 2">
            <a:extLst>
              <a:ext uri="{FF2B5EF4-FFF2-40B4-BE49-F238E27FC236}">
                <a16:creationId xmlns:a16="http://schemas.microsoft.com/office/drawing/2014/main" id="{54A55877-698D-F560-81A1-C6E60F565B3E}"/>
              </a:ext>
            </a:extLst>
          </p:cNvPr>
          <p:cNvSpPr>
            <a:spLocks noGrp="1"/>
          </p:cNvSpPr>
          <p:nvPr>
            <p:ph idx="1"/>
          </p:nvPr>
        </p:nvSpPr>
        <p:spPr>
          <a:xfrm>
            <a:off x="2589212" y="1685925"/>
            <a:ext cx="8915400" cy="1066800"/>
          </a:xfrm>
        </p:spPr>
        <p:txBody>
          <a:bodyPr>
            <a:normAutofit/>
          </a:bodyPr>
          <a:lstStyle/>
          <a:p>
            <a:pPr marL="0" indent="0" algn="ctr">
              <a:buNone/>
            </a:pPr>
            <a:r>
              <a:rPr lang="en-US" sz="2400" dirty="0" err="1"/>
              <a:t>drawOval</a:t>
            </a:r>
            <a:r>
              <a:rPr lang="en-US" sz="2400" dirty="0"/>
              <a:t>(int x, int y, int w, int h);</a:t>
            </a:r>
          </a:p>
          <a:p>
            <a:pPr marL="0" indent="0" algn="ctr">
              <a:buNone/>
            </a:pPr>
            <a:r>
              <a:rPr lang="en-US" sz="2400" dirty="0" err="1"/>
              <a:t>fillOval</a:t>
            </a:r>
            <a:r>
              <a:rPr lang="en-US" sz="2400" dirty="0"/>
              <a:t>(int x, int y, int w, int h);</a:t>
            </a:r>
          </a:p>
          <a:p>
            <a:pPr marL="0" indent="0">
              <a:buNone/>
            </a:pPr>
            <a:endParaRPr lang="en-US" sz="2400" dirty="0"/>
          </a:p>
        </p:txBody>
      </p:sp>
      <p:graphicFrame>
        <p:nvGraphicFramePr>
          <p:cNvPr id="4" name="Object 4">
            <a:extLst>
              <a:ext uri="{FF2B5EF4-FFF2-40B4-BE49-F238E27FC236}">
                <a16:creationId xmlns:a16="http://schemas.microsoft.com/office/drawing/2014/main" id="{2D0202DC-1C57-1D69-1739-8BDA3CAC5C9D}"/>
              </a:ext>
            </a:extLst>
          </p:cNvPr>
          <p:cNvGraphicFramePr>
            <a:graphicFrameLocks noChangeAspect="1"/>
          </p:cNvGraphicFramePr>
          <p:nvPr>
            <p:extLst>
              <p:ext uri="{D42A27DB-BD31-4B8C-83A1-F6EECF244321}">
                <p14:modId xmlns:p14="http://schemas.microsoft.com/office/powerpoint/2010/main" val="582281893"/>
              </p:ext>
            </p:extLst>
          </p:nvPr>
        </p:nvGraphicFramePr>
        <p:xfrm>
          <a:off x="4457700" y="3048000"/>
          <a:ext cx="4868863" cy="3268663"/>
        </p:xfrm>
        <a:graphic>
          <a:graphicData uri="http://schemas.openxmlformats.org/presentationml/2006/ole">
            <mc:AlternateContent xmlns:mc="http://schemas.openxmlformats.org/markup-compatibility/2006">
              <mc:Choice xmlns:v="urn:schemas-microsoft-com:vml" Requires="v">
                <p:oleObj name="Picture" r:id="rId2" imgW="2743200" imgH="1828800" progId="Word.Picture.8">
                  <p:embed/>
                </p:oleObj>
              </mc:Choice>
              <mc:Fallback>
                <p:oleObj name="Picture" r:id="rId2" imgW="2743200" imgH="1828800" progId="Word.Picture.8">
                  <p:embed/>
                  <p:pic>
                    <p:nvPicPr>
                      <p:cNvPr id="20485" name="Object 4">
                        <a:extLst>
                          <a:ext uri="{FF2B5EF4-FFF2-40B4-BE49-F238E27FC236}">
                            <a16:creationId xmlns:a16="http://schemas.microsoft.com/office/drawing/2014/main" id="{11739396-2C1B-E16F-C420-B2898E1F9B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999" r="13000" b="9000"/>
                      <a:stretch>
                        <a:fillRect/>
                      </a:stretch>
                    </p:blipFill>
                    <p:spPr bwMode="auto">
                      <a:xfrm>
                        <a:off x="4457700" y="3048000"/>
                        <a:ext cx="4868863" cy="3268663"/>
                      </a:xfrm>
                      <a:prstGeom prst="rect">
                        <a:avLst/>
                      </a:prstGeom>
                      <a:solidFill>
                        <a:schemeClr val="bg2"/>
                      </a:solidFill>
                      <a:ln w="9525">
                        <a:solidFill>
                          <a:srgbClr val="FF0000"/>
                        </a:solidFill>
                        <a:miter lim="800000"/>
                        <a:headEnd type="none" w="sm" len="sm"/>
                        <a:tailEnd type="none" w="sm" len="sm"/>
                      </a:ln>
                    </p:spPr>
                  </p:pic>
                </p:oleObj>
              </mc:Fallback>
            </mc:AlternateContent>
          </a:graphicData>
        </a:graphic>
      </p:graphicFrame>
    </p:spTree>
    <p:extLst>
      <p:ext uri="{BB962C8B-B14F-4D97-AF65-F5344CB8AC3E}">
        <p14:creationId xmlns:p14="http://schemas.microsoft.com/office/powerpoint/2010/main" val="3140258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7CD46-AE57-4A3B-B079-DC5D93676987}"/>
              </a:ext>
            </a:extLst>
          </p:cNvPr>
          <p:cNvSpPr>
            <a:spLocks noGrp="1"/>
          </p:cNvSpPr>
          <p:nvPr>
            <p:ph type="title"/>
          </p:nvPr>
        </p:nvSpPr>
        <p:spPr/>
        <p:txBody>
          <a:bodyPr/>
          <a:lstStyle/>
          <a:p>
            <a:pPr algn="ctr"/>
            <a:r>
              <a:rPr lang="en-US" dirty="0"/>
              <a:t>Drawing Arcs</a:t>
            </a:r>
          </a:p>
        </p:txBody>
      </p:sp>
      <p:sp>
        <p:nvSpPr>
          <p:cNvPr id="3" name="Content Placeholder 2">
            <a:extLst>
              <a:ext uri="{FF2B5EF4-FFF2-40B4-BE49-F238E27FC236}">
                <a16:creationId xmlns:a16="http://schemas.microsoft.com/office/drawing/2014/main" id="{347F5DAF-1C9C-97BF-0699-DB37DDC3A530}"/>
              </a:ext>
            </a:extLst>
          </p:cNvPr>
          <p:cNvSpPr>
            <a:spLocks noGrp="1"/>
          </p:cNvSpPr>
          <p:nvPr>
            <p:ph idx="1"/>
          </p:nvPr>
        </p:nvSpPr>
        <p:spPr>
          <a:xfrm>
            <a:off x="2589212" y="1743075"/>
            <a:ext cx="8915400" cy="3777622"/>
          </a:xfrm>
        </p:spPr>
        <p:txBody>
          <a:bodyPr>
            <a:normAutofit/>
          </a:bodyPr>
          <a:lstStyle/>
          <a:p>
            <a:pPr marL="0" indent="0">
              <a:buNone/>
            </a:pPr>
            <a:r>
              <a:rPr lang="en-US" sz="2400" dirty="0" err="1"/>
              <a:t>drawArc</a:t>
            </a:r>
            <a:r>
              <a:rPr lang="en-US" sz="2400" dirty="0"/>
              <a:t>(int x, int y, int w, int h, int angle1, int angle2);</a:t>
            </a:r>
          </a:p>
          <a:p>
            <a:pPr marL="0" indent="0">
              <a:buNone/>
            </a:pPr>
            <a:r>
              <a:rPr lang="en-US" sz="2400" dirty="0" err="1"/>
              <a:t>fillArc</a:t>
            </a:r>
            <a:r>
              <a:rPr lang="en-US" sz="2400" dirty="0"/>
              <a:t>(int x, int y, int w, int h, int angle1, int angle2);</a:t>
            </a:r>
          </a:p>
          <a:p>
            <a:pPr marL="0" indent="0">
              <a:buNone/>
            </a:pPr>
            <a:endParaRPr lang="en-US" sz="2400" dirty="0"/>
          </a:p>
        </p:txBody>
      </p:sp>
      <p:pic>
        <p:nvPicPr>
          <p:cNvPr id="4" name="Picture 3">
            <a:extLst>
              <a:ext uri="{FF2B5EF4-FFF2-40B4-BE49-F238E27FC236}">
                <a16:creationId xmlns:a16="http://schemas.microsoft.com/office/drawing/2014/main" id="{8D3CAD69-B8DA-9C4E-4051-FF2D992D9512}"/>
              </a:ext>
            </a:extLst>
          </p:cNvPr>
          <p:cNvPicPr>
            <a:picLocks noChangeAspect="1"/>
          </p:cNvPicPr>
          <p:nvPr/>
        </p:nvPicPr>
        <p:blipFill>
          <a:blip r:embed="rId2"/>
          <a:stretch>
            <a:fillRect/>
          </a:stretch>
        </p:blipFill>
        <p:spPr>
          <a:xfrm>
            <a:off x="3618738" y="3104007"/>
            <a:ext cx="5183124" cy="3564636"/>
          </a:xfrm>
          <a:prstGeom prst="rect">
            <a:avLst/>
          </a:prstGeom>
          <a:ln>
            <a:solidFill>
              <a:schemeClr val="tx1"/>
            </a:solidFill>
          </a:ln>
        </p:spPr>
      </p:pic>
    </p:spTree>
    <p:extLst>
      <p:ext uri="{BB962C8B-B14F-4D97-AF65-F5344CB8AC3E}">
        <p14:creationId xmlns:p14="http://schemas.microsoft.com/office/powerpoint/2010/main" val="701674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C3CA1-351F-6AE1-C2EF-1A9DA66CDEE7}"/>
              </a:ext>
            </a:extLst>
          </p:cNvPr>
          <p:cNvSpPr>
            <a:spLocks noGrp="1"/>
          </p:cNvSpPr>
          <p:nvPr>
            <p:ph type="title"/>
          </p:nvPr>
        </p:nvSpPr>
        <p:spPr/>
        <p:txBody>
          <a:bodyPr/>
          <a:lstStyle/>
          <a:p>
            <a:pPr algn="ctr"/>
            <a:r>
              <a:rPr lang="en-US" dirty="0"/>
              <a:t>Drawing Arcs Example</a:t>
            </a:r>
          </a:p>
        </p:txBody>
      </p:sp>
      <p:pic>
        <p:nvPicPr>
          <p:cNvPr id="4" name="Content Placeholder 3">
            <a:extLst>
              <a:ext uri="{FF2B5EF4-FFF2-40B4-BE49-F238E27FC236}">
                <a16:creationId xmlns:a16="http://schemas.microsoft.com/office/drawing/2014/main" id="{4CA58911-7563-BE7E-A702-926453C1CCD2}"/>
              </a:ext>
            </a:extLst>
          </p:cNvPr>
          <p:cNvPicPr>
            <a:picLocks noGrp="1" noChangeAspect="1"/>
          </p:cNvPicPr>
          <p:nvPr>
            <p:ph idx="1"/>
          </p:nvPr>
        </p:nvPicPr>
        <p:blipFill>
          <a:blip r:embed="rId2"/>
          <a:stretch>
            <a:fillRect/>
          </a:stretch>
        </p:blipFill>
        <p:spPr>
          <a:xfrm>
            <a:off x="3188997" y="1905000"/>
            <a:ext cx="6706181" cy="3365284"/>
          </a:xfrm>
          <a:prstGeom prst="rect">
            <a:avLst/>
          </a:prstGeom>
          <a:ln>
            <a:solidFill>
              <a:schemeClr val="tx1"/>
            </a:solidFill>
          </a:ln>
        </p:spPr>
      </p:pic>
    </p:spTree>
    <p:extLst>
      <p:ext uri="{BB962C8B-B14F-4D97-AF65-F5344CB8AC3E}">
        <p14:creationId xmlns:p14="http://schemas.microsoft.com/office/powerpoint/2010/main" val="498344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24F4A-5794-4E94-69FE-7E5D33A7DDC7}"/>
              </a:ext>
            </a:extLst>
          </p:cNvPr>
          <p:cNvSpPr>
            <a:spLocks noGrp="1"/>
          </p:cNvSpPr>
          <p:nvPr>
            <p:ph type="title"/>
          </p:nvPr>
        </p:nvSpPr>
        <p:spPr/>
        <p:txBody>
          <a:bodyPr/>
          <a:lstStyle/>
          <a:p>
            <a:pPr algn="ctr"/>
            <a:r>
              <a:rPr lang="en-US" dirty="0"/>
              <a:t>Drawing Polygons and </a:t>
            </a:r>
            <a:r>
              <a:rPr lang="en-US" dirty="0" err="1"/>
              <a:t>PolyLines</a:t>
            </a:r>
            <a:endParaRPr lang="en-US" dirty="0"/>
          </a:p>
        </p:txBody>
      </p:sp>
      <p:pic>
        <p:nvPicPr>
          <p:cNvPr id="4" name="Content Placeholder 3">
            <a:extLst>
              <a:ext uri="{FF2B5EF4-FFF2-40B4-BE49-F238E27FC236}">
                <a16:creationId xmlns:a16="http://schemas.microsoft.com/office/drawing/2014/main" id="{0BE0EE63-5D53-95A5-D89B-C4F57C498857}"/>
              </a:ext>
            </a:extLst>
          </p:cNvPr>
          <p:cNvPicPr>
            <a:picLocks noGrp="1" noChangeAspect="1"/>
          </p:cNvPicPr>
          <p:nvPr>
            <p:ph idx="1"/>
          </p:nvPr>
        </p:nvPicPr>
        <p:blipFill>
          <a:blip r:embed="rId2"/>
          <a:stretch>
            <a:fillRect/>
          </a:stretch>
        </p:blipFill>
        <p:spPr>
          <a:xfrm>
            <a:off x="2897032" y="1551269"/>
            <a:ext cx="4151736" cy="1877731"/>
          </a:xfrm>
          <a:prstGeom prst="rect">
            <a:avLst/>
          </a:prstGeom>
        </p:spPr>
      </p:pic>
      <p:pic>
        <p:nvPicPr>
          <p:cNvPr id="5" name="Picture 4">
            <a:extLst>
              <a:ext uri="{FF2B5EF4-FFF2-40B4-BE49-F238E27FC236}">
                <a16:creationId xmlns:a16="http://schemas.microsoft.com/office/drawing/2014/main" id="{E8258282-F4D0-7A53-4159-3E3AE966E670}"/>
              </a:ext>
            </a:extLst>
          </p:cNvPr>
          <p:cNvPicPr>
            <a:picLocks noChangeAspect="1"/>
          </p:cNvPicPr>
          <p:nvPr/>
        </p:nvPicPr>
        <p:blipFill>
          <a:blip r:embed="rId3"/>
          <a:stretch>
            <a:fillRect/>
          </a:stretch>
        </p:blipFill>
        <p:spPr>
          <a:xfrm>
            <a:off x="2928944" y="4332918"/>
            <a:ext cx="3680460" cy="2084832"/>
          </a:xfrm>
          <a:prstGeom prst="rect">
            <a:avLst/>
          </a:prstGeom>
        </p:spPr>
      </p:pic>
      <p:pic>
        <p:nvPicPr>
          <p:cNvPr id="6" name="Picture 5">
            <a:extLst>
              <a:ext uri="{FF2B5EF4-FFF2-40B4-BE49-F238E27FC236}">
                <a16:creationId xmlns:a16="http://schemas.microsoft.com/office/drawing/2014/main" id="{48899F4E-873C-A38C-E9A7-50215DDB459B}"/>
              </a:ext>
            </a:extLst>
          </p:cNvPr>
          <p:cNvPicPr>
            <a:picLocks noChangeAspect="1"/>
          </p:cNvPicPr>
          <p:nvPr/>
        </p:nvPicPr>
        <p:blipFill>
          <a:blip r:embed="rId4"/>
          <a:stretch>
            <a:fillRect/>
          </a:stretch>
        </p:blipFill>
        <p:spPr>
          <a:xfrm>
            <a:off x="7589520" y="4332918"/>
            <a:ext cx="3680460" cy="2084832"/>
          </a:xfrm>
          <a:prstGeom prst="rect">
            <a:avLst/>
          </a:prstGeom>
        </p:spPr>
      </p:pic>
      <p:pic>
        <p:nvPicPr>
          <p:cNvPr id="7" name="Picture 6">
            <a:extLst>
              <a:ext uri="{FF2B5EF4-FFF2-40B4-BE49-F238E27FC236}">
                <a16:creationId xmlns:a16="http://schemas.microsoft.com/office/drawing/2014/main" id="{16AA123F-F022-50AF-ABE7-253F95103919}"/>
              </a:ext>
            </a:extLst>
          </p:cNvPr>
          <p:cNvPicPr>
            <a:picLocks noChangeAspect="1"/>
          </p:cNvPicPr>
          <p:nvPr/>
        </p:nvPicPr>
        <p:blipFill>
          <a:blip r:embed="rId5"/>
          <a:stretch>
            <a:fillRect/>
          </a:stretch>
        </p:blipFill>
        <p:spPr>
          <a:xfrm>
            <a:off x="7396558" y="2518001"/>
            <a:ext cx="4066384" cy="646232"/>
          </a:xfrm>
          <a:prstGeom prst="rect">
            <a:avLst/>
          </a:prstGeom>
        </p:spPr>
      </p:pic>
      <p:pic>
        <p:nvPicPr>
          <p:cNvPr id="8" name="Picture 7">
            <a:extLst>
              <a:ext uri="{FF2B5EF4-FFF2-40B4-BE49-F238E27FC236}">
                <a16:creationId xmlns:a16="http://schemas.microsoft.com/office/drawing/2014/main" id="{241B27B0-B7F5-D158-C520-D3CF989902F9}"/>
              </a:ext>
            </a:extLst>
          </p:cNvPr>
          <p:cNvPicPr>
            <a:picLocks noChangeAspect="1"/>
          </p:cNvPicPr>
          <p:nvPr/>
        </p:nvPicPr>
        <p:blipFill>
          <a:blip r:embed="rId6"/>
          <a:stretch>
            <a:fillRect/>
          </a:stretch>
        </p:blipFill>
        <p:spPr>
          <a:xfrm>
            <a:off x="9403456" y="3326091"/>
            <a:ext cx="109738" cy="902286"/>
          </a:xfrm>
          <a:prstGeom prst="rect">
            <a:avLst/>
          </a:prstGeom>
        </p:spPr>
      </p:pic>
      <p:pic>
        <p:nvPicPr>
          <p:cNvPr id="9" name="Picture 8">
            <a:extLst>
              <a:ext uri="{FF2B5EF4-FFF2-40B4-BE49-F238E27FC236}">
                <a16:creationId xmlns:a16="http://schemas.microsoft.com/office/drawing/2014/main" id="{CC7C1BED-9966-5BE1-AA58-B3728323083D}"/>
              </a:ext>
            </a:extLst>
          </p:cNvPr>
          <p:cNvPicPr>
            <a:picLocks noChangeAspect="1"/>
          </p:cNvPicPr>
          <p:nvPr/>
        </p:nvPicPr>
        <p:blipFill>
          <a:blip r:embed="rId6"/>
          <a:stretch>
            <a:fillRect/>
          </a:stretch>
        </p:blipFill>
        <p:spPr>
          <a:xfrm>
            <a:off x="4393306" y="3326091"/>
            <a:ext cx="109738" cy="902286"/>
          </a:xfrm>
          <a:prstGeom prst="rect">
            <a:avLst/>
          </a:prstGeom>
        </p:spPr>
      </p:pic>
    </p:spTree>
    <p:extLst>
      <p:ext uri="{BB962C8B-B14F-4D97-AF65-F5344CB8AC3E}">
        <p14:creationId xmlns:p14="http://schemas.microsoft.com/office/powerpoint/2010/main" val="3408760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99CD6-F76B-525C-B73E-09A41473BACD}"/>
              </a:ext>
            </a:extLst>
          </p:cNvPr>
          <p:cNvSpPr>
            <a:spLocks noGrp="1"/>
          </p:cNvSpPr>
          <p:nvPr>
            <p:ph type="title"/>
          </p:nvPr>
        </p:nvSpPr>
        <p:spPr/>
        <p:txBody>
          <a:bodyPr/>
          <a:lstStyle/>
          <a:p>
            <a:pPr algn="ctr"/>
            <a:r>
              <a:rPr lang="en-US" dirty="0"/>
              <a:t>Drawing Polygons Using the Polygon Class</a:t>
            </a:r>
          </a:p>
        </p:txBody>
      </p:sp>
      <p:sp>
        <p:nvSpPr>
          <p:cNvPr id="3" name="Content Placeholder 2">
            <a:extLst>
              <a:ext uri="{FF2B5EF4-FFF2-40B4-BE49-F238E27FC236}">
                <a16:creationId xmlns:a16="http://schemas.microsoft.com/office/drawing/2014/main" id="{C83371B0-F1F1-360E-D468-8E346749F959}"/>
              </a:ext>
            </a:extLst>
          </p:cNvPr>
          <p:cNvSpPr>
            <a:spLocks noGrp="1"/>
          </p:cNvSpPr>
          <p:nvPr>
            <p:ph idx="1"/>
          </p:nvPr>
        </p:nvSpPr>
        <p:spPr/>
        <p:txBody>
          <a:bodyPr>
            <a:normAutofit/>
          </a:bodyPr>
          <a:lstStyle/>
          <a:p>
            <a:pPr marL="0" indent="0">
              <a:buNone/>
            </a:pPr>
            <a:r>
              <a:rPr lang="en-US" sz="2400" dirty="0"/>
              <a:t> Polygon </a:t>
            </a:r>
            <a:r>
              <a:rPr lang="en-US" sz="2400" dirty="0" err="1"/>
              <a:t>polygon</a:t>
            </a:r>
            <a:r>
              <a:rPr lang="en-US" sz="2400" dirty="0"/>
              <a:t> = new Polygon();</a:t>
            </a:r>
          </a:p>
          <a:p>
            <a:pPr marL="0" indent="0">
              <a:buNone/>
            </a:pPr>
            <a:r>
              <a:rPr lang="en-US" sz="2400" dirty="0"/>
              <a:t>    </a:t>
            </a:r>
            <a:r>
              <a:rPr lang="en-US" sz="2400" dirty="0" err="1"/>
              <a:t>polygon.addPoint</a:t>
            </a:r>
            <a:r>
              <a:rPr lang="en-US" sz="2400" dirty="0"/>
              <a:t>(40, 59);</a:t>
            </a:r>
          </a:p>
          <a:p>
            <a:pPr marL="0" indent="0">
              <a:buNone/>
            </a:pPr>
            <a:r>
              <a:rPr lang="en-US" sz="2400" dirty="0"/>
              <a:t>    </a:t>
            </a:r>
            <a:r>
              <a:rPr lang="en-US" sz="2400" dirty="0" err="1"/>
              <a:t>polygon.addPoint</a:t>
            </a:r>
            <a:r>
              <a:rPr lang="en-US" sz="2400" dirty="0"/>
              <a:t>(40, 100);</a:t>
            </a:r>
          </a:p>
          <a:p>
            <a:pPr marL="0" indent="0">
              <a:buNone/>
            </a:pPr>
            <a:r>
              <a:rPr lang="en-US" sz="2400" dirty="0"/>
              <a:t>    </a:t>
            </a:r>
            <a:r>
              <a:rPr lang="en-US" sz="2400" dirty="0" err="1"/>
              <a:t>polygon.addPoint</a:t>
            </a:r>
            <a:r>
              <a:rPr lang="en-US" sz="2400" dirty="0"/>
              <a:t>(10, 100);</a:t>
            </a:r>
          </a:p>
          <a:p>
            <a:pPr marL="0" indent="0">
              <a:buNone/>
            </a:pPr>
            <a:r>
              <a:rPr lang="en-US" sz="2400" dirty="0"/>
              <a:t>    </a:t>
            </a:r>
            <a:r>
              <a:rPr lang="en-US" sz="2400" dirty="0" err="1"/>
              <a:t>g.drawPolygon</a:t>
            </a:r>
            <a:r>
              <a:rPr lang="en-US" sz="2400" dirty="0"/>
              <a:t>(polygon);</a:t>
            </a:r>
          </a:p>
        </p:txBody>
      </p:sp>
    </p:spTree>
    <p:extLst>
      <p:ext uri="{BB962C8B-B14F-4D97-AF65-F5344CB8AC3E}">
        <p14:creationId xmlns:p14="http://schemas.microsoft.com/office/powerpoint/2010/main" val="3647669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2AC7F-DE00-97BB-8DE6-FFC6A288B33A}"/>
              </a:ext>
            </a:extLst>
          </p:cNvPr>
          <p:cNvSpPr>
            <a:spLocks noGrp="1"/>
          </p:cNvSpPr>
          <p:nvPr>
            <p:ph type="title"/>
          </p:nvPr>
        </p:nvSpPr>
        <p:spPr/>
        <p:txBody>
          <a:bodyPr/>
          <a:lstStyle/>
          <a:p>
            <a:pPr algn="ctr"/>
            <a:r>
              <a:rPr lang="en-US" dirty="0"/>
              <a:t>Drawing Polygons Example</a:t>
            </a:r>
          </a:p>
        </p:txBody>
      </p:sp>
      <p:pic>
        <p:nvPicPr>
          <p:cNvPr id="4" name="Content Placeholder 3">
            <a:extLst>
              <a:ext uri="{FF2B5EF4-FFF2-40B4-BE49-F238E27FC236}">
                <a16:creationId xmlns:a16="http://schemas.microsoft.com/office/drawing/2014/main" id="{D6B7E28C-104D-5952-F445-E6628ACEFAF2}"/>
              </a:ext>
            </a:extLst>
          </p:cNvPr>
          <p:cNvPicPr>
            <a:picLocks noGrp="1" noChangeAspect="1"/>
          </p:cNvPicPr>
          <p:nvPr>
            <p:ph idx="1"/>
          </p:nvPr>
        </p:nvPicPr>
        <p:blipFill>
          <a:blip r:embed="rId2"/>
          <a:stretch>
            <a:fillRect/>
          </a:stretch>
        </p:blipFill>
        <p:spPr>
          <a:xfrm>
            <a:off x="4228435" y="2054233"/>
            <a:ext cx="5084505" cy="2749534"/>
          </a:xfrm>
          <a:prstGeom prst="rect">
            <a:avLst/>
          </a:prstGeom>
        </p:spPr>
      </p:pic>
    </p:spTree>
    <p:extLst>
      <p:ext uri="{BB962C8B-B14F-4D97-AF65-F5344CB8AC3E}">
        <p14:creationId xmlns:p14="http://schemas.microsoft.com/office/powerpoint/2010/main" val="2617117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BE62023-75C2-B54A-CF3B-0C033E707A76}"/>
              </a:ext>
            </a:extLst>
          </p:cNvPr>
          <p:cNvSpPr>
            <a:spLocks noGrp="1" noChangeArrowheads="1"/>
          </p:cNvSpPr>
          <p:nvPr>
            <p:ph type="title"/>
          </p:nvPr>
        </p:nvSpPr>
        <p:spPr>
          <a:xfrm>
            <a:off x="1676400" y="228600"/>
            <a:ext cx="8839200" cy="685800"/>
          </a:xfrm>
        </p:spPr>
        <p:txBody>
          <a:bodyPr>
            <a:normAutofit/>
          </a:bodyPr>
          <a:lstStyle/>
          <a:p>
            <a:r>
              <a:rPr lang="en-US" altLang="en-US" sz="3200">
                <a:cs typeface="Courier New" panose="02070309020205020404" pitchFamily="49" charset="0"/>
              </a:rPr>
              <a:t>Centering Display Using the </a:t>
            </a:r>
            <a:r>
              <a:rPr lang="en-US" altLang="en-US" sz="3200" u="sng">
                <a:cs typeface="Courier New" panose="02070309020205020404" pitchFamily="49" charset="0"/>
              </a:rPr>
              <a:t>FontMetrics</a:t>
            </a:r>
            <a:r>
              <a:rPr lang="en-US" altLang="en-US" sz="3200">
                <a:cs typeface="Courier New" panose="02070309020205020404" pitchFamily="49" charset="0"/>
              </a:rPr>
              <a:t> Class</a:t>
            </a:r>
            <a:r>
              <a:rPr lang="en-US" altLang="en-US"/>
              <a:t> </a:t>
            </a:r>
          </a:p>
        </p:txBody>
      </p:sp>
      <p:sp>
        <p:nvSpPr>
          <p:cNvPr id="28675" name="Rectangle 3">
            <a:extLst>
              <a:ext uri="{FF2B5EF4-FFF2-40B4-BE49-F238E27FC236}">
                <a16:creationId xmlns:a16="http://schemas.microsoft.com/office/drawing/2014/main" id="{48FC28C5-158D-349C-E023-7C306B9A7159}"/>
              </a:ext>
            </a:extLst>
          </p:cNvPr>
          <p:cNvSpPr>
            <a:spLocks noGrp="1" noChangeArrowheads="1"/>
          </p:cNvSpPr>
          <p:nvPr>
            <p:ph idx="1"/>
          </p:nvPr>
        </p:nvSpPr>
        <p:spPr bwMode="auto">
          <a:xfrm>
            <a:off x="1828800" y="1066800"/>
            <a:ext cx="8534400" cy="1600200"/>
          </a:xfrm>
        </p:spPr>
        <p:txBody>
          <a:bodyPr wrap="square" numCol="1" anchor="t" anchorCtr="0" compatLnSpc="1">
            <a:prstTxWarp prst="textNoShape">
              <a:avLst/>
            </a:prstTxWarp>
            <a:normAutofit fontScale="92500"/>
          </a:bodyPr>
          <a:lstStyle/>
          <a:p>
            <a:pPr marL="0" indent="0">
              <a:buNone/>
            </a:pPr>
            <a:r>
              <a:rPr lang="en-US" altLang="en-US" sz="2400" dirty="0">
                <a:cs typeface="Courier New" panose="02070309020205020404" pitchFamily="49" charset="0"/>
              </a:rPr>
              <a:t>You can display a string at any location in a panel. Can you display it centered? To do so, you need to use the </a:t>
            </a:r>
            <a:r>
              <a:rPr lang="en-US" altLang="en-US" sz="2400" u="sng" dirty="0" err="1">
                <a:cs typeface="Courier New" panose="02070309020205020404" pitchFamily="49" charset="0"/>
              </a:rPr>
              <a:t>FontMetrics</a:t>
            </a:r>
            <a:r>
              <a:rPr lang="en-US" altLang="en-US" sz="2400" dirty="0">
                <a:cs typeface="Courier New" panose="02070309020205020404" pitchFamily="49" charset="0"/>
              </a:rPr>
              <a:t> class to measure the exact width and height of the string for a particular font. A </a:t>
            </a:r>
            <a:r>
              <a:rPr lang="en-US" altLang="en-US" sz="2400" u="sng" dirty="0" err="1">
                <a:cs typeface="Courier New" panose="02070309020205020404" pitchFamily="49" charset="0"/>
              </a:rPr>
              <a:t>FontMetrics</a:t>
            </a:r>
            <a:r>
              <a:rPr lang="en-US" altLang="en-US" sz="2400" dirty="0">
                <a:cs typeface="Courier New" panose="02070309020205020404" pitchFamily="49" charset="0"/>
              </a:rPr>
              <a:t> can measure the following attributes:</a:t>
            </a:r>
          </a:p>
        </p:txBody>
      </p:sp>
      <p:sp>
        <p:nvSpPr>
          <p:cNvPr id="28677" name="Rectangle 16">
            <a:extLst>
              <a:ext uri="{FF2B5EF4-FFF2-40B4-BE49-F238E27FC236}">
                <a16:creationId xmlns:a16="http://schemas.microsoft.com/office/drawing/2014/main" id="{D83BDE0F-B64B-0B11-5773-B35A6401B9D5}"/>
              </a:ext>
            </a:extLst>
          </p:cNvPr>
          <p:cNvSpPr>
            <a:spLocks noChangeArrowheads="1"/>
          </p:cNvSpPr>
          <p:nvPr/>
        </p:nvSpPr>
        <p:spPr bwMode="auto">
          <a:xfrm>
            <a:off x="1828800" y="2895600"/>
            <a:ext cx="3429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just">
              <a:spcBef>
                <a:spcPct val="20000"/>
              </a:spcBef>
              <a:buClr>
                <a:srgbClr val="766F54"/>
              </a:buClr>
              <a:buSzPct val="75000"/>
              <a:buFont typeface="Monotype Sorts" pitchFamily="2" charset="2"/>
              <a:buChar char="F"/>
            </a:pPr>
            <a:r>
              <a:rPr lang="en-US" altLang="en-US" sz="2000" dirty="0">
                <a:solidFill>
                  <a:prstClr val="black"/>
                </a:solidFill>
                <a:latin typeface="Times New Roman" panose="02020603050405020304" pitchFamily="18" charset="0"/>
              </a:rPr>
              <a:t>public int </a:t>
            </a:r>
            <a:r>
              <a:rPr lang="en-US" altLang="en-US" sz="2000" dirty="0" err="1">
                <a:solidFill>
                  <a:prstClr val="black"/>
                </a:solidFill>
                <a:latin typeface="Times New Roman" panose="02020603050405020304" pitchFamily="18" charset="0"/>
              </a:rPr>
              <a:t>getAscent</a:t>
            </a:r>
            <a:r>
              <a:rPr lang="en-US" altLang="en-US" sz="2000" dirty="0">
                <a:solidFill>
                  <a:prstClr val="black"/>
                </a:solidFill>
                <a:latin typeface="Times New Roman" panose="02020603050405020304" pitchFamily="18" charset="0"/>
              </a:rPr>
              <a:t>()</a:t>
            </a:r>
          </a:p>
          <a:p>
            <a:pPr algn="just">
              <a:spcBef>
                <a:spcPct val="50000"/>
              </a:spcBef>
              <a:buClr>
                <a:srgbClr val="766F54"/>
              </a:buClr>
              <a:buSzPct val="75000"/>
              <a:buFont typeface="Monotype Sorts" pitchFamily="2" charset="2"/>
              <a:buChar char="F"/>
            </a:pPr>
            <a:r>
              <a:rPr lang="en-US" altLang="en-US" sz="2000" dirty="0">
                <a:solidFill>
                  <a:prstClr val="black"/>
                </a:solidFill>
                <a:latin typeface="Times New Roman" panose="02020603050405020304" pitchFamily="18" charset="0"/>
              </a:rPr>
              <a:t>public int </a:t>
            </a:r>
            <a:r>
              <a:rPr lang="en-US" altLang="en-US" sz="2000" dirty="0" err="1">
                <a:solidFill>
                  <a:prstClr val="black"/>
                </a:solidFill>
                <a:latin typeface="Times New Roman" panose="02020603050405020304" pitchFamily="18" charset="0"/>
              </a:rPr>
              <a:t>getDescent</a:t>
            </a:r>
            <a:r>
              <a:rPr lang="en-US" altLang="en-US" sz="2000" dirty="0">
                <a:solidFill>
                  <a:prstClr val="black"/>
                </a:solidFill>
                <a:latin typeface="Times New Roman" panose="02020603050405020304" pitchFamily="18" charset="0"/>
              </a:rPr>
              <a:t>()</a:t>
            </a:r>
          </a:p>
          <a:p>
            <a:pPr algn="just">
              <a:spcBef>
                <a:spcPct val="50000"/>
              </a:spcBef>
              <a:buClr>
                <a:srgbClr val="766F54"/>
              </a:buClr>
              <a:buSzPct val="75000"/>
              <a:buFont typeface="Monotype Sorts" pitchFamily="2" charset="2"/>
              <a:buChar char="F"/>
            </a:pPr>
            <a:r>
              <a:rPr lang="en-US" altLang="en-US" sz="2000" dirty="0">
                <a:solidFill>
                  <a:prstClr val="black"/>
                </a:solidFill>
                <a:latin typeface="Times New Roman" panose="02020603050405020304" pitchFamily="18" charset="0"/>
              </a:rPr>
              <a:t>public int </a:t>
            </a:r>
            <a:r>
              <a:rPr lang="en-US" altLang="en-US" sz="2000" dirty="0" err="1">
                <a:solidFill>
                  <a:prstClr val="black"/>
                </a:solidFill>
                <a:latin typeface="Times New Roman" panose="02020603050405020304" pitchFamily="18" charset="0"/>
              </a:rPr>
              <a:t>getLeading</a:t>
            </a:r>
            <a:r>
              <a:rPr lang="en-US" altLang="en-US" sz="2000" dirty="0">
                <a:solidFill>
                  <a:prstClr val="black"/>
                </a:solidFill>
                <a:latin typeface="Times New Roman" panose="02020603050405020304" pitchFamily="18" charset="0"/>
              </a:rPr>
              <a:t>()</a:t>
            </a:r>
          </a:p>
        </p:txBody>
      </p:sp>
      <p:graphicFrame>
        <p:nvGraphicFramePr>
          <p:cNvPr id="28678" name="Object 17">
            <a:extLst>
              <a:ext uri="{FF2B5EF4-FFF2-40B4-BE49-F238E27FC236}">
                <a16:creationId xmlns:a16="http://schemas.microsoft.com/office/drawing/2014/main" id="{DB438072-E8E8-3EA1-629F-51C56E59F3FC}"/>
              </a:ext>
            </a:extLst>
          </p:cNvPr>
          <p:cNvGraphicFramePr>
            <a:graphicFrameLocks noChangeAspect="1"/>
          </p:cNvGraphicFramePr>
          <p:nvPr/>
        </p:nvGraphicFramePr>
        <p:xfrm>
          <a:off x="3200401" y="4191001"/>
          <a:ext cx="5472113" cy="2443163"/>
        </p:xfrm>
        <a:graphic>
          <a:graphicData uri="http://schemas.openxmlformats.org/presentationml/2006/ole">
            <mc:AlternateContent xmlns:mc="http://schemas.openxmlformats.org/markup-compatibility/2006">
              <mc:Choice xmlns:v="urn:schemas-microsoft-com:vml" Requires="v">
                <p:oleObj name="Bitmap Image" r:id="rId2" imgW="2712381" imgH="1211685" progId="Paint.Picture">
                  <p:embed/>
                </p:oleObj>
              </mc:Choice>
              <mc:Fallback>
                <p:oleObj name="Bitmap Image" r:id="rId2" imgW="2712381" imgH="1211685" progId="Paint.Picture">
                  <p:embed/>
                  <p:pic>
                    <p:nvPicPr>
                      <p:cNvPr id="28678" name="Object 17">
                        <a:extLst>
                          <a:ext uri="{FF2B5EF4-FFF2-40B4-BE49-F238E27FC236}">
                            <a16:creationId xmlns:a16="http://schemas.microsoft.com/office/drawing/2014/main" id="{DB438072-E8E8-3EA1-629F-51C56E59F3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1" y="4191001"/>
                        <a:ext cx="5472113" cy="2443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79" name="Line 18">
            <a:extLst>
              <a:ext uri="{FF2B5EF4-FFF2-40B4-BE49-F238E27FC236}">
                <a16:creationId xmlns:a16="http://schemas.microsoft.com/office/drawing/2014/main" id="{C724D6D0-B93B-BD22-0C6D-C4DD2EFD9B2F}"/>
              </a:ext>
            </a:extLst>
          </p:cNvPr>
          <p:cNvSpPr>
            <a:spLocks noChangeShapeType="1"/>
          </p:cNvSpPr>
          <p:nvPr/>
        </p:nvSpPr>
        <p:spPr bwMode="auto">
          <a:xfrm>
            <a:off x="8382000" y="5410200"/>
            <a:ext cx="762000" cy="0"/>
          </a:xfrm>
          <a:prstGeom prst="line">
            <a:avLst/>
          </a:prstGeom>
          <a:noFill/>
          <a:ln w="12700">
            <a:solidFill>
              <a:srgbClr val="FF0000"/>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Arial" panose="020B0604020202020204"/>
            </a:endParaRPr>
          </a:p>
        </p:txBody>
      </p:sp>
      <p:sp>
        <p:nvSpPr>
          <p:cNvPr id="28680" name="Text Box 19">
            <a:extLst>
              <a:ext uri="{FF2B5EF4-FFF2-40B4-BE49-F238E27FC236}">
                <a16:creationId xmlns:a16="http://schemas.microsoft.com/office/drawing/2014/main" id="{83945A73-22F2-31AA-A5D4-3E10B55BDF6D}"/>
              </a:ext>
            </a:extLst>
          </p:cNvPr>
          <p:cNvSpPr txBox="1">
            <a:spLocks noChangeArrowheads="1"/>
          </p:cNvSpPr>
          <p:nvPr/>
        </p:nvSpPr>
        <p:spPr bwMode="auto">
          <a:xfrm>
            <a:off x="9220200" y="5257801"/>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solidFill>
                  <a:prstClr val="black"/>
                </a:solidFill>
                <a:latin typeface="Times New Roman" panose="02020603050405020304" pitchFamily="18" charset="0"/>
              </a:rPr>
              <a:t>getAscent()</a:t>
            </a:r>
          </a:p>
        </p:txBody>
      </p:sp>
      <p:sp>
        <p:nvSpPr>
          <p:cNvPr id="28681" name="Line 20">
            <a:extLst>
              <a:ext uri="{FF2B5EF4-FFF2-40B4-BE49-F238E27FC236}">
                <a16:creationId xmlns:a16="http://schemas.microsoft.com/office/drawing/2014/main" id="{EDE7811A-BFC9-8381-0477-C6CE293AE1C5}"/>
              </a:ext>
            </a:extLst>
          </p:cNvPr>
          <p:cNvSpPr>
            <a:spLocks noChangeShapeType="1"/>
          </p:cNvSpPr>
          <p:nvPr/>
        </p:nvSpPr>
        <p:spPr bwMode="auto">
          <a:xfrm>
            <a:off x="8458200" y="4572000"/>
            <a:ext cx="762000" cy="0"/>
          </a:xfrm>
          <a:prstGeom prst="line">
            <a:avLst/>
          </a:prstGeom>
          <a:noFill/>
          <a:ln w="12700">
            <a:solidFill>
              <a:srgbClr val="FF0000"/>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Arial" panose="020B0604020202020204"/>
            </a:endParaRPr>
          </a:p>
        </p:txBody>
      </p:sp>
      <p:sp>
        <p:nvSpPr>
          <p:cNvPr id="28682" name="Text Box 21">
            <a:extLst>
              <a:ext uri="{FF2B5EF4-FFF2-40B4-BE49-F238E27FC236}">
                <a16:creationId xmlns:a16="http://schemas.microsoft.com/office/drawing/2014/main" id="{9CA56669-29C6-403F-8B45-E2172EBE9EF3}"/>
              </a:ext>
            </a:extLst>
          </p:cNvPr>
          <p:cNvSpPr txBox="1">
            <a:spLocks noChangeArrowheads="1"/>
          </p:cNvSpPr>
          <p:nvPr/>
        </p:nvSpPr>
        <p:spPr bwMode="auto">
          <a:xfrm>
            <a:off x="9296400" y="4419601"/>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solidFill>
                  <a:prstClr val="black"/>
                </a:solidFill>
                <a:latin typeface="Times New Roman" panose="02020603050405020304" pitchFamily="18" charset="0"/>
              </a:rPr>
              <a:t>getLeading()</a:t>
            </a:r>
          </a:p>
        </p:txBody>
      </p:sp>
      <p:sp>
        <p:nvSpPr>
          <p:cNvPr id="28683" name="Line 22">
            <a:extLst>
              <a:ext uri="{FF2B5EF4-FFF2-40B4-BE49-F238E27FC236}">
                <a16:creationId xmlns:a16="http://schemas.microsoft.com/office/drawing/2014/main" id="{17990DF2-18BA-2641-DA3A-AE9C396A31BA}"/>
              </a:ext>
            </a:extLst>
          </p:cNvPr>
          <p:cNvSpPr>
            <a:spLocks noChangeShapeType="1"/>
          </p:cNvSpPr>
          <p:nvPr/>
        </p:nvSpPr>
        <p:spPr bwMode="auto">
          <a:xfrm>
            <a:off x="8458200" y="6324600"/>
            <a:ext cx="762000" cy="0"/>
          </a:xfrm>
          <a:prstGeom prst="line">
            <a:avLst/>
          </a:prstGeom>
          <a:noFill/>
          <a:ln w="12700">
            <a:solidFill>
              <a:srgbClr val="FF0000"/>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Arial" panose="020B0604020202020204"/>
            </a:endParaRPr>
          </a:p>
        </p:txBody>
      </p:sp>
      <p:sp>
        <p:nvSpPr>
          <p:cNvPr id="28684" name="Text Box 23">
            <a:extLst>
              <a:ext uri="{FF2B5EF4-FFF2-40B4-BE49-F238E27FC236}">
                <a16:creationId xmlns:a16="http://schemas.microsoft.com/office/drawing/2014/main" id="{28BD43A2-CC5E-AACC-3DEF-6694417B5CAD}"/>
              </a:ext>
            </a:extLst>
          </p:cNvPr>
          <p:cNvSpPr txBox="1">
            <a:spLocks noChangeArrowheads="1"/>
          </p:cNvSpPr>
          <p:nvPr/>
        </p:nvSpPr>
        <p:spPr bwMode="auto">
          <a:xfrm>
            <a:off x="9296400" y="6172201"/>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solidFill>
                  <a:prstClr val="black"/>
                </a:solidFill>
                <a:latin typeface="Times New Roman" panose="02020603050405020304" pitchFamily="18" charset="0"/>
              </a:rPr>
              <a:t>getDescent()</a:t>
            </a:r>
          </a:p>
        </p:txBody>
      </p:sp>
      <p:sp>
        <p:nvSpPr>
          <p:cNvPr id="28685" name="Line 24">
            <a:extLst>
              <a:ext uri="{FF2B5EF4-FFF2-40B4-BE49-F238E27FC236}">
                <a16:creationId xmlns:a16="http://schemas.microsoft.com/office/drawing/2014/main" id="{FAF9179B-5851-0B82-16A8-61AEAAF57D13}"/>
              </a:ext>
            </a:extLst>
          </p:cNvPr>
          <p:cNvSpPr>
            <a:spLocks noChangeShapeType="1"/>
          </p:cNvSpPr>
          <p:nvPr/>
        </p:nvSpPr>
        <p:spPr bwMode="auto">
          <a:xfrm flipH="1">
            <a:off x="3124200" y="5105400"/>
            <a:ext cx="457200" cy="0"/>
          </a:xfrm>
          <a:prstGeom prst="line">
            <a:avLst/>
          </a:prstGeom>
          <a:noFill/>
          <a:ln w="12700">
            <a:solidFill>
              <a:srgbClr val="FF0000"/>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prstClr val="black"/>
              </a:solidFill>
              <a:latin typeface="Arial" panose="020B0604020202020204"/>
            </a:endParaRPr>
          </a:p>
        </p:txBody>
      </p:sp>
      <p:sp>
        <p:nvSpPr>
          <p:cNvPr id="28686" name="Text Box 25">
            <a:extLst>
              <a:ext uri="{FF2B5EF4-FFF2-40B4-BE49-F238E27FC236}">
                <a16:creationId xmlns:a16="http://schemas.microsoft.com/office/drawing/2014/main" id="{A867A0DD-6C9F-1008-937B-6B9E6F7E6F76}"/>
              </a:ext>
            </a:extLst>
          </p:cNvPr>
          <p:cNvSpPr txBox="1">
            <a:spLocks noChangeArrowheads="1"/>
          </p:cNvSpPr>
          <p:nvPr/>
        </p:nvSpPr>
        <p:spPr bwMode="auto">
          <a:xfrm>
            <a:off x="1828800" y="4876801"/>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solidFill>
                  <a:prstClr val="black"/>
                </a:solidFill>
                <a:latin typeface="Times New Roman" panose="02020603050405020304" pitchFamily="18" charset="0"/>
              </a:rPr>
              <a:t>getHeight()</a:t>
            </a:r>
          </a:p>
        </p:txBody>
      </p:sp>
      <p:sp>
        <p:nvSpPr>
          <p:cNvPr id="28687" name="Rectangle 26">
            <a:extLst>
              <a:ext uri="{FF2B5EF4-FFF2-40B4-BE49-F238E27FC236}">
                <a16:creationId xmlns:a16="http://schemas.microsoft.com/office/drawing/2014/main" id="{CB8BF304-1AF5-B861-883A-E300C69EF9BA}"/>
              </a:ext>
            </a:extLst>
          </p:cNvPr>
          <p:cNvSpPr>
            <a:spLocks noChangeArrowheads="1"/>
          </p:cNvSpPr>
          <p:nvPr/>
        </p:nvSpPr>
        <p:spPr bwMode="auto">
          <a:xfrm>
            <a:off x="5638800" y="2895600"/>
            <a:ext cx="4191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just">
              <a:spcBef>
                <a:spcPct val="50000"/>
              </a:spcBef>
              <a:buClr>
                <a:srgbClr val="766F54"/>
              </a:buClr>
              <a:buSzPct val="75000"/>
              <a:buFont typeface="Monotype Sorts" pitchFamily="2" charset="2"/>
              <a:buChar char="F"/>
            </a:pPr>
            <a:r>
              <a:rPr lang="en-US" altLang="en-US" sz="2000">
                <a:solidFill>
                  <a:prstClr val="black"/>
                </a:solidFill>
                <a:latin typeface="Times New Roman" panose="02020603050405020304" pitchFamily="18" charset="0"/>
              </a:rPr>
              <a:t>public int getHeight()</a:t>
            </a:r>
          </a:p>
          <a:p>
            <a:pPr algn="just">
              <a:spcBef>
                <a:spcPct val="50000"/>
              </a:spcBef>
              <a:buClr>
                <a:srgbClr val="766F54"/>
              </a:buClr>
              <a:buSzPct val="75000"/>
              <a:buFont typeface="Monotype Sorts" pitchFamily="2" charset="2"/>
              <a:buChar char="F"/>
            </a:pPr>
            <a:r>
              <a:rPr lang="en-US" altLang="en-US" sz="2000">
                <a:solidFill>
                  <a:prstClr val="black"/>
                </a:solidFill>
                <a:latin typeface="Times New Roman" panose="02020603050405020304" pitchFamily="18" charset="0"/>
              </a:rPr>
              <a:t>public int stringWidth(String str)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2189F-7517-C04C-F867-C63D5A97DF40}"/>
              </a:ext>
            </a:extLst>
          </p:cNvPr>
          <p:cNvSpPr>
            <a:spLocks noGrp="1"/>
          </p:cNvSpPr>
          <p:nvPr>
            <p:ph type="title"/>
          </p:nvPr>
        </p:nvSpPr>
        <p:spPr>
          <a:xfrm>
            <a:off x="2047349" y="405035"/>
            <a:ext cx="9999125" cy="890365"/>
          </a:xfrm>
        </p:spPr>
        <p:txBody>
          <a:bodyPr/>
          <a:lstStyle/>
          <a:p>
            <a:pPr algn="ctr"/>
            <a:r>
              <a:rPr lang="en-US" dirty="0"/>
              <a:t>The Font Metrics Class</a:t>
            </a:r>
          </a:p>
        </p:txBody>
      </p:sp>
      <p:sp>
        <p:nvSpPr>
          <p:cNvPr id="3" name="Content Placeholder 2">
            <a:extLst>
              <a:ext uri="{FF2B5EF4-FFF2-40B4-BE49-F238E27FC236}">
                <a16:creationId xmlns:a16="http://schemas.microsoft.com/office/drawing/2014/main" id="{A089DD72-99AD-6DF7-9E93-BE3524B29788}"/>
              </a:ext>
            </a:extLst>
          </p:cNvPr>
          <p:cNvSpPr>
            <a:spLocks noGrp="1"/>
          </p:cNvSpPr>
          <p:nvPr>
            <p:ph idx="1"/>
          </p:nvPr>
        </p:nvSpPr>
        <p:spPr>
          <a:xfrm>
            <a:off x="2722562" y="1295400"/>
            <a:ext cx="8915400" cy="3777622"/>
          </a:xfrm>
        </p:spPr>
        <p:txBody>
          <a:bodyPr>
            <a:noAutofit/>
          </a:bodyPr>
          <a:lstStyle/>
          <a:p>
            <a:pPr marL="0" indent="0">
              <a:buNone/>
            </a:pPr>
            <a:r>
              <a:rPr lang="en-US" sz="2400" dirty="0" err="1"/>
              <a:t>FontMetrics</a:t>
            </a:r>
            <a:r>
              <a:rPr lang="en-US" sz="2400" dirty="0"/>
              <a:t> is an abstract class. To get a </a:t>
            </a:r>
            <a:r>
              <a:rPr lang="en-US" sz="2400" dirty="0" err="1"/>
              <a:t>FontMetrics</a:t>
            </a:r>
            <a:r>
              <a:rPr lang="en-US" sz="2400" dirty="0"/>
              <a:t> object for a specific font, use the following </a:t>
            </a:r>
            <a:r>
              <a:rPr lang="en-US" sz="2400" dirty="0" err="1"/>
              <a:t>getFontMetrics</a:t>
            </a:r>
            <a:r>
              <a:rPr lang="en-US" sz="2400" dirty="0"/>
              <a:t> methods defined in the Graphics class:</a:t>
            </a:r>
          </a:p>
          <a:p>
            <a:pPr marL="0" indent="0">
              <a:buNone/>
            </a:pPr>
            <a:endParaRPr lang="en-US" sz="2400" dirty="0"/>
          </a:p>
          <a:p>
            <a:pPr>
              <a:buFont typeface="Wingdings" panose="05000000000000000000" pitchFamily="2" charset="2"/>
              <a:buChar char="Ø"/>
            </a:pPr>
            <a:r>
              <a:rPr lang="en-US" sz="2400" dirty="0"/>
              <a:t>  public </a:t>
            </a:r>
            <a:r>
              <a:rPr lang="en-US" sz="2400" dirty="0" err="1"/>
              <a:t>FontMetrics</a:t>
            </a:r>
            <a:r>
              <a:rPr lang="en-US" sz="2400" dirty="0"/>
              <a:t> </a:t>
            </a:r>
            <a:r>
              <a:rPr lang="en-US" sz="2400" dirty="0" err="1"/>
              <a:t>getFontMetrics</a:t>
            </a:r>
            <a:r>
              <a:rPr lang="en-US" sz="2400" dirty="0"/>
              <a:t>(Font f)</a:t>
            </a:r>
          </a:p>
          <a:p>
            <a:pPr marL="0" indent="0">
              <a:buNone/>
            </a:pPr>
            <a:r>
              <a:rPr lang="en-US" sz="2400" dirty="0"/>
              <a:t> Returns the font metrics of the specified font. </a:t>
            </a:r>
          </a:p>
          <a:p>
            <a:pPr marL="0" indent="0">
              <a:buNone/>
            </a:pPr>
            <a:endParaRPr lang="en-US" sz="2400" dirty="0"/>
          </a:p>
          <a:p>
            <a:r>
              <a:rPr lang="en-US" sz="2400" dirty="0"/>
              <a:t>  public </a:t>
            </a:r>
            <a:r>
              <a:rPr lang="en-US" sz="2400" dirty="0" err="1"/>
              <a:t>FontMetrics</a:t>
            </a:r>
            <a:r>
              <a:rPr lang="en-US" sz="2400" dirty="0"/>
              <a:t> </a:t>
            </a:r>
            <a:r>
              <a:rPr lang="en-US" sz="2400" dirty="0" err="1"/>
              <a:t>getFontMetrics</a:t>
            </a:r>
            <a:r>
              <a:rPr lang="en-US" sz="2400" dirty="0"/>
              <a:t>()</a:t>
            </a:r>
          </a:p>
          <a:p>
            <a:pPr marL="0" indent="0">
              <a:buNone/>
            </a:pPr>
            <a:r>
              <a:rPr lang="en-US" sz="2400" dirty="0"/>
              <a:t> Returns the font metrics of the current font. </a:t>
            </a:r>
          </a:p>
          <a:p>
            <a:pPr marL="0" indent="0">
              <a:buNone/>
            </a:pPr>
            <a:endParaRPr lang="en-US" sz="2400" dirty="0"/>
          </a:p>
        </p:txBody>
      </p:sp>
    </p:spTree>
    <p:extLst>
      <p:ext uri="{BB962C8B-B14F-4D97-AF65-F5344CB8AC3E}">
        <p14:creationId xmlns:p14="http://schemas.microsoft.com/office/powerpoint/2010/main" val="1251683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91524-4C5C-B7A9-FDDB-97C9B9FB6084}"/>
              </a:ext>
            </a:extLst>
          </p:cNvPr>
          <p:cNvSpPr>
            <a:spLocks noGrp="1"/>
          </p:cNvSpPr>
          <p:nvPr>
            <p:ph type="title"/>
          </p:nvPr>
        </p:nvSpPr>
        <p:spPr>
          <a:xfrm>
            <a:off x="2288125" y="576485"/>
            <a:ext cx="8911687" cy="1280890"/>
          </a:xfrm>
        </p:spPr>
        <p:txBody>
          <a:bodyPr/>
          <a:lstStyle/>
          <a:p>
            <a:pPr algn="ctr"/>
            <a:r>
              <a:rPr lang="en-US" dirty="0"/>
              <a:t>Case Study: Message Panel – Welcome to Java</a:t>
            </a:r>
          </a:p>
        </p:txBody>
      </p:sp>
      <p:sp>
        <p:nvSpPr>
          <p:cNvPr id="3" name="Content Placeholder 2">
            <a:extLst>
              <a:ext uri="{FF2B5EF4-FFF2-40B4-BE49-F238E27FC236}">
                <a16:creationId xmlns:a16="http://schemas.microsoft.com/office/drawing/2014/main" id="{FA58309C-C264-CC47-50B9-49D519231C92}"/>
              </a:ext>
            </a:extLst>
          </p:cNvPr>
          <p:cNvSpPr>
            <a:spLocks noGrp="1"/>
          </p:cNvSpPr>
          <p:nvPr>
            <p:ph idx="1"/>
          </p:nvPr>
        </p:nvSpPr>
        <p:spPr>
          <a:xfrm>
            <a:off x="8913812" y="2384312"/>
            <a:ext cx="2620963" cy="4022210"/>
          </a:xfrm>
        </p:spPr>
        <p:txBody>
          <a:bodyPr>
            <a:normAutofit/>
          </a:bodyPr>
          <a:lstStyle/>
          <a:p>
            <a:pPr marL="0" indent="0">
              <a:buNone/>
            </a:pPr>
            <a:r>
              <a:rPr lang="en-US" sz="2000" dirty="0"/>
              <a:t>This case study develops a useful    class that displays        a message in a      panel. </a:t>
            </a:r>
          </a:p>
          <a:p>
            <a:pPr marL="0" indent="0">
              <a:buNone/>
            </a:pPr>
            <a:r>
              <a:rPr lang="en-US" sz="2000" dirty="0"/>
              <a:t>The class  enables the user to set the location of the message, center the message, and move the message with the specified interval. </a:t>
            </a:r>
          </a:p>
          <a:p>
            <a:pPr marL="0" indent="0">
              <a:buNone/>
            </a:pPr>
            <a:endParaRPr lang="en-US" sz="2000" dirty="0"/>
          </a:p>
        </p:txBody>
      </p:sp>
      <p:pic>
        <p:nvPicPr>
          <p:cNvPr id="4" name="Picture 3">
            <a:extLst>
              <a:ext uri="{FF2B5EF4-FFF2-40B4-BE49-F238E27FC236}">
                <a16:creationId xmlns:a16="http://schemas.microsoft.com/office/drawing/2014/main" id="{977E418F-BCD3-3858-64BF-0FDB5EBADC2B}"/>
              </a:ext>
            </a:extLst>
          </p:cNvPr>
          <p:cNvPicPr>
            <a:picLocks noChangeAspect="1"/>
          </p:cNvPicPr>
          <p:nvPr/>
        </p:nvPicPr>
        <p:blipFill>
          <a:blip r:embed="rId2"/>
          <a:stretch>
            <a:fillRect/>
          </a:stretch>
        </p:blipFill>
        <p:spPr>
          <a:xfrm>
            <a:off x="2409063" y="2264290"/>
            <a:ext cx="5716524" cy="4142232"/>
          </a:xfrm>
          <a:prstGeom prst="rect">
            <a:avLst/>
          </a:prstGeom>
        </p:spPr>
      </p:pic>
    </p:spTree>
    <p:extLst>
      <p:ext uri="{BB962C8B-B14F-4D97-AF65-F5344CB8AC3E}">
        <p14:creationId xmlns:p14="http://schemas.microsoft.com/office/powerpoint/2010/main" val="1179977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50C1B-8CA6-3F0C-AA20-BB8B8114423C}"/>
              </a:ext>
            </a:extLst>
          </p:cNvPr>
          <p:cNvSpPr>
            <a:spLocks noGrp="1"/>
          </p:cNvSpPr>
          <p:nvPr>
            <p:ph type="title"/>
          </p:nvPr>
        </p:nvSpPr>
        <p:spPr/>
        <p:txBody>
          <a:bodyPr/>
          <a:lstStyle/>
          <a:p>
            <a:pPr algn="ctr"/>
            <a:r>
              <a:rPr lang="en-US" dirty="0"/>
              <a:t>Message Panel Case Study</a:t>
            </a:r>
          </a:p>
        </p:txBody>
      </p:sp>
      <p:pic>
        <p:nvPicPr>
          <p:cNvPr id="4" name="Content Placeholder 3">
            <a:extLst>
              <a:ext uri="{FF2B5EF4-FFF2-40B4-BE49-F238E27FC236}">
                <a16:creationId xmlns:a16="http://schemas.microsoft.com/office/drawing/2014/main" id="{ADD38D75-FC9F-C76C-DF9D-762844CC67A2}"/>
              </a:ext>
            </a:extLst>
          </p:cNvPr>
          <p:cNvPicPr>
            <a:picLocks noGrp="1" noChangeAspect="1"/>
          </p:cNvPicPr>
          <p:nvPr>
            <p:ph idx="1"/>
          </p:nvPr>
        </p:nvPicPr>
        <p:blipFill>
          <a:blip r:embed="rId2"/>
          <a:stretch>
            <a:fillRect/>
          </a:stretch>
        </p:blipFill>
        <p:spPr>
          <a:xfrm>
            <a:off x="2592925" y="1905000"/>
            <a:ext cx="8383524" cy="3672840"/>
          </a:xfrm>
          <a:prstGeom prst="rect">
            <a:avLst/>
          </a:prstGeom>
        </p:spPr>
      </p:pic>
    </p:spTree>
    <p:extLst>
      <p:ext uri="{BB962C8B-B14F-4D97-AF65-F5344CB8AC3E}">
        <p14:creationId xmlns:p14="http://schemas.microsoft.com/office/powerpoint/2010/main" val="3674589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B1439-D88D-935A-6BFC-F9336C88A432}"/>
              </a:ext>
            </a:extLst>
          </p:cNvPr>
          <p:cNvSpPr>
            <a:spLocks noGrp="1"/>
          </p:cNvSpPr>
          <p:nvPr>
            <p:ph type="title"/>
          </p:nvPr>
        </p:nvSpPr>
        <p:spPr/>
        <p:txBody>
          <a:bodyPr/>
          <a:lstStyle/>
          <a:p>
            <a:pPr algn="ctr"/>
            <a:r>
              <a:rPr lang="en-US" dirty="0"/>
              <a:t>Still Clock Case Study</a:t>
            </a:r>
          </a:p>
        </p:txBody>
      </p:sp>
      <p:pic>
        <p:nvPicPr>
          <p:cNvPr id="5" name="Picture 4">
            <a:extLst>
              <a:ext uri="{FF2B5EF4-FFF2-40B4-BE49-F238E27FC236}">
                <a16:creationId xmlns:a16="http://schemas.microsoft.com/office/drawing/2014/main" id="{B3B8D36C-AFF7-0603-2E9F-2630B80DD333}"/>
              </a:ext>
            </a:extLst>
          </p:cNvPr>
          <p:cNvPicPr>
            <a:picLocks noChangeAspect="1"/>
          </p:cNvPicPr>
          <p:nvPr/>
        </p:nvPicPr>
        <p:blipFill>
          <a:blip r:embed="rId2"/>
          <a:stretch>
            <a:fillRect/>
          </a:stretch>
        </p:blipFill>
        <p:spPr>
          <a:xfrm>
            <a:off x="3022626" y="2044038"/>
            <a:ext cx="8230313" cy="3017782"/>
          </a:xfrm>
          <a:prstGeom prst="rect">
            <a:avLst/>
          </a:prstGeom>
        </p:spPr>
      </p:pic>
    </p:spTree>
    <p:extLst>
      <p:ext uri="{BB962C8B-B14F-4D97-AF65-F5344CB8AC3E}">
        <p14:creationId xmlns:p14="http://schemas.microsoft.com/office/powerpoint/2010/main" val="8379867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39F7D-9F40-3BBA-5BC1-410279F07915}"/>
              </a:ext>
            </a:extLst>
          </p:cNvPr>
          <p:cNvSpPr>
            <a:spLocks noGrp="1"/>
          </p:cNvSpPr>
          <p:nvPr>
            <p:ph type="title"/>
          </p:nvPr>
        </p:nvSpPr>
        <p:spPr/>
        <p:txBody>
          <a:bodyPr/>
          <a:lstStyle/>
          <a:p>
            <a:pPr algn="ctr"/>
            <a:r>
              <a:rPr lang="en-US" dirty="0"/>
              <a:t>Drawing the </a:t>
            </a:r>
            <a:r>
              <a:rPr lang="en-US" dirty="0" err="1"/>
              <a:t>ClocK</a:t>
            </a:r>
            <a:endParaRPr lang="en-US" dirty="0"/>
          </a:p>
        </p:txBody>
      </p:sp>
      <p:sp>
        <p:nvSpPr>
          <p:cNvPr id="3" name="Content Placeholder 2">
            <a:extLst>
              <a:ext uri="{FF2B5EF4-FFF2-40B4-BE49-F238E27FC236}">
                <a16:creationId xmlns:a16="http://schemas.microsoft.com/office/drawing/2014/main" id="{658B088C-87AC-FD1A-C32F-5F5B55CFF542}"/>
              </a:ext>
            </a:extLst>
          </p:cNvPr>
          <p:cNvSpPr>
            <a:spLocks noGrp="1"/>
          </p:cNvSpPr>
          <p:nvPr>
            <p:ph idx="1"/>
          </p:nvPr>
        </p:nvSpPr>
        <p:spPr>
          <a:xfrm>
            <a:off x="2592925" y="1695449"/>
            <a:ext cx="4602163" cy="4619625"/>
          </a:xfrm>
        </p:spPr>
        <p:txBody>
          <a:bodyPr>
            <a:normAutofit fontScale="92500" lnSpcReduction="10000"/>
          </a:bodyPr>
          <a:lstStyle/>
          <a:p>
            <a:pPr marL="0" indent="0">
              <a:buNone/>
            </a:pPr>
            <a:r>
              <a:rPr lang="en-US" sz="2000" dirty="0" err="1"/>
              <a:t>xEnd</a:t>
            </a:r>
            <a:r>
              <a:rPr lang="en-US" sz="2000" dirty="0"/>
              <a:t> = </a:t>
            </a:r>
            <a:r>
              <a:rPr lang="en-US" sz="2000" dirty="0" err="1"/>
              <a:t>xCenter</a:t>
            </a:r>
            <a:r>
              <a:rPr lang="en-US" sz="2000" dirty="0"/>
              <a:t> + </a:t>
            </a:r>
            <a:r>
              <a:rPr lang="en-US" sz="2000" dirty="0" err="1"/>
              <a:t>handLength</a:t>
            </a:r>
            <a:r>
              <a:rPr lang="en-US" sz="2000" dirty="0"/>
              <a:t>  sin()</a:t>
            </a:r>
          </a:p>
          <a:p>
            <a:pPr marL="0" indent="0">
              <a:buNone/>
            </a:pPr>
            <a:r>
              <a:rPr lang="en-US" sz="2000" dirty="0" err="1"/>
              <a:t>yEnd</a:t>
            </a:r>
            <a:r>
              <a:rPr lang="en-US" sz="2000" dirty="0"/>
              <a:t> = </a:t>
            </a:r>
            <a:r>
              <a:rPr lang="en-US" sz="2000" dirty="0" err="1"/>
              <a:t>yCenter</a:t>
            </a:r>
            <a:r>
              <a:rPr lang="en-US" sz="2000" dirty="0"/>
              <a:t> - </a:t>
            </a:r>
            <a:r>
              <a:rPr lang="en-US" sz="2000" dirty="0" err="1"/>
              <a:t>handLength</a:t>
            </a:r>
            <a:r>
              <a:rPr lang="en-US" sz="2000" dirty="0"/>
              <a:t>  cos()</a:t>
            </a:r>
          </a:p>
          <a:p>
            <a:pPr marL="0" indent="0" eaLnBrk="1" hangingPunct="1">
              <a:buNone/>
            </a:pPr>
            <a:r>
              <a:rPr lang="en-US" altLang="en-US" sz="2000" dirty="0">
                <a:solidFill>
                  <a:schemeClr val="tx2"/>
                </a:solidFill>
                <a:latin typeface="Times New Roman" panose="02020603050405020304" pitchFamily="18" charset="0"/>
              </a:rPr>
              <a:t>The position of the minute hand is determined by the minute and second. The exact minute value combined with seconds is minute + second/60. For example, if the time is 3 minutes and 30 seconds. The total minutes are 3.5. Since there are sixty minutes in one hour, the angle for the minute hand is </a:t>
            </a:r>
          </a:p>
          <a:p>
            <a:pPr marL="0" indent="0" eaLnBrk="1" hangingPunct="1">
              <a:buNone/>
            </a:pPr>
            <a:r>
              <a:rPr lang="en-US" altLang="en-US" sz="2000" dirty="0">
                <a:solidFill>
                  <a:schemeClr val="tx2"/>
                </a:solidFill>
                <a:latin typeface="Times New Roman" panose="02020603050405020304" pitchFamily="18" charset="0"/>
                <a:cs typeface="Times New Roman" panose="02020603050405020304" pitchFamily="18" charset="0"/>
              </a:rPr>
              <a:t>(minute + second/60) </a:t>
            </a:r>
            <a:r>
              <a:rPr lang="en-US" altLang="en-US" sz="2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000" dirty="0">
                <a:solidFill>
                  <a:schemeClr val="tx2"/>
                </a:solidFill>
                <a:latin typeface="Times New Roman" panose="02020603050405020304" pitchFamily="18" charset="0"/>
                <a:cs typeface="Times New Roman" panose="02020603050405020304" pitchFamily="18" charset="0"/>
              </a:rPr>
              <a:t> (2</a:t>
            </a:r>
            <a:r>
              <a:rPr lang="en-US" altLang="en-US" sz="2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000" dirty="0">
                <a:solidFill>
                  <a:schemeClr val="tx2"/>
                </a:solidFill>
                <a:latin typeface="Times New Roman" panose="02020603050405020304" pitchFamily="18" charset="0"/>
                <a:cs typeface="Times New Roman" panose="02020603050405020304" pitchFamily="18" charset="0"/>
              </a:rPr>
              <a:t>/60)</a:t>
            </a:r>
          </a:p>
          <a:p>
            <a:pPr marL="0" indent="0" eaLnBrk="1" hangingPunct="1">
              <a:buNone/>
            </a:pPr>
            <a:r>
              <a:rPr lang="en-US" altLang="en-US" sz="2000" dirty="0">
                <a:solidFill>
                  <a:schemeClr val="tx2"/>
                </a:solidFill>
                <a:latin typeface="Times New Roman" panose="02020603050405020304" pitchFamily="18" charset="0"/>
              </a:rPr>
              <a:t>Since one circle is divided into twelve hours, the angle for the hour hand is </a:t>
            </a:r>
          </a:p>
          <a:p>
            <a:pPr marL="0" indent="0" eaLnBrk="1" hangingPunct="1">
              <a:buNone/>
            </a:pPr>
            <a:r>
              <a:rPr lang="en-US" altLang="en-US" sz="2000" dirty="0">
                <a:solidFill>
                  <a:schemeClr val="tx2"/>
                </a:solidFill>
                <a:latin typeface="Times New Roman" panose="02020603050405020304" pitchFamily="18" charset="0"/>
                <a:cs typeface="Times New Roman" panose="02020603050405020304" pitchFamily="18" charset="0"/>
              </a:rPr>
              <a:t>(hour + minute/60 + second/(60 </a:t>
            </a:r>
            <a:r>
              <a:rPr lang="en-US" altLang="en-US" sz="2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000" dirty="0">
                <a:solidFill>
                  <a:schemeClr val="tx2"/>
                </a:solidFill>
                <a:latin typeface="Times New Roman" panose="02020603050405020304" pitchFamily="18" charset="0"/>
                <a:cs typeface="Times New Roman" panose="02020603050405020304" pitchFamily="18" charset="0"/>
              </a:rPr>
              <a:t> 60))) </a:t>
            </a:r>
            <a:r>
              <a:rPr lang="en-US" altLang="en-US" sz="2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000" dirty="0">
                <a:solidFill>
                  <a:schemeClr val="tx2"/>
                </a:solidFill>
                <a:latin typeface="Times New Roman" panose="02020603050405020304" pitchFamily="18" charset="0"/>
                <a:cs typeface="Times New Roman" panose="02020603050405020304" pitchFamily="18" charset="0"/>
              </a:rPr>
              <a:t> (2</a:t>
            </a:r>
            <a:r>
              <a:rPr lang="en-US" altLang="en-US" sz="2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000" dirty="0">
                <a:solidFill>
                  <a:schemeClr val="tx2"/>
                </a:solidFill>
                <a:latin typeface="Times New Roman" panose="02020603050405020304" pitchFamily="18" charset="0"/>
                <a:cs typeface="Times New Roman" panose="02020603050405020304" pitchFamily="18" charset="0"/>
              </a:rPr>
              <a:t>/12)</a:t>
            </a:r>
          </a:p>
          <a:p>
            <a:pPr marL="0" indent="0" eaLnBrk="1" hangingPunct="1">
              <a:buNone/>
            </a:pPr>
            <a:endParaRPr lang="en-US" altLang="en-US" sz="2000" dirty="0">
              <a:solidFill>
                <a:schemeClr val="tx2"/>
              </a:solidFill>
              <a:latin typeface="Times New Roman" panose="02020603050405020304" pitchFamily="18" charset="0"/>
              <a:cs typeface="Times New Roman" panose="02020603050405020304" pitchFamily="18" charset="0"/>
            </a:endParaRPr>
          </a:p>
          <a:p>
            <a:pPr marL="0" indent="0">
              <a:buNone/>
            </a:pPr>
            <a:endParaRPr lang="en-US" sz="2000" dirty="0"/>
          </a:p>
          <a:p>
            <a:pPr marL="0" indent="0">
              <a:buNone/>
            </a:pPr>
            <a:endParaRPr lang="en-US" sz="2000" dirty="0"/>
          </a:p>
        </p:txBody>
      </p:sp>
      <p:pic>
        <p:nvPicPr>
          <p:cNvPr id="4" name="Picture 3">
            <a:extLst>
              <a:ext uri="{FF2B5EF4-FFF2-40B4-BE49-F238E27FC236}">
                <a16:creationId xmlns:a16="http://schemas.microsoft.com/office/drawing/2014/main" id="{E009BAB1-16BB-90A9-1EA3-DDD0A4AE509C}"/>
              </a:ext>
            </a:extLst>
          </p:cNvPr>
          <p:cNvPicPr>
            <a:picLocks noChangeAspect="1"/>
          </p:cNvPicPr>
          <p:nvPr/>
        </p:nvPicPr>
        <p:blipFill>
          <a:blip r:embed="rId2"/>
          <a:stretch>
            <a:fillRect/>
          </a:stretch>
        </p:blipFill>
        <p:spPr>
          <a:xfrm>
            <a:off x="7399943" y="1487043"/>
            <a:ext cx="4398264" cy="4055364"/>
          </a:xfrm>
          <a:prstGeom prst="rect">
            <a:avLst/>
          </a:prstGeom>
          <a:ln>
            <a:solidFill>
              <a:schemeClr val="tx1"/>
            </a:solidFill>
          </a:ln>
        </p:spPr>
      </p:pic>
    </p:spTree>
    <p:extLst>
      <p:ext uri="{BB962C8B-B14F-4D97-AF65-F5344CB8AC3E}">
        <p14:creationId xmlns:p14="http://schemas.microsoft.com/office/powerpoint/2010/main" val="5284428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2DF1A-199C-6E07-9DE4-E14DC9C98B7E}"/>
              </a:ext>
            </a:extLst>
          </p:cNvPr>
          <p:cNvSpPr>
            <a:spLocks noGrp="1"/>
          </p:cNvSpPr>
          <p:nvPr>
            <p:ph type="title"/>
          </p:nvPr>
        </p:nvSpPr>
        <p:spPr/>
        <p:txBody>
          <a:bodyPr/>
          <a:lstStyle/>
          <a:p>
            <a:pPr algn="ctr"/>
            <a:r>
              <a:rPr lang="en-US" dirty="0"/>
              <a:t>Displaying Image Icons</a:t>
            </a:r>
          </a:p>
        </p:txBody>
      </p:sp>
      <p:sp>
        <p:nvSpPr>
          <p:cNvPr id="3" name="Content Placeholder 2">
            <a:extLst>
              <a:ext uri="{FF2B5EF4-FFF2-40B4-BE49-F238E27FC236}">
                <a16:creationId xmlns:a16="http://schemas.microsoft.com/office/drawing/2014/main" id="{83A7C479-AF52-F0B2-25DD-2D2B6359EB8F}"/>
              </a:ext>
            </a:extLst>
          </p:cNvPr>
          <p:cNvSpPr>
            <a:spLocks noGrp="1"/>
          </p:cNvSpPr>
          <p:nvPr>
            <p:ph idx="1"/>
          </p:nvPr>
        </p:nvSpPr>
        <p:spPr>
          <a:xfrm>
            <a:off x="2592925" y="1724025"/>
            <a:ext cx="8915400" cy="4838700"/>
          </a:xfrm>
        </p:spPr>
        <p:txBody>
          <a:bodyPr>
            <a:noAutofit/>
          </a:bodyPr>
          <a:lstStyle/>
          <a:p>
            <a:pPr marL="0" indent="0">
              <a:buNone/>
            </a:pPr>
            <a:r>
              <a:rPr lang="en-US" sz="2000" dirty="0"/>
              <a:t>You can create image icons and display image icons in labels and buttons. For example, the following statements create an image icon and display it in a label:</a:t>
            </a:r>
          </a:p>
          <a:p>
            <a:pPr marL="0" indent="0">
              <a:buNone/>
            </a:pPr>
            <a:r>
              <a:rPr lang="en-US" sz="2000" b="1" dirty="0" err="1"/>
              <a:t>ImageIcon</a:t>
            </a:r>
            <a:r>
              <a:rPr lang="en-US" sz="2000" b="1" dirty="0"/>
              <a:t> icon = new </a:t>
            </a:r>
            <a:r>
              <a:rPr lang="en-US" sz="2000" b="1" dirty="0" err="1"/>
              <a:t>ImageIcon</a:t>
            </a:r>
            <a:r>
              <a:rPr lang="en-US" sz="2000" b="1" dirty="0"/>
              <a:t>("image/us.gif");</a:t>
            </a:r>
          </a:p>
          <a:p>
            <a:pPr marL="0" indent="0">
              <a:buNone/>
            </a:pPr>
            <a:r>
              <a:rPr lang="en-US" sz="2000" b="1" dirty="0" err="1"/>
              <a:t>JLabel</a:t>
            </a:r>
            <a:r>
              <a:rPr lang="en-US" sz="2000" b="1" dirty="0"/>
              <a:t> </a:t>
            </a:r>
            <a:r>
              <a:rPr lang="en-US" sz="2000" b="1" dirty="0" err="1"/>
              <a:t>jlblImage</a:t>
            </a:r>
            <a:r>
              <a:rPr lang="en-US" sz="2000" b="1" dirty="0"/>
              <a:t> = new </a:t>
            </a:r>
            <a:r>
              <a:rPr lang="en-US" sz="2000" b="1" dirty="0" err="1"/>
              <a:t>JLabel</a:t>
            </a:r>
            <a:r>
              <a:rPr lang="en-US" sz="2000" b="1" dirty="0"/>
              <a:t>(</a:t>
            </a:r>
            <a:r>
              <a:rPr lang="en-US" sz="2000" b="1" dirty="0" err="1"/>
              <a:t>imageIcon</a:t>
            </a:r>
            <a:r>
              <a:rPr lang="en-US" sz="2000" b="1" dirty="0"/>
              <a:t>);</a:t>
            </a:r>
          </a:p>
          <a:p>
            <a:pPr marL="0" indent="0">
              <a:buNone/>
            </a:pPr>
            <a:endParaRPr lang="en-US" sz="2000" dirty="0"/>
          </a:p>
          <a:p>
            <a:pPr marL="0" indent="0">
              <a:buNone/>
            </a:pPr>
            <a:r>
              <a:rPr lang="en-US" sz="2000" dirty="0"/>
              <a:t>An image icon displays a fixed-size image. To display an image in a flexible size, you need to use the </a:t>
            </a:r>
            <a:r>
              <a:rPr lang="en-US" sz="2000" dirty="0" err="1"/>
              <a:t>java.awt.Image</a:t>
            </a:r>
            <a:r>
              <a:rPr lang="en-US" sz="2000" dirty="0"/>
              <a:t> class. An image can be created from an image icon using the </a:t>
            </a:r>
            <a:r>
              <a:rPr lang="en-US" sz="2000" dirty="0" err="1"/>
              <a:t>getImage</a:t>
            </a:r>
            <a:r>
              <a:rPr lang="en-US" sz="2000" dirty="0"/>
              <a:t>() method as follows:</a:t>
            </a:r>
          </a:p>
          <a:p>
            <a:pPr marL="0" indent="0">
              <a:buNone/>
            </a:pPr>
            <a:r>
              <a:rPr lang="en-US" sz="2000" b="1" dirty="0"/>
              <a:t>Image </a:t>
            </a:r>
            <a:r>
              <a:rPr lang="en-US" sz="2000" b="1" dirty="0" err="1"/>
              <a:t>image</a:t>
            </a:r>
            <a:r>
              <a:rPr lang="en-US" sz="2000" b="1" dirty="0"/>
              <a:t> = </a:t>
            </a:r>
            <a:r>
              <a:rPr lang="en-US" sz="2000" b="1" dirty="0" err="1"/>
              <a:t>imageIcon.getImage</a:t>
            </a:r>
            <a:r>
              <a:rPr lang="en-US" sz="2000" b="1" dirty="0"/>
              <a:t>();</a:t>
            </a:r>
          </a:p>
          <a:p>
            <a:pPr marL="0" indent="0">
              <a:buNone/>
            </a:pPr>
            <a:endParaRPr lang="en-US" sz="2000" dirty="0"/>
          </a:p>
        </p:txBody>
      </p:sp>
    </p:spTree>
    <p:extLst>
      <p:ext uri="{BB962C8B-B14F-4D97-AF65-F5344CB8AC3E}">
        <p14:creationId xmlns:p14="http://schemas.microsoft.com/office/powerpoint/2010/main" val="28679257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53765-4FF7-FEB6-3853-CCBAE3998EF7}"/>
              </a:ext>
            </a:extLst>
          </p:cNvPr>
          <p:cNvSpPr>
            <a:spLocks noGrp="1"/>
          </p:cNvSpPr>
          <p:nvPr>
            <p:ph type="title"/>
          </p:nvPr>
        </p:nvSpPr>
        <p:spPr/>
        <p:txBody>
          <a:bodyPr/>
          <a:lstStyle/>
          <a:p>
            <a:pPr algn="ctr"/>
            <a:r>
              <a:rPr lang="en-US" dirty="0"/>
              <a:t>Displaying Images</a:t>
            </a:r>
          </a:p>
        </p:txBody>
      </p:sp>
      <p:sp>
        <p:nvSpPr>
          <p:cNvPr id="3" name="Content Placeholder 2">
            <a:extLst>
              <a:ext uri="{FF2B5EF4-FFF2-40B4-BE49-F238E27FC236}">
                <a16:creationId xmlns:a16="http://schemas.microsoft.com/office/drawing/2014/main" id="{8299DAAD-89B3-9996-28C5-F10390886431}"/>
              </a:ext>
            </a:extLst>
          </p:cNvPr>
          <p:cNvSpPr>
            <a:spLocks noGrp="1"/>
          </p:cNvSpPr>
          <p:nvPr>
            <p:ph idx="1"/>
          </p:nvPr>
        </p:nvSpPr>
        <p:spPr>
          <a:xfrm>
            <a:off x="2589212" y="1540188"/>
            <a:ext cx="8915400" cy="4693701"/>
          </a:xfrm>
        </p:spPr>
        <p:txBody>
          <a:bodyPr/>
          <a:lstStyle/>
          <a:p>
            <a:pPr marL="0" indent="0">
              <a:buNone/>
            </a:pPr>
            <a:r>
              <a:rPr lang="en-US" dirty="0"/>
              <a:t>Using a label as an area for displaying images is simple and convenient, but you don't have much control over how the image is displayed. A more flexible way to display images is to use the </a:t>
            </a:r>
            <a:r>
              <a:rPr lang="en-US" dirty="0" err="1"/>
              <a:t>drawImage</a:t>
            </a:r>
            <a:r>
              <a:rPr lang="en-US" dirty="0"/>
              <a:t> method of the Graphics class on a panel. Four versions of the </a:t>
            </a:r>
            <a:r>
              <a:rPr lang="en-US" dirty="0" err="1"/>
              <a:t>drawImage</a:t>
            </a:r>
            <a:r>
              <a:rPr lang="en-US" dirty="0"/>
              <a:t> method are shown here.</a:t>
            </a:r>
          </a:p>
          <a:p>
            <a:pPr marL="0" indent="0">
              <a:buNone/>
            </a:pPr>
            <a:endParaRPr lang="en-US" dirty="0"/>
          </a:p>
        </p:txBody>
      </p:sp>
      <p:pic>
        <p:nvPicPr>
          <p:cNvPr id="4" name="Picture 3">
            <a:extLst>
              <a:ext uri="{FF2B5EF4-FFF2-40B4-BE49-F238E27FC236}">
                <a16:creationId xmlns:a16="http://schemas.microsoft.com/office/drawing/2014/main" id="{548F737D-59AF-44EF-20E1-BB861FC17ED2}"/>
              </a:ext>
            </a:extLst>
          </p:cNvPr>
          <p:cNvPicPr>
            <a:picLocks noChangeAspect="1"/>
          </p:cNvPicPr>
          <p:nvPr/>
        </p:nvPicPr>
        <p:blipFill>
          <a:blip r:embed="rId2"/>
          <a:stretch>
            <a:fillRect/>
          </a:stretch>
        </p:blipFill>
        <p:spPr>
          <a:xfrm>
            <a:off x="2702750" y="2943987"/>
            <a:ext cx="8688324" cy="3503676"/>
          </a:xfrm>
          <a:prstGeom prst="rect">
            <a:avLst/>
          </a:prstGeom>
        </p:spPr>
      </p:pic>
    </p:spTree>
    <p:extLst>
      <p:ext uri="{BB962C8B-B14F-4D97-AF65-F5344CB8AC3E}">
        <p14:creationId xmlns:p14="http://schemas.microsoft.com/office/powerpoint/2010/main" val="35683081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2BF60-1B3A-5E5C-3646-9EC57B165884}"/>
              </a:ext>
            </a:extLst>
          </p:cNvPr>
          <p:cNvSpPr>
            <a:spLocks noGrp="1"/>
          </p:cNvSpPr>
          <p:nvPr>
            <p:ph type="title"/>
          </p:nvPr>
        </p:nvSpPr>
        <p:spPr/>
        <p:txBody>
          <a:bodyPr/>
          <a:lstStyle/>
          <a:p>
            <a:pPr algn="ctr"/>
            <a:r>
              <a:rPr lang="en-US" dirty="0"/>
              <a:t>Displaying Images Example</a:t>
            </a:r>
          </a:p>
        </p:txBody>
      </p:sp>
      <p:sp>
        <p:nvSpPr>
          <p:cNvPr id="3" name="Content Placeholder 2">
            <a:extLst>
              <a:ext uri="{FF2B5EF4-FFF2-40B4-BE49-F238E27FC236}">
                <a16:creationId xmlns:a16="http://schemas.microsoft.com/office/drawing/2014/main" id="{A520992B-BCDA-AB6F-694A-4E04F63E3742}"/>
              </a:ext>
            </a:extLst>
          </p:cNvPr>
          <p:cNvSpPr>
            <a:spLocks noGrp="1"/>
          </p:cNvSpPr>
          <p:nvPr>
            <p:ph idx="1"/>
          </p:nvPr>
        </p:nvSpPr>
        <p:spPr>
          <a:xfrm>
            <a:off x="2592925" y="1657350"/>
            <a:ext cx="8915400" cy="3777622"/>
          </a:xfrm>
        </p:spPr>
        <p:txBody>
          <a:bodyPr/>
          <a:lstStyle/>
          <a:p>
            <a:pPr marL="0" indent="0">
              <a:buNone/>
            </a:pPr>
            <a:r>
              <a:rPr lang="en-US" dirty="0"/>
              <a:t>This example gives the code that displays an image from image/us.gif. </a:t>
            </a:r>
          </a:p>
          <a:p>
            <a:pPr marL="0" indent="0">
              <a:buNone/>
            </a:pPr>
            <a:r>
              <a:rPr lang="en-US" dirty="0"/>
              <a:t>The file image/us.gif is under the class directory. </a:t>
            </a:r>
          </a:p>
          <a:p>
            <a:pPr marL="0" indent="0">
              <a:buNone/>
            </a:pPr>
            <a:r>
              <a:rPr lang="en-US" dirty="0"/>
              <a:t>The Image from the file is created in the program. </a:t>
            </a:r>
          </a:p>
          <a:p>
            <a:pPr marL="0" indent="0">
              <a:buNone/>
            </a:pPr>
            <a:r>
              <a:rPr lang="en-US" dirty="0"/>
              <a:t>The </a:t>
            </a:r>
            <a:r>
              <a:rPr lang="en-US" dirty="0" err="1"/>
              <a:t>drawImage</a:t>
            </a:r>
            <a:r>
              <a:rPr lang="en-US" dirty="0"/>
              <a:t> method displays the image to fill in the whole panel, as shown in the figure.</a:t>
            </a:r>
          </a:p>
          <a:p>
            <a:endParaRPr lang="en-US" dirty="0"/>
          </a:p>
        </p:txBody>
      </p:sp>
      <p:pic>
        <p:nvPicPr>
          <p:cNvPr id="4" name="Picture 3">
            <a:extLst>
              <a:ext uri="{FF2B5EF4-FFF2-40B4-BE49-F238E27FC236}">
                <a16:creationId xmlns:a16="http://schemas.microsoft.com/office/drawing/2014/main" id="{3AF657F5-E4CA-61D5-D9BF-137C97AE5CA1}"/>
              </a:ext>
            </a:extLst>
          </p:cNvPr>
          <p:cNvPicPr>
            <a:picLocks noChangeAspect="1"/>
          </p:cNvPicPr>
          <p:nvPr/>
        </p:nvPicPr>
        <p:blipFill>
          <a:blip r:embed="rId2"/>
          <a:stretch>
            <a:fillRect/>
          </a:stretch>
        </p:blipFill>
        <p:spPr>
          <a:xfrm>
            <a:off x="4171856" y="4047673"/>
            <a:ext cx="4267570" cy="1658256"/>
          </a:xfrm>
          <a:prstGeom prst="rect">
            <a:avLst/>
          </a:prstGeom>
        </p:spPr>
      </p:pic>
    </p:spTree>
    <p:extLst>
      <p:ext uri="{BB962C8B-B14F-4D97-AF65-F5344CB8AC3E}">
        <p14:creationId xmlns:p14="http://schemas.microsoft.com/office/powerpoint/2010/main" val="2609941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8130B-CE96-0D01-0694-C9C1A8D5B387}"/>
              </a:ext>
            </a:extLst>
          </p:cNvPr>
          <p:cNvSpPr>
            <a:spLocks noGrp="1"/>
          </p:cNvSpPr>
          <p:nvPr>
            <p:ph type="title"/>
          </p:nvPr>
        </p:nvSpPr>
        <p:spPr/>
        <p:txBody>
          <a:bodyPr/>
          <a:lstStyle/>
          <a:p>
            <a:pPr algn="ctr"/>
            <a:r>
              <a:rPr lang="en-US" dirty="0"/>
              <a:t>The Image Viewer Class</a:t>
            </a:r>
          </a:p>
        </p:txBody>
      </p:sp>
      <p:sp>
        <p:nvSpPr>
          <p:cNvPr id="3" name="Content Placeholder 2">
            <a:extLst>
              <a:ext uri="{FF2B5EF4-FFF2-40B4-BE49-F238E27FC236}">
                <a16:creationId xmlns:a16="http://schemas.microsoft.com/office/drawing/2014/main" id="{F7E51D00-1C80-2BAD-4C8A-BE171E04F9A1}"/>
              </a:ext>
            </a:extLst>
          </p:cNvPr>
          <p:cNvSpPr>
            <a:spLocks noGrp="1"/>
          </p:cNvSpPr>
          <p:nvPr>
            <p:ph idx="1"/>
          </p:nvPr>
        </p:nvSpPr>
        <p:spPr>
          <a:xfrm>
            <a:off x="2589212" y="1540189"/>
            <a:ext cx="8915400" cy="1280890"/>
          </a:xfrm>
        </p:spPr>
        <p:txBody>
          <a:bodyPr>
            <a:noAutofit/>
          </a:bodyPr>
          <a:lstStyle/>
          <a:p>
            <a:pPr marL="0" indent="0">
              <a:buNone/>
            </a:pPr>
            <a:r>
              <a:rPr lang="en-US" sz="2000" dirty="0"/>
              <a:t>Displaying an image is a common task in Java programming. This case study develops a reusable component named </a:t>
            </a:r>
            <a:r>
              <a:rPr lang="en-US" sz="2000" dirty="0" err="1"/>
              <a:t>ImageViewer</a:t>
            </a:r>
            <a:r>
              <a:rPr lang="en-US" sz="2000" dirty="0"/>
              <a:t> that displays an image in a panel. The </a:t>
            </a:r>
            <a:r>
              <a:rPr lang="en-US" sz="2000" dirty="0" err="1"/>
              <a:t>ImageViewer</a:t>
            </a:r>
            <a:r>
              <a:rPr lang="en-US" sz="2000" dirty="0"/>
              <a:t> class contains the properties image, </a:t>
            </a:r>
            <a:r>
              <a:rPr lang="en-US" sz="2000" dirty="0" err="1"/>
              <a:t>imageFilename</a:t>
            </a:r>
            <a:r>
              <a:rPr lang="en-US" sz="2000" dirty="0"/>
              <a:t>, stretched, </a:t>
            </a:r>
            <a:r>
              <a:rPr lang="en-US" sz="2000" dirty="0" err="1"/>
              <a:t>xCoordinate</a:t>
            </a:r>
            <a:r>
              <a:rPr lang="en-US" sz="2000" dirty="0"/>
              <a:t>, and </a:t>
            </a:r>
            <a:r>
              <a:rPr lang="en-US" sz="2000" dirty="0" err="1"/>
              <a:t>yCoordinate</a:t>
            </a:r>
            <a:r>
              <a:rPr lang="en-US" sz="2000" dirty="0"/>
              <a:t>. </a:t>
            </a:r>
          </a:p>
          <a:p>
            <a:endParaRPr lang="en-US" sz="2000" dirty="0"/>
          </a:p>
        </p:txBody>
      </p:sp>
      <p:pic>
        <p:nvPicPr>
          <p:cNvPr id="4" name="Picture 3">
            <a:extLst>
              <a:ext uri="{FF2B5EF4-FFF2-40B4-BE49-F238E27FC236}">
                <a16:creationId xmlns:a16="http://schemas.microsoft.com/office/drawing/2014/main" id="{BC0A7E27-3896-58CA-B96D-03BD796F91ED}"/>
              </a:ext>
            </a:extLst>
          </p:cNvPr>
          <p:cNvPicPr>
            <a:picLocks noChangeAspect="1"/>
          </p:cNvPicPr>
          <p:nvPr/>
        </p:nvPicPr>
        <p:blipFill>
          <a:blip r:embed="rId2"/>
          <a:stretch>
            <a:fillRect/>
          </a:stretch>
        </p:blipFill>
        <p:spPr>
          <a:xfrm>
            <a:off x="2656713" y="3018282"/>
            <a:ext cx="8154924" cy="3297936"/>
          </a:xfrm>
          <a:prstGeom prst="rect">
            <a:avLst/>
          </a:prstGeom>
          <a:ln>
            <a:solidFill>
              <a:schemeClr val="tx1"/>
            </a:solidFill>
          </a:ln>
        </p:spPr>
      </p:pic>
    </p:spTree>
    <p:extLst>
      <p:ext uri="{BB962C8B-B14F-4D97-AF65-F5344CB8AC3E}">
        <p14:creationId xmlns:p14="http://schemas.microsoft.com/office/powerpoint/2010/main" val="2184001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85265-F758-A2D8-08A5-BDEFB52416C3}"/>
              </a:ext>
            </a:extLst>
          </p:cNvPr>
          <p:cNvSpPr>
            <a:spLocks noGrp="1"/>
          </p:cNvSpPr>
          <p:nvPr>
            <p:ph type="title"/>
          </p:nvPr>
        </p:nvSpPr>
        <p:spPr/>
        <p:txBody>
          <a:bodyPr/>
          <a:lstStyle/>
          <a:p>
            <a:pPr algn="ctr"/>
            <a:r>
              <a:rPr lang="en-US" dirty="0"/>
              <a:t>Image View Example</a:t>
            </a:r>
          </a:p>
        </p:txBody>
      </p:sp>
      <p:sp>
        <p:nvSpPr>
          <p:cNvPr id="3" name="Content Placeholder 2">
            <a:extLst>
              <a:ext uri="{FF2B5EF4-FFF2-40B4-BE49-F238E27FC236}">
                <a16:creationId xmlns:a16="http://schemas.microsoft.com/office/drawing/2014/main" id="{BA5FBEC7-B743-429C-9D73-7B3FB39486D1}"/>
              </a:ext>
            </a:extLst>
          </p:cNvPr>
          <p:cNvSpPr>
            <a:spLocks noGrp="1"/>
          </p:cNvSpPr>
          <p:nvPr>
            <p:ph idx="1"/>
          </p:nvPr>
        </p:nvSpPr>
        <p:spPr/>
        <p:txBody>
          <a:bodyPr>
            <a:normAutofit/>
          </a:bodyPr>
          <a:lstStyle/>
          <a:p>
            <a:pPr marL="0" indent="0">
              <a:buNone/>
            </a:pPr>
            <a:r>
              <a:rPr lang="en-US" sz="2400" dirty="0"/>
              <a:t>This example gives an example that creates six images using the </a:t>
            </a:r>
            <a:r>
              <a:rPr lang="en-US" sz="2400" dirty="0" err="1"/>
              <a:t>ImageViewer</a:t>
            </a:r>
            <a:r>
              <a:rPr lang="en-US" sz="2400" dirty="0"/>
              <a:t> class. </a:t>
            </a:r>
          </a:p>
          <a:p>
            <a:pPr marL="0" indent="0">
              <a:buNone/>
            </a:pPr>
            <a:endParaRPr lang="en-US" sz="2400" dirty="0"/>
          </a:p>
        </p:txBody>
      </p:sp>
      <p:pic>
        <p:nvPicPr>
          <p:cNvPr id="4" name="Picture 3">
            <a:extLst>
              <a:ext uri="{FF2B5EF4-FFF2-40B4-BE49-F238E27FC236}">
                <a16:creationId xmlns:a16="http://schemas.microsoft.com/office/drawing/2014/main" id="{49523F2D-8404-EEFB-7E26-2E35A4B5145F}"/>
              </a:ext>
            </a:extLst>
          </p:cNvPr>
          <p:cNvPicPr>
            <a:picLocks noChangeAspect="1"/>
          </p:cNvPicPr>
          <p:nvPr/>
        </p:nvPicPr>
        <p:blipFill>
          <a:blip r:embed="rId2"/>
          <a:stretch>
            <a:fillRect/>
          </a:stretch>
        </p:blipFill>
        <p:spPr>
          <a:xfrm>
            <a:off x="3652917" y="3429000"/>
            <a:ext cx="5047926" cy="2267908"/>
          </a:xfrm>
          <a:prstGeom prst="rect">
            <a:avLst/>
          </a:prstGeom>
        </p:spPr>
      </p:pic>
    </p:spTree>
    <p:extLst>
      <p:ext uri="{BB962C8B-B14F-4D97-AF65-F5344CB8AC3E}">
        <p14:creationId xmlns:p14="http://schemas.microsoft.com/office/powerpoint/2010/main" val="278152642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1_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77</TotalTime>
  <Words>1644</Words>
  <Application>Microsoft Office PowerPoint</Application>
  <PresentationFormat>Widescreen</PresentationFormat>
  <Paragraphs>144</Paragraphs>
  <Slides>34</Slides>
  <Notes>0</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2</vt:i4>
      </vt:variant>
      <vt:variant>
        <vt:lpstr>Slide Titles</vt:lpstr>
      </vt:variant>
      <vt:variant>
        <vt:i4>34</vt:i4>
      </vt:variant>
    </vt:vector>
  </HeadingPairs>
  <TitlesOfParts>
    <vt:vector size="44" baseType="lpstr">
      <vt:lpstr>Arial</vt:lpstr>
      <vt:lpstr>Courier New</vt:lpstr>
      <vt:lpstr>Monotype Sorts</vt:lpstr>
      <vt:lpstr>Times New Roman</vt:lpstr>
      <vt:lpstr>Wingdings</vt:lpstr>
      <vt:lpstr>Wingdings 3</vt:lpstr>
      <vt:lpstr>Wisp</vt:lpstr>
      <vt:lpstr>1_Wisp</vt:lpstr>
      <vt:lpstr>Picture</vt:lpstr>
      <vt:lpstr>Bitmap Image</vt:lpstr>
      <vt:lpstr>Java Graphics</vt:lpstr>
      <vt:lpstr>Motivation</vt:lpstr>
      <vt:lpstr>The Graphics Class: java.awt.graphics</vt:lpstr>
      <vt:lpstr>The Java Coordinate System</vt:lpstr>
      <vt:lpstr>Each GUI Component Has its Own Coordinate System</vt:lpstr>
      <vt:lpstr>Graphics Class Methods</vt:lpstr>
      <vt:lpstr>The Paint Component Method</vt:lpstr>
      <vt:lpstr>Automatic Draw</vt:lpstr>
      <vt:lpstr>Setting up paintComponent()</vt:lpstr>
      <vt:lpstr>When you want to Redraw</vt:lpstr>
      <vt:lpstr>paintComponent Example</vt:lpstr>
      <vt:lpstr>paintComponent creates a message</vt:lpstr>
      <vt:lpstr>paintComponent creates a message, cont.</vt:lpstr>
      <vt:lpstr>Drawing Geometric Figures</vt:lpstr>
      <vt:lpstr>Drawing Strings</vt:lpstr>
      <vt:lpstr>Drawing Rectangles</vt:lpstr>
      <vt:lpstr>Drawing Rounded Rectangles</vt:lpstr>
      <vt:lpstr>Drawing Ovals</vt:lpstr>
      <vt:lpstr>Drawing Arcs</vt:lpstr>
      <vt:lpstr>Drawing Arcs Example</vt:lpstr>
      <vt:lpstr>Drawing Polygons and PolyLines</vt:lpstr>
      <vt:lpstr>Drawing Polygons Using the Polygon Class</vt:lpstr>
      <vt:lpstr>Drawing Polygons Example</vt:lpstr>
      <vt:lpstr>Centering Display Using the FontMetrics Class </vt:lpstr>
      <vt:lpstr>The Font Metrics Class</vt:lpstr>
      <vt:lpstr>Case Study: Message Panel – Welcome to Java</vt:lpstr>
      <vt:lpstr>Message Panel Case Study</vt:lpstr>
      <vt:lpstr>Still Clock Case Study</vt:lpstr>
      <vt:lpstr>Drawing the ClocK</vt:lpstr>
      <vt:lpstr>Displaying Image Icons</vt:lpstr>
      <vt:lpstr>Displaying Images</vt:lpstr>
      <vt:lpstr>Displaying Images Example</vt:lpstr>
      <vt:lpstr>The Image Viewer Class</vt:lpstr>
      <vt:lpstr>Image View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NELSON, IVONNE</dc:creator>
  <cp:lastModifiedBy>NELSON, IVONNE</cp:lastModifiedBy>
  <cp:revision>5</cp:revision>
  <dcterms:created xsi:type="dcterms:W3CDTF">2025-01-04T16:34:00Z</dcterms:created>
  <dcterms:modified xsi:type="dcterms:W3CDTF">2025-01-04T18:09:21Z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8bb7484-22c2-4b98-9fb8-3ab13d821527_Enabled">
    <vt:lpwstr>true</vt:lpwstr>
  </property>
  <property fmtid="{D5CDD505-2E9C-101B-9397-08002B2CF9AE}" pid="3" name="MSIP_Label_d8bb7484-22c2-4b98-9fb8-3ab13d821527_SetDate">
    <vt:lpwstr>2025-01-04T16:50:01Z</vt:lpwstr>
  </property>
  <property fmtid="{D5CDD505-2E9C-101B-9397-08002B2CF9AE}" pid="4" name="MSIP_Label_d8bb7484-22c2-4b98-9fb8-3ab13d821527_Method">
    <vt:lpwstr>Standard</vt:lpwstr>
  </property>
  <property fmtid="{D5CDD505-2E9C-101B-9397-08002B2CF9AE}" pid="5" name="MSIP_Label_d8bb7484-22c2-4b98-9fb8-3ab13d821527_Name">
    <vt:lpwstr>defa4170-0d19-0005-0004-bc88714345d2</vt:lpwstr>
  </property>
  <property fmtid="{D5CDD505-2E9C-101B-9397-08002B2CF9AE}" pid="6" name="MSIP_Label_d8bb7484-22c2-4b98-9fb8-3ab13d821527_SiteId">
    <vt:lpwstr>f50e076b-86a5-45f3-87b0-3f4d0ec5e94e</vt:lpwstr>
  </property>
  <property fmtid="{D5CDD505-2E9C-101B-9397-08002B2CF9AE}" pid="7" name="MSIP_Label_d8bb7484-22c2-4b98-9fb8-3ab13d821527_ActionId">
    <vt:lpwstr>aa711eae-10ae-44be-a587-cdc4431936b1</vt:lpwstr>
  </property>
  <property fmtid="{D5CDD505-2E9C-101B-9397-08002B2CF9AE}" pid="8" name="MSIP_Label_d8bb7484-22c2-4b98-9fb8-3ab13d821527_ContentBits">
    <vt:lpwstr>0</vt:lpwstr>
  </property>
</Properties>
</file>