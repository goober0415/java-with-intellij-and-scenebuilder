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694" r:id="rId3"/>
  </p:sldMasterIdLst>
  <p:sldIdLst>
    <p:sldId id="256" r:id="rId4"/>
    <p:sldId id="322" r:id="rId5"/>
    <p:sldId id="314" r:id="rId6"/>
    <p:sldId id="315" r:id="rId7"/>
    <p:sldId id="283" r:id="rId8"/>
    <p:sldId id="316" r:id="rId9"/>
    <p:sldId id="317" r:id="rId10"/>
    <p:sldId id="318" r:id="rId11"/>
    <p:sldId id="298" r:id="rId12"/>
    <p:sldId id="300" r:id="rId13"/>
    <p:sldId id="319" r:id="rId14"/>
    <p:sldId id="320" r:id="rId15"/>
    <p:sldId id="302" r:id="rId16"/>
    <p:sldId id="299" r:id="rId17"/>
    <p:sldId id="301" r:id="rId18"/>
    <p:sldId id="303" r:id="rId19"/>
    <p:sldId id="304" r:id="rId20"/>
    <p:sldId id="305" r:id="rId21"/>
    <p:sldId id="257" r:id="rId22"/>
    <p:sldId id="258" r:id="rId23"/>
    <p:sldId id="259" r:id="rId24"/>
    <p:sldId id="474" r:id="rId25"/>
    <p:sldId id="475" r:id="rId26"/>
    <p:sldId id="323" r:id="rId27"/>
    <p:sldId id="306" r:id="rId28"/>
    <p:sldId id="307" r:id="rId29"/>
    <p:sldId id="308" r:id="rId30"/>
    <p:sldId id="309" r:id="rId31"/>
    <p:sldId id="310" r:id="rId32"/>
    <p:sldId id="311" r:id="rId33"/>
    <p:sldId id="267" r:id="rId34"/>
    <p:sldId id="312" r:id="rId35"/>
    <p:sldId id="313" r:id="rId36"/>
    <p:sldId id="32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AF607A-7088-4299-89DE-BA0F73676A38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08D4742-3219-4AC1-BE5D-DA8103795628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pPr algn="ctr"/>
          <a:r>
            <a:rPr lang="en-US" b="1" dirty="0"/>
            <a:t>Sources of Events and Listeners</a:t>
          </a:r>
          <a:endParaRPr lang="en-US" dirty="0"/>
        </a:p>
      </dgm:t>
    </dgm:pt>
    <dgm:pt modelId="{DC647FF1-6055-4E11-B8CE-BA4097E69177}" type="parTrans" cxnId="{6D20ECEB-BF33-49AA-9C90-40C262D2D16E}">
      <dgm:prSet/>
      <dgm:spPr/>
      <dgm:t>
        <a:bodyPr/>
        <a:lstStyle/>
        <a:p>
          <a:pPr algn="ctr"/>
          <a:endParaRPr lang="en-US"/>
        </a:p>
      </dgm:t>
    </dgm:pt>
    <dgm:pt modelId="{E8E704B2-63A8-4AD5-A9AE-BFB1BF02E123}" type="sibTrans" cxnId="{6D20ECEB-BF33-49AA-9C90-40C262D2D16E}">
      <dgm:prSet/>
      <dgm:spPr/>
      <dgm:t>
        <a:bodyPr/>
        <a:lstStyle/>
        <a:p>
          <a:pPr algn="ctr"/>
          <a:endParaRPr lang="en-US"/>
        </a:p>
      </dgm:t>
    </dgm:pt>
    <dgm:pt modelId="{0B652753-0103-4A06-B069-DAD2BFD79360}" type="pres">
      <dgm:prSet presAssocID="{6AAF607A-7088-4299-89DE-BA0F73676A38}" presName="linear" presStyleCnt="0">
        <dgm:presLayoutVars>
          <dgm:animLvl val="lvl"/>
          <dgm:resizeHandles val="exact"/>
        </dgm:presLayoutVars>
      </dgm:prSet>
      <dgm:spPr/>
    </dgm:pt>
    <dgm:pt modelId="{D5E1793F-21AE-436D-AB01-182D6576A0C0}" type="pres">
      <dgm:prSet presAssocID="{408D4742-3219-4AC1-BE5D-DA8103795628}" presName="parentText" presStyleLbl="node1" presStyleIdx="0" presStyleCnt="1" custLinFactNeighborX="1568" custLinFactNeighborY="-18154">
        <dgm:presLayoutVars>
          <dgm:chMax val="0"/>
          <dgm:bulletEnabled val="1"/>
        </dgm:presLayoutVars>
      </dgm:prSet>
      <dgm:spPr/>
    </dgm:pt>
  </dgm:ptLst>
  <dgm:cxnLst>
    <dgm:cxn modelId="{A52D1868-5B7A-42A1-BC31-8FFA7611F8FD}" type="presOf" srcId="{408D4742-3219-4AC1-BE5D-DA8103795628}" destId="{D5E1793F-21AE-436D-AB01-182D6576A0C0}" srcOrd="0" destOrd="0" presId="urn:microsoft.com/office/officeart/2005/8/layout/vList2"/>
    <dgm:cxn modelId="{284A14E3-4A3E-40B7-9B23-350063700AEC}" type="presOf" srcId="{6AAF607A-7088-4299-89DE-BA0F73676A38}" destId="{0B652753-0103-4A06-B069-DAD2BFD79360}" srcOrd="0" destOrd="0" presId="urn:microsoft.com/office/officeart/2005/8/layout/vList2"/>
    <dgm:cxn modelId="{6D20ECEB-BF33-49AA-9C90-40C262D2D16E}" srcId="{6AAF607A-7088-4299-89DE-BA0F73676A38}" destId="{408D4742-3219-4AC1-BE5D-DA8103795628}" srcOrd="0" destOrd="0" parTransId="{DC647FF1-6055-4E11-B8CE-BA4097E69177}" sibTransId="{E8E704B2-63A8-4AD5-A9AE-BFB1BF02E123}"/>
    <dgm:cxn modelId="{6A63760E-038F-435B-8366-8BD39DF498B2}" type="presParOf" srcId="{0B652753-0103-4A06-B069-DAD2BFD79360}" destId="{D5E1793F-21AE-436D-AB01-182D6576A0C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1793F-21AE-436D-AB01-182D6576A0C0}">
      <dsp:nvSpPr>
        <dsp:cNvPr id="0" name=""/>
        <dsp:cNvSpPr/>
      </dsp:nvSpPr>
      <dsp:spPr>
        <a:xfrm>
          <a:off x="0" y="0"/>
          <a:ext cx="7475621" cy="818999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Sources of Events and Listeners</a:t>
          </a:r>
          <a:endParaRPr lang="en-US" sz="3500" kern="1200" dirty="0"/>
        </a:p>
      </dsp:txBody>
      <dsp:txXfrm>
        <a:off x="39980" y="39980"/>
        <a:ext cx="7395661" cy="739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3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1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5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655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6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4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7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3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0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6317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08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3123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09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19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91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889" y="2514601"/>
            <a:ext cx="880060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889" y="4777381"/>
            <a:ext cx="880060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42292" y="4321159"/>
            <a:ext cx="1860631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445" y="4529542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2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02" y="624110"/>
            <a:ext cx="87855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888" y="2133600"/>
            <a:ext cx="8789313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92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2074562"/>
            <a:ext cx="8789313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3581400"/>
            <a:ext cx="8789313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78" y="3166528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3244141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11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889" y="2136707"/>
            <a:ext cx="4263375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6410" y="2136707"/>
            <a:ext cx="426279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787784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9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0469" y="2226626"/>
            <a:ext cx="38327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887" y="2802889"/>
            <a:ext cx="4263376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1540" y="2223398"/>
            <a:ext cx="383098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11620" y="2799661"/>
            <a:ext cx="4260907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787784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19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00" y="624110"/>
            <a:ext cx="87856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330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94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7" y="446088"/>
            <a:ext cx="3506112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4659" y="446090"/>
            <a:ext cx="505454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7" y="1598613"/>
            <a:ext cx="3506112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45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4800600"/>
            <a:ext cx="8789313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888" y="634965"/>
            <a:ext cx="8789313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367338"/>
            <a:ext cx="8789313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4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609600"/>
            <a:ext cx="8789313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4354046"/>
            <a:ext cx="8789313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3166528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3244141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576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498" y="609600"/>
            <a:ext cx="814611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21296" y="3505200"/>
            <a:ext cx="7538517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4354046"/>
            <a:ext cx="8789313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78" y="3166528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37" y="3244141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11089" y="64800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2711" y="290530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89762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2438402"/>
            <a:ext cx="8789313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181600"/>
            <a:ext cx="8789313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981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917498" y="609600"/>
            <a:ext cx="814611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887" y="4343400"/>
            <a:ext cx="8917723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7" y="5181600"/>
            <a:ext cx="8917723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11089" y="64800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92711" y="290530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98856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627407"/>
            <a:ext cx="8789312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888" y="4343400"/>
            <a:ext cx="8789313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181600"/>
            <a:ext cx="8789313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4910661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1637" y="4983089"/>
            <a:ext cx="779971" cy="365125"/>
          </a:xfrm>
        </p:spPr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92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92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71380" y="627407"/>
            <a:ext cx="220817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888" y="627407"/>
            <a:ext cx="6288464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78" y="711194"/>
            <a:ext cx="1811141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43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476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554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865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8107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806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5813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45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591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5633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0995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96180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931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0925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374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750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2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31FE2-1CFF-498A-875B-ABCB8B3F512A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677AD01-3629-486C-BF95-A9A59CA5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4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26416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7228" y="285"/>
            <a:ext cx="2603029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4384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3600" y="624110"/>
            <a:ext cx="87856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2133600"/>
            <a:ext cx="8789313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3200" y="6135090"/>
            <a:ext cx="102184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44665-1B4A-4D29-88BE-57C8E0977A70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887" y="6135810"/>
            <a:ext cx="76219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81637" y="787784"/>
            <a:ext cx="779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40C274E-8ED6-4A07-99A6-1B26E54C0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6/27/2024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8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D4EA-839D-FA65-071E-DCE6DA57EF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Event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65C0E-5921-7730-0BC9-AC13B056A1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5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B64F-1DAE-3B72-6BBA-D843E8273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Event Handling in Swing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7226-04C6-8203-1A19-19C570205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Java’s Event handling is covered by </a:t>
            </a:r>
            <a:r>
              <a:rPr lang="en-US" sz="2400" dirty="0" err="1"/>
              <a:t>java.awt.event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There are two mechanisms for handling events.</a:t>
            </a:r>
          </a:p>
          <a:p>
            <a:pPr marL="0" indent="0">
              <a:buNone/>
            </a:pPr>
            <a:r>
              <a:rPr lang="en-US" sz="2400" dirty="0"/>
              <a:t>The way in which events are handled changed significantly between the original version of Java (1.0) and all subsequent versions of Java, beginning with version 1.1. </a:t>
            </a:r>
          </a:p>
          <a:p>
            <a:pPr marL="0" indent="0">
              <a:buNone/>
            </a:pPr>
            <a:r>
              <a:rPr lang="en-US" sz="2400" dirty="0"/>
              <a:t>The modern approach is the way that events should be handled by all new programs and thus will be the method employed by our programs.</a:t>
            </a:r>
          </a:p>
        </p:txBody>
      </p:sp>
    </p:spTree>
    <p:extLst>
      <p:ext uri="{BB962C8B-B14F-4D97-AF65-F5344CB8AC3E}">
        <p14:creationId xmlns:p14="http://schemas.microsoft.com/office/powerpoint/2010/main" val="98490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D178-6AB5-BAD2-27C0-6821C830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Delegation Event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C69B3-5307-0F57-E56D-F7357B750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33500"/>
            <a:ext cx="9412288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modern approach to handling events is based on the delegation event model, which defines standard and consistent mechanisms to generate and process events. </a:t>
            </a:r>
          </a:p>
          <a:p>
            <a:pPr marL="0" indent="0">
              <a:buNone/>
            </a:pPr>
            <a:r>
              <a:rPr lang="en-US" sz="2400" dirty="0"/>
              <a:t>Its concept is quite simple: a source generates an event and sends it to one or more listeners. </a:t>
            </a:r>
          </a:p>
          <a:p>
            <a:pPr marL="0" indent="0">
              <a:buNone/>
            </a:pPr>
            <a:r>
              <a:rPr lang="en-US" sz="2400" dirty="0"/>
              <a:t>The listener simply waits until it receives an event. </a:t>
            </a:r>
          </a:p>
          <a:p>
            <a:pPr marL="0" indent="0">
              <a:buNone/>
            </a:pPr>
            <a:r>
              <a:rPr lang="en-US" sz="2400" dirty="0"/>
              <a:t>Once an event is received, the listener processes the event and then returns. </a:t>
            </a:r>
          </a:p>
          <a:p>
            <a:pPr marL="0" indent="0">
              <a:buNone/>
            </a:pPr>
            <a:r>
              <a:rPr lang="en-US" sz="2400" dirty="0"/>
              <a:t>The advantage of this design is that the application logic that processes events is cleanly separated from the user interface logic that generates those events. A user interface element is able to “delegate” the processing of an event to a separate piece of code.</a:t>
            </a:r>
          </a:p>
        </p:txBody>
      </p:sp>
    </p:spTree>
    <p:extLst>
      <p:ext uri="{BB962C8B-B14F-4D97-AF65-F5344CB8AC3E}">
        <p14:creationId xmlns:p14="http://schemas.microsoft.com/office/powerpoint/2010/main" val="280635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38C6-01E6-F170-F186-670E66FA4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9685-2B12-1FB4-CA0F-305904193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event is an object that describes a state change in a source. </a:t>
            </a:r>
          </a:p>
          <a:p>
            <a:pPr marL="0" indent="0">
              <a:buNone/>
            </a:pPr>
            <a:r>
              <a:rPr lang="en-US" sz="2400" dirty="0"/>
              <a:t>Among other causes, an event can be generated as a consequence of a person interacting with the elements in a graphical user interface. </a:t>
            </a:r>
          </a:p>
          <a:p>
            <a:pPr marL="0" indent="0">
              <a:buNone/>
            </a:pPr>
            <a:r>
              <a:rPr lang="en-US" sz="2400" dirty="0"/>
              <a:t>Some of the activities that cause events to be generated are pressing a button, entering a character via the keyboard, selecting an item in a list, and clicking the mouse.</a:t>
            </a:r>
          </a:p>
          <a:p>
            <a:pPr marL="0" indent="0">
              <a:buNone/>
            </a:pPr>
            <a:r>
              <a:rPr lang="en-US" sz="2400" dirty="0"/>
              <a:t>The event object contains whatever properties are pertinent to the event.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947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0D39-59C1-6966-1BC6-081214B6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Event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0E890-9E62-828D-C602-00086EE1D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 source is an object that generates an event. This occurs when the internal state of that object changes in some way. Sources may generate more than one type of event.</a:t>
            </a:r>
          </a:p>
          <a:p>
            <a:pPr marL="0" indent="0">
              <a:buNone/>
            </a:pPr>
            <a:r>
              <a:rPr lang="en-US" sz="2400" dirty="0"/>
              <a:t>A source must register listeners in order for the listeners to receive notifications about a specific type of event. Each type of event has its own registration method. Here is the general form: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public void </a:t>
            </a:r>
            <a:r>
              <a:rPr lang="en-US" sz="2400" b="1" dirty="0" err="1"/>
              <a:t>addTypeListener</a:t>
            </a:r>
            <a:r>
              <a:rPr lang="en-US" sz="2400" b="1" dirty="0"/>
              <a:t> (</a:t>
            </a:r>
            <a:r>
              <a:rPr lang="en-US" sz="2400" b="1" dirty="0" err="1"/>
              <a:t>TypeListener</a:t>
            </a:r>
            <a:r>
              <a:rPr lang="en-US" sz="2400" b="1" dirty="0"/>
              <a:t> </a:t>
            </a:r>
            <a:r>
              <a:rPr lang="en-US" sz="2400" b="1" dirty="0" err="1"/>
              <a:t>el</a:t>
            </a:r>
            <a:r>
              <a:rPr lang="en-US" sz="2400" b="1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72709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0E23-36D3-7453-2519-2D987A8E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Discussion of Event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9B175-5ADA-F00D-7E25-40E69C5CB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908843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Type is the name of the event, and </a:t>
            </a:r>
            <a:r>
              <a:rPr lang="en-US" dirty="0" err="1"/>
              <a:t>el</a:t>
            </a:r>
            <a:r>
              <a:rPr lang="en-US" dirty="0"/>
              <a:t> is a reference to the event listener.</a:t>
            </a:r>
          </a:p>
          <a:p>
            <a:pPr marL="0" indent="0">
              <a:buNone/>
            </a:pPr>
            <a:r>
              <a:rPr lang="en-US" dirty="0"/>
              <a:t>For example, the method that registers a keyboard event listener is called </a:t>
            </a:r>
            <a:r>
              <a:rPr lang="en-US" dirty="0" err="1"/>
              <a:t>addKeyListener</a:t>
            </a:r>
            <a:r>
              <a:rPr lang="en-US" dirty="0"/>
              <a:t>( ). </a:t>
            </a:r>
          </a:p>
          <a:p>
            <a:pPr marL="0" indent="0">
              <a:buNone/>
            </a:pPr>
            <a:r>
              <a:rPr lang="en-US" dirty="0"/>
              <a:t>The method that registers a mouse motion listener is called </a:t>
            </a:r>
            <a:r>
              <a:rPr lang="en-US" dirty="0" err="1"/>
              <a:t>addMouseMotionListener</a:t>
            </a:r>
            <a:r>
              <a:rPr lang="en-US" dirty="0"/>
              <a:t>( ).</a:t>
            </a:r>
          </a:p>
          <a:p>
            <a:pPr marL="0" indent="0">
              <a:buNone/>
            </a:pPr>
            <a:r>
              <a:rPr lang="en-US" dirty="0"/>
              <a:t>When an event occurs, all registered listeners are notified and receive a copy of the event object. This is known as multicasting the event. In all cases, notifications are sent only to listeners that register to receive them.</a:t>
            </a:r>
          </a:p>
          <a:p>
            <a:pPr marL="0" indent="0">
              <a:buNone/>
            </a:pPr>
            <a:r>
              <a:rPr lang="en-US" dirty="0"/>
              <a:t>A source must also provide a method that allows a listener to unregister an interest in a specific type of event. The general form of such a method is this:</a:t>
            </a:r>
          </a:p>
          <a:p>
            <a:pPr marL="0" indent="0">
              <a:buNone/>
            </a:pPr>
            <a:r>
              <a:rPr lang="en-US" b="1" dirty="0"/>
              <a:t>public void </a:t>
            </a:r>
            <a:r>
              <a:rPr lang="en-US" b="1" dirty="0" err="1"/>
              <a:t>removeTypeListener</a:t>
            </a:r>
            <a:r>
              <a:rPr lang="en-US" b="1" dirty="0"/>
              <a:t>(</a:t>
            </a:r>
            <a:r>
              <a:rPr lang="en-US" b="1" dirty="0" err="1"/>
              <a:t>TypeListener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18305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95D3-79A8-8211-75CB-9674E511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Event 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A3B1-868F-A3FE-50A8-C21AC6ABB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112" y="1264555"/>
            <a:ext cx="9088438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 listener is an object that is notified when an event occurs. It has two major requirements.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First, it must have been registered with one or more sources to receive notifications about specific types of events.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Second, it must implement methods to receive and process these notifications. In other words, the listener must supply the event handlers.</a:t>
            </a:r>
          </a:p>
          <a:p>
            <a:pPr marL="0" indent="0">
              <a:buNone/>
            </a:pPr>
            <a:r>
              <a:rPr lang="en-US" sz="2400" dirty="0"/>
              <a:t>The methods that receive and process events are defined in a set of interfaces, such as those found in </a:t>
            </a:r>
            <a:r>
              <a:rPr lang="en-US" sz="2400" dirty="0" err="1"/>
              <a:t>java.awt.event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/>
              <a:t>For example, the ActionListener interface defines a method to receive notifications when a button is pressed. Any object may handle this event by providing an implementation of this interface.</a:t>
            </a:r>
          </a:p>
        </p:txBody>
      </p:sp>
    </p:spTree>
    <p:extLst>
      <p:ext uri="{BB962C8B-B14F-4D97-AF65-F5344CB8AC3E}">
        <p14:creationId xmlns:p14="http://schemas.microsoft.com/office/powerpoint/2010/main" val="58633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CFF8-E77F-E707-2005-26498551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Event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64F32-44B3-E610-72FE-BACCF2BD8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761" y="1264555"/>
            <a:ext cx="9326563" cy="5355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 The most widely used events are those defined by the AWT and those defined by Swing. </a:t>
            </a:r>
          </a:p>
          <a:p>
            <a:pPr marL="0" indent="0">
              <a:buNone/>
            </a:pPr>
            <a:r>
              <a:rPr lang="en-US" sz="2400" dirty="0"/>
              <a:t>At the root of the Java event class hierarchy is </a:t>
            </a:r>
            <a:r>
              <a:rPr lang="en-US" sz="2400" dirty="0" err="1"/>
              <a:t>EventObject</a:t>
            </a:r>
            <a:r>
              <a:rPr lang="en-US" sz="2400" dirty="0"/>
              <a:t>, which is in </a:t>
            </a:r>
            <a:r>
              <a:rPr lang="en-US" sz="2400" dirty="0" err="1"/>
              <a:t>java.util</a:t>
            </a:r>
            <a:r>
              <a:rPr lang="en-US" sz="2400" dirty="0"/>
              <a:t>. It is the superclass for all events. Its one constructor is shown here:   </a:t>
            </a:r>
            <a:r>
              <a:rPr lang="en-US" sz="2400" b="1" dirty="0" err="1"/>
              <a:t>EventObject</a:t>
            </a:r>
            <a:r>
              <a:rPr lang="en-US" sz="2400" b="1" dirty="0"/>
              <a:t>(Object </a:t>
            </a:r>
            <a:r>
              <a:rPr lang="en-US" sz="2400" b="1" dirty="0" err="1"/>
              <a:t>src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r>
              <a:rPr lang="en-US" sz="2400" dirty="0"/>
              <a:t>Here, </a:t>
            </a:r>
            <a:r>
              <a:rPr lang="en-US" sz="2400" dirty="0" err="1"/>
              <a:t>src</a:t>
            </a:r>
            <a:r>
              <a:rPr lang="en-US" sz="2400" dirty="0"/>
              <a:t> is the object that generates this event.</a:t>
            </a:r>
          </a:p>
          <a:p>
            <a:pPr marL="0" indent="0">
              <a:buNone/>
            </a:pPr>
            <a:r>
              <a:rPr lang="en-US" sz="2400" dirty="0" err="1"/>
              <a:t>EventObject</a:t>
            </a:r>
            <a:r>
              <a:rPr lang="en-US" sz="2400" dirty="0"/>
              <a:t> defines two methods: </a:t>
            </a:r>
            <a:r>
              <a:rPr lang="en-US" sz="2400" dirty="0" err="1"/>
              <a:t>getSource</a:t>
            </a:r>
            <a:r>
              <a:rPr lang="en-US" sz="2400" dirty="0"/>
              <a:t>( ) and </a:t>
            </a:r>
            <a:r>
              <a:rPr lang="en-US" sz="2400" dirty="0" err="1"/>
              <a:t>toString</a:t>
            </a:r>
            <a:r>
              <a:rPr lang="en-US" sz="2400" dirty="0"/>
              <a:t>( ). The </a:t>
            </a:r>
            <a:r>
              <a:rPr lang="en-US" sz="2400" dirty="0" err="1"/>
              <a:t>getSource</a:t>
            </a:r>
            <a:r>
              <a:rPr lang="en-US" sz="2400" dirty="0"/>
              <a:t>( ) method returns the source of the event. Its general form is shown here:  </a:t>
            </a:r>
            <a:r>
              <a:rPr lang="en-US" sz="2400" b="1" dirty="0"/>
              <a:t>Object </a:t>
            </a:r>
            <a:r>
              <a:rPr lang="en-US" sz="2400" b="1" dirty="0" err="1"/>
              <a:t>getSource</a:t>
            </a:r>
            <a:r>
              <a:rPr lang="en-US" sz="2400" b="1" dirty="0"/>
              <a:t>( )</a:t>
            </a:r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 err="1"/>
              <a:t>toString</a:t>
            </a:r>
            <a:r>
              <a:rPr lang="en-US" sz="2400" b="1" dirty="0"/>
              <a:t>( ) </a:t>
            </a:r>
            <a:r>
              <a:rPr lang="en-US" sz="2400" dirty="0"/>
              <a:t>method returns the string equivalent of the event.</a:t>
            </a:r>
          </a:p>
          <a:p>
            <a:pPr marL="0" indent="0">
              <a:buNone/>
            </a:pPr>
            <a:r>
              <a:rPr lang="en-US" sz="2400" dirty="0"/>
              <a:t>The class </a:t>
            </a:r>
            <a:r>
              <a:rPr lang="en-US" sz="2400" dirty="0" err="1"/>
              <a:t>AWTEvent</a:t>
            </a:r>
            <a:r>
              <a:rPr lang="en-US" sz="2400" dirty="0"/>
              <a:t>, defined within the </a:t>
            </a:r>
            <a:r>
              <a:rPr lang="en-US" sz="2400" dirty="0" err="1"/>
              <a:t>java.awt</a:t>
            </a:r>
            <a:r>
              <a:rPr lang="en-US" sz="2400" dirty="0"/>
              <a:t> package, is a subclass of </a:t>
            </a:r>
            <a:r>
              <a:rPr lang="en-US" sz="2400" dirty="0" err="1"/>
              <a:t>EventObject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762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E7B1A89-C080-455D-959D-5DDAD0538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520" y="585864"/>
            <a:ext cx="9067800" cy="53530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006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80B5-EC36-4D18-18DC-A76ADA47A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Listener Classes and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B51E-5275-7221-F2B1-77D66E19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Each listener class implements a listener interface.</a:t>
            </a:r>
          </a:p>
          <a:p>
            <a:pPr marL="0" indent="0">
              <a:buNone/>
            </a:pPr>
            <a:r>
              <a:rPr lang="en-US" sz="2400" dirty="0"/>
              <a:t>The Java listener interfaces are in the </a:t>
            </a:r>
            <a:r>
              <a:rPr lang="en-US" sz="2400" dirty="0" err="1"/>
              <a:t>java.awt.event</a:t>
            </a:r>
            <a:r>
              <a:rPr lang="en-US" sz="2400" dirty="0"/>
              <a:t> and </a:t>
            </a:r>
            <a:r>
              <a:rPr lang="en-US" sz="2400" dirty="0" err="1"/>
              <a:t>javax.swing.event</a:t>
            </a:r>
            <a:r>
              <a:rPr lang="en-US" sz="2400" dirty="0"/>
              <a:t> packages.</a:t>
            </a:r>
          </a:p>
          <a:p>
            <a:pPr marL="0" indent="0">
              <a:buNone/>
            </a:pPr>
            <a:r>
              <a:rPr lang="en-US" sz="2400" dirty="0"/>
              <a:t>Listener interfaces specify one or more abstract methods that must  be implemented by the listener class.</a:t>
            </a:r>
          </a:p>
          <a:p>
            <a:pPr marL="0" indent="0">
              <a:buNone/>
            </a:pPr>
            <a:r>
              <a:rPr lang="en-US" sz="2400" dirty="0"/>
              <a:t>The listener methods receive as a parameter an event object, which represents the event fired.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4309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6378-517A-3AAB-5ECC-C277293CC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Event Classes and their Descriptions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E94C4-D2A4-21FE-F66E-E2151158D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1472630"/>
            <a:ext cx="9016671" cy="510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45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3F60F-A07F-502D-16DD-0355A25A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Action Event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2A07-77C4-A5A9-11EA-F3A92112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711" y="1824036"/>
            <a:ext cx="9097963" cy="3514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most common event is the Action Event. It is generated when a button is pressed, a list item is double-clicked, or a menu item is selected. </a:t>
            </a:r>
          </a:p>
          <a:p>
            <a:pPr marL="0" indent="0">
              <a:buNone/>
            </a:pPr>
            <a:r>
              <a:rPr lang="en-US" sz="2400" dirty="0"/>
              <a:t>There are</a:t>
            </a:r>
            <a:r>
              <a:rPr lang="en-US" sz="2400" u="sng" dirty="0"/>
              <a:t> lots </a:t>
            </a:r>
            <a:r>
              <a:rPr lang="en-US" sz="2400" dirty="0"/>
              <a:t>of other events, specific to the objects that generate them.</a:t>
            </a:r>
          </a:p>
          <a:p>
            <a:pPr marL="0" indent="0">
              <a:buNone/>
            </a:pPr>
            <a:r>
              <a:rPr lang="en-US" sz="2400" dirty="0"/>
              <a:t>The event object contains properties are pertinent to the event.  </a:t>
            </a:r>
          </a:p>
        </p:txBody>
      </p:sp>
    </p:spTree>
    <p:extLst>
      <p:ext uri="{BB962C8B-B14F-4D97-AF65-F5344CB8AC3E}">
        <p14:creationId xmlns:p14="http://schemas.microsoft.com/office/powerpoint/2010/main" val="99967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171CC7-F9F5-48E2-A9B1-D7EDB30D65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308264"/>
              </p:ext>
            </p:extLst>
          </p:nvPr>
        </p:nvGraphicFramePr>
        <p:xfrm>
          <a:off x="2545758" y="161473"/>
          <a:ext cx="7475621" cy="934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DBECEC4-97A4-4CE0-BC53-237FA2E37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74643"/>
              </p:ext>
            </p:extLst>
          </p:nvPr>
        </p:nvGraphicFramePr>
        <p:xfrm>
          <a:off x="795337" y="1237172"/>
          <a:ext cx="11172826" cy="54593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8143">
                  <a:extLst>
                    <a:ext uri="{9D8B030D-6E8A-4147-A177-3AD203B41FA5}">
                      <a16:colId xmlns:a16="http://schemas.microsoft.com/office/drawing/2014/main" val="651458983"/>
                    </a:ext>
                  </a:extLst>
                </a:gridCol>
                <a:gridCol w="4076907">
                  <a:extLst>
                    <a:ext uri="{9D8B030D-6E8A-4147-A177-3AD203B41FA5}">
                      <a16:colId xmlns:a16="http://schemas.microsoft.com/office/drawing/2014/main" val="432134196"/>
                    </a:ext>
                  </a:extLst>
                </a:gridCol>
                <a:gridCol w="2747963">
                  <a:extLst>
                    <a:ext uri="{9D8B030D-6E8A-4147-A177-3AD203B41FA5}">
                      <a16:colId xmlns:a16="http://schemas.microsoft.com/office/drawing/2014/main" val="3921979817"/>
                    </a:ext>
                  </a:extLst>
                </a:gridCol>
                <a:gridCol w="2309813">
                  <a:extLst>
                    <a:ext uri="{9D8B030D-6E8A-4147-A177-3AD203B41FA5}">
                      <a16:colId xmlns:a16="http://schemas.microsoft.com/office/drawing/2014/main" val="2694986193"/>
                    </a:ext>
                  </a:extLst>
                </a:gridCol>
              </a:tblGrid>
              <a:tr h="80037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Event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 Object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Listener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60548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JTextField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Pressing 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ActionEvent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ActionListener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14526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JButton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Pressing the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ActionEvent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ActionListener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740939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JRadioButton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Selecting a Radio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ItemEvent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ItemListener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513251"/>
                  </a:ext>
                </a:extLst>
              </a:tr>
              <a:tr h="4573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JCheckBox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Selecting or de-selecting a check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ItemEvent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ItemListener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178547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JComboBox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Selecting an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ItemEvent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ItemListener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84841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JList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Selecting an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ListSelectionEvent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ListSelectionListener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06702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/>
                        <a:t>Any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Pressing or releasing mouse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MouseEvent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MouseListener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982110"/>
                  </a:ext>
                </a:extLst>
              </a:tr>
              <a:tr h="463706">
                <a:tc>
                  <a:txBody>
                    <a:bodyPr/>
                    <a:lstStyle/>
                    <a:p>
                      <a:r>
                        <a:rPr lang="en-US" sz="2000" b="1" dirty="0"/>
                        <a:t>Any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Moving or dragging 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MouseEvent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MouseMotionListener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31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187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59A3-EFD0-ACA8-2DF9-06C8FCD9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325" y="424818"/>
            <a:ext cx="9716306" cy="1280890"/>
          </a:xfrm>
        </p:spPr>
        <p:txBody>
          <a:bodyPr/>
          <a:lstStyle/>
          <a:p>
            <a:pPr algn="ctr"/>
            <a:r>
              <a:rPr lang="en-US" b="1" dirty="0"/>
              <a:t>To Handle User Input for a GUI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A0010-042B-2877-09F6-651532078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1. Write an event handler class (also called a listener)</a:t>
            </a:r>
          </a:p>
          <a:p>
            <a:pPr marL="0" indent="0">
              <a:buNone/>
            </a:pPr>
            <a:r>
              <a:rPr lang="en-US" sz="2400" dirty="0"/>
              <a:t>2. Instantiate an object of the class</a:t>
            </a:r>
          </a:p>
          <a:p>
            <a:pPr marL="0" indent="0">
              <a:buNone/>
            </a:pPr>
            <a:r>
              <a:rPr lang="en-US" sz="2400" dirty="0"/>
              <a:t>3. Register the listener with one or more components.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691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0DF7-ECFC-434E-2C0E-7A70436C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494" y="506879"/>
            <a:ext cx="9634244" cy="1280890"/>
          </a:xfrm>
        </p:spPr>
        <p:txBody>
          <a:bodyPr/>
          <a:lstStyle/>
          <a:p>
            <a:pPr algn="ctr"/>
            <a:r>
              <a:rPr lang="en-US" b="1" dirty="0"/>
              <a:t>1. Write the Listener or Event Handler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0C995-C853-41E4-599D-ABE3C1CC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7338" y="1902139"/>
            <a:ext cx="8915400" cy="48109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Since a listener is usually limited to listening to just one class, listeners are often implemented as inner classes.</a:t>
            </a:r>
          </a:p>
          <a:p>
            <a:pPr marL="0" indent="0">
              <a:buNone/>
            </a:pPr>
            <a:r>
              <a:rPr lang="en-US" sz="2400" dirty="0"/>
              <a:t>An inner class can directly access its enclosing class's instance variables.</a:t>
            </a:r>
          </a:p>
          <a:p>
            <a:pPr marL="0" indent="0">
              <a:buNone/>
            </a:pPr>
            <a:r>
              <a:rPr lang="en-US" sz="2400" dirty="0"/>
              <a:t>To further the goal of encapsulation, you can "hide" the inner class by declaring it with the private access modifier.</a:t>
            </a:r>
          </a:p>
          <a:p>
            <a:pPr marL="0" indent="0">
              <a:buNone/>
            </a:pPr>
            <a:r>
              <a:rPr lang="en-US" sz="2400" dirty="0"/>
              <a:t>Example: A </a:t>
            </a:r>
            <a:r>
              <a:rPr lang="en-US" sz="2400" dirty="0" err="1"/>
              <a:t>buttonClick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private class </a:t>
            </a:r>
            <a:r>
              <a:rPr lang="en-US" sz="2400" b="1" dirty="0" err="1"/>
              <a:t>ButtonHandler</a:t>
            </a:r>
            <a:r>
              <a:rPr lang="en-US" sz="2400" b="1" dirty="0"/>
              <a:t> implements ActionListener  {</a:t>
            </a:r>
          </a:p>
          <a:p>
            <a:pPr marL="0" indent="0">
              <a:buNone/>
            </a:pPr>
            <a:r>
              <a:rPr lang="en-US" sz="2400" b="1" dirty="0"/>
              <a:t>	@Override</a:t>
            </a:r>
          </a:p>
          <a:p>
            <a:pPr marL="0" indent="0">
              <a:buNone/>
            </a:pPr>
            <a:r>
              <a:rPr lang="en-US" sz="2400" b="1" dirty="0"/>
              <a:t>    public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e)    {</a:t>
            </a:r>
          </a:p>
          <a:p>
            <a:pPr marL="0" indent="0">
              <a:buNone/>
            </a:pPr>
            <a:r>
              <a:rPr lang="en-US" sz="2400" b="1" dirty="0"/>
              <a:t>          &lt;do something&gt;</a:t>
            </a:r>
          </a:p>
          <a:p>
            <a:pPr marL="0" indent="0">
              <a:buNone/>
            </a:pPr>
            <a:r>
              <a:rPr lang="en-US" sz="2400" b="1" dirty="0"/>
              <a:t>    }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8675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BD78-4205-E46E-5F65-D28CBDD2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06333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Instantiate an object of the Class.</a:t>
            </a:r>
            <a:br>
              <a:rPr lang="en-US" b="1" dirty="0"/>
            </a:br>
            <a:r>
              <a:rPr lang="en-US" b="1" dirty="0"/>
              <a:t>3. Register your listener object with the component that is firing the event.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7518-B17F-29B7-65A2-5908E169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Button </a:t>
            </a:r>
            <a:r>
              <a:rPr lang="en-US" sz="2400" b="1" dirty="0" err="1"/>
              <a:t>myButton</a:t>
            </a:r>
            <a:r>
              <a:rPr lang="en-US" sz="2400" b="1" dirty="0"/>
              <a:t> = new Button();  </a:t>
            </a:r>
            <a:r>
              <a:rPr lang="en-US" sz="2400" dirty="0"/>
              <a:t>// instantiate the component object</a:t>
            </a:r>
          </a:p>
          <a:p>
            <a:pPr marL="0" indent="0">
              <a:buNone/>
            </a:pPr>
            <a:r>
              <a:rPr lang="en-US" sz="2400" b="1" dirty="0"/>
              <a:t>2.  </a:t>
            </a:r>
            <a:r>
              <a:rPr lang="en-US" sz="2400" b="1" dirty="0" err="1"/>
              <a:t>ButtonHandler</a:t>
            </a:r>
            <a:r>
              <a:rPr lang="en-US" sz="2400" b="1" dirty="0"/>
              <a:t> handler = new </a:t>
            </a:r>
            <a:r>
              <a:rPr lang="en-US" sz="2400" b="1" dirty="0" err="1"/>
              <a:t>ButtonHandler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400" dirty="0"/>
              <a:t>2a.  Or use an Anonymous object of the </a:t>
            </a:r>
            <a:r>
              <a:rPr lang="en-US" sz="2400" dirty="0" err="1"/>
              <a:t>ButtonHandler</a:t>
            </a:r>
            <a:r>
              <a:rPr lang="en-US" sz="2400" dirty="0"/>
              <a:t> class</a:t>
            </a:r>
          </a:p>
          <a:p>
            <a:pPr marL="0" indent="0">
              <a:buNone/>
            </a:pPr>
            <a:r>
              <a:rPr lang="en-US" sz="2400" b="1" dirty="0"/>
              <a:t>3. </a:t>
            </a:r>
            <a:r>
              <a:rPr lang="en-US" sz="2400" b="1" dirty="0" err="1"/>
              <a:t>button.addActionListener</a:t>
            </a:r>
            <a:r>
              <a:rPr lang="en-US" sz="2400" b="1" dirty="0"/>
              <a:t>(handler);</a:t>
            </a:r>
          </a:p>
          <a:p>
            <a:pPr marL="0" indent="0">
              <a:buNone/>
            </a:pPr>
            <a:r>
              <a:rPr lang="en-US" sz="2400" dirty="0"/>
              <a:t>3.a.  Pass the anonymous handler object:  </a:t>
            </a:r>
          </a:p>
          <a:p>
            <a:pPr marL="0" indent="0">
              <a:buNone/>
            </a:pPr>
            <a:r>
              <a:rPr lang="en-US" sz="2400" b="1" dirty="0" err="1"/>
              <a:t>button.addActionListener</a:t>
            </a:r>
            <a:r>
              <a:rPr lang="en-US" sz="2400" b="1" dirty="0"/>
              <a:t>(new </a:t>
            </a:r>
            <a:r>
              <a:rPr lang="en-US" sz="2400" b="1" dirty="0" err="1"/>
              <a:t>ButtonHandler</a:t>
            </a:r>
            <a:r>
              <a:rPr lang="en-US" sz="2400" b="1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51419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E637E-9F27-1391-579E-5D7F1536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Source of the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94631-51D2-704F-0E2F-8FBE96FE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487" y="1504950"/>
            <a:ext cx="8915400" cy="5200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How to determine which button fired the event by using the </a:t>
            </a:r>
            <a:r>
              <a:rPr lang="en-US" sz="2400" dirty="0" err="1"/>
              <a:t>getSource</a:t>
            </a:r>
            <a:r>
              <a:rPr lang="en-US" sz="2400" dirty="0"/>
              <a:t>() method of the Event class.</a:t>
            </a:r>
          </a:p>
          <a:p>
            <a:pPr marL="0" indent="0">
              <a:buNone/>
            </a:pPr>
            <a:r>
              <a:rPr lang="en-US" sz="2400" dirty="0"/>
              <a:t>For Example, in this Simple Math Calculator, the user enters a number and then selects a button to either calculate the sqrt of x or log 10 of x.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single listener class is created, named Listener. </a:t>
            </a:r>
          </a:p>
          <a:p>
            <a:pPr marL="0" indent="0">
              <a:buNone/>
            </a:pPr>
            <a:r>
              <a:rPr lang="en-US" sz="2400" dirty="0"/>
              <a:t>An object of the class is added as an ActionListener to both button objects. Here is the code for the Listener class.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7866D-8486-130D-4308-78706B111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40" y="3578564"/>
            <a:ext cx="3909606" cy="1053422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2218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C639-508C-48A3-A434-DAE76B137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471" y="880050"/>
            <a:ext cx="8915400" cy="5977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private class Listener implements ActionListener    {</a:t>
            </a:r>
          </a:p>
          <a:p>
            <a:pPr marL="0" indent="0">
              <a:buNone/>
            </a:pPr>
            <a:r>
              <a:rPr lang="en-US" sz="2000" b="1" dirty="0"/>
              <a:t>    public void </a:t>
            </a:r>
            <a:r>
              <a:rPr lang="en-US" sz="2000" b="1" dirty="0" err="1"/>
              <a:t>actionPerformed</a:t>
            </a:r>
            <a:r>
              <a:rPr lang="en-US" sz="2000" b="1" dirty="0"/>
              <a:t>(</a:t>
            </a:r>
            <a:r>
              <a:rPr lang="en-US" sz="2000" b="1" dirty="0" err="1"/>
              <a:t>ActionEvent</a:t>
            </a:r>
            <a:r>
              <a:rPr lang="en-US" sz="2000" b="1" dirty="0"/>
              <a:t> e)     {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/>
              <a:t>double x;      </a:t>
            </a:r>
            <a:r>
              <a:rPr lang="en-US" sz="2000" dirty="0"/>
              <a:t>// numeric value for user entered x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/>
              <a:t>double result; </a:t>
            </a:r>
            <a:r>
              <a:rPr lang="en-US" sz="2000" dirty="0"/>
              <a:t>// calculated value</a:t>
            </a:r>
          </a:p>
          <a:p>
            <a:pPr marL="0" indent="0">
              <a:buNone/>
            </a:pPr>
            <a:r>
              <a:rPr lang="en-US" sz="2000" b="1" dirty="0"/>
              <a:t>      if (</a:t>
            </a:r>
            <a:r>
              <a:rPr lang="en-US" sz="2000" b="1" dirty="0" err="1"/>
              <a:t>e.getActionCommand</a:t>
            </a:r>
            <a:r>
              <a:rPr lang="en-US" sz="2000" b="1" dirty="0"/>
              <a:t>().equals("sqrt x")) {</a:t>
            </a:r>
            <a:r>
              <a:rPr lang="en-US" sz="2000" dirty="0"/>
              <a:t>//find square root</a:t>
            </a:r>
          </a:p>
          <a:p>
            <a:pPr marL="0" indent="0">
              <a:buNone/>
            </a:pPr>
            <a:r>
              <a:rPr lang="en-US" sz="2000" b="1" dirty="0"/>
              <a:t>		result = </a:t>
            </a:r>
            <a:r>
              <a:rPr lang="en-US" sz="2000" b="1" dirty="0" err="1"/>
              <a:t>Math.sqrt</a:t>
            </a:r>
            <a:r>
              <a:rPr lang="en-US" sz="2000" b="1" dirty="0"/>
              <a:t>(x);</a:t>
            </a:r>
          </a:p>
          <a:p>
            <a:pPr marL="914400" lvl="2" indent="0">
              <a:buNone/>
            </a:pPr>
            <a:r>
              <a:rPr lang="en-US" sz="2000" b="1" dirty="0" err="1"/>
              <a:t>xSqrtBox.setText</a:t>
            </a:r>
            <a:r>
              <a:rPr lang="en-US" sz="2000" b="1" dirty="0"/>
              <a:t>(</a:t>
            </a:r>
            <a:r>
              <a:rPr lang="en-US" sz="2000" b="1" dirty="0" err="1"/>
              <a:t>String.format</a:t>
            </a:r>
            <a:r>
              <a:rPr lang="en-US" sz="2000" b="1" dirty="0"/>
              <a:t>("%7.5f", result));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/>
              <a:t>}</a:t>
            </a:r>
            <a:r>
              <a:rPr lang="en-US" sz="2000" dirty="0"/>
              <a:t> // end if</a:t>
            </a:r>
          </a:p>
          <a:p>
            <a:pPr marL="0" indent="0">
              <a:buNone/>
            </a:pPr>
            <a:r>
              <a:rPr lang="en-US" sz="2000" b="1" dirty="0"/>
              <a:t>      else </a:t>
            </a:r>
            <a:r>
              <a:rPr lang="en-US" sz="2000" dirty="0"/>
              <a:t>//</a:t>
            </a:r>
            <a:r>
              <a:rPr lang="en-US" sz="2000" b="1" dirty="0"/>
              <a:t> </a:t>
            </a:r>
            <a:r>
              <a:rPr lang="en-US" sz="2000" dirty="0"/>
              <a:t>calculate logarithm       </a:t>
            </a:r>
            <a:r>
              <a:rPr lang="en-US" sz="2000" b="1" dirty="0"/>
              <a:t>{</a:t>
            </a:r>
          </a:p>
          <a:p>
            <a:pPr marL="914400" lvl="2" indent="0">
              <a:buNone/>
            </a:pPr>
            <a:r>
              <a:rPr lang="en-US" sz="2000" b="1" dirty="0"/>
              <a:t>result = Math.log10(x);</a:t>
            </a:r>
          </a:p>
          <a:p>
            <a:pPr marL="0" indent="0">
              <a:buNone/>
            </a:pPr>
            <a:r>
              <a:rPr lang="en-US" sz="2000" b="1" dirty="0"/>
              <a:t>          </a:t>
            </a:r>
            <a:r>
              <a:rPr lang="en-US" sz="2000" b="1" dirty="0" err="1"/>
              <a:t>xLogBox.setText</a:t>
            </a:r>
            <a:r>
              <a:rPr lang="en-US" sz="2000" b="1" dirty="0"/>
              <a:t>(</a:t>
            </a:r>
            <a:r>
              <a:rPr lang="en-US" sz="2000" b="1" dirty="0" err="1"/>
              <a:t>String.format</a:t>
            </a:r>
            <a:r>
              <a:rPr lang="en-US" sz="2000" b="1" dirty="0"/>
              <a:t>("%7.5f", result));        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/>
              <a:t>}</a:t>
            </a:r>
            <a:r>
              <a:rPr lang="en-US" sz="2000" dirty="0"/>
              <a:t> // end else</a:t>
            </a:r>
          </a:p>
          <a:p>
            <a:pPr marL="0" indent="0">
              <a:buNone/>
            </a:pPr>
            <a:r>
              <a:rPr lang="en-US" sz="2000" dirty="0"/>
              <a:t>   </a:t>
            </a:r>
            <a:r>
              <a:rPr lang="en-US" sz="2000" b="1" dirty="0"/>
              <a:t> } </a:t>
            </a:r>
            <a:r>
              <a:rPr lang="en-US" sz="2000" dirty="0"/>
              <a:t>// end </a:t>
            </a:r>
            <a:r>
              <a:rPr lang="en-US" sz="2000" dirty="0" err="1"/>
              <a:t>actionPerformed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 } </a:t>
            </a:r>
            <a:r>
              <a:rPr lang="en-US" sz="2000" dirty="0"/>
              <a:t>// end class Listener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E79099-CA4B-9E5B-BE87-1BFF8B986BEE}"/>
              </a:ext>
            </a:extLst>
          </p:cNvPr>
          <p:cNvSpPr txBox="1"/>
          <p:nvPr/>
        </p:nvSpPr>
        <p:spPr>
          <a:xfrm>
            <a:off x="1600200" y="295275"/>
            <a:ext cx="10156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Code for the Simple Math Calculator Listener Class</a:t>
            </a:r>
          </a:p>
        </p:txBody>
      </p:sp>
    </p:spTree>
    <p:extLst>
      <p:ext uri="{BB962C8B-B14F-4D97-AF65-F5344CB8AC3E}">
        <p14:creationId xmlns:p14="http://schemas.microsoft.com/office/powerpoint/2010/main" val="294269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60C5-89EF-4523-8A79-9668999F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an Action Command?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6BC2-77F7-4376-AD0A-8DBE891F8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0543" y="1638300"/>
            <a:ext cx="9696450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Java lets us specify an “action command” string for buttons (and other components, like menu items, that can generate action events).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action command is just a String that serves to identify the component that sent the event.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default, the action command of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JButton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 same as its label; it is included in action events so that you could use it to figure out which button an event came from.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However, you’ll often know this from the context of your event listener.</a:t>
            </a:r>
          </a:p>
        </p:txBody>
      </p:sp>
    </p:spTree>
    <p:extLst>
      <p:ext uri="{BB962C8B-B14F-4D97-AF65-F5344CB8AC3E}">
        <p14:creationId xmlns:p14="http://schemas.microsoft.com/office/powerpoint/2010/main" val="1734213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492D2-CE33-49ED-A60A-E3DC62BC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 Get the Action Command from an Action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3910F-C660-409E-ADF5-1B67AB31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475" y="1943100"/>
            <a:ext cx="9416525" cy="4914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Call the event’s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getActionCommand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() method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public void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actionPerformed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ActionEvent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e){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if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e.getActionCommand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().equals(“Save File") {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//the user pressed the button that says “Save File”.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    ...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243528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75F5-CF33-4858-AC5C-D0D64CDB5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 Change the Action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CEB6F-19AD-4514-B3E0-1F2E0226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You can change the action command by calling the button’s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setActionCommand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() method. The following code changes button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myButton’s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action command to “confirm:”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myButton.setActionCommand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("confirm");</a:t>
            </a:r>
          </a:p>
        </p:txBody>
      </p:sp>
    </p:spTree>
    <p:extLst>
      <p:ext uri="{BB962C8B-B14F-4D97-AF65-F5344CB8AC3E}">
        <p14:creationId xmlns:p14="http://schemas.microsoft.com/office/powerpoint/2010/main" val="2378432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0E7A-0830-48DF-BAB6-1CC65703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329" y="140343"/>
            <a:ext cx="9601200" cy="1485900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getSource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Method identifies which Component Initiated the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BF8E-76C9-4231-AD43-50743BEC3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445" y="1611945"/>
            <a:ext cx="10353555" cy="45546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private JButton yayButton;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private JButton nayButton;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public void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actionPerformed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ActionEvent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event) {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if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event.getSource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() ==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yayButton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("Yay");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} else if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event.getSource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() ==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nayButton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("Nay");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}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}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8712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04BB-3DE4-4301-B09B-6C1298E2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Which to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A900-5627-44CF-BA09-F95C0E74B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want the object name of the event source, 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GetSource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want the label of the object to compare it with another String, 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getActionCommand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4157747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42BE-2003-D507-C801-146FA7124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9514-E398-864D-D591-3A98C9FB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22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E5C4-E199-23E0-D9AA-5C765AA4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Radio Buttons and Check Boxes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934AC-66A0-EEAA-EBE0-EE3B6DF19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Selecting or deselecting radio buttons and checkboxes fire </a:t>
            </a:r>
            <a:r>
              <a:rPr lang="en-US" sz="2400" b="1" dirty="0"/>
              <a:t>both </a:t>
            </a:r>
            <a:r>
              <a:rPr lang="en-US" sz="2400" dirty="0"/>
              <a:t>an </a:t>
            </a:r>
            <a:r>
              <a:rPr lang="en-US" sz="2400" dirty="0" err="1"/>
              <a:t>ItemEvent</a:t>
            </a:r>
            <a:r>
              <a:rPr lang="en-US" sz="2400" dirty="0"/>
              <a:t> and an </a:t>
            </a:r>
            <a:r>
              <a:rPr lang="en-US" sz="2400" dirty="0" err="1"/>
              <a:t>ActionEvent</a:t>
            </a:r>
            <a:r>
              <a:rPr lang="en-US" sz="2400" dirty="0"/>
              <a:t>.  </a:t>
            </a:r>
          </a:p>
          <a:p>
            <a:pPr marL="0" indent="0">
              <a:buNone/>
            </a:pPr>
            <a:r>
              <a:rPr lang="en-US" sz="2400" dirty="0"/>
              <a:t>Radio Buttons must be included in a Button Group so that they will be mutually exclusive.  That is, only one radio button can be selected at a time.</a:t>
            </a:r>
          </a:p>
          <a:p>
            <a:pPr marL="0" indent="0">
              <a:buNone/>
            </a:pPr>
            <a:r>
              <a:rPr lang="en-US" sz="2400" dirty="0" err="1"/>
              <a:t>CheckBoxes</a:t>
            </a:r>
            <a:r>
              <a:rPr lang="en-US" sz="2400" dirty="0"/>
              <a:t> can have multiple selections at one time.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3747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59B2-0D23-07A2-6915-A2256CAE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Item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3B678-0E1D-A88B-595F-EAB3BD05C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Inner class implements </a:t>
            </a:r>
            <a:r>
              <a:rPr lang="en-US" sz="2400" dirty="0" err="1"/>
              <a:t>ItemListener</a:t>
            </a:r>
            <a:r>
              <a:rPr lang="en-US" sz="2400" dirty="0"/>
              <a:t> interface</a:t>
            </a:r>
          </a:p>
          <a:p>
            <a:pPr marL="0" indent="0">
              <a:buNone/>
            </a:pPr>
            <a:r>
              <a:rPr lang="en-US" sz="2400" dirty="0"/>
              <a:t>Interface method is </a:t>
            </a:r>
            <a:r>
              <a:rPr lang="en-US" sz="2400" dirty="0" err="1"/>
              <a:t>itemStateChanged</a:t>
            </a:r>
            <a:r>
              <a:rPr lang="en-US" sz="2400" dirty="0"/>
              <a:t> instead of </a:t>
            </a:r>
            <a:r>
              <a:rPr lang="en-US" sz="2400" dirty="0" err="1"/>
              <a:t>actionPerformed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The procedure is the same as for an Action Listener.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3858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B02B-32D6-7560-00F0-7779D142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Anonymous Classes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71A2-EC83-F37B-7EC1-C73D53DD9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4752"/>
            <a:ext cx="8915400" cy="5129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An anonymous class is an inner class without a name.</a:t>
            </a:r>
          </a:p>
          <a:p>
            <a:pPr marL="0" indent="0">
              <a:buNone/>
            </a:pPr>
            <a:r>
              <a:rPr lang="en-US" sz="2000" dirty="0"/>
              <a:t>An anonymous class is defined and instantiated in a single succinct expression using the new  operator. </a:t>
            </a:r>
          </a:p>
          <a:p>
            <a:pPr marL="0" indent="0">
              <a:buNone/>
            </a:pPr>
            <a:r>
              <a:rPr lang="en-US" sz="2000" dirty="0"/>
              <a:t>While a class definition is a statement in a block of Java code, an anonymous class definition is an expression, which means that it can be included as part of a larger expression, such as a method call. </a:t>
            </a:r>
          </a:p>
          <a:p>
            <a:pPr marL="0" indent="0">
              <a:buNone/>
            </a:pPr>
            <a:r>
              <a:rPr lang="en-US" sz="2000" dirty="0"/>
              <a:t>Because an anonymous class has no name, it is not possible to define a constructor for it within the class body.</a:t>
            </a:r>
          </a:p>
          <a:p>
            <a:pPr marL="0" indent="0">
              <a:buNone/>
            </a:pPr>
            <a:r>
              <a:rPr lang="en-US" sz="2000" dirty="0"/>
              <a:t>If your class requires a constructor, you must use an inner class instead. However, instance initializers were introduced into the language to substitute for a constructor.</a:t>
            </a:r>
          </a:p>
          <a:p>
            <a:pPr marL="0" indent="0">
              <a:buNone/>
            </a:pPr>
            <a:r>
              <a:rPr lang="en-US" sz="2000" dirty="0"/>
              <a:t>You can only create one instance of this class. </a:t>
            </a:r>
          </a:p>
        </p:txBody>
      </p:sp>
    </p:spTree>
    <p:extLst>
      <p:ext uri="{BB962C8B-B14F-4D97-AF65-F5344CB8AC3E}">
        <p14:creationId xmlns:p14="http://schemas.microsoft.com/office/powerpoint/2010/main" val="3003127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22FC-0DB2-D722-1B3A-256B9F3A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When to use Anonymous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772DC-9941-7EE2-ECE0-744A9B199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Use if:</a:t>
            </a:r>
          </a:p>
          <a:p>
            <a:pPr marL="0" indent="0">
              <a:buNone/>
            </a:pPr>
            <a:r>
              <a:rPr lang="en-US" sz="2400" dirty="0"/>
              <a:t>The class has no constructor or can use an instance initializer.</a:t>
            </a:r>
          </a:p>
          <a:p>
            <a:pPr marL="0" indent="0">
              <a:buNone/>
            </a:pPr>
            <a:r>
              <a:rPr lang="en-US" sz="2400" dirty="0"/>
              <a:t>The class has a very short body.</a:t>
            </a:r>
          </a:p>
          <a:p>
            <a:pPr marL="0" indent="0">
              <a:buNone/>
            </a:pPr>
            <a:r>
              <a:rPr lang="en-US" sz="2400" dirty="0"/>
              <a:t>Only one instance of the class is needed.</a:t>
            </a:r>
          </a:p>
          <a:p>
            <a:pPr marL="0" indent="0">
              <a:buNone/>
            </a:pPr>
            <a:r>
              <a:rPr lang="en-US" sz="2400" dirty="0"/>
              <a:t>The class is used right after it is defined.</a:t>
            </a:r>
          </a:p>
          <a:p>
            <a:pPr marL="0" indent="0">
              <a:buNone/>
            </a:pPr>
            <a:r>
              <a:rPr lang="en-US" sz="2400" dirty="0"/>
              <a:t>The name of the class does not make your code any easier to understand.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8985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ACE7-B602-3AE8-2E6B-17125A63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we get there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FBAB-C8E2-327D-41CF-7B7946683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80744"/>
            <a:ext cx="8915400" cy="5074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//Class scope variable reference</a:t>
            </a:r>
          </a:p>
          <a:p>
            <a:pPr marL="0" indent="0">
              <a:buNone/>
            </a:pPr>
            <a:r>
              <a:rPr lang="en-US" sz="2000" b="1" dirty="0"/>
              <a:t>	private </a:t>
            </a:r>
            <a:r>
              <a:rPr lang="en-US" sz="2000" b="1" dirty="0" err="1"/>
              <a:t>JButton</a:t>
            </a:r>
            <a:r>
              <a:rPr lang="en-US" sz="2000" b="1" dirty="0"/>
              <a:t> </a:t>
            </a:r>
            <a:r>
              <a:rPr lang="en-US" sz="2000" b="1" dirty="0" err="1"/>
              <a:t>jbtnCalc</a:t>
            </a:r>
            <a:r>
              <a:rPr lang="en-US" sz="2000" b="1" dirty="0"/>
              <a:t>;</a:t>
            </a:r>
          </a:p>
          <a:p>
            <a:pPr marL="0" indent="0">
              <a:buNone/>
            </a:pPr>
            <a:r>
              <a:rPr lang="en-US" sz="2000" dirty="0"/>
              <a:t>//Instantiate the </a:t>
            </a:r>
            <a:r>
              <a:rPr lang="en-US" sz="2000" dirty="0" err="1"/>
              <a:t>JButton</a:t>
            </a:r>
            <a:r>
              <a:rPr lang="en-US" sz="2000" dirty="0"/>
              <a:t> in the frame constructor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b="1" dirty="0" err="1"/>
              <a:t>jbtnCalc</a:t>
            </a:r>
            <a:r>
              <a:rPr lang="en-US" sz="2000" b="1" dirty="0"/>
              <a:t> = new </a:t>
            </a:r>
            <a:r>
              <a:rPr lang="en-US" sz="2000" b="1" dirty="0" err="1"/>
              <a:t>JButton</a:t>
            </a:r>
            <a:r>
              <a:rPr lang="en-US" sz="2000" b="1" dirty="0"/>
              <a:t>();</a:t>
            </a:r>
          </a:p>
          <a:p>
            <a:pPr marL="0" indent="0">
              <a:buNone/>
            </a:pPr>
            <a:r>
              <a:rPr lang="en-US" sz="2000" dirty="0"/>
              <a:t>//We write an inner class to implement the interface</a:t>
            </a:r>
          </a:p>
          <a:p>
            <a:pPr marL="0" indent="0">
              <a:buNone/>
            </a:pPr>
            <a:r>
              <a:rPr lang="en-US" sz="2000" b="1" dirty="0"/>
              <a:t>private class </a:t>
            </a:r>
            <a:r>
              <a:rPr lang="en-US" sz="2000" b="1" dirty="0" err="1"/>
              <a:t>CalcBtnHandler</a:t>
            </a:r>
            <a:r>
              <a:rPr lang="en-US" sz="2000" b="1" dirty="0"/>
              <a:t> implements ActionListener{</a:t>
            </a:r>
          </a:p>
          <a:p>
            <a:pPr marL="0" indent="0">
              <a:buNone/>
            </a:pPr>
            <a:r>
              <a:rPr lang="en-US" sz="2000" b="1" dirty="0"/>
              <a:t>	@Override</a:t>
            </a:r>
          </a:p>
          <a:p>
            <a:pPr marL="0" indent="0">
              <a:buNone/>
            </a:pPr>
            <a:r>
              <a:rPr lang="en-US" sz="2000" b="1" dirty="0"/>
              <a:t>	public void </a:t>
            </a:r>
            <a:r>
              <a:rPr lang="en-US" sz="2000" b="1" dirty="0" err="1"/>
              <a:t>actionPerformed</a:t>
            </a:r>
            <a:r>
              <a:rPr lang="en-US" sz="2000" b="1" dirty="0"/>
              <a:t>(</a:t>
            </a:r>
            <a:r>
              <a:rPr lang="en-US" sz="2000" b="1" dirty="0" err="1"/>
              <a:t>ActionEvent</a:t>
            </a:r>
            <a:r>
              <a:rPr lang="en-US" sz="2000" b="1" dirty="0"/>
              <a:t> e) {</a:t>
            </a:r>
          </a:p>
          <a:p>
            <a:pPr marL="0" indent="0">
              <a:buNone/>
            </a:pPr>
            <a:r>
              <a:rPr lang="en-US" sz="2000" b="1" dirty="0"/>
              <a:t>		</a:t>
            </a:r>
            <a:r>
              <a:rPr lang="en-US" sz="2000" b="1" dirty="0" err="1"/>
              <a:t>System.out.println</a:t>
            </a:r>
            <a:r>
              <a:rPr lang="en-US" sz="2000" b="1" dirty="0"/>
              <a:t>(“Thanks for </a:t>
            </a:r>
            <a:r>
              <a:rPr lang="en-US" sz="2000" b="1" dirty="0" err="1"/>
              <a:t>listnening</a:t>
            </a:r>
            <a:r>
              <a:rPr lang="en-US" sz="2000" b="1" dirty="0"/>
              <a:t>”);</a:t>
            </a:r>
          </a:p>
          <a:p>
            <a:pPr marL="0" indent="0">
              <a:buNone/>
            </a:pPr>
            <a:r>
              <a:rPr lang="en-US" sz="2000" b="1" dirty="0"/>
              <a:t>           }</a:t>
            </a:r>
          </a:p>
          <a:p>
            <a:pPr marL="0" indent="0">
              <a:buNone/>
            </a:pPr>
            <a:r>
              <a:rPr lang="en-US" sz="2000" b="1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367248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B635-7317-CA63-64E8-0C7D1E96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F627A-9775-3FF4-5ECB-A3DF07A45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516" y="1540188"/>
            <a:ext cx="8915400" cy="5061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//Make an object of the class</a:t>
            </a:r>
          </a:p>
          <a:p>
            <a:pPr marL="0" indent="0">
              <a:buNone/>
            </a:pPr>
            <a:r>
              <a:rPr lang="en-US" sz="2000" b="1" dirty="0" err="1"/>
              <a:t>CalcBtnHandler</a:t>
            </a:r>
            <a:r>
              <a:rPr lang="en-US" sz="2000" b="1" dirty="0"/>
              <a:t> </a:t>
            </a:r>
            <a:r>
              <a:rPr lang="en-US" sz="2000" b="1" dirty="0" err="1"/>
              <a:t>cbHandler</a:t>
            </a:r>
            <a:r>
              <a:rPr lang="en-US" sz="2000" b="1" dirty="0"/>
              <a:t> = new </a:t>
            </a:r>
            <a:r>
              <a:rPr lang="en-US" sz="2000" b="1" dirty="0" err="1"/>
              <a:t>CalcBtnHandler</a:t>
            </a:r>
            <a:r>
              <a:rPr lang="en-US" sz="2000" b="1" dirty="0"/>
              <a:t>();</a:t>
            </a:r>
          </a:p>
          <a:p>
            <a:pPr marL="0" indent="0">
              <a:buNone/>
            </a:pPr>
            <a:r>
              <a:rPr lang="en-US" sz="2000" dirty="0"/>
              <a:t>//Register the listener with the button</a:t>
            </a:r>
          </a:p>
          <a:p>
            <a:pPr marL="0" indent="0">
              <a:buNone/>
            </a:pPr>
            <a:r>
              <a:rPr lang="en-US" sz="2000" b="1" dirty="0" err="1"/>
              <a:t>jbtnCalc.addActionListener</a:t>
            </a:r>
            <a:r>
              <a:rPr lang="en-US" sz="2000" b="1" dirty="0"/>
              <a:t>(</a:t>
            </a:r>
            <a:r>
              <a:rPr lang="en-US" sz="2000" b="1" dirty="0" err="1"/>
              <a:t>cbHandler</a:t>
            </a:r>
            <a:r>
              <a:rPr lang="en-US" sz="2000" b="1" dirty="0"/>
              <a:t>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That’s the long way.  We can condense it one  step by using an anonymous object for the listener object:</a:t>
            </a:r>
          </a:p>
          <a:p>
            <a:pPr marL="0" indent="0">
              <a:buNone/>
            </a:pPr>
            <a:r>
              <a:rPr lang="en-US" sz="2000" b="1" dirty="0" err="1"/>
              <a:t>jbtnCalc.addActionListener</a:t>
            </a:r>
            <a:r>
              <a:rPr lang="en-US" sz="2000" b="1" dirty="0"/>
              <a:t>(new </a:t>
            </a:r>
            <a:r>
              <a:rPr lang="en-US" sz="2000" b="1" dirty="0" err="1"/>
              <a:t>CalcBtnHandler</a:t>
            </a:r>
            <a:r>
              <a:rPr lang="en-US" sz="2000" b="1" dirty="0"/>
              <a:t>());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But we can do better.  We need to combine the action of the new operator and the body of the class so we can still implement the interface.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5355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228600"/>
            <a:ext cx="7762875" cy="17526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Combine inner class with adding the anonymous listener object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anonymous inner class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5600" y="2809875"/>
            <a:ext cx="8382000" cy="3590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jbtnCalc.setActionListener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(new </a:t>
            </a:r>
            <a:r>
              <a:rPr lang="en-US" sz="2400" strike="sngStrike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sz="2400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CalcBtnHandler</a:t>
            </a:r>
            <a:r>
              <a:rPr lang="en-US" sz="2400" strike="sng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74320" lvl="1" indent="0">
              <a:buNone/>
            </a:pPr>
            <a:r>
              <a:rPr lang="en-US" sz="2400" strike="sngStrike" dirty="0">
                <a:latin typeface="Arial" panose="020B0604020202020204" pitchFamily="34" charset="0"/>
                <a:cs typeface="Arial" panose="020B0604020202020204" pitchFamily="34" charset="0"/>
              </a:rPr>
              <a:t>implements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ActionListener(){</a:t>
            </a:r>
          </a:p>
          <a:p>
            <a:pPr marL="27432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@Override</a:t>
            </a:r>
          </a:p>
          <a:p>
            <a:pPr marL="27432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public void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actionPerformed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ActionEvent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e){</a:t>
            </a:r>
          </a:p>
          <a:p>
            <a:pPr marL="27432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//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(“Thanks for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listnening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”);</a:t>
            </a:r>
          </a:p>
          <a:p>
            <a:pPr marL="27432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	} //end of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actionPerformed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993449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C698-A899-B35B-BF58-4B439D2C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 3 – 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EDCF5-BD71-77A5-6156-B881B4AC7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52728"/>
            <a:ext cx="9499156" cy="5340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Combine the definition of an anonymous inner class with its usage and the registration of the listener in one block of code. </a:t>
            </a:r>
          </a:p>
          <a:p>
            <a:pPr marL="0" indent="0">
              <a:buNone/>
            </a:pPr>
            <a:r>
              <a:rPr lang="en-US" sz="2400" dirty="0"/>
              <a:t>Instead of using the </a:t>
            </a:r>
            <a:r>
              <a:rPr lang="en-US" sz="2400" dirty="0" err="1"/>
              <a:t>addActionListener</a:t>
            </a:r>
            <a:r>
              <a:rPr lang="en-US" sz="2400" dirty="0"/>
              <a:t> method to attach an object of a class implementing the ActionListener interface, just define the implementation right there:</a:t>
            </a:r>
          </a:p>
          <a:p>
            <a:pPr marL="0" indent="0">
              <a:buNone/>
            </a:pPr>
            <a:r>
              <a:rPr lang="en-US" sz="2400" b="1" dirty="0" err="1"/>
              <a:t>JButton</a:t>
            </a:r>
            <a:r>
              <a:rPr lang="en-US" sz="2400" b="1" dirty="0"/>
              <a:t> </a:t>
            </a:r>
            <a:r>
              <a:rPr lang="en-US" sz="2400" b="1" dirty="0" err="1"/>
              <a:t>jbtnCalc</a:t>
            </a:r>
            <a:r>
              <a:rPr lang="en-US" sz="2400" b="1" dirty="0"/>
              <a:t> =  new </a:t>
            </a:r>
            <a:r>
              <a:rPr lang="en-US" sz="2400" b="1" dirty="0" err="1"/>
              <a:t>JButton</a:t>
            </a:r>
            <a:r>
              <a:rPr lang="en-US" sz="2400" b="1" dirty="0"/>
              <a:t>();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jbtnCalc.addActionListener</a:t>
            </a:r>
            <a:r>
              <a:rPr lang="en-US" sz="2400" b="1" dirty="0"/>
              <a:t>(new ActionListener(){</a:t>
            </a:r>
          </a:p>
          <a:p>
            <a:pPr marL="0" indent="0">
              <a:buNone/>
            </a:pPr>
            <a:r>
              <a:rPr lang="en-US" sz="2400" b="1" dirty="0"/>
              <a:t>	public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e) {</a:t>
            </a:r>
          </a:p>
          <a:p>
            <a:pPr marL="0" indent="0">
              <a:buNone/>
            </a:pPr>
            <a:r>
              <a:rPr lang="en-US" sz="2400" b="1" dirty="0"/>
              <a:t>		//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(“Thanks for listening”);	</a:t>
            </a:r>
          </a:p>
          <a:p>
            <a:pPr marL="0" indent="0">
              <a:buNone/>
            </a:pPr>
            <a:r>
              <a:rPr lang="en-US" sz="2400" b="1" dirty="0"/>
              <a:t>	}</a:t>
            </a:r>
          </a:p>
          <a:p>
            <a:pPr marL="0" indent="0">
              <a:buNone/>
            </a:pPr>
            <a:r>
              <a:rPr lang="en-US" sz="2400" b="1" dirty="0"/>
              <a:t>});</a:t>
            </a:r>
            <a:r>
              <a:rPr lang="en-US" sz="2400" dirty="0"/>
              <a:t>	//Here is the clue that we have an anonymous class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6965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C73D-3967-8295-1B40-8B49CE03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Here it is Broken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22D2E-ED1C-77E8-7F7F-0F4D7EBD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jbtnCalc.addActionListener</a:t>
            </a:r>
            <a:r>
              <a:rPr lang="en-US" sz="2400" b="1" dirty="0"/>
              <a:t>(new ActionListener(){</a:t>
            </a:r>
          </a:p>
          <a:p>
            <a:pPr marL="0" indent="0">
              <a:buNone/>
            </a:pPr>
            <a:r>
              <a:rPr lang="en-US" sz="2400" b="1" dirty="0"/>
              <a:t>public void </a:t>
            </a:r>
            <a:r>
              <a:rPr lang="en-US" sz="2400" b="1" dirty="0" err="1"/>
              <a:t>actionPerformed</a:t>
            </a:r>
            <a:r>
              <a:rPr lang="en-US" sz="2400" b="1" dirty="0"/>
              <a:t>(</a:t>
            </a:r>
            <a:r>
              <a:rPr lang="en-US" sz="2400" b="1" dirty="0" err="1"/>
              <a:t>ActionEvent</a:t>
            </a:r>
            <a:r>
              <a:rPr lang="en-US" sz="2400" b="1" dirty="0"/>
              <a:t> e) {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dirty="0"/>
              <a:t>//list actions here</a:t>
            </a:r>
          </a:p>
          <a:p>
            <a:pPr marL="0" indent="0">
              <a:buNone/>
            </a:pPr>
            <a:r>
              <a:rPr lang="en-US" sz="2400" b="1" dirty="0"/>
              <a:t>}	</a:t>
            </a:r>
            <a:r>
              <a:rPr lang="en-US" sz="2400" dirty="0"/>
              <a:t>//end of </a:t>
            </a:r>
            <a:r>
              <a:rPr lang="en-US" sz="2400" dirty="0" err="1"/>
              <a:t>actionPerformed</a:t>
            </a:r>
            <a:r>
              <a:rPr lang="en-US" sz="2400" dirty="0"/>
              <a:t> method</a:t>
            </a:r>
          </a:p>
          <a:p>
            <a:pPr marL="0" indent="0">
              <a:buNone/>
            </a:pPr>
            <a:r>
              <a:rPr lang="en-US" sz="2400" b="1" dirty="0"/>
              <a:t>}	</a:t>
            </a:r>
            <a:r>
              <a:rPr lang="en-US" sz="2400" dirty="0"/>
              <a:t>//end of declaration of inner class</a:t>
            </a:r>
          </a:p>
          <a:p>
            <a:pPr marL="0" indent="0">
              <a:buNone/>
            </a:pPr>
            <a:r>
              <a:rPr lang="en-US" sz="2400" b="1" dirty="0"/>
              <a:t>)	</a:t>
            </a:r>
            <a:r>
              <a:rPr lang="en-US" sz="2400" dirty="0"/>
              <a:t>//end argument list of .</a:t>
            </a:r>
            <a:r>
              <a:rPr lang="en-US" sz="2400" dirty="0" err="1"/>
              <a:t>addActionListener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;</a:t>
            </a:r>
            <a:r>
              <a:rPr lang="en-US" sz="2400" dirty="0"/>
              <a:t>	//end the statement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4167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AD59-4E07-39CD-9463-D7C837BB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Using a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C8945-A95B-75E5-D973-CF0F6DC36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JButton</a:t>
            </a:r>
            <a:r>
              <a:rPr lang="en-US" sz="2400" b="1" dirty="0"/>
              <a:t> button = new </a:t>
            </a:r>
            <a:r>
              <a:rPr lang="en-US" sz="2400" b="1" dirty="0" err="1"/>
              <a:t>JButton</a:t>
            </a:r>
            <a:r>
              <a:rPr lang="en-US" sz="2400" b="1" dirty="0"/>
              <a:t>(“Click me!”);</a:t>
            </a:r>
          </a:p>
          <a:p>
            <a:pPr marL="0" indent="0">
              <a:buNone/>
            </a:pPr>
            <a:r>
              <a:rPr lang="en-US" sz="2400" b="1" dirty="0" err="1"/>
              <a:t>button.addActionListener</a:t>
            </a:r>
            <a:r>
              <a:rPr lang="en-US" sz="2400" b="1" dirty="0"/>
              <a:t>(ae -&gt; </a:t>
            </a:r>
            <a:r>
              <a:rPr lang="en-US" sz="2400" b="1" dirty="0" err="1"/>
              <a:t>System.out.println</a:t>
            </a:r>
            <a:r>
              <a:rPr lang="en-US" sz="2400" b="1" dirty="0"/>
              <a:t>(“Thanks for listening!”));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210809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274</TotalTime>
  <Words>2384</Words>
  <Application>Microsoft Office PowerPoint</Application>
  <PresentationFormat>Widescreen</PresentationFormat>
  <Paragraphs>236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Century Gothic</vt:lpstr>
      <vt:lpstr>Wingdings</vt:lpstr>
      <vt:lpstr>Wingdings 3</vt:lpstr>
      <vt:lpstr>Wisp</vt:lpstr>
      <vt:lpstr>1_Wisp</vt:lpstr>
      <vt:lpstr>2_Wisp</vt:lpstr>
      <vt:lpstr>Event Handling</vt:lpstr>
      <vt:lpstr>Event Handling in Swing</vt:lpstr>
      <vt:lpstr>The Delegation Event Model</vt:lpstr>
      <vt:lpstr>Events</vt:lpstr>
      <vt:lpstr>Event Sources</vt:lpstr>
      <vt:lpstr>Discussion of Event Sources</vt:lpstr>
      <vt:lpstr>Event Listeners</vt:lpstr>
      <vt:lpstr>Event classes</vt:lpstr>
      <vt:lpstr>PowerPoint Presentation</vt:lpstr>
      <vt:lpstr>Listener Classes and Interfaces</vt:lpstr>
      <vt:lpstr>Event Classes and their Descriptions</vt:lpstr>
      <vt:lpstr>The Action Event Class</vt:lpstr>
      <vt:lpstr>PowerPoint Presentation</vt:lpstr>
      <vt:lpstr>To Handle User Input for a GUI Component</vt:lpstr>
      <vt:lpstr>1. Write the Listener or Event Handler Class</vt:lpstr>
      <vt:lpstr>2. Instantiate an object of the Class. 3. Register your listener object with the component that is firing the event.</vt:lpstr>
      <vt:lpstr>Source of the Event</vt:lpstr>
      <vt:lpstr>PowerPoint Presentation</vt:lpstr>
      <vt:lpstr>What is an Action Command?</vt:lpstr>
      <vt:lpstr>To Get the Action Command from an Action Event</vt:lpstr>
      <vt:lpstr>To Change the Action Command</vt:lpstr>
      <vt:lpstr>The getSource Method identifies which Component Initiated the Event</vt:lpstr>
      <vt:lpstr>Which to Use?</vt:lpstr>
      <vt:lpstr>PowerPoint Presentation</vt:lpstr>
      <vt:lpstr>Radio Buttons and Check Boxes</vt:lpstr>
      <vt:lpstr>Item Event</vt:lpstr>
      <vt:lpstr>Anonymous Classes </vt:lpstr>
      <vt:lpstr>When to use Anonymous Classes</vt:lpstr>
      <vt:lpstr>How we get there</vt:lpstr>
      <vt:lpstr>Step 2</vt:lpstr>
      <vt:lpstr>Combine inner class with adding the anonymous listener object    anonymous inner class</vt:lpstr>
      <vt:lpstr>Step 3 – The Result</vt:lpstr>
      <vt:lpstr>Here it is Broken Down</vt:lpstr>
      <vt:lpstr>Using a Lambda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Handling</dc:title>
  <dc:creator>Ivonne Nelson</dc:creator>
  <cp:lastModifiedBy>NELSON, IVONNE</cp:lastModifiedBy>
  <cp:revision>8</cp:revision>
  <dcterms:created xsi:type="dcterms:W3CDTF">2022-12-28T18:08:05Z</dcterms:created>
  <dcterms:modified xsi:type="dcterms:W3CDTF">2024-06-27T21:21:03Z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2024-06-18T19:22:29Z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813cfb13-e4a1-4e9d-bc7b-9ef7ef91876e</vt:lpwstr>
  </property>
  <property fmtid="{D5CDD505-2E9C-101B-9397-08002B2CF9AE}" pid="8" name="MSIP_Label_d8bb7484-22c2-4b98-9fb8-3ab13d821527_ContentBits">
    <vt:lpwstr>0</vt:lpwstr>
  </property>
</Properties>
</file>