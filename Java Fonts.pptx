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1AC62F-5973-43E3-B999-31C82F3B4CCA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FFD0AAB-62EC-4E1C-A677-D5705DA8987F}">
      <dgm:prSet/>
      <dgm:spPr/>
      <dgm:t>
        <a:bodyPr/>
        <a:lstStyle/>
        <a:p>
          <a:pPr algn="ctr"/>
          <a:r>
            <a:rPr lang="en-US"/>
            <a:t>The Font Class</a:t>
          </a:r>
        </a:p>
      </dgm:t>
    </dgm:pt>
    <dgm:pt modelId="{4563280E-C8C5-4A48-A0E3-E16601F5E977}" type="parTrans" cxnId="{783912C1-F8C1-4DE0-B4F7-40C96EB07CC9}">
      <dgm:prSet/>
      <dgm:spPr/>
      <dgm:t>
        <a:bodyPr/>
        <a:lstStyle/>
        <a:p>
          <a:pPr algn="ctr"/>
          <a:endParaRPr lang="en-US"/>
        </a:p>
      </dgm:t>
    </dgm:pt>
    <dgm:pt modelId="{67BC744E-6F76-41A0-9640-BA2E8C30DAC7}" type="sibTrans" cxnId="{783912C1-F8C1-4DE0-B4F7-40C96EB07CC9}">
      <dgm:prSet/>
      <dgm:spPr/>
      <dgm:t>
        <a:bodyPr/>
        <a:lstStyle/>
        <a:p>
          <a:pPr algn="ctr"/>
          <a:endParaRPr lang="en-US"/>
        </a:p>
      </dgm:t>
    </dgm:pt>
    <dgm:pt modelId="{DEC2D85C-17ED-4AE8-BD6E-3F30BD8AA58B}" type="pres">
      <dgm:prSet presAssocID="{F01AC62F-5973-43E3-B999-31C82F3B4CCA}" presName="linear" presStyleCnt="0">
        <dgm:presLayoutVars>
          <dgm:animLvl val="lvl"/>
          <dgm:resizeHandles val="exact"/>
        </dgm:presLayoutVars>
      </dgm:prSet>
      <dgm:spPr/>
    </dgm:pt>
    <dgm:pt modelId="{2A1B5049-AD80-4A1D-9CB7-0FA7F4AF3AB8}" type="pres">
      <dgm:prSet presAssocID="{EFFD0AAB-62EC-4E1C-A677-D5705DA8987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4778534-8653-4DEC-B368-033EE4FF0C66}" type="presOf" srcId="{EFFD0AAB-62EC-4E1C-A677-D5705DA8987F}" destId="{2A1B5049-AD80-4A1D-9CB7-0FA7F4AF3AB8}" srcOrd="0" destOrd="0" presId="urn:microsoft.com/office/officeart/2005/8/layout/vList2"/>
    <dgm:cxn modelId="{4B93BD75-ECB9-409C-A768-FB09DAD0E5C8}" type="presOf" srcId="{F01AC62F-5973-43E3-B999-31C82F3B4CCA}" destId="{DEC2D85C-17ED-4AE8-BD6E-3F30BD8AA58B}" srcOrd="0" destOrd="0" presId="urn:microsoft.com/office/officeart/2005/8/layout/vList2"/>
    <dgm:cxn modelId="{783912C1-F8C1-4DE0-B4F7-40C96EB07CC9}" srcId="{F01AC62F-5973-43E3-B999-31C82F3B4CCA}" destId="{EFFD0AAB-62EC-4E1C-A677-D5705DA8987F}" srcOrd="0" destOrd="0" parTransId="{4563280E-C8C5-4A48-A0E3-E16601F5E977}" sibTransId="{67BC744E-6F76-41A0-9640-BA2E8C30DAC7}"/>
    <dgm:cxn modelId="{D940A1DF-148E-4191-A0F4-EE1C24ECF943}" type="presParOf" srcId="{DEC2D85C-17ED-4AE8-BD6E-3F30BD8AA58B}" destId="{2A1B5049-AD80-4A1D-9CB7-0FA7F4AF3AB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BAF73F-6469-4F16-AF33-E29A852BC772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C4CAA4-951D-4828-866D-2B45D7838FB8}">
      <dgm:prSet/>
      <dgm:spPr/>
      <dgm:t>
        <a:bodyPr/>
        <a:lstStyle/>
        <a:p>
          <a:r>
            <a:rPr lang="en-US"/>
            <a:t>Finding All Available Font Names</a:t>
          </a:r>
        </a:p>
      </dgm:t>
    </dgm:pt>
    <dgm:pt modelId="{8B1633EB-1CF9-4791-B8D3-33B2899A5500}" type="parTrans" cxnId="{67F9CB2E-4B76-4BC5-A457-C5D2D49C77C7}">
      <dgm:prSet/>
      <dgm:spPr/>
      <dgm:t>
        <a:bodyPr/>
        <a:lstStyle/>
        <a:p>
          <a:endParaRPr lang="en-US"/>
        </a:p>
      </dgm:t>
    </dgm:pt>
    <dgm:pt modelId="{17835BD5-6FD8-4276-90B7-7C09AB22CE5A}" type="sibTrans" cxnId="{67F9CB2E-4B76-4BC5-A457-C5D2D49C77C7}">
      <dgm:prSet/>
      <dgm:spPr/>
      <dgm:t>
        <a:bodyPr/>
        <a:lstStyle/>
        <a:p>
          <a:endParaRPr lang="en-US"/>
        </a:p>
      </dgm:t>
    </dgm:pt>
    <dgm:pt modelId="{14FD6AFE-38A0-4DD6-A10E-D3754F034B2E}" type="pres">
      <dgm:prSet presAssocID="{60BAF73F-6469-4F16-AF33-E29A852BC772}" presName="linear" presStyleCnt="0">
        <dgm:presLayoutVars>
          <dgm:animLvl val="lvl"/>
          <dgm:resizeHandles val="exact"/>
        </dgm:presLayoutVars>
      </dgm:prSet>
      <dgm:spPr/>
    </dgm:pt>
    <dgm:pt modelId="{F3673ABE-8541-462D-85E5-AE4CD6E44CDC}" type="pres">
      <dgm:prSet presAssocID="{47C4CAA4-951D-4828-866D-2B45D7838FB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AAD4A28-7C87-4B5A-8DF1-44D061AE953E}" type="presOf" srcId="{60BAF73F-6469-4F16-AF33-E29A852BC772}" destId="{14FD6AFE-38A0-4DD6-A10E-D3754F034B2E}" srcOrd="0" destOrd="0" presId="urn:microsoft.com/office/officeart/2005/8/layout/vList2"/>
    <dgm:cxn modelId="{67F9CB2E-4B76-4BC5-A457-C5D2D49C77C7}" srcId="{60BAF73F-6469-4F16-AF33-E29A852BC772}" destId="{47C4CAA4-951D-4828-866D-2B45D7838FB8}" srcOrd="0" destOrd="0" parTransId="{8B1633EB-1CF9-4791-B8D3-33B2899A5500}" sibTransId="{17835BD5-6FD8-4276-90B7-7C09AB22CE5A}"/>
    <dgm:cxn modelId="{23663490-157A-438B-A957-0FACDEC04F81}" type="presOf" srcId="{47C4CAA4-951D-4828-866D-2B45D7838FB8}" destId="{F3673ABE-8541-462D-85E5-AE4CD6E44CDC}" srcOrd="0" destOrd="0" presId="urn:microsoft.com/office/officeart/2005/8/layout/vList2"/>
    <dgm:cxn modelId="{1D2A51EC-237D-4B0C-868D-26045B94F2F7}" type="presParOf" srcId="{14FD6AFE-38A0-4DD6-A10E-D3754F034B2E}" destId="{F3673ABE-8541-462D-85E5-AE4CD6E44C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1B5049-AD80-4A1D-9CB7-0FA7F4AF3AB8}">
      <dsp:nvSpPr>
        <dsp:cNvPr id="0" name=""/>
        <dsp:cNvSpPr/>
      </dsp:nvSpPr>
      <dsp:spPr>
        <a:xfrm>
          <a:off x="0" y="7300"/>
          <a:ext cx="3886200" cy="83947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The Font Class</a:t>
          </a:r>
        </a:p>
      </dsp:txBody>
      <dsp:txXfrm>
        <a:off x="40980" y="48280"/>
        <a:ext cx="3804240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73ABE-8541-462D-85E5-AE4CD6E44CDC}">
      <dsp:nvSpPr>
        <dsp:cNvPr id="0" name=""/>
        <dsp:cNvSpPr/>
      </dsp:nvSpPr>
      <dsp:spPr>
        <a:xfrm>
          <a:off x="0" y="177870"/>
          <a:ext cx="7772400" cy="8634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Finding All Available Font Names</a:t>
          </a:r>
        </a:p>
      </dsp:txBody>
      <dsp:txXfrm>
        <a:off x="42151" y="220021"/>
        <a:ext cx="7688098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6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4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2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0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5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6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4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6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4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509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862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66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52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5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9B8BE-CA24-4778-9CEC-EB627C5C2E8F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EF78D1-05C1-4ABF-9B0B-D25842F1D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0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077" y="1318591"/>
            <a:ext cx="4350697" cy="4220820"/>
          </a:xfrm>
        </p:spPr>
        <p:txBody>
          <a:bodyPr anchor="ctr">
            <a:normAutofit/>
          </a:bodyPr>
          <a:lstStyle/>
          <a:p>
            <a:pPr algn="r"/>
            <a:r>
              <a:rPr lang="en-US" sz="5700">
                <a:solidFill>
                  <a:schemeClr val="tx2">
                    <a:lumMod val="75000"/>
                  </a:schemeClr>
                </a:solidFill>
              </a:rPr>
              <a:t>Java Fonts</a:t>
            </a:r>
            <a:br>
              <a:rPr lang="en-US" sz="5700">
                <a:solidFill>
                  <a:schemeClr val="tx2">
                    <a:lumMod val="75000"/>
                  </a:schemeClr>
                </a:solidFill>
              </a:rPr>
            </a:br>
            <a:endParaRPr lang="en-US" sz="570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2897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32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1ADA32-424A-4125-9001-71761372F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212695"/>
              </p:ext>
            </p:extLst>
          </p:nvPr>
        </p:nvGraphicFramePr>
        <p:xfrm>
          <a:off x="2857500" y="76199"/>
          <a:ext cx="3886200" cy="854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3886199"/>
            <a:ext cx="8839200" cy="2698752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b="1" dirty="0">
                <a:latin typeface="Courier New" pitchFamily="49" charset="0"/>
              </a:rPr>
              <a:t>Font </a:t>
            </a:r>
            <a:r>
              <a:rPr lang="en-US" altLang="en-US" b="1" dirty="0" err="1">
                <a:latin typeface="Courier New" pitchFamily="49" charset="0"/>
              </a:rPr>
              <a:t>myFont</a:t>
            </a:r>
            <a:r>
              <a:rPr lang="en-US" altLang="en-US" b="1" dirty="0">
                <a:latin typeface="Courier New" pitchFamily="49" charset="0"/>
              </a:rPr>
              <a:t> = new Font(name, style, size);</a:t>
            </a:r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endParaRPr lang="en-US" altLang="en-US" b="1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600" dirty="0"/>
              <a:t>Example: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Font </a:t>
            </a:r>
            <a:r>
              <a:rPr lang="en-US" altLang="en-US" sz="2000" b="1" dirty="0" err="1">
                <a:latin typeface="Courier New" pitchFamily="49" charset="0"/>
              </a:rPr>
              <a:t>myFont</a:t>
            </a:r>
            <a:r>
              <a:rPr lang="en-US" altLang="en-US" sz="2000" b="1" dirty="0">
                <a:latin typeface="Courier New" pitchFamily="49" charset="0"/>
              </a:rPr>
              <a:t> = new Font("</a:t>
            </a:r>
            <a:r>
              <a:rPr lang="en-US" altLang="en-US" sz="2000" b="1" dirty="0" err="1">
                <a:latin typeface="Courier New" pitchFamily="49" charset="0"/>
              </a:rPr>
              <a:t>SansSerif</a:t>
            </a:r>
            <a:r>
              <a:rPr lang="en-US" altLang="en-US" sz="2000" b="1" dirty="0">
                <a:latin typeface="Courier New" pitchFamily="49" charset="0"/>
              </a:rPr>
              <a:t> ", </a:t>
            </a:r>
            <a:r>
              <a:rPr lang="en-US" altLang="en-US" sz="2000" b="1" dirty="0" err="1">
                <a:latin typeface="Courier New" pitchFamily="49" charset="0"/>
              </a:rPr>
              <a:t>Font.BOLD</a:t>
            </a:r>
            <a:r>
              <a:rPr lang="en-US" altLang="en-US" sz="2000" b="1" dirty="0">
                <a:latin typeface="Courier New" pitchFamily="49" charset="0"/>
              </a:rPr>
              <a:t>, 16);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>
                <a:latin typeface="Courier New" pitchFamily="49" charset="0"/>
              </a:rPr>
              <a:t>Font </a:t>
            </a:r>
            <a:r>
              <a:rPr lang="en-US" altLang="en-US" sz="2000" b="1" dirty="0" err="1">
                <a:latin typeface="Courier New" pitchFamily="49" charset="0"/>
              </a:rPr>
              <a:t>myFont</a:t>
            </a:r>
            <a:r>
              <a:rPr lang="en-US" altLang="en-US" sz="2000" b="1" dirty="0">
                <a:latin typeface="Courier New" pitchFamily="49" charset="0"/>
              </a:rPr>
              <a:t> = new Font("Serif", </a:t>
            </a:r>
            <a:r>
              <a:rPr lang="en-US" altLang="en-US" sz="2000" b="1" dirty="0" err="1">
                <a:latin typeface="Courier New" pitchFamily="49" charset="0"/>
              </a:rPr>
              <a:t>Font.BOLD+Font.ITALIC</a:t>
            </a:r>
            <a:r>
              <a:rPr lang="en-US" altLang="en-US" sz="2000" b="1" dirty="0">
                <a:latin typeface="Courier New" pitchFamily="49" charset="0"/>
              </a:rPr>
              <a:t>, 12);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 b="1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JButton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jbtOK</a:t>
            </a:r>
            <a:r>
              <a:rPr lang="en-US" altLang="en-US" sz="2000" b="1" dirty="0">
                <a:latin typeface="Courier New" pitchFamily="49" charset="0"/>
              </a:rPr>
              <a:t> = new </a:t>
            </a:r>
            <a:r>
              <a:rPr lang="en-US" altLang="en-US" sz="2000" b="1" dirty="0" err="1">
                <a:latin typeface="Courier New" pitchFamily="49" charset="0"/>
              </a:rPr>
              <a:t>JButton</a:t>
            </a:r>
            <a:r>
              <a:rPr lang="en-US" altLang="en-US" sz="2000" b="1" dirty="0">
                <a:latin typeface="Courier New" pitchFamily="49" charset="0"/>
              </a:rPr>
              <a:t>("OK“);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err="1">
                <a:latin typeface="Courier New" pitchFamily="49" charset="0"/>
              </a:rPr>
              <a:t>jbtOK.setFont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latin typeface="Courier New" pitchFamily="49" charset="0"/>
              </a:rPr>
              <a:t>myFont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</p:txBody>
      </p:sp>
      <p:sp>
        <p:nvSpPr>
          <p:cNvPr id="3686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773CBBB-9ED6-4A7D-ACC5-EBAF2942B984}" type="slidenum">
              <a:rPr lang="en-US" altLang="en-US" sz="1400" smtClean="0">
                <a:solidFill>
                  <a:srgbClr val="FFFFFF"/>
                </a:solidFill>
              </a:rPr>
              <a:pPr/>
              <a:t>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1348203" y="1138515"/>
            <a:ext cx="32004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Font Names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Tx/>
              <a:buFontTx/>
              <a:buNone/>
            </a:pP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Standard font names that are supported in all platforms are: </a:t>
            </a:r>
            <a:r>
              <a:rPr lang="en-US" altLang="en-US" sz="2200" u="sng" dirty="0" err="1">
                <a:latin typeface="Times New Roman" pitchFamily="18" charset="0"/>
                <a:cs typeface="Times New Roman" pitchFamily="18" charset="0"/>
              </a:rPr>
              <a:t>SansSerif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2200" u="sng" dirty="0">
                <a:latin typeface="Times New Roman" pitchFamily="18" charset="0"/>
                <a:cs typeface="Times New Roman" pitchFamily="18" charset="0"/>
              </a:rPr>
              <a:t>Serif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2200" u="sng" dirty="0">
                <a:latin typeface="Times New Roman" pitchFamily="18" charset="0"/>
                <a:cs typeface="Times New Roman" pitchFamily="18" charset="0"/>
              </a:rPr>
              <a:t>Monospaced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2200" u="sng" dirty="0">
                <a:latin typeface="Times New Roman" pitchFamily="18" charset="0"/>
                <a:cs typeface="Times New Roman" pitchFamily="18" charset="0"/>
              </a:rPr>
              <a:t>Dialog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altLang="en-US" sz="2200" u="sng" dirty="0" err="1">
                <a:latin typeface="Times New Roman" pitchFamily="18" charset="0"/>
                <a:cs typeface="Times New Roman" pitchFamily="18" charset="0"/>
              </a:rPr>
              <a:t>DialogInput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4800600" y="1066800"/>
            <a:ext cx="32004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600">
                <a:latin typeface="Times New Roman" pitchFamily="18" charset="0"/>
                <a:cs typeface="Times New Roman" pitchFamily="18" charset="0"/>
              </a:rPr>
              <a:t>Font Style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Tx/>
              <a:buFontTx/>
              <a:buNone/>
            </a:pPr>
            <a:r>
              <a:rPr lang="en-US" altLang="en-US" sz="2200" u="sng">
                <a:latin typeface="Times New Roman" pitchFamily="18" charset="0"/>
                <a:cs typeface="Times New Roman" pitchFamily="18" charset="0"/>
              </a:rPr>
              <a:t>Font.PLAIN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 (0), </a:t>
            </a:r>
            <a:r>
              <a:rPr lang="en-US" altLang="en-US" sz="2200" u="sng">
                <a:latin typeface="Times New Roman" pitchFamily="18" charset="0"/>
                <a:cs typeface="Times New Roman" pitchFamily="18" charset="0"/>
              </a:rPr>
              <a:t>Font.BOLD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 (1), </a:t>
            </a:r>
            <a:r>
              <a:rPr lang="en-US" altLang="en-US" sz="2200" u="sng">
                <a:latin typeface="Times New Roman" pitchFamily="18" charset="0"/>
                <a:cs typeface="Times New Roman" pitchFamily="18" charset="0"/>
              </a:rPr>
              <a:t>Font.ITALIC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 (2), and </a:t>
            </a:r>
            <a:r>
              <a:rPr lang="en-US" altLang="en-US" sz="2200" u="sng">
                <a:latin typeface="Times New Roman" pitchFamily="18" charset="0"/>
                <a:cs typeface="Times New Roman" pitchFamily="18" charset="0"/>
              </a:rPr>
              <a:t>Font.BOLD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sz="2200" u="sng">
                <a:latin typeface="Times New Roman" pitchFamily="18" charset="0"/>
                <a:cs typeface="Times New Roman" pitchFamily="18" charset="0"/>
              </a:rPr>
              <a:t>Font.ITALIC</a:t>
            </a:r>
            <a:r>
              <a:rPr lang="en-US" altLang="en-US" sz="2200">
                <a:latin typeface="Times New Roman" pitchFamily="18" charset="0"/>
                <a:cs typeface="Times New Roman" pitchFamily="18" charset="0"/>
              </a:rPr>
              <a:t> (3)</a:t>
            </a:r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5562600" y="3505200"/>
            <a:ext cx="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5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0D83DE1-1935-4504-BCD6-7EE20BC5D9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5510760"/>
              </p:ext>
            </p:extLst>
          </p:nvPr>
        </p:nvGraphicFramePr>
        <p:xfrm>
          <a:off x="685800" y="381000"/>
          <a:ext cx="77724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534400" cy="31242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import </a:t>
            </a:r>
            <a:r>
              <a:rPr lang="en-US" altLang="en-US" sz="2000" dirty="0" err="1">
                <a:latin typeface="Courier New" pitchFamily="49" charset="0"/>
              </a:rPr>
              <a:t>java.awt</a:t>
            </a:r>
            <a:r>
              <a:rPr lang="en-US" altLang="en-US" sz="2000" dirty="0">
                <a:latin typeface="Courier New" pitchFamily="49" charset="0"/>
              </a:rPr>
              <a:t>.*;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000" dirty="0">
              <a:latin typeface="Courier New" pitchFamily="49" charset="0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 err="1">
                <a:latin typeface="Courier New" pitchFamily="49" charset="0"/>
              </a:rPr>
              <a:t>GraphicsEnvironment</a:t>
            </a:r>
            <a:r>
              <a:rPr lang="en-US" altLang="en-US" sz="2000" dirty="0">
                <a:latin typeface="Courier New" pitchFamily="49" charset="0"/>
              </a:rPr>
              <a:t> e =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  </a:t>
            </a:r>
            <a:r>
              <a:rPr lang="en-US" altLang="en-US" sz="2000" dirty="0" err="1">
                <a:latin typeface="Courier New" pitchFamily="49" charset="0"/>
              </a:rPr>
              <a:t>GraphicsEnvironment.getLocalGraphicsEnvironment</a:t>
            </a:r>
            <a:r>
              <a:rPr lang="en-US" altLang="en-US" sz="2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String[] </a:t>
            </a:r>
            <a:r>
              <a:rPr lang="en-US" altLang="en-US" sz="2000" dirty="0" err="1">
                <a:latin typeface="Courier New" pitchFamily="49" charset="0"/>
              </a:rPr>
              <a:t>fontnames</a:t>
            </a:r>
            <a:r>
              <a:rPr lang="en-US" altLang="en-US" sz="2000" dirty="0">
                <a:latin typeface="Courier New" pitchFamily="49" charset="0"/>
              </a:rPr>
              <a:t> =   </a:t>
            </a:r>
            <a:r>
              <a:rPr lang="en-US" altLang="en-US" sz="2000" dirty="0" err="1">
                <a:latin typeface="Courier New" pitchFamily="49" charset="0"/>
              </a:rPr>
              <a:t>e.getAvailableFontFamilyNames</a:t>
            </a:r>
            <a:r>
              <a:rPr lang="en-US" altLang="en-US" sz="2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for (</a:t>
            </a:r>
            <a:r>
              <a:rPr lang="en-US" altLang="en-US" sz="2000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i</a:t>
            </a:r>
            <a:r>
              <a:rPr lang="en-US" altLang="en-US" sz="2000" dirty="0">
                <a:latin typeface="Courier New" pitchFamily="49" charset="0"/>
              </a:rPr>
              <a:t> = 0; </a:t>
            </a:r>
            <a:r>
              <a:rPr lang="en-US" altLang="en-US" sz="2000" dirty="0" err="1">
                <a:latin typeface="Courier New" pitchFamily="49" charset="0"/>
              </a:rPr>
              <a:t>i</a:t>
            </a:r>
            <a:r>
              <a:rPr lang="en-US" altLang="en-US" sz="2000" dirty="0">
                <a:latin typeface="Courier New" pitchFamily="49" charset="0"/>
              </a:rPr>
              <a:t> &lt; </a:t>
            </a:r>
            <a:r>
              <a:rPr lang="en-US" altLang="en-US" sz="2000" dirty="0" err="1">
                <a:latin typeface="Courier New" pitchFamily="49" charset="0"/>
              </a:rPr>
              <a:t>fontnames.length</a:t>
            </a:r>
            <a:r>
              <a:rPr lang="en-US" altLang="en-US" sz="2000" dirty="0">
                <a:latin typeface="Courier New" pitchFamily="49" charset="0"/>
              </a:rPr>
              <a:t>; </a:t>
            </a:r>
            <a:r>
              <a:rPr lang="en-US" altLang="en-US" sz="2000" dirty="0" err="1">
                <a:latin typeface="Courier New" pitchFamily="49" charset="0"/>
              </a:rPr>
              <a:t>i</a:t>
            </a:r>
            <a:r>
              <a:rPr lang="en-US" altLang="en-US" sz="2000" dirty="0">
                <a:latin typeface="Courier New" pitchFamily="49" charset="0"/>
              </a:rPr>
              <a:t>++)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dirty="0">
                <a:latin typeface="Courier New" pitchFamily="49" charset="0"/>
              </a:rPr>
              <a:t>  </a:t>
            </a:r>
            <a:r>
              <a:rPr lang="en-US" altLang="en-US" sz="2000" dirty="0" err="1">
                <a:latin typeface="Courier New" pitchFamily="49" charset="0"/>
              </a:rPr>
              <a:t>System.out.println</a:t>
            </a:r>
            <a:r>
              <a:rPr lang="en-US" altLang="en-US" sz="2000" dirty="0">
                <a:latin typeface="Courier New" pitchFamily="49" charset="0"/>
              </a:rPr>
              <a:t>(</a:t>
            </a:r>
            <a:r>
              <a:rPr lang="en-US" altLang="en-US" sz="2000" dirty="0" err="1">
                <a:latin typeface="Courier New" pitchFamily="49" charset="0"/>
              </a:rPr>
              <a:t>fontnames</a:t>
            </a:r>
            <a:r>
              <a:rPr lang="en-US" altLang="en-US" sz="2000" dirty="0">
                <a:latin typeface="Courier New" pitchFamily="49" charset="0"/>
              </a:rPr>
              <a:t>[</a:t>
            </a:r>
            <a:r>
              <a:rPr lang="en-US" altLang="en-US" sz="2000" dirty="0" err="1">
                <a:latin typeface="Courier New" pitchFamily="49" charset="0"/>
              </a:rPr>
              <a:t>i</a:t>
            </a:r>
            <a:r>
              <a:rPr lang="en-US" altLang="en-US" sz="2000" dirty="0">
                <a:latin typeface="Courier New" pitchFamily="49" charset="0"/>
              </a:rPr>
              <a:t>]);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21BA93B-FB85-4CD7-8CD3-6045211619E4}" type="slidenum">
              <a:rPr lang="en-US" altLang="en-US" sz="1400" smtClean="0">
                <a:solidFill>
                  <a:srgbClr val="FFFFFF"/>
                </a:solidFill>
              </a:rPr>
              <a:pPr/>
              <a:t>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3342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</TotalTime>
  <Words>175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Century Gothic</vt:lpstr>
      <vt:lpstr>Courier New</vt:lpstr>
      <vt:lpstr>Monotype Sorts</vt:lpstr>
      <vt:lpstr>Times New Roman</vt:lpstr>
      <vt:lpstr>Wingdings 3</vt:lpstr>
      <vt:lpstr>Wisp</vt:lpstr>
      <vt:lpstr>Java Fonts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Fonts</dc:title>
  <dc:creator>EQUUS</dc:creator>
  <cp:lastModifiedBy>Ivonne Nelson</cp:lastModifiedBy>
  <cp:revision>5</cp:revision>
  <dcterms:created xsi:type="dcterms:W3CDTF">2017-06-08T11:27:17Z</dcterms:created>
  <dcterms:modified xsi:type="dcterms:W3CDTF">2023-01-03T23:50:55Z</dcterms:modified>
</cp:coreProperties>
</file>