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0" r:id="rId3"/>
    <p:sldId id="275" r:id="rId4"/>
    <p:sldId id="258" r:id="rId5"/>
    <p:sldId id="259" r:id="rId6"/>
    <p:sldId id="263" r:id="rId7"/>
    <p:sldId id="264" r:id="rId8"/>
    <p:sldId id="291" r:id="rId9"/>
    <p:sldId id="265" r:id="rId10"/>
    <p:sldId id="266" r:id="rId11"/>
    <p:sldId id="267" r:id="rId12"/>
    <p:sldId id="268" r:id="rId13"/>
    <p:sldId id="270" r:id="rId14"/>
    <p:sldId id="276" r:id="rId15"/>
    <p:sldId id="269" r:id="rId16"/>
    <p:sldId id="271" r:id="rId17"/>
    <p:sldId id="272" r:id="rId18"/>
    <p:sldId id="273" r:id="rId19"/>
    <p:sldId id="277" r:id="rId20"/>
    <p:sldId id="274" r:id="rId21"/>
    <p:sldId id="278" r:id="rId22"/>
    <p:sldId id="279" r:id="rId23"/>
    <p:sldId id="280" r:id="rId24"/>
    <p:sldId id="281" r:id="rId25"/>
    <p:sldId id="282" r:id="rId26"/>
    <p:sldId id="283" r:id="rId27"/>
    <p:sldId id="284" r:id="rId28"/>
    <p:sldId id="292" r:id="rId29"/>
    <p:sldId id="285" r:id="rId30"/>
    <p:sldId id="286" r:id="rId31"/>
    <p:sldId id="287" r:id="rId32"/>
    <p:sldId id="288"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87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2129357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427707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1883919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EFDA40-9A7D-47AA-8DF4-C99E1F456D8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1942235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CEFDA40-9A7D-47AA-8DF4-C99E1F456D88}" type="datetimeFigureOut">
              <a:rPr lang="en-US" smtClean="0"/>
              <a:t>6/6/2024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3948115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CEFDA40-9A7D-47AA-8DF4-C99E1F456D88}" type="datetimeFigureOut">
              <a:rPr lang="en-US" smtClean="0"/>
              <a:t>6/6/2024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3993655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EFDA40-9A7D-47AA-8DF4-C99E1F456D88}" type="datetimeFigureOut">
              <a:rPr lang="en-US" smtClean="0"/>
              <a:t>6/6/2024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2160707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EFDA40-9A7D-47AA-8DF4-C99E1F456D8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2395957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EFDA40-9A7D-47AA-8DF4-C99E1F456D8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209422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2876893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9AC51670-A227-4DB6-B38D-AB63699D6CF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22182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CEFDA40-9A7D-47AA-8DF4-C99E1F456D8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7582654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CEFDA40-9A7D-47AA-8DF4-C99E1F456D8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C51670-A227-4DB6-B38D-AB63699D6CF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98311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CEFDA40-9A7D-47AA-8DF4-C99E1F456D88}" type="datetimeFigureOut">
              <a:rPr lang="en-US" smtClean="0"/>
              <a:t>6/6/2024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6762568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5668859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CEFDA40-9A7D-47AA-8DF4-C99E1F456D88}" type="datetimeFigureOut">
              <a:rPr lang="en-US" smtClean="0"/>
              <a:t>6/6/2024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AC51670-A227-4DB6-B38D-AB63699D6CFB}" type="slidenum">
              <a:rPr lang="en-US" smtClean="0"/>
              <a:t>‹#›</a:t>
            </a:fld>
            <a:endParaRPr lang="en-US"/>
          </a:p>
        </p:txBody>
      </p:sp>
    </p:spTree>
    <p:extLst>
      <p:ext uri="{BB962C8B-B14F-4D97-AF65-F5344CB8AC3E}">
        <p14:creationId xmlns:p14="http://schemas.microsoft.com/office/powerpoint/2010/main" val="1518801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CEFDA40-9A7D-47AA-8DF4-C99E1F456D88}" type="datetimeFigureOut">
              <a:rPr lang="en-US" smtClean="0"/>
              <a:t>6/6/2024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AC51670-A227-4DB6-B38D-AB63699D6CFB}" type="slidenum">
              <a:rPr lang="en-US" smtClean="0"/>
              <a:t>‹#›</a:t>
            </a:fld>
            <a:endParaRPr lang="en-US"/>
          </a:p>
        </p:txBody>
      </p:sp>
    </p:spTree>
    <p:extLst>
      <p:ext uri="{BB962C8B-B14F-4D97-AF65-F5344CB8AC3E}">
        <p14:creationId xmlns:p14="http://schemas.microsoft.com/office/powerpoint/2010/main" val="20211665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A54E-BA72-41BC-969C-7A20A1428145}"/>
              </a:ext>
            </a:extLst>
          </p:cNvPr>
          <p:cNvSpPr>
            <a:spLocks noGrp="1"/>
          </p:cNvSpPr>
          <p:nvPr>
            <p:ph type="ctrTitle"/>
          </p:nvPr>
        </p:nvSpPr>
        <p:spPr>
          <a:xfrm>
            <a:off x="2276963" y="2514598"/>
            <a:ext cx="9227649" cy="2262781"/>
          </a:xfrm>
        </p:spPr>
        <p:txBody>
          <a:bodyPr>
            <a:normAutofit fontScale="90000"/>
          </a:bodyPr>
          <a:lstStyle/>
          <a:p>
            <a:pPr algn="ctr"/>
            <a:r>
              <a:rPr lang="en-US" b="1" dirty="0"/>
              <a:t>Inner Classes,</a:t>
            </a:r>
            <a:br>
              <a:rPr lang="en-US" b="1" dirty="0"/>
            </a:br>
            <a:r>
              <a:rPr lang="en-US" b="1" dirty="0"/>
              <a:t>Static Nested classes,</a:t>
            </a:r>
            <a:br>
              <a:rPr lang="en-US" b="1" dirty="0"/>
            </a:br>
            <a:r>
              <a:rPr lang="en-US" b="1" dirty="0"/>
              <a:t>Anonymous Inner classes</a:t>
            </a:r>
          </a:p>
        </p:txBody>
      </p:sp>
      <p:sp>
        <p:nvSpPr>
          <p:cNvPr id="3" name="Subtitle 2">
            <a:extLst>
              <a:ext uri="{FF2B5EF4-FFF2-40B4-BE49-F238E27FC236}">
                <a16:creationId xmlns:a16="http://schemas.microsoft.com/office/drawing/2014/main" id="{DB24AE0B-95F1-C95C-95BA-3F17C58DFDB6}"/>
              </a:ext>
            </a:extLst>
          </p:cNvPr>
          <p:cNvSpPr>
            <a:spLocks noGrp="1"/>
          </p:cNvSpPr>
          <p:nvPr>
            <p:ph type="subTitle" idx="1"/>
          </p:nvPr>
        </p:nvSpPr>
        <p:spPr/>
        <p:txBody>
          <a:bodyPr>
            <a:normAutofit/>
          </a:bodyPr>
          <a:lstStyle/>
          <a:p>
            <a:pPr algn="ctr"/>
            <a:r>
              <a:rPr lang="en-US" sz="2800" b="1" dirty="0"/>
              <a:t>Learning Java and Core Java for the  Impatient</a:t>
            </a:r>
          </a:p>
        </p:txBody>
      </p:sp>
    </p:spTree>
    <p:extLst>
      <p:ext uri="{BB962C8B-B14F-4D97-AF65-F5344CB8AC3E}">
        <p14:creationId xmlns:p14="http://schemas.microsoft.com/office/powerpoint/2010/main" val="3600031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09766-81BE-7E17-CD7D-C5D09E664DEA}"/>
              </a:ext>
            </a:extLst>
          </p:cNvPr>
          <p:cNvSpPr>
            <a:spLocks noGrp="1"/>
          </p:cNvSpPr>
          <p:nvPr>
            <p:ph type="title"/>
          </p:nvPr>
        </p:nvSpPr>
        <p:spPr/>
        <p:txBody>
          <a:bodyPr/>
          <a:lstStyle/>
          <a:p>
            <a:pPr algn="ctr"/>
            <a:r>
              <a:rPr lang="en-US" b="1" dirty="0"/>
              <a:t>Nested Classes</a:t>
            </a:r>
          </a:p>
        </p:txBody>
      </p:sp>
      <p:sp>
        <p:nvSpPr>
          <p:cNvPr id="3" name="Content Placeholder 2">
            <a:extLst>
              <a:ext uri="{FF2B5EF4-FFF2-40B4-BE49-F238E27FC236}">
                <a16:creationId xmlns:a16="http://schemas.microsoft.com/office/drawing/2014/main" id="{899FBEB8-9AE0-62E9-2339-2D66597A2A50}"/>
              </a:ext>
            </a:extLst>
          </p:cNvPr>
          <p:cNvSpPr>
            <a:spLocks noGrp="1"/>
          </p:cNvSpPr>
          <p:nvPr>
            <p:ph idx="1"/>
          </p:nvPr>
        </p:nvSpPr>
        <p:spPr>
          <a:xfrm>
            <a:off x="2783424" y="1540189"/>
            <a:ext cx="9237125" cy="3777622"/>
          </a:xfrm>
        </p:spPr>
        <p:txBody>
          <a:bodyPr>
            <a:noAutofit/>
          </a:bodyPr>
          <a:lstStyle/>
          <a:p>
            <a:pPr marL="0" indent="0">
              <a:buNone/>
            </a:pPr>
            <a:r>
              <a:rPr lang="en-US" sz="2400" dirty="0"/>
              <a:t>It is possible to define a class within another class; such classes are known as nested classes. The scope of a nested class is bounded by the scope of its enclosing class. Thus, if class B is defined within class A, then B does not exist independently of A. </a:t>
            </a:r>
          </a:p>
          <a:p>
            <a:pPr marL="0" indent="0">
              <a:buNone/>
            </a:pPr>
            <a:r>
              <a:rPr lang="en-US" sz="2400" dirty="0"/>
              <a:t>A nested class has access to the members, including private members, of the class in which it is nested. However, the enclosing class does not have access to the members of the nested class. </a:t>
            </a:r>
          </a:p>
          <a:p>
            <a:pPr marL="0" indent="0">
              <a:buNone/>
            </a:pPr>
            <a:r>
              <a:rPr lang="en-US" sz="2400" dirty="0"/>
              <a:t>A nested class that is declared directly within its enclosing class scope is a member of its enclosing class. It is also possible to declare a nested class that is local to a block.</a:t>
            </a:r>
          </a:p>
          <a:p>
            <a:pPr marL="0" indent="0">
              <a:buNone/>
            </a:pPr>
            <a:r>
              <a:rPr lang="en-US" sz="2400" dirty="0"/>
              <a:t>There are two types of nested classes: static and inner.</a:t>
            </a:r>
          </a:p>
        </p:txBody>
      </p:sp>
    </p:spTree>
    <p:extLst>
      <p:ext uri="{BB962C8B-B14F-4D97-AF65-F5344CB8AC3E}">
        <p14:creationId xmlns:p14="http://schemas.microsoft.com/office/powerpoint/2010/main" val="811704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1EA5C-9B87-C39F-A2AD-BAF729AAB699}"/>
              </a:ext>
            </a:extLst>
          </p:cNvPr>
          <p:cNvSpPr>
            <a:spLocks noGrp="1"/>
          </p:cNvSpPr>
          <p:nvPr>
            <p:ph type="title"/>
          </p:nvPr>
        </p:nvSpPr>
        <p:spPr/>
        <p:txBody>
          <a:bodyPr/>
          <a:lstStyle/>
          <a:p>
            <a:pPr algn="ctr"/>
            <a:r>
              <a:rPr lang="en-US" dirty="0"/>
              <a:t>Inner Classes</a:t>
            </a:r>
          </a:p>
        </p:txBody>
      </p:sp>
      <p:sp>
        <p:nvSpPr>
          <p:cNvPr id="3" name="Text Placeholder 2">
            <a:extLst>
              <a:ext uri="{FF2B5EF4-FFF2-40B4-BE49-F238E27FC236}">
                <a16:creationId xmlns:a16="http://schemas.microsoft.com/office/drawing/2014/main" id="{BBE745B6-2E76-E4D6-5978-452E147E8DE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08319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C1457-4F3C-EF51-3640-C7A91BE22615}"/>
              </a:ext>
            </a:extLst>
          </p:cNvPr>
          <p:cNvSpPr>
            <a:spLocks noGrp="1"/>
          </p:cNvSpPr>
          <p:nvPr>
            <p:ph type="title"/>
          </p:nvPr>
        </p:nvSpPr>
        <p:spPr>
          <a:xfrm>
            <a:off x="2640550" y="252635"/>
            <a:ext cx="8911687" cy="1280890"/>
          </a:xfrm>
        </p:spPr>
        <p:txBody>
          <a:bodyPr/>
          <a:lstStyle/>
          <a:p>
            <a:pPr algn="ctr"/>
            <a:r>
              <a:rPr lang="en-US" b="1" dirty="0"/>
              <a:t>Inner Classes</a:t>
            </a:r>
          </a:p>
        </p:txBody>
      </p:sp>
      <p:sp>
        <p:nvSpPr>
          <p:cNvPr id="3" name="Content Placeholder 2">
            <a:extLst>
              <a:ext uri="{FF2B5EF4-FFF2-40B4-BE49-F238E27FC236}">
                <a16:creationId xmlns:a16="http://schemas.microsoft.com/office/drawing/2014/main" id="{46D31AAA-9056-FF33-F90B-5164256C6634}"/>
              </a:ext>
            </a:extLst>
          </p:cNvPr>
          <p:cNvSpPr>
            <a:spLocks noGrp="1"/>
          </p:cNvSpPr>
          <p:nvPr>
            <p:ph idx="1"/>
          </p:nvPr>
        </p:nvSpPr>
        <p:spPr>
          <a:xfrm>
            <a:off x="2841257" y="1340164"/>
            <a:ext cx="9265017" cy="3777622"/>
          </a:xfrm>
        </p:spPr>
        <p:txBody>
          <a:bodyPr>
            <a:noAutofit/>
          </a:bodyPr>
          <a:lstStyle/>
          <a:p>
            <a:pPr marL="0" indent="0">
              <a:buNone/>
            </a:pPr>
            <a:r>
              <a:rPr lang="en-US" sz="2400" dirty="0"/>
              <a:t>Inner classes are a useful and aesthetically pleasing facility for structuring code.</a:t>
            </a:r>
          </a:p>
          <a:p>
            <a:pPr marL="0" indent="0">
              <a:buNone/>
            </a:pPr>
            <a:r>
              <a:rPr lang="en-US" sz="2400" dirty="0"/>
              <a:t>However, as we delve into their inner workings, we’ll see that inner classes are not quite as aesthetically pleasing or dynamic as they seem. </a:t>
            </a:r>
          </a:p>
          <a:p>
            <a:pPr marL="0" indent="0">
              <a:buNone/>
            </a:pPr>
            <a:r>
              <a:rPr lang="en-US" sz="2400" dirty="0"/>
              <a:t>Inner classes are pure syntactic sugar; they are not supported by the VM and are instead mapped to regular Java classes by the compiler. </a:t>
            </a:r>
          </a:p>
          <a:p>
            <a:pPr marL="0" indent="0">
              <a:buNone/>
            </a:pPr>
            <a:r>
              <a:rPr lang="en-US" sz="2400" dirty="0"/>
              <a:t>As a programmer, you may never need be aware of this; you can simply rely on inner classes like any other language construct. </a:t>
            </a:r>
          </a:p>
          <a:p>
            <a:pPr marL="0" indent="0">
              <a:buNone/>
            </a:pPr>
            <a:r>
              <a:rPr lang="en-US" sz="2400" dirty="0"/>
              <a:t>However, you should know a little about how inner classes work to better understand the compiled code and a few potential side effects.</a:t>
            </a:r>
          </a:p>
        </p:txBody>
      </p:sp>
    </p:spTree>
    <p:extLst>
      <p:ext uri="{BB962C8B-B14F-4D97-AF65-F5344CB8AC3E}">
        <p14:creationId xmlns:p14="http://schemas.microsoft.com/office/powerpoint/2010/main" val="3311364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9B9BC-D26F-2F9D-A6F2-9D66E5EA2E4A}"/>
              </a:ext>
            </a:extLst>
          </p:cNvPr>
          <p:cNvSpPr>
            <a:spLocks noGrp="1"/>
          </p:cNvSpPr>
          <p:nvPr>
            <p:ph type="title"/>
          </p:nvPr>
        </p:nvSpPr>
        <p:spPr>
          <a:xfrm>
            <a:off x="2234668" y="160029"/>
            <a:ext cx="9798367" cy="1280890"/>
          </a:xfrm>
        </p:spPr>
        <p:txBody>
          <a:bodyPr/>
          <a:lstStyle/>
          <a:p>
            <a:pPr algn="ctr"/>
            <a:r>
              <a:rPr lang="en-US" b="1" dirty="0"/>
              <a:t>Consider a social network in which each member has friends that are also members</a:t>
            </a:r>
          </a:p>
        </p:txBody>
      </p:sp>
      <p:sp>
        <p:nvSpPr>
          <p:cNvPr id="3" name="Content Placeholder 2">
            <a:extLst>
              <a:ext uri="{FF2B5EF4-FFF2-40B4-BE49-F238E27FC236}">
                <a16:creationId xmlns:a16="http://schemas.microsoft.com/office/drawing/2014/main" id="{60E51EEF-0344-5DC2-6EED-9A4B7EDFC0B7}"/>
              </a:ext>
            </a:extLst>
          </p:cNvPr>
          <p:cNvSpPr>
            <a:spLocks noGrp="1"/>
          </p:cNvSpPr>
          <p:nvPr>
            <p:ph idx="1"/>
          </p:nvPr>
        </p:nvSpPr>
        <p:spPr>
          <a:xfrm>
            <a:off x="2676151" y="1351544"/>
            <a:ext cx="8915400" cy="5506456"/>
          </a:xfrm>
        </p:spPr>
        <p:txBody>
          <a:bodyPr>
            <a:normAutofit fontScale="92500" lnSpcReduction="20000"/>
          </a:bodyPr>
          <a:lstStyle/>
          <a:p>
            <a:pPr marL="0" indent="0">
              <a:buNone/>
            </a:pPr>
            <a:r>
              <a:rPr lang="en-US" sz="2400" b="1" dirty="0"/>
              <a:t>public class Network {</a:t>
            </a:r>
          </a:p>
          <a:p>
            <a:pPr marL="0" indent="0">
              <a:buNone/>
            </a:pPr>
            <a:r>
              <a:rPr lang="en-US" sz="2400" b="1" dirty="0"/>
              <a:t>    public class Member { </a:t>
            </a:r>
            <a:r>
              <a:rPr lang="en-US" sz="2400" dirty="0"/>
              <a:t>// Member is an inner class of Network</a:t>
            </a:r>
          </a:p>
          <a:p>
            <a:pPr marL="0" indent="0">
              <a:buNone/>
            </a:pPr>
            <a:r>
              <a:rPr lang="en-US" sz="2400" b="1" dirty="0"/>
              <a:t>        private String name;</a:t>
            </a:r>
          </a:p>
          <a:p>
            <a:pPr marL="0" indent="0">
              <a:buNone/>
            </a:pPr>
            <a:r>
              <a:rPr lang="en-US" sz="2400" b="1" dirty="0"/>
              <a:t>        private </a:t>
            </a:r>
            <a:r>
              <a:rPr lang="en-US" sz="2400" b="1" dirty="0" err="1"/>
              <a:t>ArrayList</a:t>
            </a:r>
            <a:r>
              <a:rPr lang="en-US" sz="2400" b="1" dirty="0"/>
              <a:t>&lt;Member&gt; friends;</a:t>
            </a:r>
          </a:p>
          <a:p>
            <a:pPr marL="0" indent="0">
              <a:buNone/>
            </a:pPr>
            <a:endParaRPr lang="en-US" sz="2400" b="1" dirty="0"/>
          </a:p>
          <a:p>
            <a:pPr marL="0" indent="0">
              <a:buNone/>
            </a:pPr>
            <a:r>
              <a:rPr lang="en-US" sz="2400" b="1" dirty="0"/>
              <a:t>        public Member(String name) {</a:t>
            </a:r>
          </a:p>
          <a:p>
            <a:pPr marL="0" indent="0">
              <a:buNone/>
            </a:pPr>
            <a:r>
              <a:rPr lang="en-US" sz="2400" b="1" dirty="0"/>
              <a:t>            this.name = name;</a:t>
            </a:r>
          </a:p>
          <a:p>
            <a:pPr marL="0" indent="0">
              <a:buNone/>
            </a:pPr>
            <a:r>
              <a:rPr lang="en-US" sz="2400" b="1" dirty="0"/>
              <a:t>            friends = new </a:t>
            </a:r>
            <a:r>
              <a:rPr lang="en-US" sz="2400" b="1" dirty="0" err="1"/>
              <a:t>ArrayList</a:t>
            </a:r>
            <a:r>
              <a:rPr lang="en-US" sz="2400" b="1" dirty="0"/>
              <a:t>&lt;&gt;();</a:t>
            </a:r>
          </a:p>
          <a:p>
            <a:pPr marL="0" indent="0">
              <a:buNone/>
            </a:pPr>
            <a:r>
              <a:rPr lang="en-US" sz="2400" b="1" dirty="0"/>
              <a:t>        }</a:t>
            </a:r>
          </a:p>
          <a:p>
            <a:pPr marL="0" indent="0">
              <a:buNone/>
            </a:pPr>
            <a:r>
              <a:rPr lang="en-US" sz="2400" b="1" dirty="0"/>
              <a:t>        ...</a:t>
            </a:r>
          </a:p>
          <a:p>
            <a:pPr marL="0" indent="0">
              <a:buNone/>
            </a:pPr>
            <a:r>
              <a:rPr lang="en-US" sz="2400" b="1" dirty="0"/>
              <a:t>    }</a:t>
            </a:r>
          </a:p>
          <a:p>
            <a:pPr marL="0" indent="0">
              <a:buNone/>
            </a:pPr>
            <a:r>
              <a:rPr lang="en-US" sz="2400" b="1" dirty="0"/>
              <a:t>    private </a:t>
            </a:r>
            <a:r>
              <a:rPr lang="en-US" sz="2400" b="1" dirty="0" err="1"/>
              <a:t>ArrayList</a:t>
            </a:r>
            <a:r>
              <a:rPr lang="en-US" sz="2400" b="1" dirty="0"/>
              <a:t>&lt;Member&gt; members = new </a:t>
            </a:r>
            <a:r>
              <a:rPr lang="en-US" sz="2400" b="1" dirty="0" err="1"/>
              <a:t>ArrayList</a:t>
            </a:r>
            <a:r>
              <a:rPr lang="en-US" sz="2400" b="1" dirty="0"/>
              <a:t>&lt;&gt;();</a:t>
            </a:r>
          </a:p>
          <a:p>
            <a:pPr marL="0" indent="0">
              <a:buNone/>
            </a:pPr>
            <a:r>
              <a:rPr lang="en-US" sz="2400" b="1" dirty="0"/>
              <a:t>    ...</a:t>
            </a:r>
          </a:p>
          <a:p>
            <a:pPr marL="0" indent="0">
              <a:buNone/>
            </a:pPr>
            <a:r>
              <a:rPr lang="en-US" sz="2400" b="1" dirty="0"/>
              <a:t>}</a:t>
            </a:r>
          </a:p>
        </p:txBody>
      </p:sp>
    </p:spTree>
    <p:extLst>
      <p:ext uri="{BB962C8B-B14F-4D97-AF65-F5344CB8AC3E}">
        <p14:creationId xmlns:p14="http://schemas.microsoft.com/office/powerpoint/2010/main" val="367212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0A48E-10A2-C232-8C9E-7A3FDA53A1AF}"/>
              </a:ext>
            </a:extLst>
          </p:cNvPr>
          <p:cNvSpPr>
            <a:spLocks noGrp="1"/>
          </p:cNvSpPr>
          <p:nvPr>
            <p:ph type="title"/>
          </p:nvPr>
        </p:nvSpPr>
        <p:spPr/>
        <p:txBody>
          <a:bodyPr/>
          <a:lstStyle/>
          <a:p>
            <a:r>
              <a:rPr lang="en-US" b="1" dirty="0"/>
              <a:t>Add a Method to Add a Member to the Network:</a:t>
            </a:r>
          </a:p>
        </p:txBody>
      </p:sp>
      <p:sp>
        <p:nvSpPr>
          <p:cNvPr id="3" name="Content Placeholder 2">
            <a:extLst>
              <a:ext uri="{FF2B5EF4-FFF2-40B4-BE49-F238E27FC236}">
                <a16:creationId xmlns:a16="http://schemas.microsoft.com/office/drawing/2014/main" id="{7435AAF3-DA4F-A1B6-511B-6A4FB83BDBBC}"/>
              </a:ext>
            </a:extLst>
          </p:cNvPr>
          <p:cNvSpPr>
            <a:spLocks noGrp="1"/>
          </p:cNvSpPr>
          <p:nvPr>
            <p:ph idx="1"/>
          </p:nvPr>
        </p:nvSpPr>
        <p:spPr>
          <a:xfrm>
            <a:off x="2592925" y="1987296"/>
            <a:ext cx="9361996" cy="3777622"/>
          </a:xfrm>
        </p:spPr>
        <p:txBody>
          <a:bodyPr>
            <a:noAutofit/>
          </a:bodyPr>
          <a:lstStyle/>
          <a:p>
            <a:pPr marL="0" indent="0">
              <a:buNone/>
            </a:pPr>
            <a:r>
              <a:rPr lang="en-US" sz="2400" b="1" dirty="0"/>
              <a:t>public class Network {</a:t>
            </a:r>
          </a:p>
          <a:p>
            <a:pPr marL="0" indent="0">
              <a:buNone/>
            </a:pPr>
            <a:r>
              <a:rPr lang="en-US" sz="2400" b="1" dirty="0"/>
              <a:t>    …</a:t>
            </a:r>
          </a:p>
          <a:p>
            <a:pPr marL="0" indent="0">
              <a:buNone/>
            </a:pPr>
            <a:r>
              <a:rPr lang="en-US" sz="2400" b="1" dirty="0"/>
              <a:t>    private </a:t>
            </a:r>
            <a:r>
              <a:rPr lang="en-US" sz="2400" b="1" dirty="0" err="1"/>
              <a:t>ArrayList</a:t>
            </a:r>
            <a:r>
              <a:rPr lang="en-US" sz="2400" b="1" dirty="0"/>
              <a:t>&lt;Member&gt; members = new </a:t>
            </a:r>
            <a:r>
              <a:rPr lang="en-US" sz="2400" b="1" dirty="0" err="1"/>
              <a:t>ArrayList</a:t>
            </a:r>
            <a:r>
              <a:rPr lang="en-US" sz="2400" b="1" dirty="0"/>
              <a:t>&lt;&gt;();</a:t>
            </a:r>
          </a:p>
          <a:p>
            <a:pPr marL="0" indent="0">
              <a:buNone/>
            </a:pPr>
            <a:r>
              <a:rPr lang="en-US" sz="2400" b="1" dirty="0"/>
              <a:t>    public Member enroll(String name) {</a:t>
            </a:r>
          </a:p>
          <a:p>
            <a:pPr marL="0" indent="0">
              <a:buNone/>
            </a:pPr>
            <a:r>
              <a:rPr lang="en-US" sz="2400" b="1" dirty="0"/>
              <a:t>        var </a:t>
            </a:r>
            <a:r>
              <a:rPr lang="en-US" sz="2400" b="1" dirty="0" err="1"/>
              <a:t>newMember</a:t>
            </a:r>
            <a:r>
              <a:rPr lang="en-US" sz="2400" b="1" dirty="0"/>
              <a:t> = new Member(name);</a:t>
            </a:r>
          </a:p>
          <a:p>
            <a:pPr marL="0" indent="0">
              <a:buNone/>
            </a:pPr>
            <a:r>
              <a:rPr lang="en-US" sz="2400" b="1" dirty="0"/>
              <a:t>        </a:t>
            </a:r>
            <a:r>
              <a:rPr lang="en-US" sz="2400" b="1" dirty="0" err="1"/>
              <a:t>members.add</a:t>
            </a:r>
            <a:r>
              <a:rPr lang="en-US" sz="2400" b="1" dirty="0"/>
              <a:t>(</a:t>
            </a:r>
            <a:r>
              <a:rPr lang="en-US" sz="2400" b="1" dirty="0" err="1"/>
              <a:t>newMember</a:t>
            </a:r>
            <a:r>
              <a:rPr lang="en-US" sz="2400" b="1" dirty="0"/>
              <a:t>);</a:t>
            </a:r>
          </a:p>
          <a:p>
            <a:pPr marL="0" indent="0">
              <a:buNone/>
            </a:pPr>
            <a:r>
              <a:rPr lang="en-US" sz="2400" b="1" dirty="0"/>
              <a:t>        return </a:t>
            </a:r>
            <a:r>
              <a:rPr lang="en-US" sz="2400" b="1" dirty="0" err="1"/>
              <a:t>newMember</a:t>
            </a:r>
            <a:r>
              <a:rPr lang="en-US" sz="2400" b="1" dirty="0"/>
              <a:t>;</a:t>
            </a:r>
          </a:p>
          <a:p>
            <a:pPr marL="0" indent="0">
              <a:buNone/>
            </a:pPr>
            <a:r>
              <a:rPr lang="en-US" sz="2400" b="1" dirty="0"/>
              <a:t>    }</a:t>
            </a:r>
          </a:p>
          <a:p>
            <a:pPr marL="0" indent="0">
              <a:buNone/>
            </a:pPr>
            <a:r>
              <a:rPr lang="en-US" sz="2400" b="1" dirty="0"/>
              <a:t>}</a:t>
            </a:r>
          </a:p>
        </p:txBody>
      </p:sp>
    </p:spTree>
    <p:extLst>
      <p:ext uri="{BB962C8B-B14F-4D97-AF65-F5344CB8AC3E}">
        <p14:creationId xmlns:p14="http://schemas.microsoft.com/office/powerpoint/2010/main" val="1131956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9F4C5-456A-7920-AEDD-91A473166EC3}"/>
              </a:ext>
            </a:extLst>
          </p:cNvPr>
          <p:cNvSpPr>
            <a:spLocks noGrp="1"/>
          </p:cNvSpPr>
          <p:nvPr>
            <p:ph type="title"/>
          </p:nvPr>
        </p:nvSpPr>
        <p:spPr>
          <a:xfrm>
            <a:off x="2564350" y="281210"/>
            <a:ext cx="8911687" cy="1280890"/>
          </a:xfrm>
        </p:spPr>
        <p:txBody>
          <a:bodyPr/>
          <a:lstStyle/>
          <a:p>
            <a:pPr algn="ctr"/>
            <a:r>
              <a:rPr lang="en-US" b="1" dirty="0"/>
              <a:t>How does this Work?</a:t>
            </a:r>
          </a:p>
        </p:txBody>
      </p:sp>
      <p:sp>
        <p:nvSpPr>
          <p:cNvPr id="3" name="Content Placeholder 2">
            <a:extLst>
              <a:ext uri="{FF2B5EF4-FFF2-40B4-BE49-F238E27FC236}">
                <a16:creationId xmlns:a16="http://schemas.microsoft.com/office/drawing/2014/main" id="{F1A79B6F-CB25-0ECA-C22B-3E9C55214300}"/>
              </a:ext>
            </a:extLst>
          </p:cNvPr>
          <p:cNvSpPr>
            <a:spLocks noGrp="1"/>
          </p:cNvSpPr>
          <p:nvPr>
            <p:ph idx="1"/>
          </p:nvPr>
        </p:nvSpPr>
        <p:spPr>
          <a:xfrm>
            <a:off x="2828480" y="1242596"/>
            <a:ext cx="8915400" cy="5402425"/>
          </a:xfrm>
        </p:spPr>
        <p:txBody>
          <a:bodyPr>
            <a:normAutofit/>
          </a:bodyPr>
          <a:lstStyle/>
          <a:p>
            <a:pPr marL="0" indent="0">
              <a:buNone/>
            </a:pPr>
            <a:r>
              <a:rPr lang="en-US" sz="2400" dirty="0"/>
              <a:t>We can add a member and get a reference to it.  In the client, in main():</a:t>
            </a:r>
          </a:p>
          <a:p>
            <a:pPr marL="0" indent="0">
              <a:buNone/>
            </a:pPr>
            <a:r>
              <a:rPr lang="en-US" sz="2400" b="1" dirty="0"/>
              <a:t>var </a:t>
            </a:r>
            <a:r>
              <a:rPr lang="en-US" sz="2400" b="1" dirty="0" err="1"/>
              <a:t>myFace</a:t>
            </a:r>
            <a:r>
              <a:rPr lang="en-US" sz="2400" b="1" dirty="0"/>
              <a:t> = new Network();</a:t>
            </a:r>
          </a:p>
          <a:p>
            <a:pPr marL="0" indent="0">
              <a:buNone/>
            </a:pPr>
            <a:r>
              <a:rPr lang="en-US" sz="2400" dirty="0"/>
              <a:t>We need to add a new member to the Network, </a:t>
            </a:r>
            <a:r>
              <a:rPr lang="en-US" sz="2400" dirty="0" err="1"/>
              <a:t>myFace</a:t>
            </a:r>
            <a:endParaRPr lang="en-US" sz="2400" dirty="0"/>
          </a:p>
          <a:p>
            <a:pPr marL="0" indent="0">
              <a:buNone/>
            </a:pPr>
            <a:r>
              <a:rPr lang="en-US" sz="2400" b="1" dirty="0" err="1"/>
              <a:t>Network.Member</a:t>
            </a:r>
            <a:r>
              <a:rPr lang="en-US" sz="2400" b="1" dirty="0"/>
              <a:t> </a:t>
            </a:r>
            <a:r>
              <a:rPr lang="en-US" sz="2400" b="1" dirty="0" err="1"/>
              <a:t>fred</a:t>
            </a:r>
            <a:r>
              <a:rPr lang="en-US" sz="2400" b="1" dirty="0"/>
              <a:t> = </a:t>
            </a:r>
            <a:r>
              <a:rPr lang="en-US" sz="2400" b="1" dirty="0" err="1"/>
              <a:t>myFace.enroll</a:t>
            </a:r>
            <a:r>
              <a:rPr lang="en-US" sz="2400" b="1" dirty="0"/>
              <a:t>("Fred");</a:t>
            </a:r>
          </a:p>
        </p:txBody>
      </p:sp>
    </p:spTree>
    <p:extLst>
      <p:ext uri="{BB962C8B-B14F-4D97-AF65-F5344CB8AC3E}">
        <p14:creationId xmlns:p14="http://schemas.microsoft.com/office/powerpoint/2010/main" val="1982517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369A1-0539-67CD-85FB-EA3FCD7319B2}"/>
              </a:ext>
            </a:extLst>
          </p:cNvPr>
          <p:cNvSpPr>
            <a:spLocks noGrp="1"/>
          </p:cNvSpPr>
          <p:nvPr>
            <p:ph type="title"/>
          </p:nvPr>
        </p:nvSpPr>
        <p:spPr>
          <a:xfrm>
            <a:off x="2488150" y="157385"/>
            <a:ext cx="8911687" cy="1280890"/>
          </a:xfrm>
        </p:spPr>
        <p:txBody>
          <a:bodyPr/>
          <a:lstStyle/>
          <a:p>
            <a:pPr algn="ctr"/>
            <a:r>
              <a:rPr lang="en-US" b="1" dirty="0"/>
              <a:t>Removing Fred from the Member class</a:t>
            </a:r>
          </a:p>
        </p:txBody>
      </p:sp>
      <p:sp>
        <p:nvSpPr>
          <p:cNvPr id="3" name="Content Placeholder 2">
            <a:extLst>
              <a:ext uri="{FF2B5EF4-FFF2-40B4-BE49-F238E27FC236}">
                <a16:creationId xmlns:a16="http://schemas.microsoft.com/office/drawing/2014/main" id="{A2837979-2500-BD56-434B-CE63DC6BC7AF}"/>
              </a:ext>
            </a:extLst>
          </p:cNvPr>
          <p:cNvSpPr>
            <a:spLocks noGrp="1"/>
          </p:cNvSpPr>
          <p:nvPr>
            <p:ph idx="1"/>
          </p:nvPr>
        </p:nvSpPr>
        <p:spPr>
          <a:xfrm>
            <a:off x="2589212" y="1540189"/>
            <a:ext cx="8915400" cy="3777622"/>
          </a:xfrm>
        </p:spPr>
        <p:txBody>
          <a:bodyPr>
            <a:noAutofit/>
          </a:bodyPr>
          <a:lstStyle/>
          <a:p>
            <a:pPr marL="0" indent="0">
              <a:buNone/>
            </a:pPr>
            <a:r>
              <a:rPr lang="en-US" sz="2400" b="1" dirty="0"/>
              <a:t>public class Network {</a:t>
            </a:r>
          </a:p>
          <a:p>
            <a:pPr marL="0" indent="0">
              <a:buNone/>
            </a:pPr>
            <a:r>
              <a:rPr lang="en-US" sz="2400" b="1" dirty="0"/>
              <a:t>    public class Member {</a:t>
            </a:r>
          </a:p>
          <a:p>
            <a:pPr marL="0" indent="0">
              <a:buNone/>
            </a:pPr>
            <a:r>
              <a:rPr lang="en-US" sz="2400" b="1" dirty="0"/>
              <a:t>        ...</a:t>
            </a:r>
          </a:p>
          <a:p>
            <a:pPr marL="0" indent="0">
              <a:buNone/>
            </a:pPr>
            <a:r>
              <a:rPr lang="en-US" sz="2400" b="1" dirty="0"/>
              <a:t>        public void deactivate() {   </a:t>
            </a:r>
            <a:r>
              <a:rPr lang="en-US" sz="2400" dirty="0"/>
              <a:t>// new method to “unenroll”</a:t>
            </a:r>
          </a:p>
          <a:p>
            <a:pPr marL="0" indent="0">
              <a:buNone/>
            </a:pPr>
            <a:r>
              <a:rPr lang="en-US" sz="2400" b="1" dirty="0"/>
              <a:t>            </a:t>
            </a:r>
            <a:r>
              <a:rPr lang="en-US" sz="2400" b="1" dirty="0" err="1"/>
              <a:t>members.remove</a:t>
            </a:r>
            <a:r>
              <a:rPr lang="en-US" sz="2400" b="1" dirty="0"/>
              <a:t>(this);</a:t>
            </a:r>
          </a:p>
          <a:p>
            <a:pPr marL="0" indent="0">
              <a:buNone/>
            </a:pPr>
            <a:r>
              <a:rPr lang="en-US" sz="2400" b="1" dirty="0"/>
              <a:t>        }</a:t>
            </a:r>
          </a:p>
          <a:p>
            <a:pPr marL="0" indent="0">
              <a:buNone/>
            </a:pPr>
            <a:r>
              <a:rPr lang="en-US" sz="2400" b="1" dirty="0"/>
              <a:t>    }</a:t>
            </a:r>
          </a:p>
          <a:p>
            <a:pPr marL="0" indent="0">
              <a:buNone/>
            </a:pPr>
            <a:r>
              <a:rPr lang="en-US" sz="2400" b="1" dirty="0"/>
              <a:t>    private </a:t>
            </a:r>
            <a:r>
              <a:rPr lang="en-US" sz="2400" b="1" dirty="0" err="1"/>
              <a:t>ArrayList</a:t>
            </a:r>
            <a:r>
              <a:rPr lang="en-US" sz="2400" b="1" dirty="0"/>
              <a:t>&lt;Member&gt; members;</a:t>
            </a:r>
          </a:p>
          <a:p>
            <a:pPr marL="0" indent="0">
              <a:buNone/>
            </a:pPr>
            <a:r>
              <a:rPr lang="en-US" sz="2400" b="1" dirty="0"/>
              <a:t>    ...</a:t>
            </a:r>
          </a:p>
          <a:p>
            <a:pPr marL="0" indent="0">
              <a:buNone/>
            </a:pPr>
            <a:r>
              <a:rPr lang="en-US" sz="2400" b="1" dirty="0"/>
              <a:t>}</a:t>
            </a:r>
          </a:p>
          <a:p>
            <a:pPr marL="0" indent="0">
              <a:buNone/>
            </a:pPr>
            <a:endParaRPr lang="en-US" sz="2400" dirty="0"/>
          </a:p>
        </p:txBody>
      </p:sp>
    </p:spTree>
    <p:extLst>
      <p:ext uri="{BB962C8B-B14F-4D97-AF65-F5344CB8AC3E}">
        <p14:creationId xmlns:p14="http://schemas.microsoft.com/office/powerpoint/2010/main" val="2565268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B8A5-7885-C11D-A48B-23391988E684}"/>
              </a:ext>
            </a:extLst>
          </p:cNvPr>
          <p:cNvSpPr>
            <a:spLocks noGrp="1"/>
          </p:cNvSpPr>
          <p:nvPr>
            <p:ph type="title"/>
          </p:nvPr>
        </p:nvSpPr>
        <p:spPr>
          <a:xfrm>
            <a:off x="2589212" y="306333"/>
            <a:ext cx="8911687" cy="1280890"/>
          </a:xfrm>
        </p:spPr>
        <p:txBody>
          <a:bodyPr/>
          <a:lstStyle/>
          <a:p>
            <a:pPr algn="ctr"/>
            <a:r>
              <a:rPr lang="en-US" b="1" dirty="0"/>
              <a:t>What does that all mean?</a:t>
            </a:r>
          </a:p>
        </p:txBody>
      </p:sp>
      <p:sp>
        <p:nvSpPr>
          <p:cNvPr id="3" name="Content Placeholder 2">
            <a:extLst>
              <a:ext uri="{FF2B5EF4-FFF2-40B4-BE49-F238E27FC236}">
                <a16:creationId xmlns:a16="http://schemas.microsoft.com/office/drawing/2014/main" id="{0B34C19B-075B-2ECD-D710-084D8E29D5E5}"/>
              </a:ext>
            </a:extLst>
          </p:cNvPr>
          <p:cNvSpPr>
            <a:spLocks noGrp="1"/>
          </p:cNvSpPr>
          <p:nvPr>
            <p:ph idx="1"/>
          </p:nvPr>
        </p:nvSpPr>
        <p:spPr>
          <a:xfrm>
            <a:off x="2585499" y="1219199"/>
            <a:ext cx="8915400" cy="5332467"/>
          </a:xfrm>
        </p:spPr>
        <p:txBody>
          <a:bodyPr>
            <a:normAutofit/>
          </a:bodyPr>
          <a:lstStyle/>
          <a:p>
            <a:pPr marL="0" indent="0">
              <a:buNone/>
            </a:pPr>
            <a:r>
              <a:rPr lang="en-US" sz="2400" dirty="0"/>
              <a:t>We have illustrated that a method of an inner class can access instance variables of its outer class. In this case, they are the instance variables of the outer class object that created it, the unpopular </a:t>
            </a:r>
            <a:r>
              <a:rPr lang="en-US" sz="2400" dirty="0" err="1"/>
              <a:t>myFace</a:t>
            </a:r>
            <a:r>
              <a:rPr lang="en-US" sz="2400" dirty="0"/>
              <a:t> network.</a:t>
            </a:r>
          </a:p>
          <a:p>
            <a:pPr marL="0" indent="0">
              <a:buNone/>
            </a:pPr>
            <a:r>
              <a:rPr lang="en-US" sz="2400" dirty="0"/>
              <a:t>This means that each inner class object has a</a:t>
            </a:r>
            <a:r>
              <a:rPr lang="en-US" sz="2400" b="1" dirty="0"/>
              <a:t> reference </a:t>
            </a:r>
            <a:r>
              <a:rPr lang="en-US" sz="2400" dirty="0"/>
              <a:t>to an object of the enclosing class.   The enclosing class is the “outer class.” </a:t>
            </a:r>
          </a:p>
          <a:p>
            <a:pPr marL="0" indent="0">
              <a:buNone/>
            </a:pPr>
            <a:r>
              <a:rPr lang="en-US" sz="2400" dirty="0"/>
              <a:t>The method </a:t>
            </a:r>
          </a:p>
          <a:p>
            <a:pPr marL="0" indent="0">
              <a:buNone/>
            </a:pPr>
            <a:r>
              <a:rPr lang="en-US" sz="2400" b="1" dirty="0" err="1"/>
              <a:t>members.remove</a:t>
            </a:r>
            <a:r>
              <a:rPr lang="en-US" sz="2400" b="1" dirty="0"/>
              <a:t>(this); </a:t>
            </a:r>
          </a:p>
          <a:p>
            <a:pPr marL="0" indent="0">
              <a:buNone/>
            </a:pPr>
            <a:r>
              <a:rPr lang="en-US" sz="2400" dirty="0"/>
              <a:t>actually means</a:t>
            </a:r>
          </a:p>
          <a:p>
            <a:pPr marL="0" indent="0">
              <a:buNone/>
            </a:pPr>
            <a:r>
              <a:rPr lang="en-US" sz="2400" b="1" dirty="0" err="1"/>
              <a:t>outer.members.remove</a:t>
            </a:r>
            <a:r>
              <a:rPr lang="en-US" sz="2400" b="1" dirty="0"/>
              <a:t>(this);  </a:t>
            </a:r>
            <a:r>
              <a:rPr lang="en-US" sz="2400" dirty="0"/>
              <a:t>//where outer denotes the hidden reference to the enclosing class.</a:t>
            </a:r>
          </a:p>
          <a:p>
            <a:pPr marL="0" indent="0">
              <a:buNone/>
            </a:pPr>
            <a:endParaRPr lang="en-US" sz="2400" dirty="0"/>
          </a:p>
        </p:txBody>
      </p:sp>
    </p:spTree>
    <p:extLst>
      <p:ext uri="{BB962C8B-B14F-4D97-AF65-F5344CB8AC3E}">
        <p14:creationId xmlns:p14="http://schemas.microsoft.com/office/powerpoint/2010/main" val="3124508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30753-5527-DDBF-0914-06637B1BBBFD}"/>
              </a:ext>
            </a:extLst>
          </p:cNvPr>
          <p:cNvSpPr>
            <a:spLocks noGrp="1"/>
          </p:cNvSpPr>
          <p:nvPr>
            <p:ph type="title"/>
          </p:nvPr>
        </p:nvSpPr>
        <p:spPr>
          <a:xfrm>
            <a:off x="2073177" y="395510"/>
            <a:ext cx="9431435" cy="1280890"/>
          </a:xfrm>
        </p:spPr>
        <p:txBody>
          <a:bodyPr>
            <a:normAutofit fontScale="90000"/>
          </a:bodyPr>
          <a:lstStyle/>
          <a:p>
            <a:pPr algn="ctr"/>
            <a:r>
              <a:rPr lang="en-US" b="1" dirty="0"/>
              <a:t>An inner class can also invoke methods of the outer class through its outer class instance</a:t>
            </a:r>
          </a:p>
        </p:txBody>
      </p:sp>
      <p:sp>
        <p:nvSpPr>
          <p:cNvPr id="3" name="Content Placeholder 2">
            <a:extLst>
              <a:ext uri="{FF2B5EF4-FFF2-40B4-BE49-F238E27FC236}">
                <a16:creationId xmlns:a16="http://schemas.microsoft.com/office/drawing/2014/main" id="{CC19008A-45BB-2F91-6527-C2D2BBA73BE5}"/>
              </a:ext>
            </a:extLst>
          </p:cNvPr>
          <p:cNvSpPr>
            <a:spLocks noGrp="1"/>
          </p:cNvSpPr>
          <p:nvPr>
            <p:ph idx="1"/>
          </p:nvPr>
        </p:nvSpPr>
        <p:spPr>
          <a:xfrm>
            <a:off x="2331194" y="1609344"/>
            <a:ext cx="8915400" cy="5111496"/>
          </a:xfrm>
        </p:spPr>
        <p:txBody>
          <a:bodyPr>
            <a:normAutofit lnSpcReduction="10000"/>
          </a:bodyPr>
          <a:lstStyle/>
          <a:p>
            <a:pPr marL="0" indent="0">
              <a:buNone/>
            </a:pPr>
            <a:r>
              <a:rPr lang="en-US" dirty="0"/>
              <a:t>For example, the outer class has a method to unenroll a member. Then the deactivate method can call it</a:t>
            </a:r>
          </a:p>
          <a:p>
            <a:pPr marL="0" indent="0">
              <a:buNone/>
            </a:pPr>
            <a:r>
              <a:rPr lang="en-US" b="1" dirty="0"/>
              <a:t>public class Network {</a:t>
            </a:r>
          </a:p>
          <a:p>
            <a:pPr marL="0" indent="0">
              <a:buNone/>
            </a:pPr>
            <a:r>
              <a:rPr lang="en-US" b="1" dirty="0"/>
              <a:t>    public class Member {</a:t>
            </a:r>
          </a:p>
          <a:p>
            <a:pPr marL="0" indent="0">
              <a:buNone/>
            </a:pPr>
            <a:r>
              <a:rPr lang="en-US" b="1" dirty="0"/>
              <a:t>        ...</a:t>
            </a:r>
          </a:p>
          <a:p>
            <a:pPr marL="0" indent="0">
              <a:buNone/>
            </a:pPr>
            <a:r>
              <a:rPr lang="en-US" b="1" dirty="0"/>
              <a:t>        public void deactivate() {</a:t>
            </a:r>
          </a:p>
          <a:p>
            <a:pPr marL="0" indent="0">
              <a:buNone/>
            </a:pPr>
            <a:r>
              <a:rPr lang="en-US" b="1" dirty="0"/>
              <a:t>            unenroll(this);</a:t>
            </a:r>
          </a:p>
          <a:p>
            <a:pPr marL="0" indent="0">
              <a:buNone/>
            </a:pPr>
            <a:r>
              <a:rPr lang="en-US" b="1" dirty="0"/>
              <a:t>        }</a:t>
            </a:r>
          </a:p>
          <a:p>
            <a:pPr marL="0" indent="0">
              <a:buNone/>
            </a:pPr>
            <a:r>
              <a:rPr lang="en-US" b="1" dirty="0"/>
              <a:t>    }</a:t>
            </a:r>
          </a:p>
          <a:p>
            <a:pPr marL="0" indent="0">
              <a:buNone/>
            </a:pPr>
            <a:r>
              <a:rPr lang="en-US" b="1" dirty="0"/>
              <a:t>    private </a:t>
            </a:r>
            <a:r>
              <a:rPr lang="en-US" b="1" dirty="0" err="1"/>
              <a:t>ArrayList</a:t>
            </a:r>
            <a:r>
              <a:rPr lang="en-US" b="1" dirty="0"/>
              <a:t>&lt;Member&gt; members;</a:t>
            </a:r>
          </a:p>
          <a:p>
            <a:pPr marL="0" indent="0">
              <a:buNone/>
            </a:pPr>
            <a:r>
              <a:rPr lang="en-US" b="1" dirty="0"/>
              <a:t>    public Member enroll(String name) { ... }</a:t>
            </a:r>
          </a:p>
          <a:p>
            <a:pPr marL="0" indent="0">
              <a:buNone/>
            </a:pPr>
            <a:r>
              <a:rPr lang="en-US" b="1" dirty="0"/>
              <a:t>    public void unenroll(Member m) { ... }</a:t>
            </a:r>
          </a:p>
          <a:p>
            <a:pPr marL="0" indent="0">
              <a:buNone/>
            </a:pPr>
            <a:r>
              <a:rPr lang="en-US" b="1" dirty="0"/>
              <a:t>   …</a:t>
            </a:r>
          </a:p>
          <a:p>
            <a:pPr marL="0" indent="0">
              <a:buNone/>
            </a:pPr>
            <a:r>
              <a:rPr lang="en-US" b="1" dirty="0"/>
              <a:t>}</a:t>
            </a:r>
          </a:p>
        </p:txBody>
      </p:sp>
    </p:spTree>
    <p:extLst>
      <p:ext uri="{BB962C8B-B14F-4D97-AF65-F5344CB8AC3E}">
        <p14:creationId xmlns:p14="http://schemas.microsoft.com/office/powerpoint/2010/main" val="3831216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698AE-45AB-8EDB-85DF-F76CB194BCE4}"/>
              </a:ext>
            </a:extLst>
          </p:cNvPr>
          <p:cNvSpPr>
            <a:spLocks noGrp="1"/>
          </p:cNvSpPr>
          <p:nvPr>
            <p:ph type="title"/>
          </p:nvPr>
        </p:nvSpPr>
        <p:spPr>
          <a:xfrm>
            <a:off x="1907125" y="523526"/>
            <a:ext cx="10044083" cy="1280890"/>
          </a:xfrm>
        </p:spPr>
        <p:txBody>
          <a:bodyPr/>
          <a:lstStyle/>
          <a:p>
            <a:pPr algn="ctr"/>
            <a:r>
              <a:rPr lang="en-US" b="1" dirty="0"/>
              <a:t>The real syntax for the outer class reference</a:t>
            </a:r>
          </a:p>
        </p:txBody>
      </p:sp>
      <p:sp>
        <p:nvSpPr>
          <p:cNvPr id="3" name="Content Placeholder 2">
            <a:extLst>
              <a:ext uri="{FF2B5EF4-FFF2-40B4-BE49-F238E27FC236}">
                <a16:creationId xmlns:a16="http://schemas.microsoft.com/office/drawing/2014/main" id="{025C8B37-8999-3D74-4D2D-21358A26CAC7}"/>
              </a:ext>
            </a:extLst>
          </p:cNvPr>
          <p:cNvSpPr>
            <a:spLocks noGrp="1"/>
          </p:cNvSpPr>
          <p:nvPr>
            <p:ph idx="1"/>
          </p:nvPr>
        </p:nvSpPr>
        <p:spPr>
          <a:xfrm>
            <a:off x="2305748" y="1602883"/>
            <a:ext cx="9453436" cy="5056632"/>
          </a:xfrm>
        </p:spPr>
        <p:txBody>
          <a:bodyPr>
            <a:noAutofit/>
          </a:bodyPr>
          <a:lstStyle/>
          <a:p>
            <a:pPr marL="0" indent="0">
              <a:buNone/>
            </a:pPr>
            <a:r>
              <a:rPr lang="en-US" sz="2400" dirty="0"/>
              <a:t>The actual syntax for the outer reference is a bit more complex. The expression</a:t>
            </a:r>
          </a:p>
          <a:p>
            <a:pPr marL="0" indent="0">
              <a:buNone/>
            </a:pPr>
            <a:r>
              <a:rPr lang="en-US" sz="2400" b="1" dirty="0" err="1"/>
              <a:t>OuterClass.this</a:t>
            </a:r>
            <a:endParaRPr lang="en-US" sz="2400" b="1" dirty="0"/>
          </a:p>
          <a:p>
            <a:pPr marL="0" indent="0">
              <a:buNone/>
            </a:pPr>
            <a:r>
              <a:rPr lang="en-US" sz="2400" dirty="0"/>
              <a:t>denotes the outer class reference. For example, you can write the deactivate method of the Member inner class as</a:t>
            </a:r>
          </a:p>
          <a:p>
            <a:pPr marL="0" indent="0">
              <a:buNone/>
            </a:pPr>
            <a:r>
              <a:rPr lang="en-US" sz="2400" b="1" dirty="0"/>
              <a:t>public void deactivate() {</a:t>
            </a:r>
          </a:p>
          <a:p>
            <a:pPr marL="0" indent="0">
              <a:buNone/>
            </a:pPr>
            <a:r>
              <a:rPr lang="en-US" sz="2400" b="1" dirty="0"/>
              <a:t>    </a:t>
            </a:r>
            <a:r>
              <a:rPr lang="en-US" sz="2400" b="1" dirty="0" err="1"/>
              <a:t>Network.this.members.remove</a:t>
            </a:r>
            <a:r>
              <a:rPr lang="en-US" sz="2400" b="1" dirty="0"/>
              <a:t>(this);</a:t>
            </a:r>
          </a:p>
          <a:p>
            <a:pPr marL="0" indent="0">
              <a:buNone/>
            </a:pPr>
            <a:r>
              <a:rPr lang="en-US" sz="2400" b="1" dirty="0"/>
              <a:t>}</a:t>
            </a:r>
          </a:p>
          <a:p>
            <a:pPr marL="0" indent="0">
              <a:buNone/>
            </a:pPr>
            <a:r>
              <a:rPr lang="en-US" sz="2400" dirty="0"/>
              <a:t>In this case, the </a:t>
            </a:r>
            <a:r>
              <a:rPr lang="en-US" sz="2400" dirty="0" err="1"/>
              <a:t>Network.this</a:t>
            </a:r>
            <a:r>
              <a:rPr lang="en-US" sz="2400" dirty="0"/>
              <a:t> syntax was not necessary. Simply referring to members implicitly uses the outer class reference. </a:t>
            </a:r>
          </a:p>
        </p:txBody>
      </p:sp>
    </p:spTree>
    <p:extLst>
      <p:ext uri="{BB962C8B-B14F-4D97-AF65-F5344CB8AC3E}">
        <p14:creationId xmlns:p14="http://schemas.microsoft.com/office/powerpoint/2010/main" val="2789381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A2113-8E51-D5B6-7871-3ADE9E52B478}"/>
              </a:ext>
            </a:extLst>
          </p:cNvPr>
          <p:cNvSpPr>
            <a:spLocks noGrp="1"/>
          </p:cNvSpPr>
          <p:nvPr>
            <p:ph type="title"/>
          </p:nvPr>
        </p:nvSpPr>
        <p:spPr>
          <a:xfrm>
            <a:off x="2391757" y="441230"/>
            <a:ext cx="8911687" cy="1280890"/>
          </a:xfrm>
        </p:spPr>
        <p:txBody>
          <a:bodyPr>
            <a:normAutofit fontScale="90000"/>
          </a:bodyPr>
          <a:lstStyle/>
          <a:p>
            <a:pPr algn="ctr"/>
            <a:r>
              <a:rPr lang="en-US" b="1" dirty="0"/>
              <a:t>When you construct an inner class object, it remembers the enclosing class object that constructed it. </a:t>
            </a:r>
          </a:p>
        </p:txBody>
      </p:sp>
      <p:sp>
        <p:nvSpPr>
          <p:cNvPr id="3" name="Content Placeholder 2">
            <a:extLst>
              <a:ext uri="{FF2B5EF4-FFF2-40B4-BE49-F238E27FC236}">
                <a16:creationId xmlns:a16="http://schemas.microsoft.com/office/drawing/2014/main" id="{547E0AF5-D7A0-B65B-5C83-9F516650F571}"/>
              </a:ext>
            </a:extLst>
          </p:cNvPr>
          <p:cNvSpPr>
            <a:spLocks noGrp="1"/>
          </p:cNvSpPr>
          <p:nvPr>
            <p:ph idx="1"/>
          </p:nvPr>
        </p:nvSpPr>
        <p:spPr/>
        <p:txBody>
          <a:bodyPr>
            <a:noAutofit/>
          </a:bodyPr>
          <a:lstStyle/>
          <a:p>
            <a:pPr marL="0" indent="0">
              <a:buNone/>
            </a:pPr>
            <a:r>
              <a:rPr lang="en-US" sz="2000" dirty="0"/>
              <a:t>But sometimes, you need the outer class reference explicitly. Here is a method to check whether a Member object belongs to a particular network:</a:t>
            </a:r>
          </a:p>
          <a:p>
            <a:pPr marL="0" indent="0">
              <a:buNone/>
            </a:pPr>
            <a:r>
              <a:rPr lang="en-US" sz="2000" b="1" dirty="0"/>
              <a:t>public class Network {</a:t>
            </a:r>
          </a:p>
          <a:p>
            <a:pPr marL="0" indent="0">
              <a:buNone/>
            </a:pPr>
            <a:r>
              <a:rPr lang="en-US" sz="2000" b="1" dirty="0"/>
              <a:t>    public class Member {</a:t>
            </a:r>
          </a:p>
          <a:p>
            <a:pPr marL="0" indent="0">
              <a:buNone/>
            </a:pPr>
            <a:r>
              <a:rPr lang="en-US" sz="2000" b="1" dirty="0"/>
              <a:t>        ...</a:t>
            </a:r>
          </a:p>
          <a:p>
            <a:pPr marL="0" indent="0">
              <a:buNone/>
            </a:pPr>
            <a:r>
              <a:rPr lang="en-US" sz="2000" b="1" dirty="0"/>
              <a:t>        public </a:t>
            </a:r>
            <a:r>
              <a:rPr lang="en-US" sz="2000" b="1" dirty="0" err="1"/>
              <a:t>boolean</a:t>
            </a:r>
            <a:r>
              <a:rPr lang="en-US" sz="2000" b="1" dirty="0"/>
              <a:t> </a:t>
            </a:r>
            <a:r>
              <a:rPr lang="en-US" sz="2000" b="1" dirty="0" err="1"/>
              <a:t>belongsTo</a:t>
            </a:r>
            <a:r>
              <a:rPr lang="en-US" sz="2000" b="1" dirty="0"/>
              <a:t>(Network n) {</a:t>
            </a:r>
          </a:p>
          <a:p>
            <a:pPr marL="0" indent="0">
              <a:buNone/>
            </a:pPr>
            <a:r>
              <a:rPr lang="en-US" sz="2000" b="1" dirty="0"/>
              <a:t>            return </a:t>
            </a:r>
            <a:r>
              <a:rPr lang="en-US" sz="2000" b="1" dirty="0" err="1"/>
              <a:t>Network.this</a:t>
            </a:r>
            <a:r>
              <a:rPr lang="en-US" sz="2000" b="1" dirty="0"/>
              <a:t> == n;</a:t>
            </a:r>
          </a:p>
          <a:p>
            <a:pPr marL="0" indent="0">
              <a:buNone/>
            </a:pPr>
            <a:r>
              <a:rPr lang="en-US" sz="2000" b="1" dirty="0"/>
              <a:t>        }</a:t>
            </a:r>
          </a:p>
          <a:p>
            <a:pPr marL="0" indent="0">
              <a:buNone/>
            </a:pPr>
            <a:r>
              <a:rPr lang="en-US" sz="2000" b="1" dirty="0"/>
              <a:t>    }</a:t>
            </a:r>
          </a:p>
          <a:p>
            <a:pPr marL="0" indent="0">
              <a:buNone/>
            </a:pPr>
            <a:r>
              <a:rPr lang="en-US" sz="2000" b="1" dirty="0"/>
              <a:t>}</a:t>
            </a:r>
          </a:p>
        </p:txBody>
      </p:sp>
    </p:spTree>
    <p:extLst>
      <p:ext uri="{BB962C8B-B14F-4D97-AF65-F5344CB8AC3E}">
        <p14:creationId xmlns:p14="http://schemas.microsoft.com/office/powerpoint/2010/main" val="2359016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D066-1536-F0A4-2160-479AC9AE2515}"/>
              </a:ext>
            </a:extLst>
          </p:cNvPr>
          <p:cNvSpPr>
            <a:spLocks noGrp="1"/>
          </p:cNvSpPr>
          <p:nvPr>
            <p:ph type="title"/>
          </p:nvPr>
        </p:nvSpPr>
        <p:spPr/>
        <p:txBody>
          <a:bodyPr/>
          <a:lstStyle/>
          <a:p>
            <a:pPr algn="ctr"/>
            <a:r>
              <a:rPr lang="en-US" b="1" dirty="0"/>
              <a:t>Some things about Inner classes</a:t>
            </a:r>
          </a:p>
        </p:txBody>
      </p:sp>
      <p:sp>
        <p:nvSpPr>
          <p:cNvPr id="3" name="Content Placeholder 2">
            <a:extLst>
              <a:ext uri="{FF2B5EF4-FFF2-40B4-BE49-F238E27FC236}">
                <a16:creationId xmlns:a16="http://schemas.microsoft.com/office/drawing/2014/main" id="{FB312360-0AAD-A274-C54A-99BDC50464A5}"/>
              </a:ext>
            </a:extLst>
          </p:cNvPr>
          <p:cNvSpPr>
            <a:spLocks noGrp="1"/>
          </p:cNvSpPr>
          <p:nvPr>
            <p:ph idx="1"/>
          </p:nvPr>
        </p:nvSpPr>
        <p:spPr>
          <a:xfrm>
            <a:off x="2703512" y="1714500"/>
            <a:ext cx="8915400" cy="3777622"/>
          </a:xfrm>
        </p:spPr>
        <p:txBody>
          <a:bodyPr>
            <a:normAutofit/>
          </a:bodyPr>
          <a:lstStyle/>
          <a:p>
            <a:pPr marL="0" indent="0">
              <a:buNone/>
            </a:pPr>
            <a:r>
              <a:rPr lang="en-US" sz="2400" dirty="0"/>
              <a:t>You can invoke an inner class constructor on any instance of an outer class:</a:t>
            </a:r>
          </a:p>
          <a:p>
            <a:pPr marL="0" indent="0">
              <a:buNone/>
            </a:pPr>
            <a:r>
              <a:rPr lang="en-US" sz="2400" b="1" dirty="0" err="1"/>
              <a:t>Network.Member</a:t>
            </a:r>
            <a:r>
              <a:rPr lang="en-US" sz="2400" b="1" dirty="0"/>
              <a:t> </a:t>
            </a:r>
            <a:r>
              <a:rPr lang="en-US" sz="2400" b="1" dirty="0" err="1"/>
              <a:t>wilma</a:t>
            </a:r>
            <a:r>
              <a:rPr lang="en-US" sz="2400" b="1" dirty="0"/>
              <a:t> = </a:t>
            </a:r>
            <a:r>
              <a:rPr lang="en-US" sz="2400" b="1" dirty="0" err="1"/>
              <a:t>myFace.new</a:t>
            </a:r>
            <a:r>
              <a:rPr lang="en-US" sz="2400" b="1" dirty="0"/>
              <a:t> Member("Wilma");</a:t>
            </a:r>
          </a:p>
          <a:p>
            <a:pPr marL="0" indent="0">
              <a:buNone/>
            </a:pPr>
            <a:r>
              <a:rPr lang="en-US" sz="2400" dirty="0"/>
              <a:t>Inner classes can have static members. A static method of an inner class can access static members of its own class and of the enclosing classes.</a:t>
            </a:r>
          </a:p>
          <a:p>
            <a:pPr marL="0" indent="0">
              <a:buNone/>
            </a:pPr>
            <a:r>
              <a:rPr lang="en-US" sz="2400" dirty="0"/>
              <a:t>Local classes are another variant of inner classes</a:t>
            </a:r>
          </a:p>
          <a:p>
            <a:pPr marL="0" indent="0">
              <a:buNone/>
            </a:pPr>
            <a:endParaRPr lang="en-US" sz="2400" b="1" dirty="0"/>
          </a:p>
        </p:txBody>
      </p:sp>
    </p:spTree>
    <p:extLst>
      <p:ext uri="{BB962C8B-B14F-4D97-AF65-F5344CB8AC3E}">
        <p14:creationId xmlns:p14="http://schemas.microsoft.com/office/powerpoint/2010/main" val="2567657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D1518-DF62-F1F4-D48A-5E04F5880468}"/>
              </a:ext>
            </a:extLst>
          </p:cNvPr>
          <p:cNvSpPr>
            <a:spLocks noGrp="1"/>
          </p:cNvSpPr>
          <p:nvPr>
            <p:ph type="title"/>
          </p:nvPr>
        </p:nvSpPr>
        <p:spPr/>
        <p:txBody>
          <a:bodyPr/>
          <a:lstStyle/>
          <a:p>
            <a:pPr algn="ctr"/>
            <a:r>
              <a:rPr lang="en-US" b="1" dirty="0"/>
              <a:t>Static Nested Classes</a:t>
            </a:r>
          </a:p>
        </p:txBody>
      </p:sp>
      <p:sp>
        <p:nvSpPr>
          <p:cNvPr id="3" name="Text Placeholder 2">
            <a:extLst>
              <a:ext uri="{FF2B5EF4-FFF2-40B4-BE49-F238E27FC236}">
                <a16:creationId xmlns:a16="http://schemas.microsoft.com/office/drawing/2014/main" id="{5949C165-5F6A-1A69-96C8-D9C8CFF1897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15920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D8CED-8D85-9495-9748-BF2251BC80D4}"/>
              </a:ext>
            </a:extLst>
          </p:cNvPr>
          <p:cNvSpPr>
            <a:spLocks noGrp="1"/>
          </p:cNvSpPr>
          <p:nvPr>
            <p:ph type="title"/>
          </p:nvPr>
        </p:nvSpPr>
        <p:spPr/>
        <p:txBody>
          <a:bodyPr/>
          <a:lstStyle/>
          <a:p>
            <a:pPr algn="ctr"/>
            <a:r>
              <a:rPr lang="en-US" b="1" dirty="0"/>
              <a:t>Static Nested Classes</a:t>
            </a:r>
          </a:p>
        </p:txBody>
      </p:sp>
      <p:sp>
        <p:nvSpPr>
          <p:cNvPr id="3" name="Content Placeholder 2">
            <a:extLst>
              <a:ext uri="{FF2B5EF4-FFF2-40B4-BE49-F238E27FC236}">
                <a16:creationId xmlns:a16="http://schemas.microsoft.com/office/drawing/2014/main" id="{441A0EEB-DF9E-B383-7716-9A7486112AEF}"/>
              </a:ext>
            </a:extLst>
          </p:cNvPr>
          <p:cNvSpPr>
            <a:spLocks noGrp="1"/>
          </p:cNvSpPr>
          <p:nvPr>
            <p:ph idx="1"/>
          </p:nvPr>
        </p:nvSpPr>
        <p:spPr>
          <a:xfrm>
            <a:off x="2589212" y="1456944"/>
            <a:ext cx="8915400" cy="5062728"/>
          </a:xfrm>
        </p:spPr>
        <p:txBody>
          <a:bodyPr>
            <a:noAutofit/>
          </a:bodyPr>
          <a:lstStyle/>
          <a:p>
            <a:pPr marL="0" indent="0">
              <a:buNone/>
            </a:pPr>
            <a:r>
              <a:rPr lang="en-US" sz="2000" dirty="0"/>
              <a:t>Consider an Invoice class that bills for items, each of which has a description, quantity, and unit price. We can make Item into a nested class:</a:t>
            </a:r>
          </a:p>
          <a:p>
            <a:pPr marL="0" indent="0">
              <a:buNone/>
            </a:pPr>
            <a:r>
              <a:rPr lang="en-US" sz="2000" b="1" dirty="0"/>
              <a:t>public class Invoice {</a:t>
            </a:r>
          </a:p>
          <a:p>
            <a:pPr marL="0" indent="0">
              <a:buNone/>
            </a:pPr>
            <a:r>
              <a:rPr lang="en-US" sz="2000" b="1" dirty="0"/>
              <a:t>    private static class Item { // Item is nested inside Invoice</a:t>
            </a:r>
          </a:p>
          <a:p>
            <a:pPr marL="0" indent="0">
              <a:buNone/>
            </a:pPr>
            <a:r>
              <a:rPr lang="en-US" sz="2000" b="1" dirty="0"/>
              <a:t>        String description;</a:t>
            </a:r>
          </a:p>
          <a:p>
            <a:pPr marL="0" indent="0">
              <a:buNone/>
            </a:pPr>
            <a:r>
              <a:rPr lang="en-US" sz="2000" b="1" dirty="0"/>
              <a:t>        int quantity;</a:t>
            </a:r>
          </a:p>
          <a:p>
            <a:pPr marL="0" indent="0">
              <a:buNone/>
            </a:pPr>
            <a:r>
              <a:rPr lang="en-US" sz="2000" b="1" dirty="0"/>
              <a:t>        double </a:t>
            </a:r>
            <a:r>
              <a:rPr lang="en-US" sz="2000" b="1" dirty="0" err="1"/>
              <a:t>unitPrice</a:t>
            </a:r>
            <a:r>
              <a:rPr lang="en-US" sz="2000" b="1" dirty="0"/>
              <a:t>;</a:t>
            </a:r>
          </a:p>
          <a:p>
            <a:pPr marL="0" indent="0">
              <a:buNone/>
            </a:pPr>
            <a:r>
              <a:rPr lang="en-US" sz="2000" b="1" dirty="0"/>
              <a:t>        double price() { return quantity * </a:t>
            </a:r>
            <a:r>
              <a:rPr lang="en-US" sz="2000" b="1" dirty="0" err="1"/>
              <a:t>unitPrice</a:t>
            </a:r>
            <a:r>
              <a:rPr lang="en-US" sz="2000" b="1" dirty="0"/>
              <a:t>; }</a:t>
            </a:r>
          </a:p>
          <a:p>
            <a:pPr marL="0" indent="0">
              <a:buNone/>
            </a:pPr>
            <a:r>
              <a:rPr lang="en-US" sz="2000" b="1" dirty="0"/>
              <a:t>    }</a:t>
            </a:r>
          </a:p>
          <a:p>
            <a:pPr marL="0" indent="0">
              <a:buNone/>
            </a:pPr>
            <a:r>
              <a:rPr lang="en-US" sz="2000" b="1" dirty="0"/>
              <a:t>    private </a:t>
            </a:r>
            <a:r>
              <a:rPr lang="en-US" sz="2000" b="1" dirty="0" err="1"/>
              <a:t>ArrayList</a:t>
            </a:r>
            <a:r>
              <a:rPr lang="en-US" sz="2000" b="1" dirty="0"/>
              <a:t>&lt;Item&gt; items = new </a:t>
            </a:r>
            <a:r>
              <a:rPr lang="en-US" sz="2000" b="1" dirty="0" err="1"/>
              <a:t>ArrayList</a:t>
            </a:r>
            <a:r>
              <a:rPr lang="en-US" sz="2000" b="1" dirty="0"/>
              <a:t>&lt;&gt;();</a:t>
            </a:r>
          </a:p>
          <a:p>
            <a:pPr marL="0" indent="0">
              <a:buNone/>
            </a:pPr>
            <a:r>
              <a:rPr lang="en-US" sz="2000" b="1" dirty="0"/>
              <a:t>    ...</a:t>
            </a:r>
          </a:p>
          <a:p>
            <a:pPr marL="0" indent="0">
              <a:buNone/>
            </a:pPr>
            <a:r>
              <a:rPr lang="en-US" sz="2000" b="1" dirty="0"/>
              <a:t>}</a:t>
            </a:r>
          </a:p>
        </p:txBody>
      </p:sp>
    </p:spTree>
    <p:extLst>
      <p:ext uri="{BB962C8B-B14F-4D97-AF65-F5344CB8AC3E}">
        <p14:creationId xmlns:p14="http://schemas.microsoft.com/office/powerpoint/2010/main" val="733790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7FA2-5E3D-2F3B-434F-7C0761F222A1}"/>
              </a:ext>
            </a:extLst>
          </p:cNvPr>
          <p:cNvSpPr>
            <a:spLocks noGrp="1"/>
          </p:cNvSpPr>
          <p:nvPr>
            <p:ph type="title"/>
          </p:nvPr>
        </p:nvSpPr>
        <p:spPr/>
        <p:txBody>
          <a:bodyPr/>
          <a:lstStyle/>
          <a:p>
            <a:pPr algn="ctr"/>
            <a:r>
              <a:rPr lang="en-US" b="1" dirty="0"/>
              <a:t>The Item Class</a:t>
            </a:r>
          </a:p>
        </p:txBody>
      </p:sp>
      <p:sp>
        <p:nvSpPr>
          <p:cNvPr id="3" name="Content Placeholder 2">
            <a:extLst>
              <a:ext uri="{FF2B5EF4-FFF2-40B4-BE49-F238E27FC236}">
                <a16:creationId xmlns:a16="http://schemas.microsoft.com/office/drawing/2014/main" id="{AE21E999-DE1A-279B-D229-EE550AD7FD22}"/>
              </a:ext>
            </a:extLst>
          </p:cNvPr>
          <p:cNvSpPr>
            <a:spLocks noGrp="1"/>
          </p:cNvSpPr>
          <p:nvPr>
            <p:ph idx="1"/>
          </p:nvPr>
        </p:nvSpPr>
        <p:spPr>
          <a:xfrm>
            <a:off x="2592925" y="1401715"/>
            <a:ext cx="9398572" cy="5321808"/>
          </a:xfrm>
        </p:spPr>
        <p:txBody>
          <a:bodyPr>
            <a:noAutofit/>
          </a:bodyPr>
          <a:lstStyle/>
          <a:p>
            <a:pPr marL="0" indent="0">
              <a:buNone/>
            </a:pPr>
            <a:r>
              <a:rPr lang="en-US" dirty="0"/>
              <a:t>The Item class has interesting access control. The class is private in Invoice, so only Invoice methods can access it. For that reason, we might not bother making the instance variables of the inner class private.  </a:t>
            </a:r>
          </a:p>
          <a:p>
            <a:pPr marL="0" indent="0">
              <a:buNone/>
            </a:pPr>
            <a:r>
              <a:rPr lang="en-US" dirty="0"/>
              <a:t>Here is an example of an Invoice method that constructs an object of the inner class:</a:t>
            </a:r>
          </a:p>
          <a:p>
            <a:pPr marL="0" indent="0">
              <a:buNone/>
            </a:pPr>
            <a:r>
              <a:rPr lang="en-US" b="1" dirty="0"/>
              <a:t>public class Invoice {</a:t>
            </a:r>
          </a:p>
          <a:p>
            <a:pPr marL="0" indent="0">
              <a:buNone/>
            </a:pPr>
            <a:r>
              <a:rPr lang="en-US" b="1" dirty="0"/>
              <a:t>    ...</a:t>
            </a:r>
          </a:p>
          <a:p>
            <a:pPr marL="0" indent="0">
              <a:buNone/>
            </a:pPr>
            <a:r>
              <a:rPr lang="en-US" b="1" dirty="0"/>
              <a:t>    public void </a:t>
            </a:r>
            <a:r>
              <a:rPr lang="en-US" b="1" dirty="0" err="1"/>
              <a:t>addItem</a:t>
            </a:r>
            <a:r>
              <a:rPr lang="en-US" b="1" dirty="0"/>
              <a:t>(String description, int quantity, double </a:t>
            </a:r>
            <a:r>
              <a:rPr lang="en-US" b="1" dirty="0" err="1"/>
              <a:t>unitPrice</a:t>
            </a:r>
            <a:r>
              <a:rPr lang="en-US" b="1" dirty="0"/>
              <a:t>) {</a:t>
            </a:r>
          </a:p>
          <a:p>
            <a:pPr marL="0" indent="0">
              <a:buNone/>
            </a:pPr>
            <a:r>
              <a:rPr lang="en-US" b="1" dirty="0"/>
              <a:t>        var </a:t>
            </a:r>
            <a:r>
              <a:rPr lang="en-US" b="1" dirty="0" err="1"/>
              <a:t>newItem</a:t>
            </a:r>
            <a:r>
              <a:rPr lang="en-US" b="1" dirty="0"/>
              <a:t> = new Item();</a:t>
            </a:r>
          </a:p>
          <a:p>
            <a:pPr marL="0" indent="0">
              <a:buNone/>
            </a:pPr>
            <a:r>
              <a:rPr lang="en-US" b="1" dirty="0"/>
              <a:t>        </a:t>
            </a:r>
            <a:r>
              <a:rPr lang="en-US" b="1" dirty="0" err="1"/>
              <a:t>newItem.description</a:t>
            </a:r>
            <a:r>
              <a:rPr lang="en-US" b="1" dirty="0"/>
              <a:t> = description;</a:t>
            </a:r>
          </a:p>
          <a:p>
            <a:pPr marL="0" indent="0">
              <a:buNone/>
            </a:pPr>
            <a:r>
              <a:rPr lang="en-US" b="1" dirty="0"/>
              <a:t>        </a:t>
            </a:r>
            <a:r>
              <a:rPr lang="en-US" b="1" dirty="0" err="1"/>
              <a:t>newItem.quantity</a:t>
            </a:r>
            <a:r>
              <a:rPr lang="en-US" b="1" dirty="0"/>
              <a:t> = quantity;</a:t>
            </a:r>
          </a:p>
          <a:p>
            <a:pPr marL="0" indent="0">
              <a:buNone/>
            </a:pPr>
            <a:r>
              <a:rPr lang="en-US" b="1" dirty="0"/>
              <a:t>        </a:t>
            </a:r>
            <a:r>
              <a:rPr lang="en-US" b="1" dirty="0" err="1"/>
              <a:t>newItem.unitPrice</a:t>
            </a:r>
            <a:r>
              <a:rPr lang="en-US" b="1" dirty="0"/>
              <a:t> = </a:t>
            </a:r>
            <a:r>
              <a:rPr lang="en-US" b="1" dirty="0" err="1"/>
              <a:t>unitPrice</a:t>
            </a:r>
            <a:r>
              <a:rPr lang="en-US" b="1" dirty="0"/>
              <a:t>;</a:t>
            </a:r>
          </a:p>
          <a:p>
            <a:pPr marL="0" indent="0">
              <a:buNone/>
            </a:pPr>
            <a:r>
              <a:rPr lang="en-US" b="1" dirty="0"/>
              <a:t>        </a:t>
            </a:r>
            <a:r>
              <a:rPr lang="en-US" b="1" dirty="0" err="1"/>
              <a:t>items.add</a:t>
            </a:r>
            <a:r>
              <a:rPr lang="en-US" b="1" dirty="0"/>
              <a:t>(</a:t>
            </a:r>
            <a:r>
              <a:rPr lang="en-US" b="1" dirty="0" err="1"/>
              <a:t>newItem</a:t>
            </a:r>
            <a:r>
              <a:rPr lang="en-US" b="1" dirty="0"/>
              <a:t>);</a:t>
            </a:r>
          </a:p>
          <a:p>
            <a:pPr marL="0" indent="0">
              <a:buNone/>
            </a:pPr>
            <a:r>
              <a:rPr lang="en-US" b="1" dirty="0"/>
              <a:t>    }</a:t>
            </a:r>
          </a:p>
          <a:p>
            <a:pPr marL="0" indent="0">
              <a:buNone/>
            </a:pPr>
            <a:r>
              <a:rPr lang="en-US" b="1" dirty="0"/>
              <a:t>}</a:t>
            </a:r>
          </a:p>
        </p:txBody>
      </p:sp>
    </p:spTree>
    <p:extLst>
      <p:ext uri="{BB962C8B-B14F-4D97-AF65-F5344CB8AC3E}">
        <p14:creationId xmlns:p14="http://schemas.microsoft.com/office/powerpoint/2010/main" val="308854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0C4A6-670D-F880-840C-A701AD79CCA5}"/>
              </a:ext>
            </a:extLst>
          </p:cNvPr>
          <p:cNvSpPr>
            <a:spLocks noGrp="1"/>
          </p:cNvSpPr>
          <p:nvPr>
            <p:ph type="title"/>
          </p:nvPr>
        </p:nvSpPr>
        <p:spPr>
          <a:xfrm>
            <a:off x="2400901" y="148622"/>
            <a:ext cx="8911687" cy="1280890"/>
          </a:xfrm>
        </p:spPr>
        <p:txBody>
          <a:bodyPr/>
          <a:lstStyle/>
          <a:p>
            <a:pPr algn="ctr"/>
            <a:r>
              <a:rPr lang="en-US" b="1" dirty="0"/>
              <a:t>Creating Item objects when the Item class is public.</a:t>
            </a:r>
          </a:p>
        </p:txBody>
      </p:sp>
      <p:sp>
        <p:nvSpPr>
          <p:cNvPr id="3" name="Content Placeholder 2">
            <a:extLst>
              <a:ext uri="{FF2B5EF4-FFF2-40B4-BE49-F238E27FC236}">
                <a16:creationId xmlns:a16="http://schemas.microsoft.com/office/drawing/2014/main" id="{97DF8A23-B596-30DC-09CF-5796D6A4FA84}"/>
              </a:ext>
            </a:extLst>
          </p:cNvPr>
          <p:cNvSpPr>
            <a:spLocks noGrp="1"/>
          </p:cNvSpPr>
          <p:nvPr>
            <p:ph idx="1"/>
          </p:nvPr>
        </p:nvSpPr>
        <p:spPr>
          <a:xfrm>
            <a:off x="2282028" y="1429512"/>
            <a:ext cx="9404003" cy="5318760"/>
          </a:xfrm>
        </p:spPr>
        <p:txBody>
          <a:bodyPr>
            <a:normAutofit fontScale="85000" lnSpcReduction="20000"/>
          </a:bodyPr>
          <a:lstStyle/>
          <a:p>
            <a:pPr marL="0" indent="0">
              <a:buNone/>
            </a:pPr>
            <a:r>
              <a:rPr lang="en-US" sz="2400" dirty="0"/>
              <a:t>If the Invoice class makes the Item class public and if we add a constructor for the Item class it’s easy for anyone to construct Item objects:</a:t>
            </a:r>
          </a:p>
          <a:p>
            <a:pPr marL="0" indent="0">
              <a:buNone/>
            </a:pPr>
            <a:r>
              <a:rPr lang="en-US" b="1" dirty="0"/>
              <a:t>public class Invoice {</a:t>
            </a:r>
          </a:p>
          <a:p>
            <a:pPr marL="0" indent="0">
              <a:buNone/>
            </a:pPr>
            <a:r>
              <a:rPr lang="en-US" b="1" dirty="0"/>
              <a:t>    public static class Item { // A public nested class</a:t>
            </a:r>
          </a:p>
          <a:p>
            <a:pPr marL="0" indent="0">
              <a:buNone/>
            </a:pPr>
            <a:r>
              <a:rPr lang="en-US" b="1" dirty="0"/>
              <a:t>        private String description;</a:t>
            </a:r>
          </a:p>
          <a:p>
            <a:pPr marL="0" indent="0">
              <a:buNone/>
            </a:pPr>
            <a:r>
              <a:rPr lang="en-US" b="1" dirty="0"/>
              <a:t>        private int quantity;</a:t>
            </a:r>
          </a:p>
          <a:p>
            <a:pPr marL="0" indent="0">
              <a:buNone/>
            </a:pPr>
            <a:r>
              <a:rPr lang="en-US" b="1" dirty="0"/>
              <a:t>        private double </a:t>
            </a:r>
            <a:r>
              <a:rPr lang="en-US" b="1" dirty="0" err="1"/>
              <a:t>unitPrice</a:t>
            </a:r>
            <a:r>
              <a:rPr lang="en-US" b="1" dirty="0"/>
              <a:t>;</a:t>
            </a:r>
          </a:p>
          <a:p>
            <a:pPr marL="0" indent="0">
              <a:buNone/>
            </a:pPr>
            <a:r>
              <a:rPr lang="en-US" b="1" dirty="0"/>
              <a:t>        public Item(String description, int quantity, double </a:t>
            </a:r>
            <a:r>
              <a:rPr lang="en-US" b="1" dirty="0" err="1"/>
              <a:t>unitPrice</a:t>
            </a:r>
            <a:r>
              <a:rPr lang="en-US" b="1" dirty="0"/>
              <a:t>) {</a:t>
            </a:r>
          </a:p>
          <a:p>
            <a:pPr marL="0" indent="0">
              <a:buNone/>
            </a:pPr>
            <a:r>
              <a:rPr lang="en-US" b="1" dirty="0"/>
              <a:t>            </a:t>
            </a:r>
            <a:r>
              <a:rPr lang="en-US" b="1" dirty="0" err="1"/>
              <a:t>this.description</a:t>
            </a:r>
            <a:r>
              <a:rPr lang="en-US" b="1" dirty="0"/>
              <a:t> = description;</a:t>
            </a:r>
          </a:p>
          <a:p>
            <a:pPr marL="0" indent="0">
              <a:buNone/>
            </a:pPr>
            <a:r>
              <a:rPr lang="en-US" b="1" dirty="0"/>
              <a:t>            </a:t>
            </a:r>
            <a:r>
              <a:rPr lang="en-US" b="1" dirty="0" err="1"/>
              <a:t>this.quantity</a:t>
            </a:r>
            <a:r>
              <a:rPr lang="en-US" b="1" dirty="0"/>
              <a:t> = quantity;</a:t>
            </a:r>
          </a:p>
          <a:p>
            <a:pPr marL="0" indent="0">
              <a:buNone/>
            </a:pPr>
            <a:r>
              <a:rPr lang="en-US" b="1" dirty="0"/>
              <a:t>            </a:t>
            </a:r>
            <a:r>
              <a:rPr lang="en-US" b="1" dirty="0" err="1"/>
              <a:t>this.unitPrice</a:t>
            </a:r>
            <a:r>
              <a:rPr lang="en-US" b="1" dirty="0"/>
              <a:t> = </a:t>
            </a:r>
            <a:r>
              <a:rPr lang="en-US" b="1" dirty="0" err="1"/>
              <a:t>unitPrice</a:t>
            </a:r>
            <a:r>
              <a:rPr lang="en-US" b="1" dirty="0"/>
              <a:t>;</a:t>
            </a:r>
          </a:p>
          <a:p>
            <a:pPr marL="0" indent="0">
              <a:buNone/>
            </a:pPr>
            <a:r>
              <a:rPr lang="en-US" b="1" dirty="0"/>
              <a:t>        }</a:t>
            </a:r>
          </a:p>
          <a:p>
            <a:pPr marL="0" indent="0">
              <a:buNone/>
            </a:pPr>
            <a:r>
              <a:rPr lang="en-US" b="1" dirty="0"/>
              <a:t>        public double price() { return quantity * </a:t>
            </a:r>
            <a:r>
              <a:rPr lang="en-US" b="1" dirty="0" err="1"/>
              <a:t>unitPrice</a:t>
            </a:r>
            <a:r>
              <a:rPr lang="en-US" b="1" dirty="0"/>
              <a:t>; }</a:t>
            </a:r>
          </a:p>
          <a:p>
            <a:pPr marL="0" indent="0">
              <a:buNone/>
            </a:pPr>
            <a:r>
              <a:rPr lang="en-US" b="1" dirty="0"/>
              <a:t>        ...</a:t>
            </a:r>
          </a:p>
          <a:p>
            <a:pPr marL="0" indent="0">
              <a:buNone/>
            </a:pPr>
            <a:r>
              <a:rPr lang="en-US" b="1" dirty="0"/>
              <a:t>    }</a:t>
            </a:r>
          </a:p>
          <a:p>
            <a:pPr marL="0" indent="0">
              <a:buNone/>
            </a:pPr>
            <a:r>
              <a:rPr lang="en-US" b="1" dirty="0"/>
              <a:t>//</a:t>
            </a:r>
            <a:r>
              <a:rPr lang="en-US" b="1" dirty="0" err="1"/>
              <a:t>etc</a:t>
            </a:r>
            <a:endParaRPr lang="en-US" b="1" dirty="0"/>
          </a:p>
          <a:p>
            <a:pPr marL="0" indent="0">
              <a:buNone/>
            </a:pPr>
            <a:r>
              <a:rPr lang="en-US" b="1" dirty="0"/>
              <a:t>}</a:t>
            </a:r>
          </a:p>
        </p:txBody>
      </p:sp>
    </p:spTree>
    <p:extLst>
      <p:ext uri="{BB962C8B-B14F-4D97-AF65-F5344CB8AC3E}">
        <p14:creationId xmlns:p14="http://schemas.microsoft.com/office/powerpoint/2010/main" val="1215428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8A5B-4926-9173-A75E-B839E1F56B44}"/>
              </a:ext>
            </a:extLst>
          </p:cNvPr>
          <p:cNvSpPr>
            <a:spLocks noGrp="1"/>
          </p:cNvSpPr>
          <p:nvPr>
            <p:ph type="title"/>
          </p:nvPr>
        </p:nvSpPr>
        <p:spPr/>
        <p:txBody>
          <a:bodyPr/>
          <a:lstStyle/>
          <a:p>
            <a:pPr algn="ctr"/>
            <a:r>
              <a:rPr lang="en-US" b="1" dirty="0"/>
              <a:t>Constructing an Item Object</a:t>
            </a:r>
          </a:p>
        </p:txBody>
      </p:sp>
      <p:sp>
        <p:nvSpPr>
          <p:cNvPr id="3" name="Content Placeholder 2">
            <a:extLst>
              <a:ext uri="{FF2B5EF4-FFF2-40B4-BE49-F238E27FC236}">
                <a16:creationId xmlns:a16="http://schemas.microsoft.com/office/drawing/2014/main" id="{FBB453CD-BD13-DB65-75EC-5C4717838B21}"/>
              </a:ext>
            </a:extLst>
          </p:cNvPr>
          <p:cNvSpPr>
            <a:spLocks noGrp="1"/>
          </p:cNvSpPr>
          <p:nvPr>
            <p:ph idx="1"/>
          </p:nvPr>
        </p:nvSpPr>
        <p:spPr>
          <a:xfrm>
            <a:off x="2262614" y="1365138"/>
            <a:ext cx="9816610" cy="5282549"/>
          </a:xfrm>
        </p:spPr>
        <p:txBody>
          <a:bodyPr>
            <a:normAutofit/>
          </a:bodyPr>
          <a:lstStyle/>
          <a:p>
            <a:pPr marL="0" indent="0">
              <a:buNone/>
            </a:pPr>
            <a:r>
              <a:rPr lang="en-US" sz="2400" dirty="0"/>
              <a:t>Two ways to construct a new Item object:</a:t>
            </a:r>
          </a:p>
          <a:p>
            <a:pPr marL="457200" lvl="1" indent="0">
              <a:buNone/>
            </a:pPr>
            <a:r>
              <a:rPr lang="en-US" sz="2400" dirty="0"/>
              <a:t>From the Invoice class, using </a:t>
            </a:r>
            <a:r>
              <a:rPr lang="en-US" sz="2400" b="1" dirty="0" err="1"/>
              <a:t>addItem</a:t>
            </a:r>
            <a:r>
              <a:rPr lang="en-US" sz="2400" b="1" dirty="0"/>
              <a:t>(…)</a:t>
            </a:r>
          </a:p>
          <a:p>
            <a:pPr marL="457200" lvl="1" indent="0">
              <a:buNone/>
            </a:pPr>
            <a:r>
              <a:rPr lang="en-US" sz="2400" dirty="0"/>
              <a:t>From the Item class, using:</a:t>
            </a:r>
          </a:p>
          <a:p>
            <a:pPr marL="457200" lvl="1" indent="0">
              <a:buNone/>
            </a:pPr>
            <a:r>
              <a:rPr lang="en-US" sz="2400" b="1" dirty="0"/>
              <a:t>var </a:t>
            </a:r>
            <a:r>
              <a:rPr lang="en-US" sz="2400" b="1" dirty="0" err="1"/>
              <a:t>newItem</a:t>
            </a:r>
            <a:r>
              <a:rPr lang="en-US" sz="2400" b="1" dirty="0"/>
              <a:t> = new </a:t>
            </a:r>
            <a:r>
              <a:rPr lang="en-US" sz="2400" b="1" dirty="0" err="1"/>
              <a:t>Invoice.Item</a:t>
            </a:r>
            <a:r>
              <a:rPr lang="en-US" sz="2400" b="1" dirty="0"/>
              <a:t>("Blackwell Toaster", 2, 19.95);</a:t>
            </a:r>
          </a:p>
          <a:p>
            <a:pPr marL="457200" lvl="1" indent="0">
              <a:buNone/>
            </a:pPr>
            <a:r>
              <a:rPr lang="en-US" sz="2400" b="1" dirty="0" err="1"/>
              <a:t>myInvoice.add</a:t>
            </a:r>
            <a:r>
              <a:rPr lang="en-US" sz="2400" b="1" dirty="0"/>
              <a:t>(</a:t>
            </a:r>
            <a:r>
              <a:rPr lang="en-US" sz="2400" b="1" dirty="0" err="1"/>
              <a:t>newItem</a:t>
            </a:r>
            <a:r>
              <a:rPr lang="en-US" sz="2400" b="1" dirty="0"/>
              <a:t>);</a:t>
            </a:r>
          </a:p>
          <a:p>
            <a:pPr marL="457200" lvl="1" indent="0">
              <a:buNone/>
            </a:pPr>
            <a:r>
              <a:rPr lang="en-US" sz="2400" dirty="0"/>
              <a:t>There is essentially no difference between this </a:t>
            </a:r>
            <a:r>
              <a:rPr lang="en-US" sz="2400" dirty="0" err="1"/>
              <a:t>Invoice.Item</a:t>
            </a:r>
            <a:r>
              <a:rPr lang="en-US" sz="2400" dirty="0"/>
              <a:t> class and a class </a:t>
            </a:r>
            <a:r>
              <a:rPr lang="en-US" sz="2400" dirty="0" err="1"/>
              <a:t>InvoiceItem</a:t>
            </a:r>
            <a:r>
              <a:rPr lang="en-US" sz="2400" dirty="0"/>
              <a:t> declared outside any other class. </a:t>
            </a:r>
          </a:p>
          <a:p>
            <a:pPr marL="457200" lvl="1" indent="0">
              <a:buNone/>
            </a:pPr>
            <a:r>
              <a:rPr lang="en-US" sz="2400" dirty="0"/>
              <a:t>Nesting the class just makes it obvious that the Item class represents items in an invoice.</a:t>
            </a:r>
          </a:p>
          <a:p>
            <a:pPr marL="457200" lvl="1" indent="0">
              <a:buNone/>
            </a:pPr>
            <a:r>
              <a:rPr lang="en-US" sz="2400" dirty="0"/>
              <a:t>There is no reference to the enclosing class.</a:t>
            </a:r>
          </a:p>
          <a:p>
            <a:pPr marL="0" indent="0">
              <a:buNone/>
            </a:pPr>
            <a:endParaRPr lang="en-US" sz="2400" dirty="0"/>
          </a:p>
        </p:txBody>
      </p:sp>
    </p:spTree>
    <p:extLst>
      <p:ext uri="{BB962C8B-B14F-4D97-AF65-F5344CB8AC3E}">
        <p14:creationId xmlns:p14="http://schemas.microsoft.com/office/powerpoint/2010/main" val="2438328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52747-AC53-7759-FF09-AD0B502908E4}"/>
              </a:ext>
            </a:extLst>
          </p:cNvPr>
          <p:cNvSpPr>
            <a:spLocks noGrp="1"/>
          </p:cNvSpPr>
          <p:nvPr>
            <p:ph type="title"/>
          </p:nvPr>
        </p:nvSpPr>
        <p:spPr/>
        <p:txBody>
          <a:bodyPr/>
          <a:lstStyle/>
          <a:p>
            <a:r>
              <a:rPr lang="en-US" b="1" dirty="0"/>
              <a:t>Anonymous Inner classes</a:t>
            </a:r>
          </a:p>
        </p:txBody>
      </p:sp>
      <p:sp>
        <p:nvSpPr>
          <p:cNvPr id="3" name="Text Placeholder 2">
            <a:extLst>
              <a:ext uri="{FF2B5EF4-FFF2-40B4-BE49-F238E27FC236}">
                <a16:creationId xmlns:a16="http://schemas.microsoft.com/office/drawing/2014/main" id="{9CBB1396-1713-1708-67E2-0B9A998400C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970843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E521C-BB16-4A3A-F870-3690392F6F38}"/>
              </a:ext>
            </a:extLst>
          </p:cNvPr>
          <p:cNvSpPr>
            <a:spLocks noGrp="1"/>
          </p:cNvSpPr>
          <p:nvPr>
            <p:ph type="title"/>
          </p:nvPr>
        </p:nvSpPr>
        <p:spPr/>
        <p:txBody>
          <a:bodyPr/>
          <a:lstStyle/>
          <a:p>
            <a:pPr algn="ctr"/>
            <a:r>
              <a:rPr lang="en-US" b="1" dirty="0"/>
              <a:t>What is an Anonymous class?</a:t>
            </a:r>
          </a:p>
        </p:txBody>
      </p:sp>
      <p:sp>
        <p:nvSpPr>
          <p:cNvPr id="3" name="Content Placeholder 2">
            <a:extLst>
              <a:ext uri="{FF2B5EF4-FFF2-40B4-BE49-F238E27FC236}">
                <a16:creationId xmlns:a16="http://schemas.microsoft.com/office/drawing/2014/main" id="{0E779763-6714-A3E6-E38F-A08FB4801B6C}"/>
              </a:ext>
            </a:extLst>
          </p:cNvPr>
          <p:cNvSpPr>
            <a:spLocks noGrp="1"/>
          </p:cNvSpPr>
          <p:nvPr>
            <p:ph idx="1"/>
          </p:nvPr>
        </p:nvSpPr>
        <p:spPr>
          <a:xfrm>
            <a:off x="2906673" y="1773103"/>
            <a:ext cx="8915400" cy="3777622"/>
          </a:xfrm>
        </p:spPr>
        <p:txBody>
          <a:bodyPr>
            <a:noAutofit/>
          </a:bodyPr>
          <a:lstStyle/>
          <a:p>
            <a:pPr marL="0" indent="0">
              <a:buNone/>
            </a:pPr>
            <a:r>
              <a:rPr lang="en-US" sz="2400" dirty="0"/>
              <a:t>An anonymous class is an inner class without a name.</a:t>
            </a:r>
          </a:p>
          <a:p>
            <a:pPr marL="0" indent="0">
              <a:buNone/>
            </a:pPr>
            <a:r>
              <a:rPr lang="en-US" sz="2400" dirty="0"/>
              <a:t>An anonymous class is defined and instantiated in a single succinct expression using the new  operator. </a:t>
            </a:r>
          </a:p>
          <a:p>
            <a:pPr marL="0" indent="0">
              <a:buNone/>
            </a:pPr>
            <a:r>
              <a:rPr lang="en-US" sz="2400" dirty="0"/>
              <a:t>While a class definition is a statement in a block of Java code, an anonymous class definition is an expression, which means that it can be included as part of a larger expression, such as a method call. </a:t>
            </a:r>
          </a:p>
        </p:txBody>
      </p:sp>
    </p:spTree>
    <p:extLst>
      <p:ext uri="{BB962C8B-B14F-4D97-AF65-F5344CB8AC3E}">
        <p14:creationId xmlns:p14="http://schemas.microsoft.com/office/powerpoint/2010/main" val="1325109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1E01C-82C5-271B-3F90-8B3B9D849A7B}"/>
              </a:ext>
            </a:extLst>
          </p:cNvPr>
          <p:cNvSpPr>
            <a:spLocks noGrp="1"/>
          </p:cNvSpPr>
          <p:nvPr>
            <p:ph type="title"/>
          </p:nvPr>
        </p:nvSpPr>
        <p:spPr/>
        <p:txBody>
          <a:bodyPr/>
          <a:lstStyle/>
          <a:p>
            <a:pPr algn="ctr"/>
            <a:r>
              <a:rPr lang="en-US" b="1" dirty="0"/>
              <a:t>Limitations</a:t>
            </a:r>
          </a:p>
        </p:txBody>
      </p:sp>
      <p:sp>
        <p:nvSpPr>
          <p:cNvPr id="3" name="Content Placeholder 2">
            <a:extLst>
              <a:ext uri="{FF2B5EF4-FFF2-40B4-BE49-F238E27FC236}">
                <a16:creationId xmlns:a16="http://schemas.microsoft.com/office/drawing/2014/main" id="{1C9649BE-8943-D5E1-2B6B-C06C99F286DD}"/>
              </a:ext>
            </a:extLst>
          </p:cNvPr>
          <p:cNvSpPr>
            <a:spLocks noGrp="1"/>
          </p:cNvSpPr>
          <p:nvPr>
            <p:ph idx="1"/>
          </p:nvPr>
        </p:nvSpPr>
        <p:spPr>
          <a:xfrm>
            <a:off x="2776781" y="1723292"/>
            <a:ext cx="8915400" cy="3777622"/>
          </a:xfrm>
        </p:spPr>
        <p:txBody>
          <a:bodyPr>
            <a:normAutofit/>
          </a:bodyPr>
          <a:lstStyle/>
          <a:p>
            <a:pPr marL="0" indent="0">
              <a:buNone/>
            </a:pPr>
            <a:r>
              <a:rPr lang="en-US" sz="2400" dirty="0"/>
              <a:t>Because an anonymous class has no name, it is not possible to define a constructor for it within the class body.</a:t>
            </a:r>
          </a:p>
          <a:p>
            <a:pPr marL="0" indent="0">
              <a:buNone/>
            </a:pPr>
            <a:r>
              <a:rPr lang="en-US" sz="2400" dirty="0"/>
              <a:t>If your class requires a constructor, you must use an inner class instead. </a:t>
            </a:r>
          </a:p>
          <a:p>
            <a:pPr marL="0" indent="0">
              <a:buNone/>
            </a:pPr>
            <a:r>
              <a:rPr lang="en-US" sz="2400" dirty="0"/>
              <a:t>However, instance initializers were introduced into the language to substitute for a constructor.</a:t>
            </a:r>
          </a:p>
          <a:p>
            <a:pPr marL="0" indent="0">
              <a:buNone/>
            </a:pPr>
            <a:r>
              <a:rPr lang="en-US" sz="2400" dirty="0"/>
              <a:t>You can only create one instance of this class. </a:t>
            </a:r>
          </a:p>
        </p:txBody>
      </p:sp>
    </p:spTree>
    <p:extLst>
      <p:ext uri="{BB962C8B-B14F-4D97-AF65-F5344CB8AC3E}">
        <p14:creationId xmlns:p14="http://schemas.microsoft.com/office/powerpoint/2010/main" val="1189608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A9C25-B4E9-39BF-7209-F5D1F0CFE533}"/>
              </a:ext>
            </a:extLst>
          </p:cNvPr>
          <p:cNvSpPr>
            <a:spLocks noGrp="1"/>
          </p:cNvSpPr>
          <p:nvPr>
            <p:ph type="title"/>
          </p:nvPr>
        </p:nvSpPr>
        <p:spPr/>
        <p:txBody>
          <a:bodyPr/>
          <a:lstStyle/>
          <a:p>
            <a:pPr algn="ctr"/>
            <a:r>
              <a:rPr lang="en-US" b="1" dirty="0"/>
              <a:t>Use an Anonymous class if:</a:t>
            </a:r>
          </a:p>
        </p:txBody>
      </p:sp>
      <p:sp>
        <p:nvSpPr>
          <p:cNvPr id="3" name="Content Placeholder 2">
            <a:extLst>
              <a:ext uri="{FF2B5EF4-FFF2-40B4-BE49-F238E27FC236}">
                <a16:creationId xmlns:a16="http://schemas.microsoft.com/office/drawing/2014/main" id="{63107B47-3EBC-1211-DE99-76A2B5101B06}"/>
              </a:ext>
            </a:extLst>
          </p:cNvPr>
          <p:cNvSpPr>
            <a:spLocks noGrp="1"/>
          </p:cNvSpPr>
          <p:nvPr>
            <p:ph idx="1"/>
          </p:nvPr>
        </p:nvSpPr>
        <p:spPr>
          <a:xfrm>
            <a:off x="2987796" y="1699846"/>
            <a:ext cx="8915400" cy="3777622"/>
          </a:xfrm>
        </p:spPr>
        <p:txBody>
          <a:bodyPr>
            <a:normAutofit/>
          </a:bodyPr>
          <a:lstStyle/>
          <a:p>
            <a:pPr marL="0" indent="0">
              <a:buNone/>
            </a:pPr>
            <a:r>
              <a:rPr lang="en-US" sz="2400" dirty="0"/>
              <a:t>The class has no constructor or can use an instance initializer.</a:t>
            </a:r>
          </a:p>
          <a:p>
            <a:pPr marL="0" indent="0">
              <a:buNone/>
            </a:pPr>
            <a:r>
              <a:rPr lang="en-US" sz="2400" dirty="0"/>
              <a:t>The class has a very short body.</a:t>
            </a:r>
          </a:p>
          <a:p>
            <a:pPr marL="0" indent="0">
              <a:buNone/>
            </a:pPr>
            <a:r>
              <a:rPr lang="en-US" sz="2400" dirty="0"/>
              <a:t>Only one instance of the class is needed.</a:t>
            </a:r>
          </a:p>
          <a:p>
            <a:pPr marL="0" indent="0">
              <a:buNone/>
            </a:pPr>
            <a:r>
              <a:rPr lang="en-US" sz="2400" dirty="0"/>
              <a:t>The class is used right after it is defined.</a:t>
            </a:r>
          </a:p>
          <a:p>
            <a:pPr marL="0" indent="0">
              <a:buNone/>
            </a:pPr>
            <a:r>
              <a:rPr lang="en-US" sz="2400" dirty="0"/>
              <a:t>The name of the class does not make your code any easier to understand.</a:t>
            </a:r>
          </a:p>
          <a:p>
            <a:pPr marL="0" indent="0">
              <a:buNone/>
            </a:pPr>
            <a:endParaRPr lang="en-US" sz="2400" dirty="0"/>
          </a:p>
        </p:txBody>
      </p:sp>
    </p:spTree>
    <p:extLst>
      <p:ext uri="{BB962C8B-B14F-4D97-AF65-F5344CB8AC3E}">
        <p14:creationId xmlns:p14="http://schemas.microsoft.com/office/powerpoint/2010/main" val="2787648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8B304-DD42-5299-4FC5-7F75D71D93A6}"/>
              </a:ext>
            </a:extLst>
          </p:cNvPr>
          <p:cNvSpPr>
            <a:spLocks noGrp="1"/>
          </p:cNvSpPr>
          <p:nvPr>
            <p:ph type="title"/>
          </p:nvPr>
        </p:nvSpPr>
        <p:spPr/>
        <p:txBody>
          <a:bodyPr/>
          <a:lstStyle/>
          <a:p>
            <a:pPr algn="ctr"/>
            <a:r>
              <a:rPr lang="en-US" b="1" dirty="0"/>
              <a:t>How we get there, step by step:</a:t>
            </a:r>
          </a:p>
        </p:txBody>
      </p:sp>
      <p:sp>
        <p:nvSpPr>
          <p:cNvPr id="3" name="Content Placeholder 2">
            <a:extLst>
              <a:ext uri="{FF2B5EF4-FFF2-40B4-BE49-F238E27FC236}">
                <a16:creationId xmlns:a16="http://schemas.microsoft.com/office/drawing/2014/main" id="{5F9FBC98-9089-78AF-9065-71CFEAE00681}"/>
              </a:ext>
            </a:extLst>
          </p:cNvPr>
          <p:cNvSpPr>
            <a:spLocks noGrp="1"/>
          </p:cNvSpPr>
          <p:nvPr>
            <p:ph idx="1"/>
          </p:nvPr>
        </p:nvSpPr>
        <p:spPr>
          <a:xfrm>
            <a:off x="2726372" y="1365504"/>
            <a:ext cx="8915400" cy="5428488"/>
          </a:xfrm>
        </p:spPr>
        <p:txBody>
          <a:bodyPr>
            <a:normAutofit/>
          </a:bodyPr>
          <a:lstStyle/>
          <a:p>
            <a:pPr marL="0" indent="0">
              <a:buNone/>
            </a:pPr>
            <a:r>
              <a:rPr lang="en-US" sz="2400" dirty="0"/>
              <a:t>//Class scope variable reference</a:t>
            </a:r>
          </a:p>
          <a:p>
            <a:pPr marL="0" indent="0">
              <a:buNone/>
            </a:pPr>
            <a:r>
              <a:rPr lang="en-US" sz="2400" dirty="0"/>
              <a:t>	</a:t>
            </a:r>
            <a:r>
              <a:rPr lang="en-US" sz="2400" b="1" dirty="0"/>
              <a:t>private </a:t>
            </a:r>
            <a:r>
              <a:rPr lang="en-US" sz="2400" b="1" dirty="0" err="1"/>
              <a:t>JButton</a:t>
            </a:r>
            <a:r>
              <a:rPr lang="en-US" sz="2400" b="1" dirty="0"/>
              <a:t> </a:t>
            </a:r>
            <a:r>
              <a:rPr lang="en-US" sz="2400" b="1" dirty="0" err="1"/>
              <a:t>jbtnCalc</a:t>
            </a:r>
            <a:r>
              <a:rPr lang="en-US" sz="2400" b="1" dirty="0"/>
              <a:t>;</a:t>
            </a:r>
          </a:p>
          <a:p>
            <a:pPr marL="0" indent="0">
              <a:buNone/>
            </a:pPr>
            <a:r>
              <a:rPr lang="en-US" sz="2400" dirty="0"/>
              <a:t>//Instantiate the </a:t>
            </a:r>
            <a:r>
              <a:rPr lang="en-US" sz="2400" dirty="0" err="1"/>
              <a:t>JButton</a:t>
            </a:r>
            <a:r>
              <a:rPr lang="en-US" sz="2400" dirty="0"/>
              <a:t> in the frame constructor</a:t>
            </a:r>
          </a:p>
          <a:p>
            <a:pPr marL="0" indent="0">
              <a:buNone/>
            </a:pPr>
            <a:r>
              <a:rPr lang="en-US" sz="2400" dirty="0"/>
              <a:t>	</a:t>
            </a:r>
            <a:r>
              <a:rPr lang="en-US" sz="2400" b="1" dirty="0" err="1"/>
              <a:t>jbtnCalc</a:t>
            </a:r>
            <a:r>
              <a:rPr lang="en-US" sz="2400" b="1" dirty="0"/>
              <a:t> = new </a:t>
            </a:r>
            <a:r>
              <a:rPr lang="en-US" sz="2400" b="1" dirty="0" err="1"/>
              <a:t>JButton</a:t>
            </a:r>
            <a:r>
              <a:rPr lang="en-US" sz="2400" b="1" dirty="0"/>
              <a:t>();</a:t>
            </a:r>
          </a:p>
          <a:p>
            <a:pPr marL="0" indent="0">
              <a:buNone/>
            </a:pPr>
            <a:r>
              <a:rPr lang="en-US" sz="2400" dirty="0"/>
              <a:t>//We write an inner class to implement the interface</a:t>
            </a:r>
          </a:p>
          <a:p>
            <a:pPr marL="0" indent="0">
              <a:buNone/>
            </a:pPr>
            <a:r>
              <a:rPr lang="en-US" sz="2400" b="1" dirty="0"/>
              <a:t>private class </a:t>
            </a:r>
            <a:r>
              <a:rPr lang="en-US" sz="2400" b="1" dirty="0" err="1"/>
              <a:t>CalcBtnHandler</a:t>
            </a:r>
            <a:r>
              <a:rPr lang="en-US" sz="2400" b="1" dirty="0"/>
              <a:t> implements ActionListener{</a:t>
            </a:r>
          </a:p>
          <a:p>
            <a:pPr marL="0" indent="0">
              <a:buNone/>
            </a:pPr>
            <a:r>
              <a:rPr lang="en-US" sz="2400" b="1" dirty="0"/>
              <a:t>	@Override</a:t>
            </a:r>
          </a:p>
          <a:p>
            <a:pPr marL="0" indent="0">
              <a:buNone/>
            </a:pPr>
            <a:r>
              <a:rPr lang="en-US" sz="2400" b="1" dirty="0"/>
              <a:t>	public void </a:t>
            </a:r>
            <a:r>
              <a:rPr lang="en-US" sz="2400" b="1" dirty="0" err="1"/>
              <a:t>actionPerformed</a:t>
            </a:r>
            <a:r>
              <a:rPr lang="en-US" sz="2400" b="1" dirty="0"/>
              <a:t>(</a:t>
            </a:r>
            <a:r>
              <a:rPr lang="en-US" sz="2400" b="1" dirty="0" err="1"/>
              <a:t>ActionEvent</a:t>
            </a:r>
            <a:r>
              <a:rPr lang="en-US" sz="2400" b="1" dirty="0"/>
              <a:t> e) {</a:t>
            </a:r>
          </a:p>
          <a:p>
            <a:pPr marL="0" indent="0">
              <a:buNone/>
            </a:pPr>
            <a:r>
              <a:rPr lang="en-US" sz="2400" b="1" dirty="0"/>
              <a:t>		</a:t>
            </a:r>
            <a:r>
              <a:rPr lang="en-US" sz="2400" dirty="0"/>
              <a:t>//add code here</a:t>
            </a:r>
          </a:p>
          <a:p>
            <a:pPr marL="0" indent="0">
              <a:buNone/>
            </a:pPr>
            <a:r>
              <a:rPr lang="en-US" sz="2400" b="1" dirty="0"/>
              <a:t>           }</a:t>
            </a:r>
          </a:p>
          <a:p>
            <a:pPr marL="0" indent="0">
              <a:buNone/>
            </a:pPr>
            <a:r>
              <a:rPr lang="en-US" sz="2400" b="1" dirty="0"/>
              <a:t>} </a:t>
            </a:r>
          </a:p>
        </p:txBody>
      </p:sp>
    </p:spTree>
    <p:extLst>
      <p:ext uri="{BB962C8B-B14F-4D97-AF65-F5344CB8AC3E}">
        <p14:creationId xmlns:p14="http://schemas.microsoft.com/office/powerpoint/2010/main" val="1080461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942953-424A-983C-E06B-586C7E1F25B0}"/>
              </a:ext>
            </a:extLst>
          </p:cNvPr>
          <p:cNvSpPr>
            <a:spLocks noGrp="1"/>
          </p:cNvSpPr>
          <p:nvPr>
            <p:ph idx="1"/>
          </p:nvPr>
        </p:nvSpPr>
        <p:spPr>
          <a:xfrm>
            <a:off x="2589212" y="411480"/>
            <a:ext cx="8915400" cy="5499742"/>
          </a:xfrm>
        </p:spPr>
        <p:txBody>
          <a:bodyPr>
            <a:normAutofit/>
          </a:bodyPr>
          <a:lstStyle/>
          <a:p>
            <a:pPr marL="0" indent="0">
              <a:buNone/>
            </a:pPr>
            <a:r>
              <a:rPr lang="en-US" sz="2400" dirty="0"/>
              <a:t>Make an object of the class</a:t>
            </a:r>
          </a:p>
          <a:p>
            <a:pPr marL="0" indent="0">
              <a:buNone/>
            </a:pPr>
            <a:r>
              <a:rPr lang="en-US" sz="2400" b="1" dirty="0" err="1"/>
              <a:t>CalcBtnHandler</a:t>
            </a:r>
            <a:r>
              <a:rPr lang="en-US" sz="2400" b="1" dirty="0"/>
              <a:t> </a:t>
            </a:r>
            <a:r>
              <a:rPr lang="en-US" sz="2400" b="1" dirty="0" err="1"/>
              <a:t>cbHandler</a:t>
            </a:r>
            <a:r>
              <a:rPr lang="en-US" sz="2400" b="1" dirty="0"/>
              <a:t> = new </a:t>
            </a:r>
            <a:r>
              <a:rPr lang="en-US" sz="2400" b="1" dirty="0" err="1"/>
              <a:t>CalcBtnHandler</a:t>
            </a:r>
            <a:r>
              <a:rPr lang="en-US" sz="2400" b="1" dirty="0"/>
              <a:t>();</a:t>
            </a:r>
          </a:p>
          <a:p>
            <a:pPr marL="0" indent="0">
              <a:buNone/>
            </a:pPr>
            <a:r>
              <a:rPr lang="en-US" sz="2400" dirty="0"/>
              <a:t>Register the listener with the button</a:t>
            </a:r>
          </a:p>
          <a:p>
            <a:pPr marL="0" indent="0">
              <a:buNone/>
            </a:pPr>
            <a:r>
              <a:rPr lang="en-US" sz="2400" b="1" dirty="0" err="1"/>
              <a:t>jbtnCalc.addActionListener</a:t>
            </a:r>
            <a:r>
              <a:rPr lang="en-US" sz="2400" b="1" dirty="0"/>
              <a:t>(</a:t>
            </a:r>
            <a:r>
              <a:rPr lang="en-US" sz="2400" b="1" dirty="0" err="1"/>
              <a:t>cbHandler</a:t>
            </a:r>
            <a:r>
              <a:rPr lang="en-US" sz="2400" b="1" dirty="0"/>
              <a:t>);</a:t>
            </a:r>
          </a:p>
          <a:p>
            <a:pPr marL="0" indent="0">
              <a:buNone/>
            </a:pPr>
            <a:endParaRPr lang="en-US" sz="2400" dirty="0"/>
          </a:p>
          <a:p>
            <a:pPr marL="0" indent="0">
              <a:buNone/>
            </a:pPr>
            <a:r>
              <a:rPr lang="en-US" sz="2400" dirty="0"/>
              <a:t>That’s the long way.  We can condense it one  step by using an anonymous object for the listener object:</a:t>
            </a:r>
          </a:p>
          <a:p>
            <a:pPr marL="0" indent="0">
              <a:buNone/>
            </a:pPr>
            <a:r>
              <a:rPr lang="en-US" sz="2400" b="1" dirty="0" err="1"/>
              <a:t>jbtnCalc.addActionListener</a:t>
            </a:r>
            <a:r>
              <a:rPr lang="en-US" sz="2400" b="1" dirty="0"/>
              <a:t>(new </a:t>
            </a:r>
            <a:r>
              <a:rPr lang="en-US" sz="2400" b="1" dirty="0" err="1"/>
              <a:t>CalcBtnHandler</a:t>
            </a:r>
            <a:r>
              <a:rPr lang="en-US" sz="2400" b="1" dirty="0"/>
              <a:t>());</a:t>
            </a:r>
          </a:p>
          <a:p>
            <a:pPr marL="0" indent="0">
              <a:buNone/>
            </a:pPr>
            <a:endParaRPr lang="en-US" sz="2400" dirty="0"/>
          </a:p>
          <a:p>
            <a:pPr marL="0" indent="0">
              <a:buNone/>
            </a:pPr>
            <a:r>
              <a:rPr lang="en-US" sz="2400" dirty="0"/>
              <a:t>But we can do better.  We need to combine the action of the new operator and the body of the class so we can still implement the interface.</a:t>
            </a:r>
          </a:p>
          <a:p>
            <a:pPr marL="0" indent="0">
              <a:buNone/>
            </a:pPr>
            <a:endParaRPr lang="en-US" sz="2400" dirty="0"/>
          </a:p>
        </p:txBody>
      </p:sp>
    </p:spTree>
    <p:extLst>
      <p:ext uri="{BB962C8B-B14F-4D97-AF65-F5344CB8AC3E}">
        <p14:creationId xmlns:p14="http://schemas.microsoft.com/office/powerpoint/2010/main" val="3171717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C122E-811F-7930-D385-6D914ABA0181}"/>
              </a:ext>
            </a:extLst>
          </p:cNvPr>
          <p:cNvSpPr>
            <a:spLocks noGrp="1"/>
          </p:cNvSpPr>
          <p:nvPr>
            <p:ph type="title"/>
          </p:nvPr>
        </p:nvSpPr>
        <p:spPr>
          <a:xfrm>
            <a:off x="2455765" y="306333"/>
            <a:ext cx="8911687" cy="1280890"/>
          </a:xfrm>
        </p:spPr>
        <p:txBody>
          <a:bodyPr>
            <a:normAutofit fontScale="90000"/>
          </a:bodyPr>
          <a:lstStyle/>
          <a:p>
            <a:pPr algn="ctr"/>
            <a:r>
              <a:rPr lang="en-US" b="1" dirty="0"/>
              <a:t>Combine inner class with adding the anonymous listener object  </a:t>
            </a:r>
            <a:r>
              <a:rPr lang="en-US" b="1" dirty="0">
                <a:sym typeface="Wingdings" panose="05000000000000000000" pitchFamily="2" charset="2"/>
              </a:rPr>
              <a:t></a:t>
            </a:r>
            <a:r>
              <a:rPr lang="en-US" b="1" dirty="0"/>
              <a:t>  		anonymous inner class</a:t>
            </a:r>
            <a:br>
              <a:rPr lang="en-US" b="1" dirty="0"/>
            </a:br>
            <a:endParaRPr lang="en-US" b="1" dirty="0"/>
          </a:p>
        </p:txBody>
      </p:sp>
      <p:sp>
        <p:nvSpPr>
          <p:cNvPr id="3" name="Content Placeholder 2">
            <a:extLst>
              <a:ext uri="{FF2B5EF4-FFF2-40B4-BE49-F238E27FC236}">
                <a16:creationId xmlns:a16="http://schemas.microsoft.com/office/drawing/2014/main" id="{DF2D6D15-986D-F66C-3F22-7EC96BACD8D3}"/>
              </a:ext>
            </a:extLst>
          </p:cNvPr>
          <p:cNvSpPr>
            <a:spLocks noGrp="1"/>
          </p:cNvSpPr>
          <p:nvPr>
            <p:ph idx="1"/>
          </p:nvPr>
        </p:nvSpPr>
        <p:spPr/>
        <p:txBody>
          <a:bodyPr>
            <a:normAutofit/>
          </a:bodyPr>
          <a:lstStyle/>
          <a:p>
            <a:pPr marL="0" indent="0">
              <a:buNone/>
            </a:pPr>
            <a:r>
              <a:rPr lang="en-US" sz="2400" b="1" dirty="0" err="1"/>
              <a:t>jbtnCalc.add</a:t>
            </a:r>
            <a:r>
              <a:rPr lang="en-US" sz="2400" b="1" dirty="0"/>
              <a:t> ActionListener(new </a:t>
            </a:r>
            <a:r>
              <a:rPr lang="en-US" sz="2400" b="1" strike="sngStrike" dirty="0"/>
              <a:t>class </a:t>
            </a:r>
            <a:r>
              <a:rPr lang="en-US" sz="2400" b="1" strike="sngStrike" dirty="0" err="1"/>
              <a:t>CalcBtnHandler</a:t>
            </a:r>
            <a:r>
              <a:rPr lang="en-US" sz="2400" b="1" strike="sngStrike" dirty="0"/>
              <a:t> </a:t>
            </a:r>
          </a:p>
          <a:p>
            <a:pPr marL="0" indent="0">
              <a:buNone/>
            </a:pPr>
            <a:r>
              <a:rPr lang="en-US" sz="2400" b="1"/>
              <a:t>Implements ActionListener</a:t>
            </a:r>
            <a:r>
              <a:rPr lang="en-US" sz="2400" b="1" dirty="0"/>
              <a:t>(){</a:t>
            </a:r>
          </a:p>
          <a:p>
            <a:pPr marL="0" indent="0">
              <a:buNone/>
            </a:pPr>
            <a:r>
              <a:rPr lang="en-US" sz="2400" b="1" dirty="0"/>
              <a:t>	@Override</a:t>
            </a:r>
          </a:p>
          <a:p>
            <a:pPr marL="0" indent="0">
              <a:buNone/>
            </a:pPr>
            <a:r>
              <a:rPr lang="en-US" sz="2400" b="1" dirty="0"/>
              <a:t>	public void </a:t>
            </a:r>
            <a:r>
              <a:rPr lang="en-US" sz="2400" b="1" dirty="0" err="1"/>
              <a:t>actionPerformed</a:t>
            </a:r>
            <a:r>
              <a:rPr lang="en-US" sz="2400" b="1" dirty="0"/>
              <a:t>(</a:t>
            </a:r>
            <a:r>
              <a:rPr lang="en-US" sz="2400" b="1" dirty="0" err="1"/>
              <a:t>ActionEvent</a:t>
            </a:r>
            <a:r>
              <a:rPr lang="en-US" sz="2400" b="1" dirty="0"/>
              <a:t> e){</a:t>
            </a:r>
          </a:p>
          <a:p>
            <a:pPr marL="0" indent="0">
              <a:buNone/>
            </a:pPr>
            <a:r>
              <a:rPr lang="en-US" sz="2400" b="1" dirty="0"/>
              <a:t>		//write some code here</a:t>
            </a:r>
          </a:p>
          <a:p>
            <a:pPr marL="0" indent="0">
              <a:buNone/>
            </a:pPr>
            <a:r>
              <a:rPr lang="en-US" sz="2400" b="1" dirty="0"/>
              <a:t>  	} //end of </a:t>
            </a:r>
            <a:r>
              <a:rPr lang="en-US" sz="2400" b="1" dirty="0" err="1"/>
              <a:t>actionPerformed</a:t>
            </a:r>
            <a:endParaRPr lang="en-US" sz="2400" b="1" dirty="0"/>
          </a:p>
          <a:p>
            <a:pPr marL="0" indent="0">
              <a:buNone/>
            </a:pPr>
            <a:r>
              <a:rPr lang="en-US" sz="2400" b="1" dirty="0"/>
              <a:t>});</a:t>
            </a:r>
          </a:p>
          <a:p>
            <a:pPr marL="0" indent="0">
              <a:buNone/>
            </a:pPr>
            <a:endParaRPr lang="en-US" sz="2400" dirty="0"/>
          </a:p>
        </p:txBody>
      </p:sp>
    </p:spTree>
    <p:extLst>
      <p:ext uri="{BB962C8B-B14F-4D97-AF65-F5344CB8AC3E}">
        <p14:creationId xmlns:p14="http://schemas.microsoft.com/office/powerpoint/2010/main" val="1894750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AF1340-EE46-1DF1-6EBE-BC43953EED5D}"/>
              </a:ext>
            </a:extLst>
          </p:cNvPr>
          <p:cNvSpPr>
            <a:spLocks noGrp="1"/>
          </p:cNvSpPr>
          <p:nvPr>
            <p:ph idx="1"/>
          </p:nvPr>
        </p:nvSpPr>
        <p:spPr>
          <a:xfrm>
            <a:off x="2278316" y="306324"/>
            <a:ext cx="9471724" cy="6245352"/>
          </a:xfrm>
        </p:spPr>
        <p:txBody>
          <a:bodyPr>
            <a:noAutofit/>
          </a:bodyPr>
          <a:lstStyle/>
          <a:p>
            <a:pPr marL="0" indent="0">
              <a:buNone/>
            </a:pPr>
            <a:r>
              <a:rPr lang="en-US" sz="2400" dirty="0"/>
              <a:t>We can combine the definition of an anonymous inner class with its usage and the registration of the listener in one block of code. </a:t>
            </a:r>
          </a:p>
          <a:p>
            <a:pPr marL="0" indent="0">
              <a:buNone/>
            </a:pPr>
            <a:r>
              <a:rPr lang="en-US" sz="2400" dirty="0"/>
              <a:t>Instead of using the </a:t>
            </a:r>
            <a:r>
              <a:rPr lang="en-US" sz="2400" dirty="0" err="1"/>
              <a:t>addActionListener</a:t>
            </a:r>
            <a:r>
              <a:rPr lang="en-US" sz="2400" dirty="0"/>
              <a:t> method to attach an object of a class implementing the ActionListener interface, you just define the implementation right there:</a:t>
            </a:r>
          </a:p>
          <a:p>
            <a:pPr marL="0" indent="0">
              <a:buNone/>
            </a:pPr>
            <a:endParaRPr lang="en-US" sz="2400" dirty="0"/>
          </a:p>
          <a:p>
            <a:pPr marL="0" indent="0">
              <a:buNone/>
            </a:pPr>
            <a:r>
              <a:rPr lang="en-US" sz="2400" b="1" dirty="0" err="1"/>
              <a:t>JButton</a:t>
            </a:r>
            <a:r>
              <a:rPr lang="en-US" sz="2400" b="1" dirty="0"/>
              <a:t> </a:t>
            </a:r>
            <a:r>
              <a:rPr lang="en-US" sz="2400" b="1" dirty="0" err="1"/>
              <a:t>jbtnCalc</a:t>
            </a:r>
            <a:r>
              <a:rPr lang="en-US" sz="2400" b="1" dirty="0"/>
              <a:t> =  new </a:t>
            </a:r>
            <a:r>
              <a:rPr lang="en-US" sz="2400" b="1" dirty="0" err="1"/>
              <a:t>JButton</a:t>
            </a:r>
            <a:r>
              <a:rPr lang="en-US" sz="2400" b="1" dirty="0"/>
              <a:t>();</a:t>
            </a:r>
          </a:p>
          <a:p>
            <a:pPr marL="0" indent="0">
              <a:buNone/>
            </a:pPr>
            <a:r>
              <a:rPr lang="en-US" sz="2400" b="1" dirty="0" err="1"/>
              <a:t>jbtnCalc.addActionListener</a:t>
            </a:r>
            <a:r>
              <a:rPr lang="en-US" sz="2400" b="1" dirty="0"/>
              <a:t>(new ActionListener(){</a:t>
            </a:r>
          </a:p>
          <a:p>
            <a:pPr marL="0" indent="0">
              <a:buNone/>
            </a:pPr>
            <a:r>
              <a:rPr lang="en-US" sz="2400" b="1" dirty="0"/>
              <a:t>	public void </a:t>
            </a:r>
            <a:r>
              <a:rPr lang="en-US" sz="2400" b="1" dirty="0" err="1"/>
              <a:t>actionPerformed</a:t>
            </a:r>
            <a:r>
              <a:rPr lang="en-US" sz="2400" b="1" dirty="0"/>
              <a:t>(</a:t>
            </a:r>
            <a:r>
              <a:rPr lang="en-US" sz="2400" b="1" dirty="0" err="1"/>
              <a:t>ActionEvent</a:t>
            </a:r>
            <a:r>
              <a:rPr lang="en-US" sz="2400" b="1" dirty="0"/>
              <a:t> e) {</a:t>
            </a:r>
          </a:p>
          <a:p>
            <a:pPr marL="0" indent="0">
              <a:buNone/>
            </a:pPr>
            <a:r>
              <a:rPr lang="en-US" sz="2400" b="1" dirty="0"/>
              <a:t>		</a:t>
            </a:r>
            <a:r>
              <a:rPr lang="en-US" sz="2400" dirty="0"/>
              <a:t>//TODO auto-generated method stub</a:t>
            </a:r>
          </a:p>
          <a:p>
            <a:pPr marL="0" indent="0">
              <a:buNone/>
            </a:pPr>
            <a:r>
              <a:rPr lang="en-US" sz="2400" b="1" dirty="0"/>
              <a:t>	}</a:t>
            </a:r>
          </a:p>
          <a:p>
            <a:pPr marL="0" indent="0">
              <a:buNone/>
            </a:pPr>
            <a:r>
              <a:rPr lang="en-US" sz="2400" b="1" dirty="0"/>
              <a:t>});</a:t>
            </a:r>
            <a:r>
              <a:rPr lang="en-US" sz="2400" dirty="0"/>
              <a:t>	//Here is the clue that we have an anonymous class</a:t>
            </a:r>
          </a:p>
          <a:p>
            <a:pPr marL="0" indent="0">
              <a:buNone/>
            </a:pPr>
            <a:endParaRPr lang="en-US" sz="2400" dirty="0"/>
          </a:p>
        </p:txBody>
      </p:sp>
    </p:spTree>
    <p:extLst>
      <p:ext uri="{BB962C8B-B14F-4D97-AF65-F5344CB8AC3E}">
        <p14:creationId xmlns:p14="http://schemas.microsoft.com/office/powerpoint/2010/main" val="3893253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20A4C-E916-795D-A23B-201CF295C0EF}"/>
              </a:ext>
            </a:extLst>
          </p:cNvPr>
          <p:cNvSpPr>
            <a:spLocks noGrp="1"/>
          </p:cNvSpPr>
          <p:nvPr>
            <p:ph type="title"/>
          </p:nvPr>
        </p:nvSpPr>
        <p:spPr/>
        <p:txBody>
          <a:bodyPr/>
          <a:lstStyle/>
          <a:p>
            <a:pPr algn="ctr"/>
            <a:r>
              <a:rPr lang="en-US" b="1" dirty="0"/>
              <a:t>Here it is Broken Down</a:t>
            </a:r>
          </a:p>
        </p:txBody>
      </p:sp>
      <p:sp>
        <p:nvSpPr>
          <p:cNvPr id="3" name="Content Placeholder 2">
            <a:extLst>
              <a:ext uri="{FF2B5EF4-FFF2-40B4-BE49-F238E27FC236}">
                <a16:creationId xmlns:a16="http://schemas.microsoft.com/office/drawing/2014/main" id="{28B1C12B-11FB-FB4A-A673-347CA6155F4E}"/>
              </a:ext>
            </a:extLst>
          </p:cNvPr>
          <p:cNvSpPr>
            <a:spLocks noGrp="1"/>
          </p:cNvSpPr>
          <p:nvPr>
            <p:ph idx="1"/>
          </p:nvPr>
        </p:nvSpPr>
        <p:spPr>
          <a:xfrm>
            <a:off x="2589212" y="1655064"/>
            <a:ext cx="8915400" cy="4256158"/>
          </a:xfrm>
        </p:spPr>
        <p:txBody>
          <a:bodyPr>
            <a:normAutofit/>
          </a:bodyPr>
          <a:lstStyle/>
          <a:p>
            <a:pPr marL="0" indent="0">
              <a:buNone/>
            </a:pPr>
            <a:r>
              <a:rPr lang="en-US" sz="2400" b="1" dirty="0" err="1"/>
              <a:t>jbtnCalc.addActionListener</a:t>
            </a:r>
            <a:r>
              <a:rPr lang="en-US" sz="2400" b="1" dirty="0"/>
              <a:t>(new ActionListener(){</a:t>
            </a:r>
          </a:p>
          <a:p>
            <a:pPr marL="0" indent="0">
              <a:buNone/>
            </a:pPr>
            <a:r>
              <a:rPr lang="en-US" sz="2400" b="1" dirty="0"/>
              <a:t>     public void </a:t>
            </a:r>
            <a:r>
              <a:rPr lang="en-US" sz="2400" b="1" dirty="0" err="1"/>
              <a:t>actionPerformed</a:t>
            </a:r>
            <a:r>
              <a:rPr lang="en-US" sz="2400" b="1" dirty="0"/>
              <a:t>(</a:t>
            </a:r>
            <a:r>
              <a:rPr lang="en-US" sz="2400" b="1" dirty="0" err="1"/>
              <a:t>ActionEvent</a:t>
            </a:r>
            <a:r>
              <a:rPr lang="en-US" sz="2400" b="1" dirty="0"/>
              <a:t> e) {</a:t>
            </a:r>
          </a:p>
          <a:p>
            <a:pPr marL="0" indent="0">
              <a:buNone/>
            </a:pPr>
            <a:r>
              <a:rPr lang="en-US" sz="2400" dirty="0"/>
              <a:t>	             //list actions here</a:t>
            </a:r>
          </a:p>
          <a:p>
            <a:pPr marL="0" indent="0">
              <a:buNone/>
            </a:pPr>
            <a:r>
              <a:rPr lang="en-US" sz="2400" dirty="0"/>
              <a:t>     </a:t>
            </a:r>
            <a:r>
              <a:rPr lang="en-US" sz="2400" b="1" dirty="0"/>
              <a:t>}</a:t>
            </a:r>
            <a:r>
              <a:rPr lang="en-US" sz="2400" dirty="0"/>
              <a:t> //end of </a:t>
            </a:r>
            <a:r>
              <a:rPr lang="en-US" sz="2400" dirty="0" err="1"/>
              <a:t>actionPerformed</a:t>
            </a:r>
            <a:r>
              <a:rPr lang="en-US" sz="2400" dirty="0"/>
              <a:t> method</a:t>
            </a:r>
          </a:p>
          <a:p>
            <a:pPr marL="0" indent="0">
              <a:buNone/>
            </a:pPr>
            <a:r>
              <a:rPr lang="en-US" sz="2400" dirty="0"/>
              <a:t>  </a:t>
            </a:r>
            <a:r>
              <a:rPr lang="en-US" sz="2400" b="1" dirty="0"/>
              <a:t>}</a:t>
            </a:r>
            <a:r>
              <a:rPr lang="en-US" sz="2400" dirty="0"/>
              <a:t>//end of declaration of inner class</a:t>
            </a:r>
          </a:p>
          <a:p>
            <a:pPr marL="0" indent="0">
              <a:buNone/>
            </a:pPr>
            <a:r>
              <a:rPr lang="en-US" sz="2400" b="1" dirty="0"/>
              <a:t>)</a:t>
            </a:r>
            <a:r>
              <a:rPr lang="en-US" sz="2400" dirty="0"/>
              <a:t>	//end argument list of .</a:t>
            </a:r>
            <a:r>
              <a:rPr lang="en-US" sz="2400" dirty="0" err="1"/>
              <a:t>addActionListener</a:t>
            </a:r>
            <a:endParaRPr lang="en-US" sz="2400" dirty="0"/>
          </a:p>
          <a:p>
            <a:pPr marL="0" indent="0">
              <a:buNone/>
            </a:pPr>
            <a:r>
              <a:rPr lang="en-US" sz="2400" b="1" dirty="0"/>
              <a:t>;</a:t>
            </a:r>
            <a:r>
              <a:rPr lang="en-US" sz="2400" dirty="0"/>
              <a:t>	//end the statement</a:t>
            </a:r>
          </a:p>
          <a:p>
            <a:pPr marL="0" indent="0">
              <a:buNone/>
            </a:pPr>
            <a:endParaRPr lang="en-US" sz="2400" dirty="0"/>
          </a:p>
        </p:txBody>
      </p:sp>
    </p:spTree>
    <p:extLst>
      <p:ext uri="{BB962C8B-B14F-4D97-AF65-F5344CB8AC3E}">
        <p14:creationId xmlns:p14="http://schemas.microsoft.com/office/powerpoint/2010/main" val="1874957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5C4A-0C0D-B2CE-F145-EE6C6FD800AA}"/>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C2720465-6E87-21D1-1B38-289B688E1F6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78208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DB57-B44D-43B7-B5D4-476B03B54446}"/>
              </a:ext>
            </a:extLst>
          </p:cNvPr>
          <p:cNvSpPr>
            <a:spLocks noGrp="1"/>
          </p:cNvSpPr>
          <p:nvPr>
            <p:ph type="title"/>
          </p:nvPr>
        </p:nvSpPr>
        <p:spPr>
          <a:xfrm>
            <a:off x="2592925" y="166910"/>
            <a:ext cx="8911687" cy="1280890"/>
          </a:xfrm>
        </p:spPr>
        <p:txBody>
          <a:bodyPr>
            <a:normAutofit/>
          </a:bodyPr>
          <a:lstStyle/>
          <a:p>
            <a:pPr algn="ctr"/>
            <a:r>
              <a:rPr lang="en-US" b="1" dirty="0"/>
              <a:t>Take-Aways</a:t>
            </a:r>
            <a:br>
              <a:rPr lang="en-US" b="1" dirty="0"/>
            </a:br>
            <a:endParaRPr lang="en-US" b="1" dirty="0"/>
          </a:p>
        </p:txBody>
      </p:sp>
      <p:sp>
        <p:nvSpPr>
          <p:cNvPr id="3" name="Content Placeholder 2">
            <a:extLst>
              <a:ext uri="{FF2B5EF4-FFF2-40B4-BE49-F238E27FC236}">
                <a16:creationId xmlns:a16="http://schemas.microsoft.com/office/drawing/2014/main" id="{DC9EE4C4-6BAA-9581-EBAD-F3BBCA747D4F}"/>
              </a:ext>
            </a:extLst>
          </p:cNvPr>
          <p:cNvSpPr>
            <a:spLocks noGrp="1"/>
          </p:cNvSpPr>
          <p:nvPr>
            <p:ph idx="1"/>
          </p:nvPr>
        </p:nvSpPr>
        <p:spPr>
          <a:xfrm>
            <a:off x="2729889" y="1289539"/>
            <a:ext cx="8915400" cy="3777622"/>
          </a:xfrm>
        </p:spPr>
        <p:txBody>
          <a:bodyPr>
            <a:noAutofit/>
          </a:bodyPr>
          <a:lstStyle/>
          <a:p>
            <a:pPr marL="0" indent="0">
              <a:buNone/>
            </a:pPr>
            <a:r>
              <a:rPr lang="en-US" sz="2400" dirty="0"/>
              <a:t>Classes are the single most important idea in Java. </a:t>
            </a:r>
          </a:p>
          <a:p>
            <a:pPr marL="0" indent="0">
              <a:buNone/>
            </a:pPr>
            <a:r>
              <a:rPr lang="en-US" sz="2400" dirty="0"/>
              <a:t>They form the core of every executable program, portable library, or helper. </a:t>
            </a:r>
          </a:p>
          <a:p>
            <a:pPr marL="0" indent="0">
              <a:buNone/>
            </a:pPr>
            <a:r>
              <a:rPr lang="en-US" sz="2400" dirty="0"/>
              <a:t>We looked at the contents of classes and how classes relate to each other in a larger project. </a:t>
            </a:r>
          </a:p>
          <a:p>
            <a:pPr marL="0" indent="0">
              <a:buNone/>
            </a:pPr>
            <a:r>
              <a:rPr lang="en-US" sz="2400" dirty="0"/>
              <a:t>We know more about how to create and destroy objects based on the classes we write. </a:t>
            </a:r>
          </a:p>
          <a:p>
            <a:pPr marL="0" indent="0">
              <a:buNone/>
            </a:pPr>
            <a:r>
              <a:rPr lang="en-US" sz="2400" dirty="0"/>
              <a:t>And we’ve seen how inner classes (and anonymous inner classes) can help us write more maintainable code.</a:t>
            </a:r>
          </a:p>
          <a:p>
            <a:pPr marL="0" indent="0">
              <a:buNone/>
            </a:pPr>
            <a:r>
              <a:rPr lang="en-US" sz="2400" dirty="0"/>
              <a:t>As you build your classes, there are a few guidelines to keep in mind:</a:t>
            </a:r>
          </a:p>
        </p:txBody>
      </p:sp>
    </p:spTree>
    <p:extLst>
      <p:ext uri="{BB962C8B-B14F-4D97-AF65-F5344CB8AC3E}">
        <p14:creationId xmlns:p14="http://schemas.microsoft.com/office/powerpoint/2010/main" val="36090589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65183-EA45-9889-DFC8-D7D36DA9C125}"/>
              </a:ext>
            </a:extLst>
          </p:cNvPr>
          <p:cNvSpPr>
            <a:spLocks noGrp="1"/>
          </p:cNvSpPr>
          <p:nvPr>
            <p:ph type="title"/>
          </p:nvPr>
        </p:nvSpPr>
        <p:spPr/>
        <p:txBody>
          <a:bodyPr/>
          <a:lstStyle/>
          <a:p>
            <a:pPr algn="ctr"/>
            <a:r>
              <a:rPr lang="en-US" b="1" dirty="0"/>
              <a:t>Practice Encapsulation</a:t>
            </a:r>
          </a:p>
        </p:txBody>
      </p:sp>
      <p:sp>
        <p:nvSpPr>
          <p:cNvPr id="3" name="Content Placeholder 2">
            <a:extLst>
              <a:ext uri="{FF2B5EF4-FFF2-40B4-BE49-F238E27FC236}">
                <a16:creationId xmlns:a16="http://schemas.microsoft.com/office/drawing/2014/main" id="{BBB2DB73-B6CD-C8B3-09FD-52232B9C0999}"/>
              </a:ext>
            </a:extLst>
          </p:cNvPr>
          <p:cNvSpPr>
            <a:spLocks noGrp="1"/>
          </p:cNvSpPr>
          <p:nvPr>
            <p:ph idx="1"/>
          </p:nvPr>
        </p:nvSpPr>
        <p:spPr>
          <a:xfrm>
            <a:off x="2954875" y="1540189"/>
            <a:ext cx="8915400" cy="3777622"/>
          </a:xfrm>
        </p:spPr>
        <p:txBody>
          <a:bodyPr>
            <a:noAutofit/>
          </a:bodyPr>
          <a:lstStyle/>
          <a:p>
            <a:pPr marL="0" indent="0">
              <a:buNone/>
            </a:pPr>
            <a:r>
              <a:rPr lang="en-US" sz="2400" dirty="0"/>
              <a:t>Hide as much of your implementation as possible. </a:t>
            </a:r>
          </a:p>
          <a:p>
            <a:pPr marL="0" indent="0">
              <a:buNone/>
            </a:pPr>
            <a:r>
              <a:rPr lang="en-US" sz="2400" dirty="0"/>
              <a:t>Never expose more of the internals of an object than you need to. </a:t>
            </a:r>
          </a:p>
          <a:p>
            <a:pPr marL="0" indent="0">
              <a:buNone/>
            </a:pPr>
            <a:r>
              <a:rPr lang="en-US" sz="2400" dirty="0"/>
              <a:t>This is key to building maintainable, reusable code. </a:t>
            </a:r>
          </a:p>
          <a:p>
            <a:pPr marL="0" indent="0">
              <a:buNone/>
            </a:pPr>
            <a:r>
              <a:rPr lang="en-US" sz="2400" dirty="0"/>
              <a:t>Avoid public variables in your objects, with the possible exception of constants. </a:t>
            </a:r>
          </a:p>
          <a:p>
            <a:pPr marL="0" indent="0">
              <a:buNone/>
            </a:pPr>
            <a:r>
              <a:rPr lang="en-US" sz="2400" dirty="0"/>
              <a:t>Instead define accessor methods to set and return values (even if they are simple types). </a:t>
            </a:r>
          </a:p>
          <a:p>
            <a:pPr marL="0" indent="0">
              <a:buNone/>
            </a:pPr>
            <a:r>
              <a:rPr lang="en-US" sz="2400" dirty="0"/>
              <a:t>Later, when you need to, you’ll be able to modify and extend the behavior of your objects without breaking other classes that rely on them.</a:t>
            </a:r>
          </a:p>
        </p:txBody>
      </p:sp>
    </p:spTree>
    <p:extLst>
      <p:ext uri="{BB962C8B-B14F-4D97-AF65-F5344CB8AC3E}">
        <p14:creationId xmlns:p14="http://schemas.microsoft.com/office/powerpoint/2010/main" val="37933851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0039-5460-00FF-9199-46E720F90E63}"/>
              </a:ext>
            </a:extLst>
          </p:cNvPr>
          <p:cNvSpPr>
            <a:spLocks noGrp="1"/>
          </p:cNvSpPr>
          <p:nvPr>
            <p:ph type="title"/>
          </p:nvPr>
        </p:nvSpPr>
        <p:spPr/>
        <p:txBody>
          <a:bodyPr/>
          <a:lstStyle/>
          <a:p>
            <a:pPr algn="ctr"/>
            <a:r>
              <a:rPr lang="en-US" b="1" dirty="0"/>
              <a:t>Use Composition instead of Inheritance</a:t>
            </a:r>
          </a:p>
        </p:txBody>
      </p:sp>
      <p:sp>
        <p:nvSpPr>
          <p:cNvPr id="3" name="Content Placeholder 2">
            <a:extLst>
              <a:ext uri="{FF2B5EF4-FFF2-40B4-BE49-F238E27FC236}">
                <a16:creationId xmlns:a16="http://schemas.microsoft.com/office/drawing/2014/main" id="{A34A0D23-26B9-C0AE-755E-39559478157C}"/>
              </a:ext>
            </a:extLst>
          </p:cNvPr>
          <p:cNvSpPr>
            <a:spLocks noGrp="1"/>
          </p:cNvSpPr>
          <p:nvPr>
            <p:ph idx="1"/>
          </p:nvPr>
        </p:nvSpPr>
        <p:spPr>
          <a:xfrm>
            <a:off x="2706443" y="1371600"/>
            <a:ext cx="8915400" cy="3777622"/>
          </a:xfrm>
        </p:spPr>
        <p:txBody>
          <a:bodyPr>
            <a:noAutofit/>
          </a:bodyPr>
          <a:lstStyle/>
          <a:p>
            <a:pPr marL="0" indent="0">
              <a:buNone/>
            </a:pPr>
            <a:r>
              <a:rPr lang="en-US" sz="2400" dirty="0"/>
              <a:t>Specialize objects only when you have to—use composition instead of inheritance. </a:t>
            </a:r>
          </a:p>
          <a:p>
            <a:pPr marL="0" indent="0">
              <a:buNone/>
            </a:pPr>
            <a:r>
              <a:rPr lang="en-US" sz="2400" dirty="0"/>
              <a:t>When you use an object in its existing form, as a piece of a new object, you are composing objects. </a:t>
            </a:r>
          </a:p>
          <a:p>
            <a:pPr marL="0" indent="0">
              <a:buNone/>
            </a:pPr>
            <a:r>
              <a:rPr lang="en-US" sz="2400" dirty="0"/>
              <a:t>When you change or refine the behavior of an object (by subclassing), you are using inheritance. </a:t>
            </a:r>
          </a:p>
          <a:p>
            <a:pPr marL="0" indent="0">
              <a:buNone/>
            </a:pPr>
            <a:r>
              <a:rPr lang="en-US" sz="2400" dirty="0"/>
              <a:t>You should try to reuse objects by composition rather than inheritance whenever possible because when you compose objects, you are taking full advantage of existing tools. </a:t>
            </a:r>
          </a:p>
          <a:p>
            <a:pPr marL="0" indent="0">
              <a:buNone/>
            </a:pPr>
            <a:r>
              <a:rPr lang="en-US" sz="2400" dirty="0"/>
              <a:t>Inheritance involves breaking down the encapsulation of an object and should be done only when there’s a real advantage.</a:t>
            </a:r>
          </a:p>
          <a:p>
            <a:pPr marL="0" indent="0">
              <a:buNone/>
            </a:pPr>
            <a:endParaRPr lang="en-US" sz="2400" dirty="0"/>
          </a:p>
        </p:txBody>
      </p:sp>
    </p:spTree>
    <p:extLst>
      <p:ext uri="{BB962C8B-B14F-4D97-AF65-F5344CB8AC3E}">
        <p14:creationId xmlns:p14="http://schemas.microsoft.com/office/powerpoint/2010/main" val="41583489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440F-1B5F-2302-D924-7508354FA831}"/>
              </a:ext>
            </a:extLst>
          </p:cNvPr>
          <p:cNvSpPr>
            <a:spLocks noGrp="1"/>
          </p:cNvSpPr>
          <p:nvPr>
            <p:ph type="title"/>
          </p:nvPr>
        </p:nvSpPr>
        <p:spPr/>
        <p:txBody>
          <a:bodyPr>
            <a:normAutofit fontScale="90000"/>
          </a:bodyPr>
          <a:lstStyle/>
          <a:p>
            <a:r>
              <a:rPr lang="en-US" b="1" dirty="0"/>
              <a:t>Organize related object in Packages and Minimize Relationships between objects</a:t>
            </a:r>
          </a:p>
        </p:txBody>
      </p:sp>
      <p:sp>
        <p:nvSpPr>
          <p:cNvPr id="3" name="Content Placeholder 2">
            <a:extLst>
              <a:ext uri="{FF2B5EF4-FFF2-40B4-BE49-F238E27FC236}">
                <a16:creationId xmlns:a16="http://schemas.microsoft.com/office/drawing/2014/main" id="{35601E07-707E-E7E5-6F2D-EFEC9C5FEFB0}"/>
              </a:ext>
            </a:extLst>
          </p:cNvPr>
          <p:cNvSpPr>
            <a:spLocks noGrp="1"/>
          </p:cNvSpPr>
          <p:nvPr>
            <p:ph idx="1"/>
          </p:nvPr>
        </p:nvSpPr>
        <p:spPr/>
        <p:txBody>
          <a:bodyPr>
            <a:normAutofit/>
          </a:bodyPr>
          <a:lstStyle/>
          <a:p>
            <a:pPr marL="0" indent="0">
              <a:buNone/>
            </a:pPr>
            <a:r>
              <a:rPr lang="en-US" sz="2400" dirty="0"/>
              <a:t> Classes that work closely together can be grouped using Java packages which can also hide those that are not of general interest. </a:t>
            </a:r>
          </a:p>
          <a:p>
            <a:pPr marL="0" indent="0">
              <a:buNone/>
            </a:pPr>
            <a:r>
              <a:rPr lang="en-US" sz="2400" b="1" dirty="0"/>
              <a:t>Only expose classes that you intend other people to use. </a:t>
            </a:r>
          </a:p>
          <a:p>
            <a:pPr marL="0" indent="0">
              <a:buNone/>
            </a:pPr>
            <a:r>
              <a:rPr lang="en-US" sz="2400" dirty="0"/>
              <a:t>The more loosely coupled your objects are, the easier it will be to reuse them later.</a:t>
            </a:r>
          </a:p>
        </p:txBody>
      </p:sp>
    </p:spTree>
    <p:extLst>
      <p:ext uri="{BB962C8B-B14F-4D97-AF65-F5344CB8AC3E}">
        <p14:creationId xmlns:p14="http://schemas.microsoft.com/office/powerpoint/2010/main" val="196998194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99</TotalTime>
  <Words>2328</Words>
  <Application>Microsoft Office PowerPoint</Application>
  <PresentationFormat>Widescreen</PresentationFormat>
  <Paragraphs>238</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Wingdings</vt:lpstr>
      <vt:lpstr>Wingdings 3</vt:lpstr>
      <vt:lpstr>Wisp</vt:lpstr>
      <vt:lpstr>Inner Classes, Static Nested classes, Anonymous Inner classes</vt:lpstr>
      <vt:lpstr>Nested Classes</vt:lpstr>
      <vt:lpstr>Inner Classes</vt:lpstr>
      <vt:lpstr>Inner Classes</vt:lpstr>
      <vt:lpstr>Consider a social network in which each member has friends that are also members</vt:lpstr>
      <vt:lpstr>Add a Method to Add a Member to the Network:</vt:lpstr>
      <vt:lpstr>How does this Work?</vt:lpstr>
      <vt:lpstr>Removing Fred from the Member class</vt:lpstr>
      <vt:lpstr>What does that all mean?</vt:lpstr>
      <vt:lpstr>An inner class can also invoke methods of the outer class through its outer class instance</vt:lpstr>
      <vt:lpstr>The real syntax for the outer class reference</vt:lpstr>
      <vt:lpstr>When you construct an inner class object, it remembers the enclosing class object that constructed it. </vt:lpstr>
      <vt:lpstr>Some things about Inner classes</vt:lpstr>
      <vt:lpstr>Static Nested Classes</vt:lpstr>
      <vt:lpstr>Static Nested Classes</vt:lpstr>
      <vt:lpstr>The Item Class</vt:lpstr>
      <vt:lpstr>Creating Item objects when the Item class is public.</vt:lpstr>
      <vt:lpstr>Constructing an Item Object</vt:lpstr>
      <vt:lpstr>Anonymous Inner classes</vt:lpstr>
      <vt:lpstr>What is an Anonymous class?</vt:lpstr>
      <vt:lpstr>Limitations</vt:lpstr>
      <vt:lpstr>Use an Anonymous class if:</vt:lpstr>
      <vt:lpstr>How we get there, step by step:</vt:lpstr>
      <vt:lpstr>PowerPoint Presentation</vt:lpstr>
      <vt:lpstr>Combine inner class with adding the anonymous listener object      anonymous inner class </vt:lpstr>
      <vt:lpstr>PowerPoint Presentation</vt:lpstr>
      <vt:lpstr>Here it is Broken Down</vt:lpstr>
      <vt:lpstr>Summary</vt:lpstr>
      <vt:lpstr>Take-Aways </vt:lpstr>
      <vt:lpstr>Practice Encapsulation</vt:lpstr>
      <vt:lpstr>Use Composition instead of Inheritance</vt:lpstr>
      <vt:lpstr>Organize related object in Packages and Minimize Relationships between objects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Inner Classes Static Nested classes, Inner classe and Anonymous Inner classes</dc:title>
  <dc:creator>Ivonne Nelson</dc:creator>
  <cp:lastModifiedBy>NELSON, IVONNE</cp:lastModifiedBy>
  <cp:revision>6</cp:revision>
  <dcterms:created xsi:type="dcterms:W3CDTF">2022-12-25T18:54:03Z</dcterms:created>
  <dcterms:modified xsi:type="dcterms:W3CDTF">2024-06-06T17:00:19Z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2024-06-06T17:00:19Z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8b76a770-2d8c-4901-a1d3-fed424d67387</vt:lpwstr>
  </property>
  <property fmtid="{D5CDD505-2E9C-101B-9397-08002B2CF9AE}" pid="8" name="MSIP_Label_d8bb7484-22c2-4b98-9fb8-3ab13d821527_ContentBits">
    <vt:lpwstr>0</vt:lpwstr>
  </property>
</Properties>
</file>