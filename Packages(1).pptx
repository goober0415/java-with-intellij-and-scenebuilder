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05" autoAdjust="0"/>
  </p:normalViewPr>
  <p:slideViewPr>
    <p:cSldViewPr snapToGrid="0">
      <p:cViewPr varScale="1">
        <p:scale>
          <a:sx n="100" d="100"/>
          <a:sy n="100" d="100"/>
        </p:scale>
        <p:origin x="1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67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783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01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25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92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0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78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44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42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27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5901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90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8311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21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26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5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D908E-E640-4F8C-BAF4-315C865A5D52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37D95A3-3A3B-494C-A6E5-42906DFF9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9DB5B-40DC-A029-EB25-126DD01F96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36862-88ED-73EA-C9FC-C98AA9B85B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696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6AD6-8203-BCA6-0F12-E48ACDD4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are Packages?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092E0-D046-2603-76C0-16C46AB48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2562" y="1619249"/>
            <a:ext cx="8915400" cy="4867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 Packages are containers for classes. They are used to keep the class name space compartmentalized. </a:t>
            </a:r>
          </a:p>
          <a:p>
            <a:pPr marL="0" indent="0">
              <a:buNone/>
            </a:pPr>
            <a:r>
              <a:rPr lang="en-US" sz="2400" dirty="0"/>
              <a:t>For example, a package allows you to create a class named List, which you can store in your own package without concern that it will collide with some other class named List stored elsewhere. </a:t>
            </a:r>
          </a:p>
          <a:p>
            <a:pPr marL="0" indent="0">
              <a:buNone/>
            </a:pPr>
            <a:r>
              <a:rPr lang="en-US" sz="2400" dirty="0"/>
              <a:t>The package is both a naming and a visibility control mechanism. You can define classes inside a package that are not accessible by code outside that package. </a:t>
            </a:r>
          </a:p>
          <a:p>
            <a:pPr marL="0" indent="0">
              <a:buNone/>
            </a:pPr>
            <a:r>
              <a:rPr lang="en-US" sz="2400" dirty="0"/>
              <a:t>You can also define class members that are exposed only to other members of the same package.</a:t>
            </a:r>
          </a:p>
        </p:txBody>
      </p:sp>
    </p:spTree>
    <p:extLst>
      <p:ext uri="{BB962C8B-B14F-4D97-AF65-F5344CB8AC3E}">
        <p14:creationId xmlns:p14="http://schemas.microsoft.com/office/powerpoint/2010/main" val="1087748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AB05C-301A-2ECA-301B-46530D860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Defining a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98EFE-ED75-23CA-60AE-40D49EF43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66874"/>
            <a:ext cx="8915400" cy="4219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To create a package is quite easy: simply include a package command as the first statement in a Java source file. Any classes declared within that file will belong to the specified package. </a:t>
            </a:r>
          </a:p>
          <a:p>
            <a:pPr marL="0" indent="0">
              <a:buNone/>
            </a:pPr>
            <a:r>
              <a:rPr lang="en-US" sz="2400" dirty="0"/>
              <a:t>The package statement defines a name space in which classes are stored. If you omit the package statement, the class names are put into the default package, which has no name. </a:t>
            </a:r>
          </a:p>
          <a:p>
            <a:pPr marL="0" indent="0">
              <a:buNone/>
            </a:pPr>
            <a:r>
              <a:rPr lang="en-US" sz="2400" dirty="0"/>
              <a:t>While the default package is fine for short, sample programs, it is inadequate for real applications. Most of the time, you will define a package for your code.</a:t>
            </a:r>
          </a:p>
        </p:txBody>
      </p:sp>
    </p:spTree>
    <p:extLst>
      <p:ext uri="{BB962C8B-B14F-4D97-AF65-F5344CB8AC3E}">
        <p14:creationId xmlns:p14="http://schemas.microsoft.com/office/powerpoint/2010/main" val="3690170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FAC6C-C18B-6658-0347-E10B1F1B4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Storage of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5CFB3-8B31-53F4-8F01-6612DBF2D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333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Typically, Java uses file system directories to store packages, and that is the approach assumed by the examples in this book. </a:t>
            </a:r>
          </a:p>
          <a:p>
            <a:pPr marL="0" indent="0">
              <a:buNone/>
            </a:pPr>
            <a:r>
              <a:rPr lang="en-US" sz="2800" dirty="0"/>
              <a:t>For example, the .class files for any classes you declare to be part of </a:t>
            </a:r>
            <a:r>
              <a:rPr lang="en-US" sz="2800" dirty="0" err="1"/>
              <a:t>mypackage</a:t>
            </a:r>
            <a:r>
              <a:rPr lang="en-US" sz="2800" dirty="0"/>
              <a:t> must be stored in a directory called </a:t>
            </a:r>
            <a:r>
              <a:rPr lang="en-US" sz="2800" dirty="0" err="1"/>
              <a:t>mypackage</a:t>
            </a:r>
            <a:r>
              <a:rPr lang="en-US" sz="2800" dirty="0"/>
              <a:t>. </a:t>
            </a:r>
          </a:p>
          <a:p>
            <a:pPr marL="0" indent="0">
              <a:buNone/>
            </a:pPr>
            <a:r>
              <a:rPr lang="en-US" sz="2800" dirty="0"/>
              <a:t>Remember that case is significant, and the directory name must match the package name exactly.</a:t>
            </a:r>
          </a:p>
        </p:txBody>
      </p:sp>
    </p:spTree>
    <p:extLst>
      <p:ext uri="{BB962C8B-B14F-4D97-AF65-F5344CB8AC3E}">
        <p14:creationId xmlns:p14="http://schemas.microsoft.com/office/powerpoint/2010/main" val="2002746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97A1-CD31-36A3-D5DA-873508AB8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Including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62295-1609-7D24-9210-0946FA864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More than one file can include the same package statement.</a:t>
            </a:r>
          </a:p>
          <a:p>
            <a:pPr marL="0" indent="0">
              <a:buNone/>
            </a:pPr>
            <a:r>
              <a:rPr lang="en-US" sz="2400" dirty="0"/>
              <a:t> The package statement simply specifies to which package the classes defined in a file belong. </a:t>
            </a:r>
          </a:p>
          <a:p>
            <a:pPr marL="0" indent="0">
              <a:buNone/>
            </a:pPr>
            <a:r>
              <a:rPr lang="en-US" sz="2400" dirty="0"/>
              <a:t>It does not exclude other classes in other files from being part of that same package. </a:t>
            </a:r>
          </a:p>
          <a:p>
            <a:pPr marL="0" indent="0">
              <a:buNone/>
            </a:pPr>
            <a:r>
              <a:rPr lang="en-US" sz="2400" dirty="0"/>
              <a:t>Most real-world packages are spread across many files.</a:t>
            </a:r>
          </a:p>
        </p:txBody>
      </p:sp>
    </p:spTree>
    <p:extLst>
      <p:ext uri="{BB962C8B-B14F-4D97-AF65-F5344CB8AC3E}">
        <p14:creationId xmlns:p14="http://schemas.microsoft.com/office/powerpoint/2010/main" val="3046025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46F05-4386-067F-43CA-DCF943ECA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Packages and Member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D90AD-44D2-76C6-11A2-0024A88F9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8"/>
            <a:ext cx="8915400" cy="38795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Packages add another dimension to access control. Java provides many levels of protection to allow fine-grained control over the visibility of variables and methods within classes, subclasses, and packages.</a:t>
            </a:r>
          </a:p>
          <a:p>
            <a:pPr marL="0" indent="0">
              <a:buNone/>
            </a:pPr>
            <a:r>
              <a:rPr lang="en-US" sz="2400" dirty="0"/>
              <a:t>Classes and packages are both means of encapsulating and containing the name space and scope of variables and methods.</a:t>
            </a:r>
          </a:p>
          <a:p>
            <a:pPr marL="0" indent="0">
              <a:buNone/>
            </a:pPr>
            <a:r>
              <a:rPr lang="en-US" sz="2400" dirty="0"/>
              <a:t> Packages act as containers for classes and other subordinate packages. Classes act as containers for data and code. The class is Java’s smallest unit of abstraction.</a:t>
            </a:r>
          </a:p>
        </p:txBody>
      </p:sp>
    </p:spTree>
    <p:extLst>
      <p:ext uri="{BB962C8B-B14F-4D97-AF65-F5344CB8AC3E}">
        <p14:creationId xmlns:p14="http://schemas.microsoft.com/office/powerpoint/2010/main" val="626115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FF84-2BED-ADFB-6B09-5FD13498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Categories of Visibility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A40DE-6259-86AB-5A22-F407B0711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38275"/>
            <a:ext cx="8915400" cy="44729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 As it relates to the interplay between classes and packages, Java addresses four categories of visibility for class members: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Subclasses in the same package</a:t>
            </a:r>
          </a:p>
          <a:p>
            <a:pPr marL="0" indent="0">
              <a:buNone/>
            </a:pPr>
            <a:r>
              <a:rPr lang="en-US" sz="2400" dirty="0"/>
              <a:t>• Non-subclasses in the same package</a:t>
            </a:r>
          </a:p>
          <a:p>
            <a:pPr marL="0" indent="0">
              <a:buNone/>
            </a:pPr>
            <a:r>
              <a:rPr lang="en-US" sz="2400" dirty="0"/>
              <a:t>• Subclasses in different packages</a:t>
            </a:r>
          </a:p>
          <a:p>
            <a:pPr marL="0" indent="0">
              <a:buNone/>
            </a:pPr>
            <a:r>
              <a:rPr lang="en-US" sz="2400" dirty="0"/>
              <a:t>• Classes that are neither in the same package nor subclasses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three access modifiers, private, public, and protected, provide a variety of ways to produce the many levels of access required by these categories.</a:t>
            </a:r>
          </a:p>
        </p:txBody>
      </p:sp>
    </p:spTree>
    <p:extLst>
      <p:ext uri="{BB962C8B-B14F-4D97-AF65-F5344CB8AC3E}">
        <p14:creationId xmlns:p14="http://schemas.microsoft.com/office/powerpoint/2010/main" val="2680495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CC8A5-5267-AC3D-B312-B101DC658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9550" y="385985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Class Member Access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5C6021-80C1-CF16-EFAC-7D08C68E8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140" y="1334726"/>
            <a:ext cx="11888860" cy="268642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B7D221-FCBD-5F68-C991-D0FC67917697}"/>
              </a:ext>
            </a:extLst>
          </p:cNvPr>
          <p:cNvSpPr txBox="1"/>
          <p:nvPr/>
        </p:nvSpPr>
        <p:spPr>
          <a:xfrm>
            <a:off x="1822583" y="4533023"/>
            <a:ext cx="969037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This chart applies only to members of classes. A non-nested class has only two possible access levels: default and public. When a class is declared as public, it is accessible outside its package. If a class has default access, then it can only be accessed by other code within its same package. When a class is public, it must be the only public class declared in the file, and the file must have the same name as the class.</a:t>
            </a:r>
          </a:p>
        </p:txBody>
      </p:sp>
    </p:spTree>
    <p:extLst>
      <p:ext uri="{BB962C8B-B14F-4D97-AF65-F5344CB8AC3E}">
        <p14:creationId xmlns:p14="http://schemas.microsoft.com/office/powerpoint/2010/main" val="3913010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167A4-9E6A-3764-A544-9F922ECC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does this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B98F-1A6F-8B6A-D866-A190AB131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38299"/>
            <a:ext cx="8915400" cy="486727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While Java’s access control mechanism may seem complicated, we can simplify it as follows: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Anything declared public can be accessed from different classes and different packages.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Anything declared private cannot be seen outside of its class.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When a member does not have an explicit access specification, it is visible to subclasses as well as to other classes in the same package. This is the default access.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If you want to allow an element to be seen outside your current package, but only to classes that subclass your class directly, then declare that element protected.</a:t>
            </a:r>
          </a:p>
        </p:txBody>
      </p:sp>
    </p:spTree>
    <p:extLst>
      <p:ext uri="{BB962C8B-B14F-4D97-AF65-F5344CB8AC3E}">
        <p14:creationId xmlns:p14="http://schemas.microsoft.com/office/powerpoint/2010/main" val="1257958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B25C-DF0D-0773-5EA6-B485A6C34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075" y="135473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Importing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06794-3A8C-5677-FB2C-E9C4C5510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75" y="1416363"/>
            <a:ext cx="8915400" cy="46937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Given that packages exist and are a good mechanism for compartmentalizing diverse classes from each other, it is easy to see why all of the built-in Java classes are stored in packages. </a:t>
            </a:r>
          </a:p>
          <a:p>
            <a:pPr marL="0" indent="0">
              <a:buNone/>
            </a:pPr>
            <a:r>
              <a:rPr lang="en-US" sz="2000" dirty="0"/>
              <a:t>Since classes within packages must be fully qualified with their package name or names, it could become tedious to type in the long dot-separated package path name for every class you want to use. </a:t>
            </a:r>
          </a:p>
          <a:p>
            <a:pPr marL="0" indent="0">
              <a:buNone/>
            </a:pPr>
            <a:r>
              <a:rPr lang="en-US" sz="2000" dirty="0"/>
              <a:t>For this reason, Java includes the import statement to bring certain classes, or entire packages, into visibility. Once imported, a class can be referred to directly, using only its name. </a:t>
            </a:r>
          </a:p>
          <a:p>
            <a:pPr marL="0" indent="0">
              <a:buNone/>
            </a:pPr>
            <a:r>
              <a:rPr lang="en-US" sz="2000" dirty="0"/>
              <a:t>The import statement is a convenience to the programmer and is not technically needed to write a complete Java program. If you are going to refer to a few dozen classes in your application, however, the import statement will save a lot of typing.</a:t>
            </a:r>
          </a:p>
          <a:p>
            <a:pPr marL="0" indent="0">
              <a:buNone/>
            </a:pPr>
            <a:r>
              <a:rPr lang="en-US" sz="2000" dirty="0"/>
              <a:t>In a Java source file, import statements occur immediately following the package statement (if it exists) and before any class definitions. </a:t>
            </a:r>
          </a:p>
        </p:txBody>
      </p:sp>
    </p:spTree>
    <p:extLst>
      <p:ext uri="{BB962C8B-B14F-4D97-AF65-F5344CB8AC3E}">
        <p14:creationId xmlns:p14="http://schemas.microsoft.com/office/powerpoint/2010/main" val="455228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9B5DE-EBAC-AFA6-6C38-C7994BC35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Examples of Importing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DE919-6D16-7EC6-F560-1E937E274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package </a:t>
            </a:r>
            <a:r>
              <a:rPr lang="en-US" dirty="0" err="1"/>
              <a:t>org.example.demotrial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</a:t>
            </a:r>
            <a:r>
              <a:rPr lang="en-US" dirty="0"/>
              <a:t>/Date;</a:t>
            </a:r>
          </a:p>
          <a:p>
            <a:pPr marL="0" indent="0">
              <a:buNone/>
            </a:pPr>
            <a:r>
              <a:rPr lang="en-US" dirty="0"/>
              <a:t>import java.io.*;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javax.swing</a:t>
            </a:r>
            <a:r>
              <a:rPr lang="en-US" dirty="0"/>
              <a:t>.*;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java.awt.event.ActionEvent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java.awt.event.ActionListener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0356006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938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Wingdings 3</vt:lpstr>
      <vt:lpstr>Wisp</vt:lpstr>
      <vt:lpstr>Packages</vt:lpstr>
      <vt:lpstr>What are Packages?</vt:lpstr>
      <vt:lpstr>Defining a Package</vt:lpstr>
      <vt:lpstr>Storage of Packages</vt:lpstr>
      <vt:lpstr>Including Packages</vt:lpstr>
      <vt:lpstr>Packages and Member Access</vt:lpstr>
      <vt:lpstr>Categories of Visibility</vt:lpstr>
      <vt:lpstr>Class Member Access</vt:lpstr>
      <vt:lpstr>What does this mean?</vt:lpstr>
      <vt:lpstr>Importing Packages</vt:lpstr>
      <vt:lpstr>Examples of Importing Packages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Packages</dc:title>
  <dc:creator>NELSON, IVONNE</dc:creator>
  <cp:lastModifiedBy>NELSON, IVONNE</cp:lastModifiedBy>
  <cp:revision>1</cp:revision>
  <dcterms:created xsi:type="dcterms:W3CDTF">2024-05-30T16:09:08Z</dcterms:created>
  <dcterms:modified xsi:type="dcterms:W3CDTF">2024-05-30T16:30:35Z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2024-05-30T16:30:35Z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92f7a4fa-edeb-4280-8085-5ba96a1886d9</vt:lpwstr>
  </property>
  <property fmtid="{D5CDD505-2E9C-101B-9397-08002B2CF9AE}" pid="8" name="MSIP_Label_d8bb7484-22c2-4b98-9fb8-3ab13d821527_ContentBits">
    <vt:lpwstr>0</vt:lpwstr>
  </property>
</Properties>
</file>