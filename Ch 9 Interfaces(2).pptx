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72" r:id="rId6"/>
    <p:sldId id="262" r:id="rId7"/>
    <p:sldId id="263" r:id="rId8"/>
    <p:sldId id="264" r:id="rId9"/>
    <p:sldId id="265" r:id="rId10"/>
    <p:sldId id="259" r:id="rId11"/>
    <p:sldId id="261" r:id="rId12"/>
    <p:sldId id="268" r:id="rId13"/>
    <p:sldId id="269" r:id="rId14"/>
    <p:sldId id="270" r:id="rId15"/>
    <p:sldId id="267" r:id="rId16"/>
    <p:sldId id="271" r:id="rId17"/>
    <p:sldId id="273" r:id="rId18"/>
    <p:sldId id="274" r:id="rId19"/>
    <p:sldId id="276" r:id="rId20"/>
    <p:sldId id="275" r:id="rId21"/>
    <p:sldId id="277" r:id="rId22"/>
    <p:sldId id="279" r:id="rId23"/>
    <p:sldId id="280"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01" autoAdjust="0"/>
  </p:normalViewPr>
  <p:slideViewPr>
    <p:cSldViewPr snapToGrid="0">
      <p:cViewPr varScale="1">
        <p:scale>
          <a:sx n="102" d="100"/>
          <a:sy n="102" d="100"/>
        </p:scale>
        <p:origin x="1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1457789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2056692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1558447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1906176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276914-B011-4B29-BD05-4898A3A99C51}" type="datetimeFigureOut">
              <a:rPr lang="en-US" smtClean="0"/>
              <a:t>5/30/2024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13667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1276914-B011-4B29-BD05-4898A3A99C51}" type="datetimeFigureOut">
              <a:rPr lang="en-US" smtClean="0"/>
              <a:t>5/30/2024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2247924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276914-B011-4B29-BD05-4898A3A99C51}" type="datetimeFigureOut">
              <a:rPr lang="en-US" smtClean="0"/>
              <a:t>5/30/2024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409090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8755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515975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3399369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51FAD0E-5994-48D3-9B39-D12A5680BED2}"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9748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837932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51FAD0E-5994-48D3-9B39-D12A5680BED2}"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18051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1276914-B011-4B29-BD05-4898A3A99C51}" type="datetimeFigureOut">
              <a:rPr lang="en-US" smtClean="0"/>
              <a:t>5/30/2024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3746482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804008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276914-B011-4B29-BD05-4898A3A99C51}" type="datetimeFigureOut">
              <a:rPr lang="en-US" smtClean="0"/>
              <a:t>5/30/2024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51FAD0E-5994-48D3-9B39-D12A5680BED2}" type="slidenum">
              <a:rPr lang="en-US" smtClean="0"/>
              <a:t>‹#›</a:t>
            </a:fld>
            <a:endParaRPr lang="en-US"/>
          </a:p>
        </p:txBody>
      </p:sp>
    </p:spTree>
    <p:extLst>
      <p:ext uri="{BB962C8B-B14F-4D97-AF65-F5344CB8AC3E}">
        <p14:creationId xmlns:p14="http://schemas.microsoft.com/office/powerpoint/2010/main" val="2085474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1276914-B011-4B29-BD05-4898A3A99C51}" type="datetimeFigureOut">
              <a:rPr lang="en-US" smtClean="0"/>
              <a:t>5/30/2024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51FAD0E-5994-48D3-9B39-D12A5680BED2}" type="slidenum">
              <a:rPr lang="en-US" smtClean="0"/>
              <a:t>‹#›</a:t>
            </a:fld>
            <a:endParaRPr lang="en-US"/>
          </a:p>
        </p:txBody>
      </p:sp>
    </p:spTree>
    <p:extLst>
      <p:ext uri="{BB962C8B-B14F-4D97-AF65-F5344CB8AC3E}">
        <p14:creationId xmlns:p14="http://schemas.microsoft.com/office/powerpoint/2010/main" val="1848491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F564-3E9B-798E-7A1E-794F970E5B24}"/>
              </a:ext>
            </a:extLst>
          </p:cNvPr>
          <p:cNvSpPr>
            <a:spLocks noGrp="1"/>
          </p:cNvSpPr>
          <p:nvPr>
            <p:ph type="ctrTitle"/>
          </p:nvPr>
        </p:nvSpPr>
        <p:spPr/>
        <p:txBody>
          <a:bodyPr/>
          <a:lstStyle/>
          <a:p>
            <a:pPr algn="ctr"/>
            <a:r>
              <a:rPr lang="en-US" b="1" dirty="0"/>
              <a:t>Interfaces</a:t>
            </a:r>
          </a:p>
        </p:txBody>
      </p:sp>
      <p:sp>
        <p:nvSpPr>
          <p:cNvPr id="3" name="Subtitle 2">
            <a:extLst>
              <a:ext uri="{FF2B5EF4-FFF2-40B4-BE49-F238E27FC236}">
                <a16:creationId xmlns:a16="http://schemas.microsoft.com/office/drawing/2014/main" id="{D9E74DA2-D403-4CDF-E6AF-54CB4089FA8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6544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007CC-D1E5-FF49-2373-75975EF2238F}"/>
              </a:ext>
            </a:extLst>
          </p:cNvPr>
          <p:cNvSpPr>
            <a:spLocks noGrp="1"/>
          </p:cNvSpPr>
          <p:nvPr>
            <p:ph type="title"/>
          </p:nvPr>
        </p:nvSpPr>
        <p:spPr/>
        <p:txBody>
          <a:bodyPr/>
          <a:lstStyle/>
          <a:p>
            <a:pPr algn="ctr"/>
            <a:r>
              <a:rPr lang="en-US" b="1" dirty="0"/>
              <a:t>Interfaces</a:t>
            </a:r>
          </a:p>
        </p:txBody>
      </p:sp>
      <p:sp>
        <p:nvSpPr>
          <p:cNvPr id="3" name="Content Placeholder 2">
            <a:extLst>
              <a:ext uri="{FF2B5EF4-FFF2-40B4-BE49-F238E27FC236}">
                <a16:creationId xmlns:a16="http://schemas.microsoft.com/office/drawing/2014/main" id="{B9E83B76-8298-C5A9-51A5-8BFA48E6154E}"/>
              </a:ext>
            </a:extLst>
          </p:cNvPr>
          <p:cNvSpPr>
            <a:spLocks noGrp="1"/>
          </p:cNvSpPr>
          <p:nvPr>
            <p:ph idx="1"/>
          </p:nvPr>
        </p:nvSpPr>
        <p:spPr>
          <a:xfrm>
            <a:off x="2858843" y="1264554"/>
            <a:ext cx="8915400" cy="5441045"/>
          </a:xfrm>
        </p:spPr>
        <p:txBody>
          <a:bodyPr>
            <a:noAutofit/>
          </a:bodyPr>
          <a:lstStyle/>
          <a:p>
            <a:pPr marL="0" indent="0">
              <a:buNone/>
            </a:pPr>
            <a:r>
              <a:rPr lang="en-US" sz="2400" dirty="0"/>
              <a:t>Java expands on the concept of abstract methods with interfaces. </a:t>
            </a:r>
          </a:p>
          <a:p>
            <a:pPr marL="0" indent="0">
              <a:buNone/>
            </a:pPr>
            <a:r>
              <a:rPr lang="en-US" sz="2400" dirty="0"/>
              <a:t>It’s often desirable to specify a group of abstract methods that define some behavior for an object without tying it to any implementation at all. </a:t>
            </a:r>
          </a:p>
          <a:p>
            <a:pPr marL="0" indent="0">
              <a:buNone/>
            </a:pPr>
            <a:r>
              <a:rPr lang="en-US" sz="2400" dirty="0"/>
              <a:t>In Java, this is called an interface. An interface defines a set of methods that a class must implement. </a:t>
            </a:r>
          </a:p>
          <a:p>
            <a:pPr marL="0" indent="0">
              <a:buNone/>
            </a:pPr>
            <a:r>
              <a:rPr lang="en-US" sz="2400" dirty="0"/>
              <a:t>A class in Java can declare that it implements an interface if it </a:t>
            </a:r>
            <a:r>
              <a:rPr lang="en-US" sz="2400" b="1" dirty="0"/>
              <a:t>implements</a:t>
            </a:r>
            <a:r>
              <a:rPr lang="en-US" sz="2400" dirty="0"/>
              <a:t> the required methods. </a:t>
            </a:r>
          </a:p>
          <a:p>
            <a:pPr marL="0" indent="0">
              <a:buNone/>
            </a:pPr>
            <a:r>
              <a:rPr lang="en-US" sz="2400" dirty="0"/>
              <a:t>Unlike extending an abstract class, a class implementing an interface doesn’t have to inherit from any particular part of the inheritance hierarchy or use a particular implementation.</a:t>
            </a:r>
          </a:p>
        </p:txBody>
      </p:sp>
    </p:spTree>
    <p:extLst>
      <p:ext uri="{BB962C8B-B14F-4D97-AF65-F5344CB8AC3E}">
        <p14:creationId xmlns:p14="http://schemas.microsoft.com/office/powerpoint/2010/main" val="929893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3EC4-5B8E-0616-143F-472A45C16EB1}"/>
              </a:ext>
            </a:extLst>
          </p:cNvPr>
          <p:cNvSpPr>
            <a:spLocks noGrp="1"/>
          </p:cNvSpPr>
          <p:nvPr>
            <p:ph type="title"/>
          </p:nvPr>
        </p:nvSpPr>
        <p:spPr/>
        <p:txBody>
          <a:bodyPr/>
          <a:lstStyle/>
          <a:p>
            <a:pPr algn="ctr"/>
            <a:r>
              <a:rPr lang="en-US" b="1" dirty="0"/>
              <a:t>What do Interfaces Provide?</a:t>
            </a:r>
          </a:p>
        </p:txBody>
      </p:sp>
      <p:sp>
        <p:nvSpPr>
          <p:cNvPr id="3" name="Content Placeholder 2">
            <a:extLst>
              <a:ext uri="{FF2B5EF4-FFF2-40B4-BE49-F238E27FC236}">
                <a16:creationId xmlns:a16="http://schemas.microsoft.com/office/drawing/2014/main" id="{AE00CF05-9EA2-17D9-7052-8576E803E2BF}"/>
              </a:ext>
            </a:extLst>
          </p:cNvPr>
          <p:cNvSpPr>
            <a:spLocks noGrp="1"/>
          </p:cNvSpPr>
          <p:nvPr>
            <p:ph idx="1"/>
          </p:nvPr>
        </p:nvSpPr>
        <p:spPr>
          <a:xfrm>
            <a:off x="2592925" y="1817077"/>
            <a:ext cx="8915400" cy="3777622"/>
          </a:xfrm>
        </p:spPr>
        <p:txBody>
          <a:bodyPr>
            <a:noAutofit/>
          </a:bodyPr>
          <a:lstStyle/>
          <a:p>
            <a:pPr marL="0" indent="0">
              <a:buNone/>
            </a:pPr>
            <a:r>
              <a:rPr lang="en-US" sz="2400" dirty="0"/>
              <a:t>An interface is a list of methods that define some set of behavior for an object. They let you specify what should be done, without having to provide an implementation.</a:t>
            </a:r>
          </a:p>
          <a:p>
            <a:pPr marL="0" indent="0">
              <a:buNone/>
            </a:pPr>
            <a:r>
              <a:rPr lang="en-US" sz="2400" dirty="0"/>
              <a:t>Any class that implements each method listed in the interface can declare at compile time that it implements the interface</a:t>
            </a:r>
          </a:p>
          <a:p>
            <a:pPr marL="0" indent="0">
              <a:buNone/>
            </a:pPr>
            <a:r>
              <a:rPr lang="en-US" sz="2400" dirty="0"/>
              <a:t>Interface types act like class types. You can declare variables to be of an interface type, you can declare arguments of methods to accept interface types, and you can specify that the return type of a method is an interface type. </a:t>
            </a:r>
          </a:p>
        </p:txBody>
      </p:sp>
    </p:spTree>
    <p:extLst>
      <p:ext uri="{BB962C8B-B14F-4D97-AF65-F5344CB8AC3E}">
        <p14:creationId xmlns:p14="http://schemas.microsoft.com/office/powerpoint/2010/main" val="2881420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56335-5863-7AAE-DDDC-DEA4489A171C}"/>
              </a:ext>
            </a:extLst>
          </p:cNvPr>
          <p:cNvSpPr>
            <a:spLocks noGrp="1"/>
          </p:cNvSpPr>
          <p:nvPr>
            <p:ph type="title"/>
          </p:nvPr>
        </p:nvSpPr>
        <p:spPr>
          <a:xfrm>
            <a:off x="2217787" y="483433"/>
            <a:ext cx="8911687" cy="1280890"/>
          </a:xfrm>
        </p:spPr>
        <p:txBody>
          <a:bodyPr/>
          <a:lstStyle/>
          <a:p>
            <a:pPr algn="ctr"/>
            <a:r>
              <a:rPr lang="en-US" b="1" dirty="0"/>
              <a:t>Declaring an Interface</a:t>
            </a:r>
          </a:p>
        </p:txBody>
      </p:sp>
      <p:sp>
        <p:nvSpPr>
          <p:cNvPr id="3" name="Content Placeholder 2">
            <a:extLst>
              <a:ext uri="{FF2B5EF4-FFF2-40B4-BE49-F238E27FC236}">
                <a16:creationId xmlns:a16="http://schemas.microsoft.com/office/drawing/2014/main" id="{0F509280-17E4-7E0F-85B4-40AE9EAC3820}"/>
              </a:ext>
            </a:extLst>
          </p:cNvPr>
          <p:cNvSpPr>
            <a:spLocks noGrp="1"/>
          </p:cNvSpPr>
          <p:nvPr>
            <p:ph idx="1"/>
          </p:nvPr>
        </p:nvSpPr>
        <p:spPr>
          <a:xfrm>
            <a:off x="2800227" y="1316056"/>
            <a:ext cx="8915400" cy="3777622"/>
          </a:xfrm>
        </p:spPr>
        <p:txBody>
          <a:bodyPr>
            <a:noAutofit/>
          </a:bodyPr>
          <a:lstStyle/>
          <a:p>
            <a:pPr marL="0" indent="0">
              <a:buNone/>
            </a:pPr>
            <a:r>
              <a:rPr lang="en-US" sz="2400" dirty="0"/>
              <a:t>You define an interface with the interface keyword, and list its methods with no bodies, just prototypes (signatures).</a:t>
            </a:r>
          </a:p>
          <a:p>
            <a:pPr marL="0" indent="0">
              <a:buNone/>
            </a:pPr>
            <a:r>
              <a:rPr lang="en-US" sz="2400" dirty="0"/>
              <a:t>It’s acceptable, but not necessary, to declare the methods in an interface with the abstract modifier.</a:t>
            </a:r>
          </a:p>
          <a:p>
            <a:pPr marL="0" indent="0">
              <a:buNone/>
            </a:pPr>
            <a:r>
              <a:rPr lang="en-US" sz="2400" dirty="0"/>
              <a:t>More importantly, the methods of an interface are always considered public, and you can optionally declare them as so. </a:t>
            </a:r>
          </a:p>
          <a:p>
            <a:pPr marL="0" indent="0">
              <a:buNone/>
            </a:pPr>
            <a:r>
              <a:rPr lang="en-US" sz="2400" dirty="0"/>
              <a:t>Why public? Well, the user of the interface wouldn’t necessarily be able to see them otherwise, and interfaces are generally intended to describe the behavior of an object, not its implementation.</a:t>
            </a:r>
          </a:p>
        </p:txBody>
      </p:sp>
    </p:spTree>
    <p:extLst>
      <p:ext uri="{BB962C8B-B14F-4D97-AF65-F5344CB8AC3E}">
        <p14:creationId xmlns:p14="http://schemas.microsoft.com/office/powerpoint/2010/main" val="3893477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D258-33FF-6FCE-3513-FC080B8093D5}"/>
              </a:ext>
            </a:extLst>
          </p:cNvPr>
          <p:cNvSpPr>
            <a:spLocks noGrp="1"/>
          </p:cNvSpPr>
          <p:nvPr>
            <p:ph type="title"/>
          </p:nvPr>
        </p:nvSpPr>
        <p:spPr/>
        <p:txBody>
          <a:bodyPr/>
          <a:lstStyle/>
          <a:p>
            <a:pPr algn="ctr"/>
            <a:r>
              <a:rPr lang="en-US" b="1" dirty="0"/>
              <a:t>Interfaces with Implementation</a:t>
            </a:r>
          </a:p>
        </p:txBody>
      </p:sp>
      <p:sp>
        <p:nvSpPr>
          <p:cNvPr id="3" name="Content Placeholder 2">
            <a:extLst>
              <a:ext uri="{FF2B5EF4-FFF2-40B4-BE49-F238E27FC236}">
                <a16:creationId xmlns:a16="http://schemas.microsoft.com/office/drawing/2014/main" id="{547559C9-E057-589F-5A61-E5EA30757B37}"/>
              </a:ext>
            </a:extLst>
          </p:cNvPr>
          <p:cNvSpPr>
            <a:spLocks noGrp="1"/>
          </p:cNvSpPr>
          <p:nvPr>
            <p:ph idx="1"/>
          </p:nvPr>
        </p:nvSpPr>
        <p:spPr>
          <a:xfrm>
            <a:off x="2592925" y="1540189"/>
            <a:ext cx="8915400" cy="3777622"/>
          </a:xfrm>
        </p:spPr>
        <p:txBody>
          <a:bodyPr>
            <a:normAutofit/>
          </a:bodyPr>
          <a:lstStyle/>
          <a:p>
            <a:pPr marL="0" indent="0">
              <a:buNone/>
            </a:pPr>
            <a:r>
              <a:rPr lang="en-US" sz="2400" dirty="0"/>
              <a:t>Beginning with JDK 9, an interface can include private methods. Thus, it is now possible for interface to specify some behavior.</a:t>
            </a:r>
          </a:p>
          <a:p>
            <a:pPr marL="0" indent="0">
              <a:buNone/>
            </a:pPr>
            <a:r>
              <a:rPr lang="en-US" sz="2400" dirty="0"/>
              <a:t>However, such methods constitute what are, in essence, special-use features, and the original intent behind interface still remains. Therefore, as a general rule, you will still often create and use interfaces in which no use is made of these new features. </a:t>
            </a:r>
          </a:p>
        </p:txBody>
      </p:sp>
    </p:spTree>
    <p:extLst>
      <p:ext uri="{BB962C8B-B14F-4D97-AF65-F5344CB8AC3E}">
        <p14:creationId xmlns:p14="http://schemas.microsoft.com/office/powerpoint/2010/main" val="4108726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62628-D5C0-BDEC-75FE-5FEF758121BC}"/>
              </a:ext>
            </a:extLst>
          </p:cNvPr>
          <p:cNvSpPr>
            <a:spLocks noGrp="1"/>
          </p:cNvSpPr>
          <p:nvPr>
            <p:ph type="title"/>
          </p:nvPr>
        </p:nvSpPr>
        <p:spPr/>
        <p:txBody>
          <a:bodyPr/>
          <a:lstStyle/>
          <a:p>
            <a:r>
              <a:rPr lang="en-US" b="1" dirty="0"/>
              <a:t>Three Common Java Library Interfaces</a:t>
            </a:r>
          </a:p>
        </p:txBody>
      </p:sp>
      <p:sp>
        <p:nvSpPr>
          <p:cNvPr id="3" name="Content Placeholder 2">
            <a:extLst>
              <a:ext uri="{FF2B5EF4-FFF2-40B4-BE49-F238E27FC236}">
                <a16:creationId xmlns:a16="http://schemas.microsoft.com/office/drawing/2014/main" id="{1BC7BFF5-DE55-924F-A1C1-11851090AE6B}"/>
              </a:ext>
            </a:extLst>
          </p:cNvPr>
          <p:cNvSpPr>
            <a:spLocks noGrp="1"/>
          </p:cNvSpPr>
          <p:nvPr>
            <p:ph idx="1"/>
          </p:nvPr>
        </p:nvSpPr>
        <p:spPr/>
        <p:txBody>
          <a:bodyPr>
            <a:normAutofit/>
          </a:bodyPr>
          <a:lstStyle/>
          <a:p>
            <a:pPr marL="0" indent="0">
              <a:buNone/>
            </a:pPr>
            <a:r>
              <a:rPr lang="en-US" sz="2400" b="1" dirty="0"/>
              <a:t>The ActionListener interface :  </a:t>
            </a:r>
            <a:r>
              <a:rPr lang="en-US" sz="2400" b="1" dirty="0" err="1"/>
              <a:t>java.awt.event.eventListener</a:t>
            </a:r>
            <a:endParaRPr lang="en-US" sz="2400" b="1" dirty="0"/>
          </a:p>
          <a:p>
            <a:pPr marL="0" indent="0">
              <a:buNone/>
            </a:pPr>
            <a:r>
              <a:rPr lang="en-US" sz="2400" b="1" dirty="0"/>
              <a:t>The Comparable Interface: </a:t>
            </a:r>
            <a:r>
              <a:rPr lang="en-US" sz="2400" b="1" dirty="0" err="1"/>
              <a:t>java.lang</a:t>
            </a:r>
            <a:endParaRPr lang="en-US" sz="2400" b="1" dirty="0"/>
          </a:p>
          <a:p>
            <a:pPr marL="0" indent="0">
              <a:buNone/>
            </a:pPr>
            <a:r>
              <a:rPr lang="en-US" sz="2400" b="1" dirty="0"/>
              <a:t>The Cloneable Interface: </a:t>
            </a:r>
            <a:r>
              <a:rPr lang="en-US" sz="2400" b="1" dirty="0" err="1"/>
              <a:t>java.lang</a:t>
            </a:r>
            <a:r>
              <a:rPr lang="en-US" sz="2400" b="1" dirty="0"/>
              <a:t> </a:t>
            </a:r>
          </a:p>
          <a:p>
            <a:pPr marL="0" indent="0">
              <a:buNone/>
            </a:pPr>
            <a:endParaRPr lang="en-US" sz="2400" dirty="0"/>
          </a:p>
        </p:txBody>
      </p:sp>
    </p:spTree>
    <p:extLst>
      <p:ext uri="{BB962C8B-B14F-4D97-AF65-F5344CB8AC3E}">
        <p14:creationId xmlns:p14="http://schemas.microsoft.com/office/powerpoint/2010/main" val="119638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77E83-C679-93B1-B14F-C300BE2920FF}"/>
              </a:ext>
            </a:extLst>
          </p:cNvPr>
          <p:cNvSpPr>
            <a:spLocks noGrp="1"/>
          </p:cNvSpPr>
          <p:nvPr>
            <p:ph type="title"/>
          </p:nvPr>
        </p:nvSpPr>
        <p:spPr/>
        <p:txBody>
          <a:bodyPr/>
          <a:lstStyle/>
          <a:p>
            <a:pPr algn="ctr"/>
            <a:r>
              <a:rPr lang="en-US" b="1" dirty="0"/>
              <a:t>The ActionListener Interface</a:t>
            </a:r>
            <a:br>
              <a:rPr lang="en-US" dirty="0"/>
            </a:br>
            <a:endParaRPr lang="en-US" dirty="0"/>
          </a:p>
        </p:txBody>
      </p:sp>
      <p:sp>
        <p:nvSpPr>
          <p:cNvPr id="3" name="Content Placeholder 2">
            <a:extLst>
              <a:ext uri="{FF2B5EF4-FFF2-40B4-BE49-F238E27FC236}">
                <a16:creationId xmlns:a16="http://schemas.microsoft.com/office/drawing/2014/main" id="{0FD83215-2329-3165-EE82-01B92CF70000}"/>
              </a:ext>
            </a:extLst>
          </p:cNvPr>
          <p:cNvSpPr>
            <a:spLocks noGrp="1"/>
          </p:cNvSpPr>
          <p:nvPr>
            <p:ph idx="1"/>
          </p:nvPr>
        </p:nvSpPr>
        <p:spPr/>
        <p:txBody>
          <a:bodyPr/>
          <a:lstStyle/>
          <a:p>
            <a:pPr marL="0" indent="0">
              <a:buNone/>
            </a:pPr>
            <a:r>
              <a:rPr lang="en-US" sz="2400" dirty="0"/>
              <a:t>This interface is implemented in event-driven programming.  We will see a lot of it.</a:t>
            </a:r>
          </a:p>
          <a:p>
            <a:pPr marL="0" indent="0">
              <a:buNone/>
            </a:pPr>
            <a:r>
              <a:rPr lang="en-US" sz="2400" b="1" dirty="0"/>
              <a:t>public interface ActionListener extends </a:t>
            </a:r>
            <a:r>
              <a:rPr lang="en-US" sz="2400" b="1" dirty="0" err="1"/>
              <a:t>EventListener</a:t>
            </a:r>
            <a:endParaRPr lang="en-US" sz="2400" b="1" dirty="0"/>
          </a:p>
          <a:p>
            <a:pPr marL="0" indent="0">
              <a:buNone/>
            </a:pPr>
            <a:r>
              <a:rPr lang="en-US" sz="2400" b="1" dirty="0"/>
              <a:t>{</a:t>
            </a:r>
          </a:p>
          <a:p>
            <a:pPr marL="0" indent="0">
              <a:buNone/>
            </a:pPr>
            <a:r>
              <a:rPr lang="en-US" sz="2400" b="1" dirty="0"/>
              <a:t>		void </a:t>
            </a:r>
            <a:r>
              <a:rPr lang="en-US" sz="2400" b="1" dirty="0" err="1"/>
              <a:t>actionPerformed</a:t>
            </a:r>
            <a:r>
              <a:rPr lang="en-US" sz="2400" b="1" dirty="0"/>
              <a:t>(</a:t>
            </a:r>
            <a:r>
              <a:rPr lang="en-US" sz="2400" b="1" dirty="0" err="1"/>
              <a:t>ActionEvent</a:t>
            </a:r>
            <a:r>
              <a:rPr lang="en-US" sz="2400" b="1" dirty="0"/>
              <a:t> e) ;</a:t>
            </a:r>
          </a:p>
          <a:p>
            <a:pPr marL="0" indent="0">
              <a:buNone/>
            </a:pPr>
            <a:r>
              <a:rPr lang="en-US" sz="2400" b="1" dirty="0"/>
              <a:t>}</a:t>
            </a:r>
          </a:p>
          <a:p>
            <a:pPr marL="0" indent="0">
              <a:buNone/>
            </a:pPr>
            <a:endParaRPr lang="en-US" dirty="0"/>
          </a:p>
        </p:txBody>
      </p:sp>
    </p:spTree>
    <p:extLst>
      <p:ext uri="{BB962C8B-B14F-4D97-AF65-F5344CB8AC3E}">
        <p14:creationId xmlns:p14="http://schemas.microsoft.com/office/powerpoint/2010/main" val="893457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4AF44-AE2C-E3C9-A0D3-7DBD78C2C593}"/>
              </a:ext>
            </a:extLst>
          </p:cNvPr>
          <p:cNvSpPr>
            <a:spLocks noGrp="1"/>
          </p:cNvSpPr>
          <p:nvPr>
            <p:ph type="title"/>
          </p:nvPr>
        </p:nvSpPr>
        <p:spPr/>
        <p:txBody>
          <a:bodyPr/>
          <a:lstStyle/>
          <a:p>
            <a:pPr algn="ctr"/>
            <a:r>
              <a:rPr lang="en-US" b="1" dirty="0"/>
              <a:t>The Comparable Interface</a:t>
            </a:r>
          </a:p>
        </p:txBody>
      </p:sp>
      <p:sp>
        <p:nvSpPr>
          <p:cNvPr id="3" name="Content Placeholder 2">
            <a:extLst>
              <a:ext uri="{FF2B5EF4-FFF2-40B4-BE49-F238E27FC236}">
                <a16:creationId xmlns:a16="http://schemas.microsoft.com/office/drawing/2014/main" id="{BFABCBBB-F650-F6D8-C502-4E5B1ACFC606}"/>
              </a:ext>
            </a:extLst>
          </p:cNvPr>
          <p:cNvSpPr>
            <a:spLocks noGrp="1"/>
          </p:cNvSpPr>
          <p:nvPr>
            <p:ph idx="1"/>
          </p:nvPr>
        </p:nvSpPr>
        <p:spPr/>
        <p:txBody>
          <a:bodyPr>
            <a:normAutofit/>
          </a:bodyPr>
          <a:lstStyle/>
          <a:p>
            <a:pPr marL="0" indent="0">
              <a:buNone/>
            </a:pPr>
            <a:r>
              <a:rPr lang="en-US" sz="2400" dirty="0"/>
              <a:t>This interface is used, for instance,  to sort arrays of custom objects. If objects are not comparable, they cannot be sorted.  The </a:t>
            </a:r>
            <a:r>
              <a:rPr lang="en-US" sz="2400" dirty="0" err="1"/>
              <a:t>compareTo</a:t>
            </a:r>
            <a:r>
              <a:rPr lang="en-US" sz="2400" dirty="0"/>
              <a:t> method allows the programmer to specify how to compare objects of a type.</a:t>
            </a:r>
          </a:p>
          <a:p>
            <a:pPr marL="0" indent="0">
              <a:buNone/>
            </a:pPr>
            <a:r>
              <a:rPr lang="en-US" sz="2400" b="1" dirty="0"/>
              <a:t>public interface Comparable&lt;E&gt; {</a:t>
            </a:r>
          </a:p>
          <a:p>
            <a:pPr marL="0" indent="0">
              <a:buNone/>
            </a:pPr>
            <a:r>
              <a:rPr lang="en-US" sz="2400" b="1" dirty="0"/>
              <a:t>        public int </a:t>
            </a:r>
            <a:r>
              <a:rPr lang="en-US" sz="2400" b="1" dirty="0" err="1"/>
              <a:t>compareTo</a:t>
            </a:r>
            <a:r>
              <a:rPr lang="en-US" sz="2400" b="1" dirty="0"/>
              <a:t>(E o);</a:t>
            </a:r>
          </a:p>
          <a:p>
            <a:pPr marL="0" indent="0">
              <a:buNone/>
            </a:pPr>
            <a:r>
              <a:rPr lang="en-US" sz="2400" b="1" dirty="0"/>
              <a:t>  }</a:t>
            </a:r>
          </a:p>
          <a:p>
            <a:pPr marL="0" indent="0">
              <a:buNone/>
            </a:pPr>
            <a:endParaRPr lang="en-US" sz="2400" dirty="0"/>
          </a:p>
        </p:txBody>
      </p:sp>
    </p:spTree>
    <p:extLst>
      <p:ext uri="{BB962C8B-B14F-4D97-AF65-F5344CB8AC3E}">
        <p14:creationId xmlns:p14="http://schemas.microsoft.com/office/powerpoint/2010/main" val="404552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6196-6FC4-2DD5-30E2-8050F8C61E89}"/>
              </a:ext>
            </a:extLst>
          </p:cNvPr>
          <p:cNvSpPr>
            <a:spLocks noGrp="1"/>
          </p:cNvSpPr>
          <p:nvPr>
            <p:ph type="title"/>
          </p:nvPr>
        </p:nvSpPr>
        <p:spPr/>
        <p:txBody>
          <a:bodyPr/>
          <a:lstStyle/>
          <a:p>
            <a:pPr algn="ctr"/>
            <a:r>
              <a:rPr lang="en-US" b="1" dirty="0"/>
              <a:t>The Cloneable Interface</a:t>
            </a:r>
          </a:p>
        </p:txBody>
      </p:sp>
      <p:sp>
        <p:nvSpPr>
          <p:cNvPr id="3" name="Content Placeholder 2">
            <a:extLst>
              <a:ext uri="{FF2B5EF4-FFF2-40B4-BE49-F238E27FC236}">
                <a16:creationId xmlns:a16="http://schemas.microsoft.com/office/drawing/2014/main" id="{BA0B8900-549B-1104-C4D9-6FEBE767CEC7}"/>
              </a:ext>
            </a:extLst>
          </p:cNvPr>
          <p:cNvSpPr>
            <a:spLocks noGrp="1"/>
          </p:cNvSpPr>
          <p:nvPr>
            <p:ph idx="1"/>
          </p:nvPr>
        </p:nvSpPr>
        <p:spPr>
          <a:xfrm>
            <a:off x="2589212" y="2133600"/>
            <a:ext cx="8915400" cy="4267200"/>
          </a:xfrm>
        </p:spPr>
        <p:txBody>
          <a:bodyPr>
            <a:normAutofit/>
          </a:bodyPr>
          <a:lstStyle/>
          <a:p>
            <a:pPr marL="0" indent="0">
              <a:buNone/>
            </a:pPr>
            <a:r>
              <a:rPr lang="en-US" sz="2400" dirty="0"/>
              <a:t>A class that implements the Cloneable interface is marked cloneable, and its objects can be cloned using the clone() method defined in the Object class.   </a:t>
            </a:r>
          </a:p>
          <a:p>
            <a:pPr marL="0" indent="0">
              <a:buNone/>
            </a:pPr>
            <a:r>
              <a:rPr lang="en-US" sz="2400" b="1" dirty="0"/>
              <a:t>public interface Cloneable { </a:t>
            </a:r>
          </a:p>
          <a:p>
            <a:pPr marL="0" indent="0">
              <a:buNone/>
            </a:pPr>
            <a:r>
              <a:rPr lang="en-US" sz="2400" b="1" dirty="0"/>
              <a:t>}</a:t>
            </a:r>
          </a:p>
          <a:p>
            <a:pPr marL="0" indent="0">
              <a:buNone/>
            </a:pPr>
            <a:r>
              <a:rPr lang="en-US" sz="2400" dirty="0"/>
              <a:t>It does not contain constants or methods.</a:t>
            </a:r>
          </a:p>
          <a:p>
            <a:pPr marL="0" indent="0">
              <a:buNone/>
            </a:pPr>
            <a:r>
              <a:rPr lang="en-US" sz="2400" dirty="0"/>
              <a:t>It is used to denote that a class possesses certain desirable properties.  A Marker Interface is an empty interface.</a:t>
            </a:r>
          </a:p>
          <a:p>
            <a:pPr marL="0" indent="0">
              <a:buNone/>
            </a:pPr>
            <a:r>
              <a:rPr lang="en-US" sz="2400" dirty="0"/>
              <a:t>Cloneable is a Marker Interface.</a:t>
            </a:r>
          </a:p>
          <a:p>
            <a:pPr marL="0" indent="0">
              <a:buNone/>
            </a:pPr>
            <a:endParaRPr lang="en-US" sz="2400" b="1" dirty="0"/>
          </a:p>
          <a:p>
            <a:pPr marL="0" indent="0">
              <a:buNone/>
            </a:pPr>
            <a:endParaRPr lang="en-US" sz="2400" dirty="0"/>
          </a:p>
        </p:txBody>
      </p:sp>
    </p:spTree>
    <p:extLst>
      <p:ext uri="{BB962C8B-B14F-4D97-AF65-F5344CB8AC3E}">
        <p14:creationId xmlns:p14="http://schemas.microsoft.com/office/powerpoint/2010/main" val="263039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18AE-EDFD-8D3B-1399-84D471D257E4}"/>
              </a:ext>
            </a:extLst>
          </p:cNvPr>
          <p:cNvSpPr>
            <a:spLocks noGrp="1"/>
          </p:cNvSpPr>
          <p:nvPr>
            <p:ph type="title"/>
          </p:nvPr>
        </p:nvSpPr>
        <p:spPr/>
        <p:txBody>
          <a:bodyPr/>
          <a:lstStyle/>
          <a:p>
            <a:pPr algn="ctr"/>
            <a:r>
              <a:rPr lang="en-US" b="1" dirty="0"/>
              <a:t>Example of a user-defined Interface</a:t>
            </a:r>
          </a:p>
        </p:txBody>
      </p:sp>
      <p:sp>
        <p:nvSpPr>
          <p:cNvPr id="3" name="Content Placeholder 2">
            <a:extLst>
              <a:ext uri="{FF2B5EF4-FFF2-40B4-BE49-F238E27FC236}">
                <a16:creationId xmlns:a16="http://schemas.microsoft.com/office/drawing/2014/main" id="{73251217-9DB6-8BAA-827B-2E036BD5ECA2}"/>
              </a:ext>
            </a:extLst>
          </p:cNvPr>
          <p:cNvSpPr>
            <a:spLocks noGrp="1"/>
          </p:cNvSpPr>
          <p:nvPr>
            <p:ph idx="1"/>
          </p:nvPr>
        </p:nvSpPr>
        <p:spPr>
          <a:xfrm>
            <a:off x="4422005" y="1905000"/>
            <a:ext cx="5253526" cy="3777622"/>
          </a:xfrm>
        </p:spPr>
        <p:txBody>
          <a:bodyPr>
            <a:normAutofit/>
          </a:bodyPr>
          <a:lstStyle/>
          <a:p>
            <a:pPr marL="0" indent="0">
              <a:buNone/>
            </a:pPr>
            <a:r>
              <a:rPr lang="en-US" sz="2400" b="1" dirty="0"/>
              <a:t>interface </a:t>
            </a:r>
            <a:r>
              <a:rPr lang="en-US" sz="2400" b="1" dirty="0" err="1"/>
              <a:t>Driveable</a:t>
            </a:r>
            <a:r>
              <a:rPr lang="en-US" sz="2400" b="1" dirty="0"/>
              <a:t> {</a:t>
            </a:r>
          </a:p>
          <a:p>
            <a:pPr marL="0" indent="0">
              <a:buNone/>
            </a:pPr>
            <a:r>
              <a:rPr lang="en-US" sz="2400" b="1" dirty="0"/>
              <a:t>        </a:t>
            </a:r>
            <a:r>
              <a:rPr lang="en-US" sz="2400" b="1" dirty="0" err="1"/>
              <a:t>boolean</a:t>
            </a:r>
            <a:r>
              <a:rPr lang="en-US" sz="2400" b="1" dirty="0"/>
              <a:t> </a:t>
            </a:r>
            <a:r>
              <a:rPr lang="en-US" sz="2400" b="1" dirty="0" err="1"/>
              <a:t>startEngine</a:t>
            </a:r>
            <a:r>
              <a:rPr lang="en-US" sz="2400" b="1" dirty="0"/>
              <a:t>();</a:t>
            </a:r>
          </a:p>
          <a:p>
            <a:pPr marL="0" indent="0">
              <a:buNone/>
            </a:pPr>
            <a:r>
              <a:rPr lang="en-US" sz="2400" b="1" dirty="0"/>
              <a:t>        void </a:t>
            </a:r>
            <a:r>
              <a:rPr lang="en-US" sz="2400" b="1" dirty="0" err="1"/>
              <a:t>stopEngine</a:t>
            </a:r>
            <a:r>
              <a:rPr lang="en-US" sz="2400" b="1" dirty="0"/>
              <a:t>();</a:t>
            </a:r>
          </a:p>
          <a:p>
            <a:pPr marL="0" indent="0">
              <a:buNone/>
            </a:pPr>
            <a:r>
              <a:rPr lang="en-US" sz="2400" b="1" dirty="0"/>
              <a:t>        float accelerate( float acc );</a:t>
            </a:r>
          </a:p>
          <a:p>
            <a:pPr marL="0" indent="0">
              <a:buNone/>
            </a:pPr>
            <a:r>
              <a:rPr lang="en-US" sz="2400" b="1" dirty="0"/>
              <a:t>        </a:t>
            </a:r>
            <a:r>
              <a:rPr lang="en-US" sz="2400" b="1" dirty="0" err="1"/>
              <a:t>boolean</a:t>
            </a:r>
            <a:r>
              <a:rPr lang="en-US" sz="2400" b="1" dirty="0"/>
              <a:t> turn( Direction </a:t>
            </a:r>
            <a:r>
              <a:rPr lang="en-US" sz="2400" b="1" dirty="0" err="1"/>
              <a:t>dir</a:t>
            </a:r>
            <a:r>
              <a:rPr lang="en-US" sz="2400" b="1" dirty="0"/>
              <a:t> );</a:t>
            </a:r>
          </a:p>
          <a:p>
            <a:pPr marL="0" indent="0">
              <a:buNone/>
            </a:pPr>
            <a:r>
              <a:rPr lang="en-US" sz="2400" b="1" dirty="0"/>
              <a:t>    }</a:t>
            </a:r>
          </a:p>
        </p:txBody>
      </p:sp>
    </p:spTree>
    <p:extLst>
      <p:ext uri="{BB962C8B-B14F-4D97-AF65-F5344CB8AC3E}">
        <p14:creationId xmlns:p14="http://schemas.microsoft.com/office/powerpoint/2010/main" val="1501629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F45A-92AF-0112-0905-9E8CD179DA02}"/>
              </a:ext>
            </a:extLst>
          </p:cNvPr>
          <p:cNvSpPr>
            <a:spLocks noGrp="1"/>
          </p:cNvSpPr>
          <p:nvPr>
            <p:ph type="title"/>
          </p:nvPr>
        </p:nvSpPr>
        <p:spPr>
          <a:xfrm>
            <a:off x="2522587" y="383786"/>
            <a:ext cx="8911687" cy="1280890"/>
          </a:xfrm>
        </p:spPr>
        <p:txBody>
          <a:bodyPr/>
          <a:lstStyle/>
          <a:p>
            <a:pPr algn="ctr"/>
            <a:r>
              <a:rPr lang="en-US" b="1" dirty="0"/>
              <a:t>Example of Two Implementations of the Drivable Interface</a:t>
            </a:r>
          </a:p>
        </p:txBody>
      </p:sp>
      <p:pic>
        <p:nvPicPr>
          <p:cNvPr id="5" name="Content Placeholder 4">
            <a:extLst>
              <a:ext uri="{FF2B5EF4-FFF2-40B4-BE49-F238E27FC236}">
                <a16:creationId xmlns:a16="http://schemas.microsoft.com/office/drawing/2014/main" id="{BC5BF0CB-FA2A-083D-3345-F1596249B65E}"/>
              </a:ext>
            </a:extLst>
          </p:cNvPr>
          <p:cNvPicPr>
            <a:picLocks noGrp="1" noChangeAspect="1"/>
          </p:cNvPicPr>
          <p:nvPr>
            <p:ph idx="1"/>
          </p:nvPr>
        </p:nvPicPr>
        <p:blipFill>
          <a:blip r:embed="rId2"/>
          <a:stretch>
            <a:fillRect/>
          </a:stretch>
        </p:blipFill>
        <p:spPr>
          <a:xfrm>
            <a:off x="3014281" y="1664676"/>
            <a:ext cx="7230484" cy="5044192"/>
          </a:xfrm>
        </p:spPr>
      </p:pic>
    </p:spTree>
    <p:extLst>
      <p:ext uri="{BB962C8B-B14F-4D97-AF65-F5344CB8AC3E}">
        <p14:creationId xmlns:p14="http://schemas.microsoft.com/office/powerpoint/2010/main" val="3773203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747C7-F353-1CAA-D0BB-C2FCF2ADA490}"/>
              </a:ext>
            </a:extLst>
          </p:cNvPr>
          <p:cNvSpPr>
            <a:spLocks noGrp="1"/>
          </p:cNvSpPr>
          <p:nvPr>
            <p:ph type="title"/>
          </p:nvPr>
        </p:nvSpPr>
        <p:spPr/>
        <p:txBody>
          <a:bodyPr/>
          <a:lstStyle/>
          <a:p>
            <a:pPr algn="ctr"/>
            <a:r>
              <a:rPr lang="en-US" b="1" dirty="0"/>
              <a:t>Implementing an Interface</a:t>
            </a:r>
          </a:p>
        </p:txBody>
      </p:sp>
      <p:sp>
        <p:nvSpPr>
          <p:cNvPr id="3" name="Content Placeholder 2">
            <a:extLst>
              <a:ext uri="{FF2B5EF4-FFF2-40B4-BE49-F238E27FC236}">
                <a16:creationId xmlns:a16="http://schemas.microsoft.com/office/drawing/2014/main" id="{8B0EC435-2A7C-46F7-C7F4-9826407B50A8}"/>
              </a:ext>
            </a:extLst>
          </p:cNvPr>
          <p:cNvSpPr>
            <a:spLocks noGrp="1"/>
          </p:cNvSpPr>
          <p:nvPr>
            <p:ph idx="1"/>
          </p:nvPr>
        </p:nvSpPr>
        <p:spPr>
          <a:xfrm>
            <a:off x="2589212" y="1559169"/>
            <a:ext cx="8915400" cy="4982308"/>
          </a:xfrm>
        </p:spPr>
        <p:txBody>
          <a:bodyPr>
            <a:normAutofit lnSpcReduction="10000"/>
          </a:bodyPr>
          <a:lstStyle/>
          <a:p>
            <a:pPr marL="0" indent="0">
              <a:buNone/>
            </a:pPr>
            <a:r>
              <a:rPr lang="en-US" sz="2400" dirty="0"/>
              <a:t>The implementing class must declare the methods of the interface as public. </a:t>
            </a:r>
          </a:p>
          <a:p>
            <a:pPr marL="0" indent="0">
              <a:buNone/>
            </a:pPr>
            <a:r>
              <a:rPr lang="en-US" sz="2400" dirty="0"/>
              <a:t>Otherwise, they would default to package access. Since the interface requires public access, the compiler would report an error.  </a:t>
            </a:r>
          </a:p>
          <a:p>
            <a:pPr marL="0" indent="0">
              <a:buNone/>
            </a:pPr>
            <a:r>
              <a:rPr lang="en-US" sz="2400" dirty="0"/>
              <a:t>Let’s use another Interface:</a:t>
            </a:r>
          </a:p>
          <a:p>
            <a:pPr marL="800100" lvl="2" indent="0">
              <a:buNone/>
            </a:pPr>
            <a:r>
              <a:rPr lang="en-US" sz="2400" b="1" dirty="0"/>
              <a:t>public interface </a:t>
            </a:r>
            <a:r>
              <a:rPr lang="en-US" sz="2400" b="1" dirty="0" err="1"/>
              <a:t>AnimalBehavior</a:t>
            </a:r>
            <a:r>
              <a:rPr lang="en-US" sz="2400" b="1" dirty="0"/>
              <a:t> {</a:t>
            </a:r>
          </a:p>
          <a:p>
            <a:pPr marL="800100" lvl="2" indent="0">
              <a:buNone/>
            </a:pPr>
            <a:r>
              <a:rPr lang="en-US" sz="2400" b="1" dirty="0"/>
              <a:t>    String eat();</a:t>
            </a:r>
          </a:p>
          <a:p>
            <a:pPr marL="800100" lvl="2" indent="0">
              <a:buNone/>
            </a:pPr>
            <a:r>
              <a:rPr lang="en-US" sz="2400" b="1" dirty="0"/>
              <a:t>    String communicate();</a:t>
            </a:r>
          </a:p>
          <a:p>
            <a:pPr marL="800100" lvl="2" indent="0">
              <a:buNone/>
            </a:pPr>
            <a:r>
              <a:rPr lang="en-US" sz="2400" b="1" dirty="0"/>
              <a:t>    String breathe();</a:t>
            </a:r>
          </a:p>
          <a:p>
            <a:pPr marL="800100" lvl="2" indent="0">
              <a:buNone/>
            </a:pPr>
            <a:r>
              <a:rPr lang="en-US" sz="2400" b="1" dirty="0"/>
              <a:t>}</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111341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1534-79B0-5C29-88D8-5F9054EC20E7}"/>
              </a:ext>
            </a:extLst>
          </p:cNvPr>
          <p:cNvSpPr>
            <a:spLocks noGrp="1"/>
          </p:cNvSpPr>
          <p:nvPr>
            <p:ph type="title"/>
          </p:nvPr>
        </p:nvSpPr>
        <p:spPr/>
        <p:txBody>
          <a:bodyPr/>
          <a:lstStyle/>
          <a:p>
            <a:pPr algn="ctr"/>
            <a:r>
              <a:rPr lang="en-US" b="1" dirty="0"/>
              <a:t>Implement the Interface</a:t>
            </a:r>
          </a:p>
        </p:txBody>
      </p:sp>
      <p:sp>
        <p:nvSpPr>
          <p:cNvPr id="3" name="Content Placeholder 2">
            <a:extLst>
              <a:ext uri="{FF2B5EF4-FFF2-40B4-BE49-F238E27FC236}">
                <a16:creationId xmlns:a16="http://schemas.microsoft.com/office/drawing/2014/main" id="{4FE95EAC-2FBE-3A5A-6EFB-723C3F0A3ACF}"/>
              </a:ext>
            </a:extLst>
          </p:cNvPr>
          <p:cNvSpPr>
            <a:spLocks noGrp="1"/>
          </p:cNvSpPr>
          <p:nvPr>
            <p:ph idx="1"/>
          </p:nvPr>
        </p:nvSpPr>
        <p:spPr>
          <a:xfrm>
            <a:off x="2917458" y="1395046"/>
            <a:ext cx="8915400" cy="5146431"/>
          </a:xfrm>
        </p:spPr>
        <p:txBody>
          <a:bodyPr>
            <a:normAutofit lnSpcReduction="10000"/>
          </a:bodyPr>
          <a:lstStyle/>
          <a:p>
            <a:pPr marL="0" indent="0">
              <a:buNone/>
            </a:pPr>
            <a:r>
              <a:rPr lang="en-US" sz="2400" b="1" dirty="0"/>
              <a:t>public class Person implements </a:t>
            </a:r>
            <a:r>
              <a:rPr lang="en-US" sz="2400" b="1" dirty="0" err="1"/>
              <a:t>AnimalBehavior</a:t>
            </a:r>
            <a:r>
              <a:rPr lang="en-US" sz="2400" b="1" dirty="0"/>
              <a:t> {</a:t>
            </a:r>
          </a:p>
          <a:p>
            <a:pPr marL="0" indent="0">
              <a:buNone/>
            </a:pPr>
            <a:r>
              <a:rPr lang="en-US" sz="2400" b="1" dirty="0"/>
              <a:t>	public String eat() {</a:t>
            </a:r>
          </a:p>
          <a:p>
            <a:pPr marL="0" indent="0">
              <a:buNone/>
            </a:pPr>
            <a:r>
              <a:rPr lang="en-US" sz="2400" b="1" dirty="0"/>
              <a:t>		return “Three squares a day”;</a:t>
            </a:r>
          </a:p>
          <a:p>
            <a:pPr marL="0" indent="0">
              <a:buNone/>
            </a:pPr>
            <a:r>
              <a:rPr lang="en-US" sz="2400" b="1" dirty="0"/>
              <a:t>	}</a:t>
            </a:r>
          </a:p>
          <a:p>
            <a:pPr marL="0" indent="0">
              <a:buNone/>
            </a:pPr>
            <a:r>
              <a:rPr lang="en-US" sz="2400" b="1" dirty="0"/>
              <a:t>	public String communicate() {</a:t>
            </a:r>
          </a:p>
          <a:p>
            <a:pPr marL="0" indent="0">
              <a:buNone/>
            </a:pPr>
            <a:r>
              <a:rPr lang="en-US" sz="2400" b="1" dirty="0"/>
              <a:t>		return “Cell phones, of course”;</a:t>
            </a:r>
          </a:p>
          <a:p>
            <a:pPr marL="0" indent="0">
              <a:buNone/>
            </a:pPr>
            <a:r>
              <a:rPr lang="en-US" sz="2400" b="1" dirty="0"/>
              <a:t>	}</a:t>
            </a:r>
          </a:p>
          <a:p>
            <a:pPr marL="0" indent="0">
              <a:buNone/>
            </a:pPr>
            <a:r>
              <a:rPr lang="en-US" sz="2400" b="1" dirty="0"/>
              <a:t>	public String breathe() {</a:t>
            </a:r>
          </a:p>
          <a:p>
            <a:pPr marL="0" indent="0">
              <a:buNone/>
            </a:pPr>
            <a:r>
              <a:rPr lang="en-US" sz="2400" b="1" dirty="0"/>
              <a:t>		return “Deep breathe really using our lungs!”;</a:t>
            </a:r>
          </a:p>
          <a:p>
            <a:pPr marL="0" indent="0">
              <a:buNone/>
            </a:pPr>
            <a:r>
              <a:rPr lang="en-US" sz="2400" b="1" dirty="0"/>
              <a:t>	}	</a:t>
            </a:r>
          </a:p>
          <a:p>
            <a:pPr marL="0" indent="0">
              <a:buNone/>
            </a:pPr>
            <a:r>
              <a:rPr lang="en-US" sz="2400" b="1" dirty="0"/>
              <a:t>}</a:t>
            </a:r>
          </a:p>
        </p:txBody>
      </p:sp>
    </p:spTree>
    <p:extLst>
      <p:ext uri="{BB962C8B-B14F-4D97-AF65-F5344CB8AC3E}">
        <p14:creationId xmlns:p14="http://schemas.microsoft.com/office/powerpoint/2010/main" val="2155409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1534-79B0-5C29-88D8-5F9054EC20E7}"/>
              </a:ext>
            </a:extLst>
          </p:cNvPr>
          <p:cNvSpPr>
            <a:spLocks noGrp="1"/>
          </p:cNvSpPr>
          <p:nvPr>
            <p:ph type="title"/>
          </p:nvPr>
        </p:nvSpPr>
        <p:spPr/>
        <p:txBody>
          <a:bodyPr/>
          <a:lstStyle/>
          <a:p>
            <a:pPr algn="ctr"/>
            <a:r>
              <a:rPr lang="en-US" b="1" dirty="0"/>
              <a:t>Implement the Interface</a:t>
            </a:r>
          </a:p>
        </p:txBody>
      </p:sp>
      <p:sp>
        <p:nvSpPr>
          <p:cNvPr id="3" name="Content Placeholder 2">
            <a:extLst>
              <a:ext uri="{FF2B5EF4-FFF2-40B4-BE49-F238E27FC236}">
                <a16:creationId xmlns:a16="http://schemas.microsoft.com/office/drawing/2014/main" id="{4FE95EAC-2FBE-3A5A-6EFB-723C3F0A3ACF}"/>
              </a:ext>
            </a:extLst>
          </p:cNvPr>
          <p:cNvSpPr>
            <a:spLocks noGrp="1"/>
          </p:cNvSpPr>
          <p:nvPr>
            <p:ph idx="1"/>
          </p:nvPr>
        </p:nvSpPr>
        <p:spPr>
          <a:xfrm>
            <a:off x="1688123" y="1264554"/>
            <a:ext cx="10386645" cy="5593445"/>
          </a:xfrm>
          <a:solidFill>
            <a:schemeClr val="bg1"/>
          </a:solidFill>
        </p:spPr>
        <p:txBody>
          <a:bodyPr>
            <a:noAutofit/>
          </a:bodyPr>
          <a:lstStyle/>
          <a:p>
            <a:pPr marL="0" indent="0">
              <a:buNone/>
            </a:pPr>
            <a:r>
              <a:rPr lang="en-US" sz="2000" b="1" dirty="0"/>
              <a:t>public class Shark implements </a:t>
            </a:r>
            <a:r>
              <a:rPr lang="en-US" sz="2000" b="1" dirty="0" err="1"/>
              <a:t>AnimalBehavior</a:t>
            </a:r>
            <a:r>
              <a:rPr lang="en-US" sz="2000" b="1" dirty="0"/>
              <a:t> {</a:t>
            </a:r>
          </a:p>
          <a:p>
            <a:pPr marL="0" indent="0">
              <a:buNone/>
            </a:pPr>
            <a:r>
              <a:rPr lang="en-US" sz="2000" b="1" dirty="0"/>
              <a:t>	public String eat() {</a:t>
            </a:r>
          </a:p>
          <a:p>
            <a:pPr marL="0" indent="0">
              <a:buNone/>
            </a:pPr>
            <a:r>
              <a:rPr lang="en-US" sz="2000" b="1" dirty="0"/>
              <a:t>		return “Smaller fish whenever I can find them”;</a:t>
            </a:r>
          </a:p>
          <a:p>
            <a:pPr marL="0" indent="0">
              <a:buNone/>
            </a:pPr>
            <a:r>
              <a:rPr lang="en-US" sz="2000" b="1" dirty="0"/>
              <a:t>	}</a:t>
            </a:r>
          </a:p>
          <a:p>
            <a:pPr marL="0" indent="0">
              <a:buNone/>
            </a:pPr>
            <a:r>
              <a:rPr lang="en-US" sz="2000" b="1" dirty="0"/>
              <a:t>	public String communicate() {</a:t>
            </a:r>
          </a:p>
          <a:p>
            <a:pPr marL="0" indent="0">
              <a:buNone/>
            </a:pPr>
            <a:r>
              <a:rPr lang="en-US" sz="2000" b="1" dirty="0"/>
              <a:t>		return “</a:t>
            </a:r>
            <a:r>
              <a:rPr lang="en-US" sz="2000" b="1" i="0" dirty="0">
                <a:solidFill>
                  <a:srgbClr val="444444"/>
                </a:solidFill>
                <a:effectLst/>
                <a:latin typeface="Open Sans" panose="020B0606030504020204" pitchFamily="34" charset="0"/>
              </a:rPr>
              <a:t>Sharks communicate with each other by the electroreception method, they bear a special type of organ called Ampullae of </a:t>
            </a:r>
            <a:r>
              <a:rPr lang="en-US" sz="2000" b="1" i="0" dirty="0" err="1">
                <a:solidFill>
                  <a:srgbClr val="444444"/>
                </a:solidFill>
                <a:effectLst/>
                <a:latin typeface="Open Sans" panose="020B0606030504020204" pitchFamily="34" charset="0"/>
              </a:rPr>
              <a:t>Lorenzini</a:t>
            </a:r>
            <a:r>
              <a:rPr lang="en-US" sz="2000" b="1" i="0" dirty="0">
                <a:solidFill>
                  <a:srgbClr val="444444"/>
                </a:solidFill>
                <a:effectLst/>
                <a:latin typeface="Open Sans" panose="020B0606030504020204" pitchFamily="34" charset="0"/>
              </a:rPr>
              <a:t> which detects the electric field, vibrations or small movement made by other animals near them and become alert.”;</a:t>
            </a:r>
            <a:endParaRPr lang="en-US" sz="2000" b="1" dirty="0"/>
          </a:p>
          <a:p>
            <a:pPr marL="0" indent="0">
              <a:buNone/>
            </a:pPr>
            <a:r>
              <a:rPr lang="en-US" sz="2000" b="1" dirty="0"/>
              <a:t>	}</a:t>
            </a:r>
          </a:p>
          <a:p>
            <a:pPr marL="0" indent="0">
              <a:buNone/>
            </a:pPr>
            <a:r>
              <a:rPr lang="en-US" sz="2000" b="1" dirty="0"/>
              <a:t>	public String breathe() {</a:t>
            </a:r>
          </a:p>
          <a:p>
            <a:pPr marL="0" indent="0">
              <a:buNone/>
            </a:pPr>
            <a:r>
              <a:rPr lang="en-US" sz="2000" b="1" dirty="0"/>
              <a:t>		return “Water moving over our gills is how we breathe”;</a:t>
            </a:r>
          </a:p>
          <a:p>
            <a:pPr marL="0" indent="0">
              <a:buNone/>
            </a:pPr>
            <a:r>
              <a:rPr lang="en-US" sz="2000" b="1" dirty="0"/>
              <a:t>	}	</a:t>
            </a:r>
          </a:p>
          <a:p>
            <a:pPr marL="0" indent="0">
              <a:buNone/>
            </a:pPr>
            <a:r>
              <a:rPr lang="en-US" sz="2000" b="1" dirty="0"/>
              <a:t>}</a:t>
            </a:r>
          </a:p>
        </p:txBody>
      </p:sp>
    </p:spTree>
    <p:extLst>
      <p:ext uri="{BB962C8B-B14F-4D97-AF65-F5344CB8AC3E}">
        <p14:creationId xmlns:p14="http://schemas.microsoft.com/office/powerpoint/2010/main" val="745801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11E7-9C14-E4AF-CE2D-9B8524267CBA}"/>
              </a:ext>
            </a:extLst>
          </p:cNvPr>
          <p:cNvSpPr>
            <a:spLocks noGrp="1"/>
          </p:cNvSpPr>
          <p:nvPr>
            <p:ph type="title"/>
          </p:nvPr>
        </p:nvSpPr>
        <p:spPr/>
        <p:txBody>
          <a:bodyPr/>
          <a:lstStyle/>
          <a:p>
            <a:pPr algn="ctr"/>
            <a:r>
              <a:rPr lang="en-US" b="1" dirty="0"/>
              <a:t>Inheritance vs. Interface?</a:t>
            </a:r>
          </a:p>
        </p:txBody>
      </p:sp>
      <p:sp>
        <p:nvSpPr>
          <p:cNvPr id="3" name="Content Placeholder 2">
            <a:extLst>
              <a:ext uri="{FF2B5EF4-FFF2-40B4-BE49-F238E27FC236}">
                <a16:creationId xmlns:a16="http://schemas.microsoft.com/office/drawing/2014/main" id="{E6CCC0A1-7F9B-6AC0-C914-ABD401A861B5}"/>
              </a:ext>
            </a:extLst>
          </p:cNvPr>
          <p:cNvSpPr>
            <a:spLocks noGrp="1"/>
          </p:cNvSpPr>
          <p:nvPr>
            <p:ph idx="1"/>
          </p:nvPr>
        </p:nvSpPr>
        <p:spPr>
          <a:xfrm>
            <a:off x="2856029" y="1788473"/>
            <a:ext cx="8915400" cy="4347598"/>
          </a:xfrm>
        </p:spPr>
        <p:txBody>
          <a:bodyPr>
            <a:noAutofit/>
          </a:bodyPr>
          <a:lstStyle/>
          <a:p>
            <a:pPr marL="0" indent="0">
              <a:buNone/>
            </a:pPr>
            <a:r>
              <a:rPr lang="en-US" sz="2400" dirty="0"/>
              <a:t>In general, a strong is-a relationship that clearly describes a parent-child relationship should be modeled using inheritance with classes.</a:t>
            </a:r>
          </a:p>
          <a:p>
            <a:pPr marL="0" indent="0">
              <a:buNone/>
            </a:pPr>
            <a:r>
              <a:rPr lang="en-US" sz="2400" dirty="0"/>
              <a:t>For example, a staff member is a person. </a:t>
            </a:r>
          </a:p>
          <a:p>
            <a:pPr marL="0" indent="0">
              <a:buNone/>
            </a:pPr>
            <a:r>
              <a:rPr lang="en-US" sz="2400" dirty="0"/>
              <a:t>A weak is-a relationship, also known as an is-kind-of relationship, indicates that an object possesses a certain property and can be modeled using interfaces. </a:t>
            </a:r>
          </a:p>
          <a:p>
            <a:pPr marL="0" indent="0">
              <a:buNone/>
            </a:pPr>
            <a:r>
              <a:rPr lang="en-US" sz="2400" dirty="0"/>
              <a:t>For example, all strings are comparable, so the String class implements the Comparable interface. </a:t>
            </a:r>
          </a:p>
          <a:p>
            <a:pPr marL="0" indent="0">
              <a:buNone/>
            </a:pPr>
            <a:endParaRPr lang="en-US" sz="2400" dirty="0"/>
          </a:p>
        </p:txBody>
      </p:sp>
    </p:spTree>
    <p:extLst>
      <p:ext uri="{BB962C8B-B14F-4D97-AF65-F5344CB8AC3E}">
        <p14:creationId xmlns:p14="http://schemas.microsoft.com/office/powerpoint/2010/main" val="1104755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14D75-F5CC-CFC2-B5AF-83F8672E269D}"/>
              </a:ext>
            </a:extLst>
          </p:cNvPr>
          <p:cNvSpPr>
            <a:spLocks noGrp="1"/>
          </p:cNvSpPr>
          <p:nvPr>
            <p:ph type="title"/>
          </p:nvPr>
        </p:nvSpPr>
        <p:spPr/>
        <p:txBody>
          <a:bodyPr/>
          <a:lstStyle/>
          <a:p>
            <a:pPr algn="ctr"/>
            <a:r>
              <a:rPr lang="en-US" b="1" dirty="0"/>
              <a:t>User Interface Callbacks</a:t>
            </a:r>
          </a:p>
        </p:txBody>
      </p:sp>
      <p:sp>
        <p:nvSpPr>
          <p:cNvPr id="3" name="Content Placeholder 2">
            <a:extLst>
              <a:ext uri="{FF2B5EF4-FFF2-40B4-BE49-F238E27FC236}">
                <a16:creationId xmlns:a16="http://schemas.microsoft.com/office/drawing/2014/main" id="{4374FE2F-C2E3-9225-675D-A814B1691838}"/>
              </a:ext>
            </a:extLst>
          </p:cNvPr>
          <p:cNvSpPr>
            <a:spLocks noGrp="1"/>
          </p:cNvSpPr>
          <p:nvPr>
            <p:ph idx="1"/>
          </p:nvPr>
        </p:nvSpPr>
        <p:spPr>
          <a:xfrm>
            <a:off x="2776781" y="1406769"/>
            <a:ext cx="8915400" cy="3777622"/>
          </a:xfrm>
        </p:spPr>
        <p:txBody>
          <a:bodyPr>
            <a:noAutofit/>
          </a:bodyPr>
          <a:lstStyle/>
          <a:p>
            <a:pPr marL="0" indent="0">
              <a:buNone/>
            </a:pPr>
            <a:r>
              <a:rPr lang="en-US" sz="2400" dirty="0"/>
              <a:t>In a graphical user interface, you have to specify actions to be carried out when the user clicks a button, selects a menu option, drags a slider, and so on. </a:t>
            </a:r>
          </a:p>
          <a:p>
            <a:pPr marL="0" indent="0">
              <a:buNone/>
            </a:pPr>
            <a:r>
              <a:rPr lang="en-US" sz="2400" dirty="0"/>
              <a:t>These actions are often called callbacks because some code gets called back when a user action occurs.</a:t>
            </a:r>
          </a:p>
          <a:p>
            <a:pPr marL="0" indent="0">
              <a:buNone/>
            </a:pPr>
            <a:r>
              <a:rPr lang="en-US" sz="2400" dirty="0"/>
              <a:t>In Java-based GUI libraries, interfaces are used for callbacks. For example, in the Swing library, the following interface is frequently used for handling events:</a:t>
            </a:r>
          </a:p>
          <a:p>
            <a:pPr marL="800100" lvl="2" indent="0">
              <a:buNone/>
            </a:pPr>
            <a:r>
              <a:rPr lang="en-US" sz="2400" b="1" dirty="0"/>
              <a:t>public interface ActionListener {</a:t>
            </a:r>
          </a:p>
          <a:p>
            <a:pPr marL="800100" lvl="2" indent="0">
              <a:buNone/>
            </a:pPr>
            <a:r>
              <a:rPr lang="en-US" sz="2400" b="1" dirty="0"/>
              <a:t>    void </a:t>
            </a:r>
            <a:r>
              <a:rPr lang="en-US" sz="2400" b="1" dirty="0" err="1"/>
              <a:t>actionPerformed</a:t>
            </a:r>
            <a:r>
              <a:rPr lang="en-US" sz="2400" b="1" dirty="0"/>
              <a:t>(</a:t>
            </a:r>
            <a:r>
              <a:rPr lang="en-US" sz="2400" b="1" dirty="0" err="1"/>
              <a:t>ActionEvent</a:t>
            </a:r>
            <a:r>
              <a:rPr lang="en-US" sz="2400" b="1" dirty="0"/>
              <a:t> event);</a:t>
            </a:r>
          </a:p>
          <a:p>
            <a:pPr marL="800100" lvl="2" indent="0">
              <a:buNone/>
            </a:pPr>
            <a:r>
              <a:rPr lang="en-US" sz="2400" b="1" dirty="0"/>
              <a:t>}</a:t>
            </a:r>
          </a:p>
        </p:txBody>
      </p:sp>
    </p:spTree>
    <p:extLst>
      <p:ext uri="{BB962C8B-B14F-4D97-AF65-F5344CB8AC3E}">
        <p14:creationId xmlns:p14="http://schemas.microsoft.com/office/powerpoint/2010/main" val="2858652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6598-5164-8386-36CD-E0F39CA9DFEB}"/>
              </a:ext>
            </a:extLst>
          </p:cNvPr>
          <p:cNvSpPr>
            <a:spLocks noGrp="1"/>
          </p:cNvSpPr>
          <p:nvPr>
            <p:ph type="title"/>
          </p:nvPr>
        </p:nvSpPr>
        <p:spPr>
          <a:xfrm>
            <a:off x="2555218" y="124490"/>
            <a:ext cx="8911687" cy="1280890"/>
          </a:xfrm>
        </p:spPr>
        <p:txBody>
          <a:bodyPr/>
          <a:lstStyle/>
          <a:p>
            <a:pPr algn="ctr"/>
            <a:r>
              <a:rPr lang="en-US" b="1" dirty="0"/>
              <a:t>Accessing Implementations Through Interface References</a:t>
            </a:r>
          </a:p>
        </p:txBody>
      </p:sp>
      <p:sp>
        <p:nvSpPr>
          <p:cNvPr id="3" name="Content Placeholder 2">
            <a:extLst>
              <a:ext uri="{FF2B5EF4-FFF2-40B4-BE49-F238E27FC236}">
                <a16:creationId xmlns:a16="http://schemas.microsoft.com/office/drawing/2014/main" id="{C3C804A0-7F4A-1AE5-CEB1-3D89135FB628}"/>
              </a:ext>
            </a:extLst>
          </p:cNvPr>
          <p:cNvSpPr>
            <a:spLocks noGrp="1"/>
          </p:cNvSpPr>
          <p:nvPr>
            <p:ph idx="1"/>
          </p:nvPr>
        </p:nvSpPr>
        <p:spPr>
          <a:xfrm>
            <a:off x="2777747" y="1831942"/>
            <a:ext cx="9288561" cy="3777622"/>
          </a:xfrm>
        </p:spPr>
        <p:txBody>
          <a:bodyPr>
            <a:noAutofit/>
          </a:bodyPr>
          <a:lstStyle/>
          <a:p>
            <a:pPr marL="0" indent="0">
              <a:buNone/>
            </a:pPr>
            <a:r>
              <a:rPr lang="en-US" sz="2400" dirty="0"/>
              <a:t>Similar to abstract classes, you can declare variables as object references that use an interface rather than a class type. Any instance of any class that implements the declared interface can be referred to by such a variable. </a:t>
            </a:r>
          </a:p>
          <a:p>
            <a:pPr marL="0" indent="0">
              <a:buNone/>
            </a:pPr>
            <a:r>
              <a:rPr lang="en-US" sz="2400" dirty="0"/>
              <a:t>When you call a method through one of these references, the correct version will be called based on the actual instance of the interface being referred to. This is one of the key features of interfaces. </a:t>
            </a:r>
          </a:p>
          <a:p>
            <a:pPr marL="0" indent="0">
              <a:buNone/>
            </a:pPr>
            <a:r>
              <a:rPr lang="en-US" sz="2400" dirty="0"/>
              <a:t>The method to be executed is looked up dynamically at run time, allowing classes to be created later than the code that calls methods on them. The calling code can dispatch through an interface without having to know anything about the “callee.” </a:t>
            </a:r>
          </a:p>
        </p:txBody>
      </p:sp>
    </p:spTree>
    <p:extLst>
      <p:ext uri="{BB962C8B-B14F-4D97-AF65-F5344CB8AC3E}">
        <p14:creationId xmlns:p14="http://schemas.microsoft.com/office/powerpoint/2010/main" val="1002711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7A1DA-1999-9273-62C0-AFCF8372E5BB}"/>
              </a:ext>
            </a:extLst>
          </p:cNvPr>
          <p:cNvSpPr>
            <a:spLocks noGrp="1"/>
          </p:cNvSpPr>
          <p:nvPr>
            <p:ph type="title"/>
          </p:nvPr>
        </p:nvSpPr>
        <p:spPr/>
        <p:txBody>
          <a:bodyPr/>
          <a:lstStyle/>
          <a:p>
            <a:pPr algn="ctr"/>
            <a:r>
              <a:rPr lang="en-US" b="1" dirty="0"/>
              <a:t>Variables in Interfaces</a:t>
            </a:r>
          </a:p>
        </p:txBody>
      </p:sp>
      <p:sp>
        <p:nvSpPr>
          <p:cNvPr id="3" name="Content Placeholder 2">
            <a:extLst>
              <a:ext uri="{FF2B5EF4-FFF2-40B4-BE49-F238E27FC236}">
                <a16:creationId xmlns:a16="http://schemas.microsoft.com/office/drawing/2014/main" id="{3563D6B4-50EC-C422-1726-66EF58169E24}"/>
              </a:ext>
            </a:extLst>
          </p:cNvPr>
          <p:cNvSpPr>
            <a:spLocks noGrp="1"/>
          </p:cNvSpPr>
          <p:nvPr>
            <p:ph idx="1"/>
          </p:nvPr>
        </p:nvSpPr>
        <p:spPr>
          <a:xfrm>
            <a:off x="2721187" y="1699967"/>
            <a:ext cx="8915400" cy="4851662"/>
          </a:xfrm>
        </p:spPr>
        <p:txBody>
          <a:bodyPr>
            <a:normAutofit/>
          </a:bodyPr>
          <a:lstStyle/>
          <a:p>
            <a:pPr marL="0" indent="0">
              <a:buNone/>
            </a:pPr>
            <a:r>
              <a:rPr lang="en-US" sz="2400" dirty="0"/>
              <a:t>You can use interfaces to import shared constants into multiple classes by simply declaring an interface that contains variables that are initialized to the desired values. </a:t>
            </a:r>
          </a:p>
          <a:p>
            <a:pPr marL="0" indent="0">
              <a:buNone/>
            </a:pPr>
            <a:r>
              <a:rPr lang="en-US" sz="2400" dirty="0"/>
              <a:t>When you implement that interface in a class, all of those variable names will be in scope as constants. </a:t>
            </a:r>
          </a:p>
          <a:p>
            <a:pPr marL="0" indent="0">
              <a:buNone/>
            </a:pPr>
            <a:r>
              <a:rPr lang="en-US" sz="2400" dirty="0"/>
              <a:t>If an interface contains no methods, then any class that includes such an interface doesn’t actually implement anything. It is as if that class were importing the constant fields into the class name space as final variables.</a:t>
            </a:r>
          </a:p>
        </p:txBody>
      </p:sp>
    </p:spTree>
    <p:extLst>
      <p:ext uri="{BB962C8B-B14F-4D97-AF65-F5344CB8AC3E}">
        <p14:creationId xmlns:p14="http://schemas.microsoft.com/office/powerpoint/2010/main" val="2254333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DE32-9524-23F8-A81F-5148906FB74D}"/>
              </a:ext>
            </a:extLst>
          </p:cNvPr>
          <p:cNvSpPr>
            <a:spLocks noGrp="1"/>
          </p:cNvSpPr>
          <p:nvPr>
            <p:ph type="title"/>
          </p:nvPr>
        </p:nvSpPr>
        <p:spPr/>
        <p:txBody>
          <a:bodyPr/>
          <a:lstStyle/>
          <a:p>
            <a:pPr algn="ctr"/>
            <a:r>
              <a:rPr lang="en-US" b="1" dirty="0"/>
              <a:t>Example of Interfaces with Variables</a:t>
            </a:r>
          </a:p>
        </p:txBody>
      </p:sp>
      <p:pic>
        <p:nvPicPr>
          <p:cNvPr id="6" name="Content Placeholder 5">
            <a:extLst>
              <a:ext uri="{FF2B5EF4-FFF2-40B4-BE49-F238E27FC236}">
                <a16:creationId xmlns:a16="http://schemas.microsoft.com/office/drawing/2014/main" id="{6911E145-A80F-317D-9C54-71DEE6E052B0}"/>
              </a:ext>
            </a:extLst>
          </p:cNvPr>
          <p:cNvPicPr>
            <a:picLocks noGrp="1" noChangeAspect="1"/>
          </p:cNvPicPr>
          <p:nvPr>
            <p:ph sz="half" idx="1"/>
          </p:nvPr>
        </p:nvPicPr>
        <p:blipFill>
          <a:blip r:embed="rId2"/>
          <a:stretch>
            <a:fillRect/>
          </a:stretch>
        </p:blipFill>
        <p:spPr>
          <a:xfrm>
            <a:off x="1050068" y="1818372"/>
            <a:ext cx="4965623" cy="2587977"/>
          </a:xfrm>
          <a:prstGeom prst="rect">
            <a:avLst/>
          </a:prstGeom>
          <a:ln w="19050">
            <a:solidFill>
              <a:schemeClr val="tx1"/>
            </a:solidFill>
          </a:ln>
        </p:spPr>
      </p:pic>
      <p:pic>
        <p:nvPicPr>
          <p:cNvPr id="5" name="Content Placeholder 4">
            <a:extLst>
              <a:ext uri="{FF2B5EF4-FFF2-40B4-BE49-F238E27FC236}">
                <a16:creationId xmlns:a16="http://schemas.microsoft.com/office/drawing/2014/main" id="{C2B6595D-E79B-9902-E13D-A06BF6B51768}"/>
              </a:ext>
            </a:extLst>
          </p:cNvPr>
          <p:cNvPicPr>
            <a:picLocks noGrp="1" noChangeAspect="1"/>
          </p:cNvPicPr>
          <p:nvPr>
            <p:ph sz="half" idx="2"/>
          </p:nvPr>
        </p:nvPicPr>
        <p:blipFill>
          <a:blip r:embed="rId3"/>
          <a:stretch>
            <a:fillRect/>
          </a:stretch>
        </p:blipFill>
        <p:spPr>
          <a:xfrm>
            <a:off x="6371334" y="1737213"/>
            <a:ext cx="5133277" cy="3383573"/>
          </a:xfrm>
          <a:prstGeom prst="rect">
            <a:avLst/>
          </a:prstGeom>
          <a:ln w="19050">
            <a:solidFill>
              <a:schemeClr val="tx1"/>
            </a:solidFill>
          </a:ln>
        </p:spPr>
      </p:pic>
    </p:spTree>
    <p:extLst>
      <p:ext uri="{BB962C8B-B14F-4D97-AF65-F5344CB8AC3E}">
        <p14:creationId xmlns:p14="http://schemas.microsoft.com/office/powerpoint/2010/main" val="3474445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4C630-DDC9-7E16-AE6C-45B01BE9CD4C}"/>
              </a:ext>
            </a:extLst>
          </p:cNvPr>
          <p:cNvSpPr>
            <a:spLocks noGrp="1"/>
          </p:cNvSpPr>
          <p:nvPr>
            <p:ph type="title"/>
          </p:nvPr>
        </p:nvSpPr>
        <p:spPr/>
        <p:txBody>
          <a:bodyPr/>
          <a:lstStyle/>
          <a:p>
            <a:pPr algn="ctr"/>
            <a:r>
              <a:rPr lang="en-US" b="1" dirty="0"/>
              <a:t>Example of Interfaces with Variables</a:t>
            </a:r>
          </a:p>
        </p:txBody>
      </p:sp>
      <p:pic>
        <p:nvPicPr>
          <p:cNvPr id="5" name="Content Placeholder 4">
            <a:extLst>
              <a:ext uri="{FF2B5EF4-FFF2-40B4-BE49-F238E27FC236}">
                <a16:creationId xmlns:a16="http://schemas.microsoft.com/office/drawing/2014/main" id="{E01809F6-BA3B-3543-E553-B1C04D049377}"/>
              </a:ext>
            </a:extLst>
          </p:cNvPr>
          <p:cNvPicPr>
            <a:picLocks noGrp="1" noChangeAspect="1"/>
          </p:cNvPicPr>
          <p:nvPr>
            <p:ph idx="1"/>
          </p:nvPr>
        </p:nvPicPr>
        <p:blipFill>
          <a:blip r:embed="rId2"/>
          <a:stretch>
            <a:fillRect/>
          </a:stretch>
        </p:blipFill>
        <p:spPr>
          <a:xfrm>
            <a:off x="2879495" y="1714258"/>
            <a:ext cx="3305636" cy="1724266"/>
          </a:xfrm>
        </p:spPr>
      </p:pic>
      <p:pic>
        <p:nvPicPr>
          <p:cNvPr id="7" name="Picture 6">
            <a:extLst>
              <a:ext uri="{FF2B5EF4-FFF2-40B4-BE49-F238E27FC236}">
                <a16:creationId xmlns:a16="http://schemas.microsoft.com/office/drawing/2014/main" id="{B53A9A97-2A3F-0725-87D9-D2CB40D524FE}"/>
              </a:ext>
            </a:extLst>
          </p:cNvPr>
          <p:cNvPicPr>
            <a:picLocks noChangeAspect="1"/>
          </p:cNvPicPr>
          <p:nvPr/>
        </p:nvPicPr>
        <p:blipFill>
          <a:blip r:embed="rId3"/>
          <a:stretch>
            <a:fillRect/>
          </a:stretch>
        </p:blipFill>
        <p:spPr>
          <a:xfrm>
            <a:off x="6704115" y="1738076"/>
            <a:ext cx="5134692" cy="3381847"/>
          </a:xfrm>
          <a:prstGeom prst="rect">
            <a:avLst/>
          </a:prstGeom>
        </p:spPr>
      </p:pic>
      <p:sp>
        <p:nvSpPr>
          <p:cNvPr id="8" name="TextBox 7">
            <a:extLst>
              <a:ext uri="{FF2B5EF4-FFF2-40B4-BE49-F238E27FC236}">
                <a16:creationId xmlns:a16="http://schemas.microsoft.com/office/drawing/2014/main" id="{6449473D-853E-6DB0-D6AD-1D35694952F2}"/>
              </a:ext>
            </a:extLst>
          </p:cNvPr>
          <p:cNvSpPr txBox="1"/>
          <p:nvPr/>
        </p:nvSpPr>
        <p:spPr>
          <a:xfrm>
            <a:off x="3195688" y="5382705"/>
            <a:ext cx="7225992" cy="923330"/>
          </a:xfrm>
          <a:prstGeom prst="rect">
            <a:avLst/>
          </a:prstGeom>
          <a:noFill/>
        </p:spPr>
        <p:txBody>
          <a:bodyPr wrap="square" rtlCol="0">
            <a:spAutoFit/>
          </a:bodyPr>
          <a:lstStyle/>
          <a:p>
            <a:r>
              <a:rPr lang="en-US" dirty="0"/>
              <a:t>NOTE The technique of using an interface to define shared constants, as just described, is controversial. It is described here for completeness.</a:t>
            </a:r>
          </a:p>
        </p:txBody>
      </p:sp>
    </p:spTree>
    <p:extLst>
      <p:ext uri="{BB962C8B-B14F-4D97-AF65-F5344CB8AC3E}">
        <p14:creationId xmlns:p14="http://schemas.microsoft.com/office/powerpoint/2010/main" val="3624405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132B0-2979-C940-2CEA-89FB21EF701E}"/>
              </a:ext>
            </a:extLst>
          </p:cNvPr>
          <p:cNvSpPr>
            <a:spLocks noGrp="1"/>
          </p:cNvSpPr>
          <p:nvPr>
            <p:ph type="title"/>
          </p:nvPr>
        </p:nvSpPr>
        <p:spPr/>
        <p:txBody>
          <a:bodyPr/>
          <a:lstStyle/>
          <a:p>
            <a:pPr algn="ctr"/>
            <a:r>
              <a:rPr lang="en-US" b="1" dirty="0"/>
              <a:t>Interfaces can be Extended</a:t>
            </a:r>
          </a:p>
        </p:txBody>
      </p:sp>
      <p:sp>
        <p:nvSpPr>
          <p:cNvPr id="3" name="Content Placeholder 2">
            <a:extLst>
              <a:ext uri="{FF2B5EF4-FFF2-40B4-BE49-F238E27FC236}">
                <a16:creationId xmlns:a16="http://schemas.microsoft.com/office/drawing/2014/main" id="{27ACBEE2-6C44-069F-7953-4A9D729CC3B8}"/>
              </a:ext>
            </a:extLst>
          </p:cNvPr>
          <p:cNvSpPr>
            <a:spLocks noGrp="1"/>
          </p:cNvSpPr>
          <p:nvPr>
            <p:ph idx="1"/>
          </p:nvPr>
        </p:nvSpPr>
        <p:spPr/>
        <p:txBody>
          <a:bodyPr>
            <a:normAutofit/>
          </a:bodyPr>
          <a:lstStyle/>
          <a:p>
            <a:pPr marL="0" indent="0">
              <a:buNone/>
            </a:pPr>
            <a:r>
              <a:rPr lang="en-US" sz="2400" dirty="0"/>
              <a:t>One interface can inherit another by use of the keyword extends. The syntax is the same as for inheriting classes. </a:t>
            </a:r>
          </a:p>
          <a:p>
            <a:pPr marL="0" indent="0">
              <a:buNone/>
            </a:pPr>
            <a:r>
              <a:rPr lang="en-US" sz="2400" dirty="0"/>
              <a:t>When a class implements an interface that inherits another interface, it must provide implementations for all methods required by the interface inheritance chain. </a:t>
            </a:r>
          </a:p>
        </p:txBody>
      </p:sp>
    </p:spTree>
    <p:extLst>
      <p:ext uri="{BB962C8B-B14F-4D97-AF65-F5344CB8AC3E}">
        <p14:creationId xmlns:p14="http://schemas.microsoft.com/office/powerpoint/2010/main" val="4211821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D5A0-B97B-D2B4-4F9A-2E27C6DC3826}"/>
              </a:ext>
            </a:extLst>
          </p:cNvPr>
          <p:cNvSpPr>
            <a:spLocks noGrp="1"/>
          </p:cNvSpPr>
          <p:nvPr>
            <p:ph type="title"/>
          </p:nvPr>
        </p:nvSpPr>
        <p:spPr/>
        <p:txBody>
          <a:bodyPr/>
          <a:lstStyle/>
          <a:p>
            <a:pPr algn="ctr"/>
            <a:r>
              <a:rPr lang="en-US" b="1" dirty="0"/>
              <a:t>Example of Extending Interfaces</a:t>
            </a:r>
          </a:p>
        </p:txBody>
      </p:sp>
      <p:sp>
        <p:nvSpPr>
          <p:cNvPr id="3" name="Content Placeholder 2">
            <a:extLst>
              <a:ext uri="{FF2B5EF4-FFF2-40B4-BE49-F238E27FC236}">
                <a16:creationId xmlns:a16="http://schemas.microsoft.com/office/drawing/2014/main" id="{C5457EA8-572D-AD25-069C-422942A265DE}"/>
              </a:ext>
            </a:extLst>
          </p:cNvPr>
          <p:cNvSpPr>
            <a:spLocks noGrp="1"/>
          </p:cNvSpPr>
          <p:nvPr>
            <p:ph sz="half" idx="1"/>
          </p:nvPr>
        </p:nvSpPr>
        <p:spPr>
          <a:xfrm>
            <a:off x="2589212" y="2133599"/>
            <a:ext cx="4313864" cy="4182359"/>
          </a:xfrm>
        </p:spPr>
        <p:txBody>
          <a:bodyPr>
            <a:normAutofit/>
          </a:bodyPr>
          <a:lstStyle/>
          <a:p>
            <a:pPr marL="0" indent="0">
              <a:buNone/>
            </a:pPr>
            <a:r>
              <a:rPr lang="en-US" dirty="0"/>
              <a:t>//One interface can extend another</a:t>
            </a:r>
          </a:p>
          <a:p>
            <a:pPr marL="0" indent="0">
              <a:buNone/>
            </a:pPr>
            <a:r>
              <a:rPr lang="en-US" b="1" dirty="0"/>
              <a:t>interface A {</a:t>
            </a:r>
          </a:p>
          <a:p>
            <a:pPr marL="457200" lvl="1" indent="0">
              <a:buNone/>
            </a:pPr>
            <a:r>
              <a:rPr lang="en-US" b="1" dirty="0"/>
              <a:t>void method1();</a:t>
            </a:r>
          </a:p>
          <a:p>
            <a:pPr marL="457200" lvl="1" indent="0">
              <a:buNone/>
            </a:pPr>
            <a:r>
              <a:rPr lang="en-US" b="1" dirty="0"/>
              <a:t>void method2();</a:t>
            </a:r>
          </a:p>
          <a:p>
            <a:pPr marL="0" indent="0">
              <a:buNone/>
            </a:pPr>
            <a:r>
              <a:rPr lang="en-US" b="1" dirty="0"/>
              <a:t>}</a:t>
            </a:r>
          </a:p>
          <a:p>
            <a:pPr marL="0" indent="0">
              <a:buNone/>
            </a:pPr>
            <a:r>
              <a:rPr lang="en-US" dirty="0"/>
              <a:t>//B now adds method3()</a:t>
            </a:r>
          </a:p>
          <a:p>
            <a:pPr marL="0" indent="0">
              <a:buNone/>
            </a:pPr>
            <a:r>
              <a:rPr lang="en-US" b="1" dirty="0"/>
              <a:t>interface B extends A {</a:t>
            </a:r>
          </a:p>
          <a:p>
            <a:pPr marL="457200" lvl="1" indent="0">
              <a:buNone/>
            </a:pPr>
            <a:r>
              <a:rPr lang="en-US" b="1" dirty="0"/>
              <a:t>void method3();</a:t>
            </a:r>
          </a:p>
          <a:p>
            <a:pPr marL="0" indent="0">
              <a:buNone/>
            </a:pPr>
            <a:r>
              <a:rPr lang="en-US" b="1" dirty="0"/>
              <a:t>}</a:t>
            </a:r>
          </a:p>
          <a:p>
            <a:pPr marL="0" indent="0">
              <a:buNone/>
            </a:pPr>
            <a:r>
              <a:rPr lang="en-US" dirty="0"/>
              <a:t>//B now includes all three methods</a:t>
            </a:r>
          </a:p>
        </p:txBody>
      </p:sp>
      <p:sp>
        <p:nvSpPr>
          <p:cNvPr id="4" name="Content Placeholder 3">
            <a:extLst>
              <a:ext uri="{FF2B5EF4-FFF2-40B4-BE49-F238E27FC236}">
                <a16:creationId xmlns:a16="http://schemas.microsoft.com/office/drawing/2014/main" id="{B8E0100D-37CB-FC26-1847-1E86A7361404}"/>
              </a:ext>
            </a:extLst>
          </p:cNvPr>
          <p:cNvSpPr>
            <a:spLocks noGrp="1"/>
          </p:cNvSpPr>
          <p:nvPr>
            <p:ph sz="half" idx="2"/>
          </p:nvPr>
        </p:nvSpPr>
        <p:spPr>
          <a:xfrm>
            <a:off x="6903076" y="2133599"/>
            <a:ext cx="5044595" cy="4512298"/>
          </a:xfrm>
        </p:spPr>
        <p:txBody>
          <a:bodyPr>
            <a:normAutofit/>
          </a:bodyPr>
          <a:lstStyle/>
          <a:p>
            <a:pPr marL="0" indent="0">
              <a:buNone/>
            </a:pPr>
            <a:r>
              <a:rPr lang="en-US" dirty="0"/>
              <a:t>This class must implement all of A and B</a:t>
            </a:r>
          </a:p>
          <a:p>
            <a:pPr marL="0" indent="0">
              <a:buNone/>
            </a:pPr>
            <a:r>
              <a:rPr lang="en-US" b="1" dirty="0"/>
              <a:t>class </a:t>
            </a:r>
            <a:r>
              <a:rPr lang="en-US" b="1" dirty="0" err="1"/>
              <a:t>MyClass</a:t>
            </a:r>
            <a:r>
              <a:rPr lang="en-US" b="1" dirty="0"/>
              <a:t> implements B {</a:t>
            </a:r>
          </a:p>
          <a:p>
            <a:pPr marL="457200" lvl="1" indent="0">
              <a:buNone/>
            </a:pPr>
            <a:r>
              <a:rPr lang="en-US" b="1" dirty="0"/>
              <a:t>public void method1() {</a:t>
            </a:r>
          </a:p>
          <a:p>
            <a:pPr marL="914400" lvl="2" indent="0">
              <a:buNone/>
            </a:pPr>
            <a:r>
              <a:rPr lang="en-US" dirty="0"/>
              <a:t>//implement method1</a:t>
            </a:r>
          </a:p>
          <a:p>
            <a:pPr marL="457200" lvl="1" indent="0">
              <a:buNone/>
            </a:pPr>
            <a:r>
              <a:rPr lang="en-US" b="1" dirty="0"/>
              <a:t>}	</a:t>
            </a:r>
          </a:p>
          <a:p>
            <a:pPr marL="457200" lvl="1" indent="0">
              <a:buNone/>
            </a:pPr>
            <a:r>
              <a:rPr lang="en-US" b="1" dirty="0"/>
              <a:t>public void method2() {</a:t>
            </a:r>
          </a:p>
          <a:p>
            <a:pPr marL="914400" lvl="2" indent="0">
              <a:buNone/>
            </a:pPr>
            <a:r>
              <a:rPr lang="en-US" dirty="0"/>
              <a:t>//implement method2</a:t>
            </a:r>
          </a:p>
          <a:p>
            <a:pPr marL="457200" lvl="1" indent="0">
              <a:buNone/>
            </a:pPr>
            <a:r>
              <a:rPr lang="en-US" b="1" dirty="0"/>
              <a:t>}	</a:t>
            </a:r>
          </a:p>
          <a:p>
            <a:pPr marL="457200" lvl="1" indent="0">
              <a:buNone/>
            </a:pPr>
            <a:r>
              <a:rPr lang="en-US" b="1" dirty="0"/>
              <a:t>public void method3() </a:t>
            </a:r>
            <a:r>
              <a:rPr lang="en-US" dirty="0"/>
              <a:t>{</a:t>
            </a:r>
          </a:p>
          <a:p>
            <a:pPr marL="914400" lvl="2" indent="0">
              <a:buNone/>
            </a:pPr>
            <a:r>
              <a:rPr lang="en-US" dirty="0"/>
              <a:t>//implement method3</a:t>
            </a:r>
          </a:p>
          <a:p>
            <a:pPr marL="457200" lvl="1" indent="0">
              <a:buNone/>
            </a:pPr>
            <a:r>
              <a:rPr lang="en-US" b="1" dirty="0"/>
              <a:t>}</a:t>
            </a:r>
            <a:r>
              <a:rPr lang="en-US" dirty="0"/>
              <a:t>	</a:t>
            </a:r>
          </a:p>
          <a:p>
            <a:pPr marL="0" indent="0">
              <a:buNone/>
            </a:pPr>
            <a:r>
              <a:rPr lang="en-US" b="1" dirty="0"/>
              <a:t>}</a:t>
            </a:r>
          </a:p>
          <a:p>
            <a:pPr marL="457200" lvl="1" indent="0">
              <a:buNone/>
            </a:pPr>
            <a:endParaRPr lang="en-US" dirty="0"/>
          </a:p>
        </p:txBody>
      </p:sp>
    </p:spTree>
    <p:extLst>
      <p:ext uri="{BB962C8B-B14F-4D97-AF65-F5344CB8AC3E}">
        <p14:creationId xmlns:p14="http://schemas.microsoft.com/office/powerpoint/2010/main" val="1003640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17F7-7360-7E8B-96DA-6287A4598C21}"/>
              </a:ext>
            </a:extLst>
          </p:cNvPr>
          <p:cNvSpPr>
            <a:spLocks noGrp="1"/>
          </p:cNvSpPr>
          <p:nvPr>
            <p:ph type="title"/>
          </p:nvPr>
        </p:nvSpPr>
        <p:spPr/>
        <p:txBody>
          <a:bodyPr/>
          <a:lstStyle/>
          <a:p>
            <a:pPr algn="ctr"/>
            <a:r>
              <a:rPr lang="en-US" b="1" dirty="0"/>
              <a:t>Static Methods in an Interface</a:t>
            </a:r>
          </a:p>
        </p:txBody>
      </p:sp>
      <p:sp>
        <p:nvSpPr>
          <p:cNvPr id="3" name="Content Placeholder 2">
            <a:extLst>
              <a:ext uri="{FF2B5EF4-FFF2-40B4-BE49-F238E27FC236}">
                <a16:creationId xmlns:a16="http://schemas.microsoft.com/office/drawing/2014/main" id="{B3B2E269-48CD-A47C-AE5C-C6F0636A3BBD}"/>
              </a:ext>
            </a:extLst>
          </p:cNvPr>
          <p:cNvSpPr>
            <a:spLocks noGrp="1"/>
          </p:cNvSpPr>
          <p:nvPr>
            <p:ph idx="1"/>
          </p:nvPr>
        </p:nvSpPr>
        <p:spPr>
          <a:xfrm>
            <a:off x="2589212" y="2133600"/>
            <a:ext cx="8915400" cy="4597138"/>
          </a:xfrm>
        </p:spPr>
        <p:txBody>
          <a:bodyPr>
            <a:normAutofit/>
          </a:bodyPr>
          <a:lstStyle/>
          <a:p>
            <a:pPr marL="0" indent="0">
              <a:buNone/>
            </a:pPr>
            <a:r>
              <a:rPr lang="en-US" sz="2400" dirty="0"/>
              <a:t>Another capability added to interface by JDK 8 is the ability to define one or more static methods. </a:t>
            </a:r>
          </a:p>
          <a:p>
            <a:pPr marL="0" indent="0">
              <a:buNone/>
            </a:pPr>
            <a:r>
              <a:rPr lang="en-US" sz="2400" dirty="0"/>
              <a:t>Like static methods in a class, a static method defined by an interface can be called independently of any object. </a:t>
            </a:r>
          </a:p>
          <a:p>
            <a:pPr marL="0" indent="0">
              <a:buNone/>
            </a:pPr>
            <a:r>
              <a:rPr lang="en-US" sz="2400" dirty="0"/>
              <a:t>Thus, no implementation of the interface is necessary, and no instance of the interface is required, in order to call a static method. </a:t>
            </a:r>
          </a:p>
          <a:p>
            <a:pPr marL="0" indent="0">
              <a:buNone/>
            </a:pPr>
            <a:r>
              <a:rPr lang="en-US" sz="2400" dirty="0"/>
              <a:t>Instead, a static method is called by specifying the interface name, followed by a period, followed by the method name.</a:t>
            </a:r>
          </a:p>
        </p:txBody>
      </p:sp>
    </p:spTree>
    <p:extLst>
      <p:ext uri="{BB962C8B-B14F-4D97-AF65-F5344CB8AC3E}">
        <p14:creationId xmlns:p14="http://schemas.microsoft.com/office/powerpoint/2010/main" val="3423609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32E7C-9A5D-EBE0-8B1C-B4F4B96AB71F}"/>
              </a:ext>
            </a:extLst>
          </p:cNvPr>
          <p:cNvSpPr>
            <a:spLocks noGrp="1"/>
          </p:cNvSpPr>
          <p:nvPr>
            <p:ph type="title"/>
          </p:nvPr>
        </p:nvSpPr>
        <p:spPr/>
        <p:txBody>
          <a:bodyPr/>
          <a:lstStyle/>
          <a:p>
            <a:r>
              <a:rPr lang="en-US" dirty="0"/>
              <a:t>Example of a Static Method</a:t>
            </a:r>
          </a:p>
        </p:txBody>
      </p:sp>
      <p:sp>
        <p:nvSpPr>
          <p:cNvPr id="3" name="Content Placeholder 2">
            <a:extLst>
              <a:ext uri="{FF2B5EF4-FFF2-40B4-BE49-F238E27FC236}">
                <a16:creationId xmlns:a16="http://schemas.microsoft.com/office/drawing/2014/main" id="{210BDBC2-DCCC-F249-0D27-FE4661681C3D}"/>
              </a:ext>
            </a:extLst>
          </p:cNvPr>
          <p:cNvSpPr>
            <a:spLocks noGrp="1"/>
          </p:cNvSpPr>
          <p:nvPr>
            <p:ph idx="1"/>
          </p:nvPr>
        </p:nvSpPr>
        <p:spPr>
          <a:xfrm>
            <a:off x="2485516" y="1643406"/>
            <a:ext cx="8911687" cy="4776248"/>
          </a:xfrm>
        </p:spPr>
        <p:txBody>
          <a:bodyPr>
            <a:normAutofit/>
          </a:bodyPr>
          <a:lstStyle/>
          <a:p>
            <a:pPr marL="0" indent="0">
              <a:buNone/>
            </a:pPr>
            <a:r>
              <a:rPr lang="en-US" sz="2000" b="1" dirty="0"/>
              <a:t>public interface </a:t>
            </a:r>
            <a:r>
              <a:rPr lang="en-US" sz="2000" b="1" dirty="0" err="1"/>
              <a:t>MyIF</a:t>
            </a:r>
            <a:r>
              <a:rPr lang="en-US" sz="2000" b="1" dirty="0"/>
              <a:t> {</a:t>
            </a:r>
          </a:p>
          <a:p>
            <a:pPr marL="457200" lvl="1" indent="0">
              <a:buNone/>
            </a:pPr>
            <a:r>
              <a:rPr lang="en-US" sz="2000" b="1" dirty="0"/>
              <a:t>int </a:t>
            </a:r>
            <a:r>
              <a:rPr lang="en-US" sz="2000" b="1" dirty="0" err="1"/>
              <a:t>getNumber</a:t>
            </a:r>
            <a:r>
              <a:rPr lang="en-US" sz="2000" b="1" dirty="0"/>
              <a:t>();</a:t>
            </a:r>
          </a:p>
          <a:p>
            <a:pPr marL="457200" lvl="1" indent="0">
              <a:buNone/>
            </a:pPr>
            <a:r>
              <a:rPr lang="en-US" sz="2000" dirty="0"/>
              <a:t>//this is a static interface method</a:t>
            </a:r>
          </a:p>
          <a:p>
            <a:pPr marL="457200" lvl="1" indent="0">
              <a:buNone/>
            </a:pPr>
            <a:r>
              <a:rPr lang="en-US" sz="2000" b="1" dirty="0"/>
              <a:t>static int </a:t>
            </a:r>
            <a:r>
              <a:rPr lang="en-US" sz="2000" b="1" dirty="0" err="1"/>
              <a:t>getDefaultNumber</a:t>
            </a:r>
            <a:r>
              <a:rPr lang="en-US" sz="2000" b="1" dirty="0"/>
              <a:t>() {</a:t>
            </a:r>
          </a:p>
          <a:p>
            <a:pPr marL="914400" lvl="2" indent="0">
              <a:buNone/>
            </a:pPr>
            <a:r>
              <a:rPr lang="en-US" sz="2000" b="1" dirty="0"/>
              <a:t>return 0;</a:t>
            </a:r>
          </a:p>
          <a:p>
            <a:pPr marL="457200" lvl="1" indent="0">
              <a:buNone/>
            </a:pPr>
            <a:r>
              <a:rPr lang="en-US" sz="2000" b="1" dirty="0"/>
              <a:t>}</a:t>
            </a:r>
          </a:p>
          <a:p>
            <a:pPr marL="457200" lvl="1" indent="0">
              <a:buNone/>
            </a:pPr>
            <a:endParaRPr lang="en-US" sz="2000" dirty="0"/>
          </a:p>
          <a:p>
            <a:pPr marL="457200" lvl="1" indent="0">
              <a:buNone/>
            </a:pPr>
            <a:r>
              <a:rPr lang="en-US" sz="2000"/>
              <a:t>//Call </a:t>
            </a:r>
            <a:r>
              <a:rPr lang="en-US" sz="2000" dirty="0" err="1"/>
              <a:t>getDefaultNumber</a:t>
            </a:r>
            <a:r>
              <a:rPr lang="en-US" sz="2000" dirty="0"/>
              <a:t>() this way:</a:t>
            </a:r>
          </a:p>
          <a:p>
            <a:pPr marL="457200" lvl="1" indent="0">
              <a:buNone/>
            </a:pPr>
            <a:r>
              <a:rPr lang="en-US" sz="2000" b="1" dirty="0"/>
              <a:t>int </a:t>
            </a:r>
            <a:r>
              <a:rPr lang="en-US" sz="2000" b="1" dirty="0" err="1"/>
              <a:t>defNum</a:t>
            </a:r>
            <a:r>
              <a:rPr lang="en-US" sz="2000" b="1" dirty="0"/>
              <a:t> = </a:t>
            </a:r>
            <a:r>
              <a:rPr lang="en-US" sz="2000" b="1" dirty="0" err="1"/>
              <a:t>MyIF.getDefaultNumber</a:t>
            </a:r>
            <a:r>
              <a:rPr lang="en-US" sz="2000" b="1" dirty="0"/>
              <a:t>();</a:t>
            </a:r>
          </a:p>
        </p:txBody>
      </p:sp>
    </p:spTree>
    <p:extLst>
      <p:ext uri="{BB962C8B-B14F-4D97-AF65-F5344CB8AC3E}">
        <p14:creationId xmlns:p14="http://schemas.microsoft.com/office/powerpoint/2010/main" val="11451127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1491</TotalTime>
  <Words>1573</Words>
  <Application>Microsoft Office PowerPoint</Application>
  <PresentationFormat>Widescreen</PresentationFormat>
  <Paragraphs>146</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Open Sans</vt:lpstr>
      <vt:lpstr>Wingdings 3</vt:lpstr>
      <vt:lpstr>Wisp</vt:lpstr>
      <vt:lpstr>Interfaces</vt:lpstr>
      <vt:lpstr>Interfaces</vt:lpstr>
      <vt:lpstr>What do Interfaces Provide?</vt:lpstr>
      <vt:lpstr>Declaring an Interface</vt:lpstr>
      <vt:lpstr>Interfaces with Implementation</vt:lpstr>
      <vt:lpstr>Three Common Java Library Interfaces</vt:lpstr>
      <vt:lpstr>The ActionListener Interface </vt:lpstr>
      <vt:lpstr>The Comparable Interface</vt:lpstr>
      <vt:lpstr>The Cloneable Interface</vt:lpstr>
      <vt:lpstr>Example of a user-defined Interface</vt:lpstr>
      <vt:lpstr>Example of Two Implementations of the Drivable Interface</vt:lpstr>
      <vt:lpstr>Implementing an Interface</vt:lpstr>
      <vt:lpstr>Implement the Interface</vt:lpstr>
      <vt:lpstr>Implement the Interface</vt:lpstr>
      <vt:lpstr>Inheritance vs. Interface?</vt:lpstr>
      <vt:lpstr>User Interface Callbacks</vt:lpstr>
      <vt:lpstr>Accessing Implementations Through Interface References</vt:lpstr>
      <vt:lpstr>Variables in Interfaces</vt:lpstr>
      <vt:lpstr>Example of Interfaces with Variables</vt:lpstr>
      <vt:lpstr>Example of Interfaces with Variables</vt:lpstr>
      <vt:lpstr>Interfaces can be Extended</vt:lpstr>
      <vt:lpstr>Example of Extending Interfaces</vt:lpstr>
      <vt:lpstr>Static Methods in an Interface</vt:lpstr>
      <vt:lpstr>Example of a Static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Interfaces</dc:title>
  <dc:creator>Ivonne Nelson</dc:creator>
  <cp:lastModifiedBy>NELSON, IVONNE</cp:lastModifiedBy>
  <cp:revision>9</cp:revision>
  <dcterms:created xsi:type="dcterms:W3CDTF">2022-12-23T22:34:39Z</dcterms:created>
  <dcterms:modified xsi:type="dcterms:W3CDTF">2024-05-30T16:09:03Z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2024-05-30T16:09:03Z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af0a03e9-688a-40db-a794-17c4996f4dbd</vt:lpwstr>
  </property>
  <property fmtid="{D5CDD505-2E9C-101B-9397-08002B2CF9AE}" pid="8" name="MSIP_Label_d8bb7484-22c2-4b98-9fb8-3ab13d821527_ContentBits">
    <vt:lpwstr>0</vt:lpwstr>
  </property>
</Properties>
</file>