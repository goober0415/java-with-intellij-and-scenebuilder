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6"/>
  </p:notesMasterIdLst>
  <p:sldIdLst>
    <p:sldId id="256" r:id="rId2"/>
    <p:sldId id="349" r:id="rId3"/>
    <p:sldId id="257" r:id="rId4"/>
    <p:sldId id="316" r:id="rId5"/>
    <p:sldId id="258" r:id="rId6"/>
    <p:sldId id="348" r:id="rId7"/>
    <p:sldId id="259" r:id="rId8"/>
    <p:sldId id="352" r:id="rId9"/>
    <p:sldId id="353" r:id="rId10"/>
    <p:sldId id="313" r:id="rId11"/>
    <p:sldId id="354" r:id="rId12"/>
    <p:sldId id="261" r:id="rId13"/>
    <p:sldId id="262" r:id="rId14"/>
    <p:sldId id="305" r:id="rId15"/>
    <p:sldId id="309" r:id="rId16"/>
    <p:sldId id="307" r:id="rId17"/>
    <p:sldId id="263" r:id="rId18"/>
    <p:sldId id="308" r:id="rId19"/>
    <p:sldId id="311" r:id="rId20"/>
    <p:sldId id="314" r:id="rId21"/>
    <p:sldId id="312" r:id="rId22"/>
    <p:sldId id="315" r:id="rId23"/>
    <p:sldId id="341" r:id="rId24"/>
    <p:sldId id="317" r:id="rId25"/>
    <p:sldId id="320" r:id="rId26"/>
    <p:sldId id="319" r:id="rId27"/>
    <p:sldId id="321" r:id="rId28"/>
    <p:sldId id="323" r:id="rId29"/>
    <p:sldId id="324" r:id="rId30"/>
    <p:sldId id="325" r:id="rId31"/>
    <p:sldId id="326" r:id="rId32"/>
    <p:sldId id="327" r:id="rId33"/>
    <p:sldId id="333" r:id="rId34"/>
    <p:sldId id="355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794" autoAdjust="0"/>
  </p:normalViewPr>
  <p:slideViewPr>
    <p:cSldViewPr snapToGrid="0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08712-D090-485E-A2B1-C3168CE4C2EC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321BB-A163-48EA-9324-5CA7ABC23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52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B63CDE5-6F42-42D1-B933-6C4AD227673B}" type="slidenum">
              <a:rPr lang="en-US" altLang="en-US">
                <a:solidFill>
                  <a:prstClr val="black"/>
                </a:solidFill>
                <a:latin typeface="Tahoma" pitchFamily="34" charset="0"/>
              </a:rPr>
              <a:pPr eaLnBrk="1" hangingPunct="1">
                <a:spcBef>
                  <a:spcPct val="0"/>
                </a:spcBef>
              </a:pPr>
              <a:t>14</a:t>
            </a:fld>
            <a:endParaRPr lang="en-US" altLang="en-US">
              <a:solidFill>
                <a:prstClr val="black"/>
              </a:solidFill>
              <a:latin typeface="Tahoma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31800" y="674688"/>
            <a:ext cx="5994400" cy="3373437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4025"/>
            <a:ext cx="5029200" cy="44252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1000" dirty="0">
              <a:sym typeface="Symbol" pitchFamily="18" charset="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E55183D-8162-46C5-92C9-48D99541A066}" type="slidenum">
              <a:rPr lang="en-US" altLang="en-US">
                <a:solidFill>
                  <a:prstClr val="black"/>
                </a:solidFill>
                <a:latin typeface="Tahoma" pitchFamily="34" charset="0"/>
              </a:rPr>
              <a:pPr eaLnBrk="1" hangingPunct="1">
                <a:spcBef>
                  <a:spcPct val="0"/>
                </a:spcBef>
              </a:pPr>
              <a:t>16</a:t>
            </a:fld>
            <a:endParaRPr lang="en-US" altLang="en-US">
              <a:solidFill>
                <a:prstClr val="black"/>
              </a:solidFill>
              <a:latin typeface="Tahoma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31800" y="674688"/>
            <a:ext cx="5994400" cy="3373437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8976"/>
            <a:ext cx="5029200" cy="411604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1000" dirty="0">
              <a:sym typeface="Symbol" pitchFamily="18" charset="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3321BB-A163-48EA-9324-5CA7ABC2328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100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40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38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0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3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4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6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1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19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46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24921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43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486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01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36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81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4" y="341313"/>
            <a:ext cx="9438216" cy="7540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16000" y="1524000"/>
            <a:ext cx="53594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1524000"/>
            <a:ext cx="5361517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69FB70-1601-4C33-856B-83E09B3FF04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300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21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56601-D805-2B8E-6045-58C5BE831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9815" y="2508738"/>
            <a:ext cx="9448800" cy="293684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b="1" dirty="0"/>
              <a:t>Transitioning from C++ to Java</a:t>
            </a:r>
            <a:br>
              <a:rPr lang="en-US" sz="7200" b="1" dirty="0"/>
            </a:br>
            <a:r>
              <a:rPr lang="en-US" sz="5400" dirty="0"/>
              <a:t>What’s the same and what to watch out for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595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3E7CF-C330-BC51-EF28-7D8EC627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Java is a Strongly Typed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3679D-C6FE-0F3E-61FE-C747280A0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First, every variable has a type, every expression has a type, and every type is strictly defined. </a:t>
            </a:r>
          </a:p>
          <a:p>
            <a:pPr marL="0" indent="0">
              <a:buNone/>
            </a:pPr>
            <a:r>
              <a:rPr lang="en-US" sz="2400" dirty="0"/>
              <a:t>Second, all assignments, whether explicit or via parameter passing in method calls, are checked for type compatibility.</a:t>
            </a:r>
          </a:p>
          <a:p>
            <a:pPr marL="0" indent="0">
              <a:buNone/>
            </a:pPr>
            <a:r>
              <a:rPr lang="en-US" sz="2400" dirty="0"/>
              <a:t> There are no automatic coercions or conversions of conflicting types as in some languages. </a:t>
            </a:r>
          </a:p>
          <a:p>
            <a:pPr marL="0" indent="0">
              <a:buNone/>
            </a:pPr>
            <a:r>
              <a:rPr lang="en-US" sz="2400" dirty="0"/>
              <a:t>The Java compiler checks all expressions and parameters to ensure that the types are compatible. </a:t>
            </a:r>
          </a:p>
          <a:p>
            <a:pPr marL="0" indent="0">
              <a:buNone/>
            </a:pPr>
            <a:r>
              <a:rPr lang="en-US" sz="2400" dirty="0"/>
              <a:t>Any type mismatches are errors that must be corrected before the compiler will finish compiling the class.</a:t>
            </a:r>
          </a:p>
        </p:txBody>
      </p:sp>
    </p:spTree>
    <p:extLst>
      <p:ext uri="{BB962C8B-B14F-4D97-AF65-F5344CB8AC3E}">
        <p14:creationId xmlns:p14="http://schemas.microsoft.com/office/powerpoint/2010/main" val="2767813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9B74B-2CBE-618F-CEFB-D9827D996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What’s the Same?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E5053-C03C-FBAA-03C7-8EAFA449E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6461" y="1500554"/>
            <a:ext cx="9750401" cy="43195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Numeric Data Types and declaration – int, float, double, char, with the addition of  byte.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Numeric Operators, except modulus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Operator Precedence and Evaluation Order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Floating-point literals are double by default.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Increment and Decrement Operators, pre- and post-fix  (don’t use in expressions that modify multiple variables or multiple times)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Compound Operators, like +=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Escape characters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06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4E8EE-3E9B-5C7F-61A8-C701161F8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More of the Same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1C558-6E17-1B6C-D9A9-4421B54C1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Relational operators, conditional statements and selection structures (if-else)</a:t>
            </a:r>
          </a:p>
          <a:p>
            <a:pPr marL="0" indent="0">
              <a:buNone/>
            </a:pPr>
            <a:r>
              <a:rPr lang="en-US" sz="2400" dirty="0"/>
              <a:t>Logical Operators</a:t>
            </a:r>
          </a:p>
          <a:p>
            <a:pPr marL="0" indent="0">
              <a:buNone/>
            </a:pPr>
            <a:r>
              <a:rPr lang="en-US" sz="2400" dirty="0"/>
              <a:t>Conditional (ternary) Operator</a:t>
            </a:r>
          </a:p>
          <a:p>
            <a:pPr marL="0" indent="0">
              <a:buNone/>
            </a:pPr>
            <a:r>
              <a:rPr lang="en-US" sz="2400" dirty="0"/>
              <a:t>while, do while and for loops</a:t>
            </a:r>
          </a:p>
        </p:txBody>
      </p:sp>
    </p:spTree>
    <p:extLst>
      <p:ext uri="{BB962C8B-B14F-4D97-AF65-F5344CB8AC3E}">
        <p14:creationId xmlns:p14="http://schemas.microsoft.com/office/powerpoint/2010/main" val="104896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FCF5C-E7E9-0899-BF92-2D80A988E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What’s Different?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16D22-6EF7-7FE0-1D65-DE0777255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88124"/>
            <a:ext cx="8915400" cy="3777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Naming Conventions</a:t>
            </a:r>
          </a:p>
          <a:p>
            <a:pPr marL="0" indent="0">
              <a:buNone/>
            </a:pPr>
            <a:r>
              <a:rPr lang="en-US" sz="2400" dirty="0"/>
              <a:t>The Modulus Operator</a:t>
            </a:r>
          </a:p>
          <a:p>
            <a:pPr marL="0" indent="0">
              <a:buNone/>
            </a:pPr>
            <a:r>
              <a:rPr lang="en-US" sz="2400" dirty="0"/>
              <a:t>Casting</a:t>
            </a:r>
          </a:p>
          <a:p>
            <a:pPr marL="0" indent="0">
              <a:buNone/>
            </a:pPr>
            <a:r>
              <a:rPr lang="en-US" sz="2400" dirty="0"/>
              <a:t>bool becomes </a:t>
            </a:r>
            <a:r>
              <a:rPr lang="en-US" sz="2400" dirty="0" err="1"/>
              <a:t>boolean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chars expand to include Unicode</a:t>
            </a:r>
          </a:p>
          <a:p>
            <a:pPr marL="0" indent="0">
              <a:buNone/>
            </a:pPr>
            <a:r>
              <a:rPr lang="en-US" sz="2400" dirty="0"/>
              <a:t>const becomes final</a:t>
            </a:r>
          </a:p>
          <a:p>
            <a:pPr marL="0" indent="0">
              <a:buNone/>
            </a:pPr>
            <a:r>
              <a:rPr lang="en-US" sz="2400" dirty="0"/>
              <a:t>It’s String, not string and it is treated like any other class </a:t>
            </a:r>
          </a:p>
          <a:p>
            <a:pPr marL="0" indent="0">
              <a:buNone/>
            </a:pPr>
            <a:r>
              <a:rPr lang="en-US" sz="2400" dirty="0"/>
              <a:t>switch statements are modernized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7604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1609-3AE2-DE2D-BD16-C83271BE6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452660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What is Really Different?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59627-F8CA-7B0F-C973-9CD0B5454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188573"/>
            <a:ext cx="8915400" cy="53551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C++ is a language that can be used for object-oriented programming. </a:t>
            </a:r>
          </a:p>
          <a:p>
            <a:pPr marL="0" indent="0">
              <a:buNone/>
            </a:pPr>
            <a:r>
              <a:rPr lang="en-US" sz="2400" dirty="0"/>
              <a:t>In C++ I, everything was in a function.  </a:t>
            </a:r>
          </a:p>
          <a:p>
            <a:pPr marL="0" indent="0">
              <a:buNone/>
            </a:pPr>
            <a:r>
              <a:rPr lang="en-US" sz="2400" dirty="0"/>
              <a:t>In C++ II, we learn to write user-defined classes that live on the stack.  In C++ III, we learn to write user-defined classes that live on the heap.</a:t>
            </a:r>
          </a:p>
          <a:p>
            <a:pPr marL="0" indent="0">
              <a:buNone/>
            </a:pPr>
            <a:r>
              <a:rPr lang="en-US" sz="2400" dirty="0"/>
              <a:t>***********************************************************************</a:t>
            </a:r>
          </a:p>
          <a:p>
            <a:pPr marL="0" indent="0">
              <a:buNone/>
            </a:pPr>
            <a:r>
              <a:rPr lang="en-US" sz="2400" dirty="0"/>
              <a:t>Java is an object-oriented language. </a:t>
            </a:r>
          </a:p>
          <a:p>
            <a:pPr marL="0" indent="0">
              <a:buNone/>
            </a:pPr>
            <a:r>
              <a:rPr lang="en-US" sz="2400" dirty="0"/>
              <a:t>In Java, every bit of code is in a class.  </a:t>
            </a:r>
          </a:p>
          <a:p>
            <a:pPr marL="0" indent="0">
              <a:buNone/>
            </a:pPr>
            <a:r>
              <a:rPr lang="en-US" sz="2400" dirty="0"/>
              <a:t>Everything except the primitives are classes.  </a:t>
            </a:r>
          </a:p>
          <a:p>
            <a:pPr marL="0" indent="0">
              <a:buNone/>
            </a:pPr>
            <a:r>
              <a:rPr lang="en-US" sz="2400" dirty="0"/>
              <a:t>And there are Wrapper classes for the primitives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85002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B4F37-B4C7-CD9C-7844-44F0A696A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Identifiers have one Addition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BACB3-0689-E967-BB44-DBA3EC1C0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650166"/>
            <a:ext cx="9190892" cy="45837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An identifier is a sequence of characters that consist of letters, digits, underscores (_), and dollar signs ($).  </a:t>
            </a:r>
          </a:p>
          <a:p>
            <a:pPr marL="0" indent="0">
              <a:buNone/>
            </a:pPr>
            <a:r>
              <a:rPr lang="en-US" sz="2400" dirty="0"/>
              <a:t> However, the $ is conventionally used only in machine-generated code, so we won’t use it in an identifier</a:t>
            </a:r>
          </a:p>
          <a:p>
            <a:pPr marL="0" indent="0">
              <a:buNone/>
            </a:pPr>
            <a:r>
              <a:rPr lang="en-US" sz="2400" dirty="0"/>
              <a:t>An identifier must start with a letter, an underscore (_), or a dollar sign ($). It cannot start with a digit. </a:t>
            </a:r>
          </a:p>
          <a:p>
            <a:pPr marL="0" indent="0">
              <a:buNone/>
            </a:pPr>
            <a:r>
              <a:rPr lang="en-US" sz="2400" dirty="0"/>
              <a:t>An identifier can be of any length.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4849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3050C-2A54-583B-C268-E13C66B94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16816-2CEE-2719-4710-DE457C991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187" y="1540189"/>
            <a:ext cx="8915400" cy="5060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Not long ago, a new feature called local variable type inference was added to the Java language. </a:t>
            </a:r>
          </a:p>
          <a:p>
            <a:pPr marL="0" indent="0">
              <a:buNone/>
            </a:pPr>
            <a:r>
              <a:rPr lang="en-US" sz="2400" dirty="0"/>
              <a:t>Remember:</a:t>
            </a:r>
          </a:p>
          <a:p>
            <a:pPr marL="0" indent="0">
              <a:buNone/>
            </a:pPr>
            <a:r>
              <a:rPr lang="en-US" sz="2400" dirty="0"/>
              <a:t>First, all variables in Java must be declared prior to their use. Second, a variable can be initialized with a value when it is declared. </a:t>
            </a:r>
          </a:p>
          <a:p>
            <a:pPr marL="0" indent="0">
              <a:buNone/>
            </a:pPr>
            <a:r>
              <a:rPr lang="en-US" sz="2400" dirty="0"/>
              <a:t>Third, when a variable is initialized, the type of the initializer must be the same as (or convertible to) the declared type of the variable. </a:t>
            </a:r>
          </a:p>
          <a:p>
            <a:pPr marL="0" indent="0">
              <a:buNone/>
            </a:pPr>
            <a:r>
              <a:rPr lang="en-US" sz="2400" dirty="0"/>
              <a:t>Thus, it would not be necessary to specify an explicit type for an initialized variable because it could be inferred by the type of its initializer. </a:t>
            </a:r>
          </a:p>
        </p:txBody>
      </p:sp>
    </p:spTree>
    <p:extLst>
      <p:ext uri="{BB962C8B-B14F-4D97-AF65-F5344CB8AC3E}">
        <p14:creationId xmlns:p14="http://schemas.microsoft.com/office/powerpoint/2010/main" val="2662965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3977F-01CC-6678-377D-B15FC509B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Why Use type Inference?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6AB38-D69B-5EA8-4C80-A053B51DB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4936" y="1540189"/>
            <a:ext cx="9440863" cy="3777622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2400" dirty="0"/>
              <a:t>It can streamline code by eliminating the need to redundantly specify a variable’s type when it can be inferred from its initializer.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It can simplify declarations in cases in which the type name is quite lengthy, such as can be the case with some class names.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It can also be helpful when a type is difficult to discern or cannot be denoted. (An example of a type that cannot be denoted is the type of an anonymous class).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Furthermore, local variable type inference has become a common part of the contemporary programming environment. Its inclusion in Java helps keep Java up to date with evolving trends in language design.</a:t>
            </a:r>
          </a:p>
        </p:txBody>
      </p:sp>
    </p:spTree>
    <p:extLst>
      <p:ext uri="{BB962C8B-B14F-4D97-AF65-F5344CB8AC3E}">
        <p14:creationId xmlns:p14="http://schemas.microsoft.com/office/powerpoint/2010/main" val="416622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771E5-EFF5-5342-81E1-97A951150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82725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For type inference use var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23FA5-C685-1E67-59F8-EAF806773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8262" y="1685925"/>
            <a:ext cx="8915400" cy="49720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Here, we create an instance variable of the Random class </a:t>
            </a:r>
          </a:p>
          <a:p>
            <a:pPr marL="0" indent="0">
              <a:buNone/>
            </a:pPr>
            <a:r>
              <a:rPr lang="en-US" sz="2400" b="1" dirty="0"/>
              <a:t>		Random generator = new Random();</a:t>
            </a:r>
          </a:p>
          <a:p>
            <a:pPr marL="0" indent="0">
              <a:buNone/>
            </a:pPr>
            <a:r>
              <a:rPr lang="en-US" sz="2400" dirty="0"/>
              <a:t>An alternative way to write this is :</a:t>
            </a:r>
          </a:p>
          <a:p>
            <a:pPr marL="0" indent="0">
              <a:buNone/>
            </a:pPr>
            <a:r>
              <a:rPr lang="en-US" sz="2400" b="1" dirty="0"/>
              <a:t>		var generator = new Random();</a:t>
            </a:r>
          </a:p>
          <a:p>
            <a:pPr marL="0" indent="0">
              <a:buNone/>
            </a:pPr>
            <a:r>
              <a:rPr lang="en-US" sz="2400" dirty="0"/>
              <a:t>Primitive example:</a:t>
            </a:r>
          </a:p>
          <a:p>
            <a:pPr marL="0" indent="0">
              <a:buNone/>
            </a:pPr>
            <a:r>
              <a:rPr lang="en-US" sz="2400" b="1" dirty="0"/>
              <a:t>	double avg = 10.0;   =&gt;    var avg = 10.0;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You can use var whenever the type of the declared variable is completely obvious.</a:t>
            </a:r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25805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C72D-5019-4AEA-6720-5C1EE7816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725" y="109759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Some var Restrictions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C8733-5C66-4964-8299-1B814D90A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904875"/>
            <a:ext cx="8915400" cy="5314950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sz="2400" dirty="0"/>
              <a:t> Only one variable can be declared at a time; a variable cannot use null as an initializer.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The variable being declared cannot be used by the initializer expression.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Although you can declare an array type using var, you cannot use var with an array initializer.</a:t>
            </a:r>
          </a:p>
          <a:p>
            <a:pPr marL="0" indent="0">
              <a:buNone/>
            </a:pPr>
            <a:r>
              <a:rPr lang="en-US" sz="2000" dirty="0"/>
              <a:t>Correct: </a:t>
            </a:r>
            <a:r>
              <a:rPr lang="en-US" sz="2000" b="1" dirty="0"/>
              <a:t>var </a:t>
            </a:r>
            <a:r>
              <a:rPr lang="en-US" sz="2000" b="1" dirty="0" err="1"/>
              <a:t>myArray</a:t>
            </a:r>
            <a:r>
              <a:rPr lang="en-US" sz="2000" b="1" dirty="0"/>
              <a:t> = new int[10];</a:t>
            </a:r>
          </a:p>
          <a:p>
            <a:pPr marL="0" indent="0">
              <a:buNone/>
            </a:pPr>
            <a:r>
              <a:rPr lang="en-US" sz="2000" dirty="0"/>
              <a:t>Wrong:   </a:t>
            </a:r>
            <a:r>
              <a:rPr lang="en-US" sz="2000" b="1" dirty="0"/>
              <a:t>var </a:t>
            </a:r>
            <a:r>
              <a:rPr lang="en-US" sz="2000" b="1" dirty="0" err="1"/>
              <a:t>myArray</a:t>
            </a:r>
            <a:r>
              <a:rPr lang="en-US" sz="2000" b="1" dirty="0"/>
              <a:t> = {1,2,3,4};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2400" dirty="0"/>
              <a:t>var cannot be used as the name of a class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2400" dirty="0"/>
              <a:t>It also cannot be used as the name of other reference types, including interfaces, enumerations or annotations.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2400" dirty="0"/>
              <a:t>It cannot be used to declare the exception reference type caught by a catch statement.</a:t>
            </a:r>
          </a:p>
        </p:txBody>
      </p:sp>
    </p:spTree>
    <p:extLst>
      <p:ext uri="{BB962C8B-B14F-4D97-AF65-F5344CB8AC3E}">
        <p14:creationId xmlns:p14="http://schemas.microsoft.com/office/powerpoint/2010/main" val="394120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403A-12CB-11B4-A824-B0C7589F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Naming Conventions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38B84-39F9-4965-79AE-47F986A1B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as C++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B519E-896A-E695-D7AC-B6E996718F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Variables begin with a lowercase letter (Camel Case) </a:t>
            </a:r>
          </a:p>
          <a:p>
            <a:r>
              <a:rPr lang="en-US" sz="2400" dirty="0"/>
              <a:t>Class names begin with a capital letter (Pascal Case) </a:t>
            </a:r>
          </a:p>
          <a:p>
            <a:r>
              <a:rPr lang="en-US" sz="2400" dirty="0"/>
              <a:t>Capitalize every letter of a named constant and use underscores between words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E429B7-AB38-E55A-8073-5CB9B2B76F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Different from C++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D5B8BD-3684-72CD-0CFE-20A4C3FFF85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Methods(functions that are in classes) begin with a lowercase letter (Camel Case) </a:t>
            </a:r>
          </a:p>
        </p:txBody>
      </p:sp>
    </p:spTree>
    <p:extLst>
      <p:ext uri="{BB962C8B-B14F-4D97-AF65-F5344CB8AC3E}">
        <p14:creationId xmlns:p14="http://schemas.microsoft.com/office/powerpoint/2010/main" val="1139582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DD1C0-B0FE-DEB8-1B60-3767A398B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463" y="459987"/>
            <a:ext cx="8911687" cy="1280890"/>
          </a:xfrm>
        </p:spPr>
        <p:txBody>
          <a:bodyPr/>
          <a:lstStyle/>
          <a:p>
            <a:pPr algn="ctr"/>
            <a:r>
              <a:rPr lang="en-US" dirty="0"/>
              <a:t>Primitives or Numerical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E3B03-C437-E4C9-238F-62C95C591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7459" y="1540189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In Java, there are two basic categories of values - primitive values and objects.</a:t>
            </a:r>
          </a:p>
          <a:p>
            <a:pPr marL="0" indent="0">
              <a:buNone/>
            </a:pPr>
            <a:r>
              <a:rPr lang="en-US" sz="2400" dirty="0"/>
              <a:t>Primitive values are categorized into these primitive data types:</a:t>
            </a:r>
          </a:p>
          <a:p>
            <a:pPr marL="457200" lvl="1" indent="0">
              <a:buNone/>
            </a:pPr>
            <a:r>
              <a:rPr lang="en-US" sz="2400" dirty="0"/>
              <a:t>byte, short, int, long</a:t>
            </a:r>
          </a:p>
          <a:p>
            <a:pPr marL="457200" lvl="1" indent="0">
              <a:buNone/>
            </a:pPr>
            <a:r>
              <a:rPr lang="en-US" sz="2400" dirty="0"/>
              <a:t>float, double</a:t>
            </a:r>
          </a:p>
          <a:p>
            <a:pPr marL="457200" lvl="1" indent="0">
              <a:buNone/>
            </a:pPr>
            <a:r>
              <a:rPr lang="en-US" sz="2400" dirty="0"/>
              <a:t>char</a:t>
            </a:r>
          </a:p>
          <a:p>
            <a:pPr marL="457200" lvl="1" indent="0">
              <a:buNone/>
            </a:pPr>
            <a:r>
              <a:rPr lang="en-US" sz="2400" dirty="0" err="1"/>
              <a:t>boolean</a:t>
            </a:r>
            <a:r>
              <a:rPr lang="en-US" sz="2400" dirty="0"/>
              <a:t> instead of bool – In Java, </a:t>
            </a:r>
            <a:r>
              <a:rPr lang="en-US" sz="2400" dirty="0" err="1"/>
              <a:t>boolean</a:t>
            </a:r>
            <a:r>
              <a:rPr lang="en-US" sz="2400" dirty="0"/>
              <a:t> is strictly false or true, not 0 or non-zero, like in C++.</a:t>
            </a:r>
          </a:p>
          <a:p>
            <a:pPr marL="45720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27005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4000" b="1" dirty="0"/>
              <a:t>Integer Types</a:t>
            </a:r>
          </a:p>
        </p:txBody>
      </p:sp>
      <p:graphicFrame>
        <p:nvGraphicFramePr>
          <p:cNvPr id="515179" name="Group 107"/>
          <p:cNvGraphicFramePr>
            <a:graphicFrameLocks noGrp="1"/>
          </p:cNvGraphicFramePr>
          <p:nvPr>
            <p:ph sz="half" idx="2"/>
          </p:nvPr>
        </p:nvGraphicFramePr>
        <p:xfrm>
          <a:off x="2362200" y="1524001"/>
          <a:ext cx="7010400" cy="3122613"/>
        </p:xfrm>
        <a:graphic>
          <a:graphicData uri="http://schemas.openxmlformats.org/drawingml/2006/table">
            <a:tbl>
              <a:tblPr/>
              <a:tblGrid>
                <a:gridCol w="174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4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Type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Storage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Wrapper Class's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MIN_VALUE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Wrapper Class's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MAX_VALUE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byte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 bits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-128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short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16 bits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-32768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32767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int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32 bits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 -2 billion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 2 billion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long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64 bits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 -9*10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18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 9*10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18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4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21BDD02-D1BD-4DF7-83DD-71E34FA05177}" type="slidenum">
              <a:rPr lang="en-US" altLang="en-US" sz="1400">
                <a:solidFill>
                  <a:srgbClr val="000000"/>
                </a:solidFill>
                <a:latin typeface="Times New Roman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B7DE0D-B973-959F-9923-9C3ED5FB6670}"/>
              </a:ext>
            </a:extLst>
          </p:cNvPr>
          <p:cNvSpPr txBox="1"/>
          <p:nvPr/>
        </p:nvSpPr>
        <p:spPr>
          <a:xfrm>
            <a:off x="1727044" y="5050512"/>
            <a:ext cx="1027396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 access a data type’s minimum and maximum values, use the </a:t>
            </a:r>
          </a:p>
          <a:p>
            <a:r>
              <a:rPr lang="en-US" sz="2400" dirty="0"/>
              <a:t>MIN_VALUE and MAX_VALUE named </a:t>
            </a:r>
            <a:r>
              <a:rPr lang="en-US" sz="2400" dirty="0" err="1"/>
              <a:t>constancs</a:t>
            </a:r>
            <a:r>
              <a:rPr lang="en-US" sz="2400" dirty="0"/>
              <a:t> that come with the </a:t>
            </a:r>
          </a:p>
          <a:p>
            <a:r>
              <a:rPr lang="en-US" sz="2400" dirty="0"/>
              <a:t>Data wrapper class: </a:t>
            </a:r>
          </a:p>
          <a:p>
            <a:r>
              <a:rPr lang="en-US" sz="2400" dirty="0" err="1"/>
              <a:t>System.out.println</a:t>
            </a:r>
            <a:r>
              <a:rPr lang="en-US" sz="2400" dirty="0"/>
              <a:t>(“</a:t>
            </a:r>
            <a:r>
              <a:rPr lang="en-US" sz="2400" dirty="0" err="1"/>
              <a:t>largestInt</a:t>
            </a:r>
            <a:r>
              <a:rPr lang="en-US" sz="2400" dirty="0"/>
              <a:t> = “ + </a:t>
            </a:r>
            <a:r>
              <a:rPr lang="en-US" sz="2400" dirty="0" err="1"/>
              <a:t>Integer.MAX_VALUE</a:t>
            </a:r>
            <a:r>
              <a:rPr lang="en-US" sz="2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45607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1902B-758A-6745-CF51-382027A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More Integers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4C019-8834-F76C-7EDF-ACBD98391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5778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To access a data type’s minimum and maximum values, use the </a:t>
            </a:r>
          </a:p>
          <a:p>
            <a:pPr marL="0" indent="0">
              <a:buNone/>
            </a:pPr>
            <a:r>
              <a:rPr lang="en-US" sz="2400" dirty="0"/>
              <a:t>MIN_VALUE and MAX_VALUE named </a:t>
            </a:r>
            <a:r>
              <a:rPr lang="en-US" sz="2400" dirty="0" err="1"/>
              <a:t>constancs</a:t>
            </a:r>
            <a:r>
              <a:rPr lang="en-US" sz="2400" dirty="0"/>
              <a:t> that come with the </a:t>
            </a:r>
          </a:p>
          <a:p>
            <a:pPr marL="0" indent="0">
              <a:buNone/>
            </a:pPr>
            <a:r>
              <a:rPr lang="en-US" sz="2400" dirty="0"/>
              <a:t>Data wrapper class: </a:t>
            </a:r>
          </a:p>
          <a:p>
            <a:pPr marL="0" indent="0">
              <a:buNone/>
            </a:pPr>
            <a:r>
              <a:rPr lang="en-US" sz="2400" dirty="0" err="1"/>
              <a:t>System.out.println</a:t>
            </a:r>
            <a:r>
              <a:rPr lang="en-US" sz="2400" dirty="0"/>
              <a:t>(“</a:t>
            </a:r>
            <a:r>
              <a:rPr lang="en-US" sz="2400" dirty="0" err="1"/>
              <a:t>largestInt</a:t>
            </a:r>
            <a:r>
              <a:rPr lang="en-US" sz="2400" dirty="0"/>
              <a:t> = “ + </a:t>
            </a:r>
            <a:r>
              <a:rPr lang="en-US" sz="2400" dirty="0" err="1"/>
              <a:t>Integer.MAX_VALUE</a:t>
            </a:r>
            <a:r>
              <a:rPr lang="en-US" sz="2400" dirty="0"/>
              <a:t>);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You can add underscores to number literals, such as 1_000_000. The underscores are for human eyes only, the Java compiler simply removes them.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4559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41313"/>
            <a:ext cx="8382000" cy="754062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4000" b="1" dirty="0"/>
              <a:t>Floating-Point Types – </a:t>
            </a:r>
            <a:r>
              <a:rPr lang="en-US" altLang="en-US" sz="4000" b="1" dirty="0">
                <a:latin typeface="Courier New" pitchFamily="49" charset="0"/>
              </a:rPr>
              <a:t>float</a:t>
            </a:r>
            <a:r>
              <a:rPr lang="en-US" altLang="en-US" sz="4000" b="1" dirty="0"/>
              <a:t>, </a:t>
            </a:r>
            <a:r>
              <a:rPr lang="en-US" altLang="en-US" sz="4000" b="1" dirty="0">
                <a:latin typeface="Courier New" pitchFamily="49" charset="0"/>
              </a:rPr>
              <a:t>double</a:t>
            </a:r>
          </a:p>
        </p:txBody>
      </p:sp>
      <p:graphicFrame>
        <p:nvGraphicFramePr>
          <p:cNvPr id="8227" name="Group 3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67368666"/>
              </p:ext>
            </p:extLst>
          </p:nvPr>
        </p:nvGraphicFramePr>
        <p:xfrm>
          <a:off x="2807677" y="1740878"/>
          <a:ext cx="7772400" cy="182562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Type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Storage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Precision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Wrapper Class's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MIN_NORMAL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Wrapper Class's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MAX_VALUE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float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32 bits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 digits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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1.2 * 10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-38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 3.4*10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38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double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64 bits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 digits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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2.2 * 10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-308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 1.8*10</a:t>
                      </a:r>
                      <a:r>
                        <a:rPr kumimoji="0" 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308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A0B2205-6FA6-A01F-F648-11E09292ACD6}"/>
              </a:ext>
            </a:extLst>
          </p:cNvPr>
          <p:cNvSpPr txBox="1"/>
          <p:nvPr/>
        </p:nvSpPr>
        <p:spPr>
          <a:xfrm>
            <a:off x="2332893" y="3903785"/>
            <a:ext cx="974016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Normally, the double type is preferred over the float type </a:t>
            </a:r>
          </a:p>
          <a:p>
            <a:r>
              <a:rPr lang="en-US" sz="2400" dirty="0"/>
              <a:t>because the double type provides more accuracy.</a:t>
            </a:r>
          </a:p>
          <a:p>
            <a:endParaRPr lang="en-US" sz="2400" dirty="0"/>
          </a:p>
          <a:p>
            <a:r>
              <a:rPr lang="en-US" sz="2400" dirty="0"/>
              <a:t>For doubles, the number of significant digits is approximately 15. </a:t>
            </a:r>
          </a:p>
          <a:p>
            <a:r>
              <a:rPr lang="en-US" sz="2400" dirty="0"/>
              <a:t>For floats, the number of significant digits is approximately 6.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69008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96B7-29C5-BB9B-E12E-48DE0B0E6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Char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7094-066B-D0B5-9693-F6CC8F8EE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734" y="1446404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For most languages (including Java), character values have an underlying numeric value. For example, the letter 'A' has the underlying value of 65</a:t>
            </a:r>
          </a:p>
          <a:p>
            <a:pPr marL="0" indent="0">
              <a:buNone/>
            </a:pPr>
            <a:r>
              <a:rPr lang="en-US" sz="2400" dirty="0"/>
              <a:t>For most languages, the ASCII table specifies the underlying numeric values for characters.</a:t>
            </a:r>
          </a:p>
          <a:p>
            <a:pPr marL="0" indent="0">
              <a:buNone/>
            </a:pPr>
            <a:r>
              <a:rPr lang="en-US" sz="2400" dirty="0"/>
              <a:t>In Java,  char is a type with 16 bits, or 2 bytes. </a:t>
            </a:r>
          </a:p>
          <a:p>
            <a:pPr marL="0" indent="0">
              <a:buNone/>
            </a:pPr>
            <a:r>
              <a:rPr lang="en-US" sz="2400" dirty="0"/>
              <a:t>In C++, the char is 1 byte</a:t>
            </a:r>
          </a:p>
          <a:p>
            <a:pPr marL="0" indent="0">
              <a:buNone/>
            </a:pPr>
            <a:r>
              <a:rPr lang="en-US" sz="2400" dirty="0"/>
              <a:t>The difference is that Java accommodates Unicode and so chars have to be bigger.</a:t>
            </a:r>
          </a:p>
          <a:p>
            <a:pPr marL="0" indent="0">
              <a:buNone/>
            </a:pPr>
            <a:r>
              <a:rPr lang="en-US" sz="2400" dirty="0"/>
              <a:t>Unicode includes ASCII as its first 128 values.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3240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E8EF2-FA42-ED37-DE4C-E5CF716C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Char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B4B6-1007-CA1F-3344-941367362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5428" y="1540189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if you apply the + operator to two chars, the + operator does not perform concatenation; instead, it performs mathematical addition using the characters' underlying ASCII values. </a:t>
            </a:r>
          </a:p>
          <a:p>
            <a:pPr marL="914400" lvl="2" indent="0">
              <a:buNone/>
            </a:pPr>
            <a:r>
              <a:rPr lang="en-US" sz="2400" dirty="0"/>
              <a:t>Code fragment	</a:t>
            </a:r>
          </a:p>
          <a:p>
            <a:pPr marL="914400" lvl="2" indent="0">
              <a:buNone/>
            </a:pPr>
            <a:r>
              <a:rPr lang="en-US" sz="2400" b="1" dirty="0"/>
              <a:t>char first = 'J’;</a:t>
            </a:r>
          </a:p>
          <a:p>
            <a:pPr marL="914400" lvl="2" indent="0">
              <a:buNone/>
            </a:pPr>
            <a:r>
              <a:rPr lang="en-US" sz="2400" b="1" dirty="0"/>
              <a:t>char last = 'D’;</a:t>
            </a:r>
          </a:p>
          <a:p>
            <a:pPr marL="914400" lvl="2" indent="0">
              <a:buNone/>
            </a:pPr>
            <a:r>
              <a:rPr lang="en-US" sz="2400" b="1" dirty="0" err="1"/>
              <a:t>System.out.println</a:t>
            </a:r>
            <a:r>
              <a:rPr lang="en-US" sz="2400" b="1" dirty="0"/>
              <a:t>(first + last + ", What's up?");</a:t>
            </a:r>
          </a:p>
          <a:p>
            <a:pPr marL="914400" lvl="2" indent="0">
              <a:buNone/>
            </a:pPr>
            <a:endParaRPr lang="en-US" sz="2400" dirty="0"/>
          </a:p>
          <a:p>
            <a:pPr marL="914400" lvl="2" indent="0">
              <a:buNone/>
            </a:pPr>
            <a:r>
              <a:rPr lang="en-US" sz="2400" dirty="0"/>
              <a:t>Output	</a:t>
            </a:r>
          </a:p>
          <a:p>
            <a:pPr marL="914400" lvl="2" indent="0">
              <a:buNone/>
            </a:pPr>
            <a:r>
              <a:rPr lang="en-US" sz="2400" b="1" dirty="0"/>
              <a:t>142, What's up?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6087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2803D-FAD9-0D44-A1D6-4C2937378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BFABF-AEC2-78B1-B1CD-163E66805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68770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Java does not use #define or the keyword const</a:t>
            </a:r>
          </a:p>
          <a:p>
            <a:pPr marL="0" indent="0">
              <a:buNone/>
            </a:pPr>
            <a:r>
              <a:rPr lang="en-US" sz="2400" dirty="0"/>
              <a:t>Instead, there are named constants:</a:t>
            </a:r>
          </a:p>
          <a:p>
            <a:pPr marL="0" indent="0">
              <a:buNone/>
            </a:pPr>
            <a:r>
              <a:rPr lang="en-US" sz="2400" b="1" dirty="0"/>
              <a:t>final datatype CONSTANT_NAME = value;</a:t>
            </a:r>
          </a:p>
          <a:p>
            <a:pPr marL="0" indent="0">
              <a:buNone/>
            </a:pPr>
            <a:r>
              <a:rPr lang="en-US" sz="2400" dirty="0"/>
              <a:t>final is substituted for const.  </a:t>
            </a:r>
          </a:p>
          <a:p>
            <a:pPr marL="0" indent="0">
              <a:buNone/>
            </a:pPr>
            <a:r>
              <a:rPr lang="en-US" sz="2400" dirty="0"/>
              <a:t>Conventionally, a constant name is in all caps.</a:t>
            </a:r>
          </a:p>
          <a:p>
            <a:pPr marL="0" indent="0">
              <a:buNone/>
            </a:pPr>
            <a:r>
              <a:rPr lang="en-US" sz="2400" dirty="0"/>
              <a:t>Remember to initialize the constant in the declaration statement!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5990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DDE6F-E30F-3628-3196-97C4D3C9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Numerical Promotions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8BC38-7B60-53F7-5333-14621B41E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0566" y="1540189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When an operator combines operands of different number types, the numbers are automatically converted to a common type before they are combined. Conversion occurs in this order: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If either of the operands is of type double, the other one is converted to double.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If either of the operands is of type float, the other one is converted to float.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If either of the operands is of type long, the other one is converted to long.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Otherwise, both operands are converted to int.</a:t>
            </a:r>
          </a:p>
        </p:txBody>
      </p:sp>
    </p:spTree>
    <p:extLst>
      <p:ext uri="{BB962C8B-B14F-4D97-AF65-F5344CB8AC3E}">
        <p14:creationId xmlns:p14="http://schemas.microsoft.com/office/powerpoint/2010/main" val="2724407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B59B-936D-D284-4A60-5CCED819B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125F1-9B47-1531-04A9-743A595FB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81906"/>
            <a:ext cx="8915400" cy="49617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Type casting is an explicit type conversion. It's when an expression's type is converted by using a cast operator.</a:t>
            </a:r>
          </a:p>
          <a:p>
            <a:pPr marL="0" indent="0">
              <a:buNone/>
            </a:pPr>
            <a:r>
              <a:rPr lang="en-US" sz="2400" dirty="0"/>
              <a:t>It's legal to use a cast operator to convert any numeric type to any other numeric type; that is, the conversion can go in either direction in the previous "ordering scheme" diagram.</a:t>
            </a:r>
          </a:p>
          <a:p>
            <a:pPr marL="1714500" lvl="4" indent="0">
              <a:buNone/>
            </a:pPr>
            <a:r>
              <a:rPr lang="en-US" sz="2400" dirty="0"/>
              <a:t>For example:</a:t>
            </a:r>
          </a:p>
          <a:p>
            <a:pPr marL="1714500" lvl="4" indent="0">
              <a:buNone/>
            </a:pPr>
            <a:r>
              <a:rPr lang="en-US" sz="2400" b="1" dirty="0"/>
              <a:t>double x = 12345.6;</a:t>
            </a:r>
          </a:p>
          <a:p>
            <a:pPr marL="1714500" lvl="4" indent="0">
              <a:buNone/>
            </a:pPr>
            <a:r>
              <a:rPr lang="en-US" sz="2400" b="1" dirty="0"/>
              <a:t>int y = (int) x;</a:t>
            </a:r>
          </a:p>
          <a:p>
            <a:pPr marL="1714500" lvl="4" indent="0">
              <a:buNone/>
            </a:pPr>
            <a:r>
              <a:rPr lang="en-US" sz="2400" b="1" dirty="0" err="1"/>
              <a:t>System.out.println</a:t>
            </a:r>
            <a:r>
              <a:rPr lang="en-US" sz="2400" b="1" dirty="0"/>
              <a:t>("x = " + x + "\</a:t>
            </a:r>
            <a:r>
              <a:rPr lang="en-US" sz="2400" b="1" dirty="0" err="1"/>
              <a:t>ny</a:t>
            </a:r>
            <a:r>
              <a:rPr lang="en-US" sz="2400" b="1" dirty="0"/>
              <a:t> = " + y);</a:t>
            </a:r>
            <a:br>
              <a:rPr lang="en-US" sz="2400" b="1" dirty="0"/>
            </a:br>
            <a:r>
              <a:rPr lang="en-US" sz="2400" b="1" dirty="0"/>
              <a:t>Output: x = 12345.6</a:t>
            </a:r>
          </a:p>
          <a:p>
            <a:pPr marL="1714500" lvl="4" indent="0">
              <a:buNone/>
            </a:pPr>
            <a:r>
              <a:rPr lang="en-US" sz="2400" b="1" dirty="0"/>
              <a:t>			  y = 12345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5290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5E45C-7B8B-7F3E-ABB2-4DD29BE08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725" y="659279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The Modulus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D80F0-5366-F6EE-9CA1-4FF87C9B3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In C++, the modulus operator requires integers.</a:t>
            </a:r>
          </a:p>
          <a:p>
            <a:pPr marL="0" indent="0">
              <a:buNone/>
            </a:pPr>
            <a:r>
              <a:rPr lang="en-US" sz="2400" dirty="0"/>
              <a:t>In Java, there can also be floating-point numbers.</a:t>
            </a:r>
          </a:p>
          <a:p>
            <a:pPr marL="0" indent="0">
              <a:buNone/>
            </a:pPr>
            <a:r>
              <a:rPr lang="en-US" sz="2400" dirty="0"/>
              <a:t>Look at Modulus  carefully, here is  its definition in the Java Language Specification.</a:t>
            </a:r>
          </a:p>
          <a:p>
            <a:pPr marL="1257300" lvl="3" indent="0">
              <a:buNone/>
            </a:pPr>
            <a:r>
              <a:rPr lang="pt-BR" sz="2400" b="1" dirty="0"/>
              <a:t>a % b = a – (a/b) * b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74653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DFB16-9148-FA49-CD2B-5DF33A92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Using Modulus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A6E5F-6730-B0B0-1C51-FCD8FA8F7E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Integers</a:t>
            </a:r>
          </a:p>
          <a:p>
            <a:pPr marL="0" indent="0">
              <a:buNone/>
            </a:pPr>
            <a:r>
              <a:rPr lang="en-US" dirty="0"/>
              <a:t>int number1 = 42; // Dividend</a:t>
            </a:r>
          </a:p>
          <a:p>
            <a:pPr marL="0" indent="0">
              <a:buNone/>
            </a:pPr>
            <a:r>
              <a:rPr lang="en-US" dirty="0"/>
              <a:t>int number2 = 10; // Divisor</a:t>
            </a:r>
          </a:p>
          <a:p>
            <a:pPr marL="0" indent="0">
              <a:buNone/>
            </a:pPr>
            <a:r>
              <a:rPr lang="en-US" dirty="0"/>
              <a:t>int result = number1 % number2; </a:t>
            </a:r>
          </a:p>
          <a:p>
            <a:pPr marL="0" indent="0">
              <a:buNone/>
            </a:pPr>
            <a:r>
              <a:rPr lang="en-US" dirty="0"/>
              <a:t>Use integer division:</a:t>
            </a:r>
          </a:p>
          <a:p>
            <a:pPr marL="0" indent="0">
              <a:buNone/>
            </a:pPr>
            <a:r>
              <a:rPr lang="en-US" dirty="0"/>
              <a:t>number1 / number2 = 4  </a:t>
            </a:r>
          </a:p>
          <a:p>
            <a:pPr marL="0" indent="0">
              <a:buNone/>
            </a:pPr>
            <a:r>
              <a:rPr lang="en-US" dirty="0"/>
              <a:t>But 4 * 10 = 40, so the remainder is 2</a:t>
            </a:r>
          </a:p>
          <a:p>
            <a:pPr marL="0" indent="0">
              <a:buNone/>
            </a:pPr>
            <a:r>
              <a:rPr lang="en-US" dirty="0"/>
              <a:t>So number1 % number2 = 2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516A-92DA-8D32-BEC1-9F9F713EEE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Floating Point Numbers</a:t>
            </a:r>
          </a:p>
          <a:p>
            <a:pPr marL="0" indent="0">
              <a:buNone/>
            </a:pPr>
            <a:r>
              <a:rPr lang="en-US" dirty="0"/>
              <a:t>float number1 = 42.25;</a:t>
            </a:r>
          </a:p>
          <a:p>
            <a:pPr marL="0" indent="0">
              <a:buNone/>
            </a:pPr>
            <a:r>
              <a:rPr lang="en-US" dirty="0"/>
              <a:t>float number2 = 10;</a:t>
            </a:r>
          </a:p>
          <a:p>
            <a:pPr marL="0" indent="0">
              <a:buNone/>
            </a:pPr>
            <a:r>
              <a:rPr lang="en-US" dirty="0"/>
              <a:t>float result = number1 % number2;</a:t>
            </a:r>
          </a:p>
          <a:p>
            <a:pPr marL="0" indent="0">
              <a:buNone/>
            </a:pPr>
            <a:r>
              <a:rPr lang="en-US" dirty="0"/>
              <a:t>Use integer division:</a:t>
            </a:r>
            <a:endParaRPr lang="pt-BR" b="1" dirty="0"/>
          </a:p>
          <a:p>
            <a:pPr marL="0" indent="0">
              <a:buNone/>
            </a:pPr>
            <a:r>
              <a:rPr lang="en-US" dirty="0"/>
              <a:t>42.25/ 10 = 4</a:t>
            </a:r>
          </a:p>
          <a:p>
            <a:pPr marL="0" indent="0">
              <a:buNone/>
            </a:pPr>
            <a:r>
              <a:rPr lang="en-US" dirty="0"/>
              <a:t>result = 42.25 – 10 * 4 = 42.25 – 40</a:t>
            </a:r>
          </a:p>
          <a:p>
            <a:pPr marL="0" indent="0">
              <a:buNone/>
            </a:pPr>
            <a:r>
              <a:rPr lang="en-US" dirty="0"/>
              <a:t>result = 2.25</a:t>
            </a:r>
          </a:p>
        </p:txBody>
      </p:sp>
    </p:spTree>
    <p:extLst>
      <p:ext uri="{BB962C8B-B14F-4D97-AF65-F5344CB8AC3E}">
        <p14:creationId xmlns:p14="http://schemas.microsoft.com/office/powerpoint/2010/main" val="163702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F0A7-BC76-B6AE-5050-50B92ACA5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09CB8-CD0A-5E64-09C0-F56416C78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708782"/>
            <a:ext cx="8915400" cy="45251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The String class  is really treated like a Class. </a:t>
            </a:r>
          </a:p>
          <a:p>
            <a:pPr marL="0" indent="0">
              <a:buNone/>
            </a:pPr>
            <a:r>
              <a:rPr lang="en-US" sz="2400" dirty="0"/>
              <a:t>The String class has 13 constructors and  40 methods for manipulating strings.</a:t>
            </a:r>
          </a:p>
          <a:p>
            <a:pPr marL="0" indent="0">
              <a:buNone/>
            </a:pPr>
            <a:r>
              <a:rPr lang="en-US" sz="2400" dirty="0"/>
              <a:t>The String keyword starts with a capital ‘S’</a:t>
            </a:r>
          </a:p>
          <a:p>
            <a:pPr marL="0" indent="0">
              <a:buNone/>
            </a:pPr>
            <a:r>
              <a:rPr lang="en-US" sz="2400" b="1" dirty="0"/>
              <a:t>Strings are immutable.</a:t>
            </a:r>
          </a:p>
          <a:p>
            <a:pPr marL="0" indent="0">
              <a:buNone/>
            </a:pPr>
            <a:r>
              <a:rPr lang="en-US" sz="2400" dirty="0"/>
              <a:t>Use the + operator to concatenate two strings, then assign into a new String. </a:t>
            </a:r>
          </a:p>
          <a:p>
            <a:pPr marL="0" indent="0">
              <a:buNone/>
            </a:pPr>
            <a:r>
              <a:rPr lang="en-US" sz="2400" b="1" dirty="0"/>
              <a:t>String hello = “ Hello” + “ Java”;</a:t>
            </a:r>
          </a:p>
          <a:p>
            <a:pPr marL="0" indent="0">
              <a:buNone/>
            </a:pPr>
            <a:r>
              <a:rPr lang="en-US" sz="2400" dirty="0"/>
              <a:t>Since String is a class, its object can be null.</a:t>
            </a:r>
          </a:p>
          <a:p>
            <a:pPr marL="0" indent="0">
              <a:buNone/>
            </a:pPr>
            <a:r>
              <a:rPr lang="en-US" sz="2400" b="1" dirty="0"/>
              <a:t>String bob;  </a:t>
            </a:r>
            <a:r>
              <a:rPr lang="en-US" sz="2400" dirty="0"/>
              <a:t>//null      </a:t>
            </a:r>
          </a:p>
          <a:p>
            <a:pPr marL="0" indent="0">
              <a:buNone/>
            </a:pPr>
            <a:r>
              <a:rPr lang="en-US" sz="2400" b="1" dirty="0"/>
              <a:t>String job = “”;  //</a:t>
            </a:r>
            <a:r>
              <a:rPr lang="en-US" sz="2400" dirty="0"/>
              <a:t>not null, but empty</a:t>
            </a:r>
          </a:p>
        </p:txBody>
      </p:sp>
    </p:spTree>
    <p:extLst>
      <p:ext uri="{BB962C8B-B14F-4D97-AF65-F5344CB8AC3E}">
        <p14:creationId xmlns:p14="http://schemas.microsoft.com/office/powerpoint/2010/main" val="290526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3C98F-C3D3-912D-6267-30BE2E2C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Some Handy String Methods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8834D0-E2C2-0DF6-010D-FF8E1A75E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2307336"/>
            <a:ext cx="9237783" cy="334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35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AAE3-E03E-F195-5EF5-A3C6AF65F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381" y="401372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String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053A0-2BC7-5DCF-0E9F-A8FA36162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2995" y="1418492"/>
            <a:ext cx="9215927" cy="42934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Comparison  is not possible using operators (&lt;, &gt;, ==)</a:t>
            </a:r>
          </a:p>
          <a:p>
            <a:pPr marL="0" indent="0">
              <a:buNone/>
            </a:pPr>
            <a:r>
              <a:rPr lang="en-US" sz="2400" dirty="0"/>
              <a:t>Use the equals method  instead of == :</a:t>
            </a:r>
          </a:p>
          <a:p>
            <a:pPr marL="0" indent="0">
              <a:buNone/>
            </a:pPr>
            <a:r>
              <a:rPr lang="en-US" sz="2400" b="1" dirty="0"/>
              <a:t>If(</a:t>
            </a:r>
            <a:r>
              <a:rPr lang="en-US" sz="2400" b="1" dirty="0" err="1"/>
              <a:t>location.equals</a:t>
            </a:r>
            <a:r>
              <a:rPr lang="en-US" sz="2400" b="1" dirty="0"/>
              <a:t>("World")) </a:t>
            </a:r>
            <a:r>
              <a:rPr lang="en-US" sz="2400" dirty="0"/>
              <a:t>Sometimes, one needs to put strings in order. The </a:t>
            </a:r>
            <a:r>
              <a:rPr lang="en-US" sz="2400" dirty="0" err="1"/>
              <a:t>compareTo</a:t>
            </a:r>
            <a:r>
              <a:rPr lang="en-US" sz="2400" dirty="0"/>
              <a:t> method tells you whether one string comes before another in dictionary order. The call</a:t>
            </a:r>
          </a:p>
          <a:p>
            <a:pPr marL="0" indent="0">
              <a:buNone/>
            </a:pPr>
            <a:r>
              <a:rPr lang="en-US" sz="2400" b="1" dirty="0" err="1"/>
              <a:t>first.compareTo</a:t>
            </a:r>
            <a:r>
              <a:rPr lang="en-US" sz="2400" b="1" dirty="0"/>
              <a:t>(second)</a:t>
            </a:r>
          </a:p>
          <a:p>
            <a:pPr marL="0" indent="0">
              <a:buNone/>
            </a:pPr>
            <a:r>
              <a:rPr lang="en-US" sz="2400" dirty="0"/>
              <a:t>returns a negative integer (not necessarily -1) if first comes before second, a positive integer (not necessarily 1) if first comes after second, and 0 if they are equal.</a:t>
            </a:r>
          </a:p>
          <a:p>
            <a:pPr marL="0" indent="0">
              <a:buNone/>
            </a:pPr>
            <a:r>
              <a:rPr lang="en-US" sz="2400" dirty="0"/>
              <a:t>The strings are compared a character at a time, until one of them runs out of characters or a mismatch is found.</a:t>
            </a:r>
          </a:p>
        </p:txBody>
      </p:sp>
    </p:spTree>
    <p:extLst>
      <p:ext uri="{BB962C8B-B14F-4D97-AF65-F5344CB8AC3E}">
        <p14:creationId xmlns:p14="http://schemas.microsoft.com/office/powerpoint/2010/main" val="2705075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D8FAC-93D9-051F-19E7-9771B7F09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6638" y="389648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String Method </a:t>
            </a:r>
            <a:r>
              <a:rPr lang="en-US" b="1" dirty="0" err="1"/>
              <a:t>equalsIgnoreCase</a:t>
            </a:r>
            <a:r>
              <a:rPr lang="en-US" b="1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9D05B-8CFC-9C77-C85C-6806706C5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727" y="1314450"/>
            <a:ext cx="8639908" cy="55435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public class Test{</a:t>
            </a:r>
          </a:p>
          <a:p>
            <a:pPr marL="0" indent="0">
              <a:buNone/>
            </a:pPr>
            <a:r>
              <a:rPr lang="en-US" sz="2000" b="1" dirty="0"/>
              <a:t>  public static void main(String[] </a:t>
            </a:r>
            <a:r>
              <a:rPr lang="en-US" sz="2000" b="1" dirty="0" err="1"/>
              <a:t>args</a:t>
            </a:r>
            <a:r>
              <a:rPr lang="en-US" sz="2000" b="1" dirty="0"/>
              <a:t>)  {</a:t>
            </a:r>
          </a:p>
          <a:p>
            <a:pPr marL="0" indent="0">
              <a:buNone/>
            </a:pPr>
            <a:r>
              <a:rPr lang="en-US" sz="2000" b="1" dirty="0"/>
              <a:t>	String animal1 = "Horse";</a:t>
            </a:r>
          </a:p>
          <a:p>
            <a:pPr marL="0" indent="0">
              <a:buNone/>
            </a:pPr>
            <a:r>
              <a:rPr lang="en-US" sz="2000" b="1" dirty="0"/>
              <a:t>	String animal2 = "Fly";</a:t>
            </a:r>
          </a:p>
          <a:p>
            <a:pPr marL="0" indent="0">
              <a:buNone/>
            </a:pPr>
            <a:r>
              <a:rPr lang="en-US" sz="2000" b="1" dirty="0"/>
              <a:t>	String </a:t>
            </a:r>
            <a:r>
              <a:rPr lang="en-US" sz="2000" b="1" dirty="0" err="1"/>
              <a:t>newCreature</a:t>
            </a:r>
            <a:r>
              <a:rPr lang="en-US" sz="2000" b="1" dirty="0"/>
              <a:t>;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US" sz="2000" b="1" dirty="0" err="1"/>
              <a:t>newCreature</a:t>
            </a:r>
            <a:r>
              <a:rPr lang="en-US" sz="2000" b="1" dirty="0"/>
              <a:t> = animal1 + animal2;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US" sz="2000" b="1" dirty="0" err="1"/>
              <a:t>System.out.println</a:t>
            </a:r>
            <a:r>
              <a:rPr lang="en-US" sz="2000" b="1" dirty="0"/>
              <a:t>(</a:t>
            </a:r>
            <a:r>
              <a:rPr lang="en-US" sz="2000" b="1" dirty="0" err="1"/>
              <a:t>newCreature.equals</a:t>
            </a:r>
            <a:r>
              <a:rPr lang="en-US" sz="2000" b="1" dirty="0"/>
              <a:t>(“ </a:t>
            </a:r>
            <a:r>
              <a:rPr lang="en-US" sz="2000" b="1" dirty="0" err="1"/>
              <a:t>HorseFly</a:t>
            </a:r>
            <a:r>
              <a:rPr lang="en-US" sz="2000" b="1" dirty="0"/>
              <a:t>"));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US" sz="2000" b="1" dirty="0" err="1"/>
              <a:t>System.out.println</a:t>
            </a:r>
            <a:r>
              <a:rPr lang="en-US" sz="2000" b="1" dirty="0"/>
              <a:t>(</a:t>
            </a:r>
            <a:r>
              <a:rPr lang="en-US" sz="2000" b="1" dirty="0" err="1"/>
              <a:t>newCreature.equals</a:t>
            </a:r>
            <a:r>
              <a:rPr lang="en-US" sz="2000" b="1" dirty="0"/>
              <a:t>(“ horsefly"));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US" sz="2000" b="1" dirty="0" err="1"/>
              <a:t>System.out.println</a:t>
            </a:r>
            <a:r>
              <a:rPr lang="en-US" sz="2000" b="1" dirty="0"/>
              <a:t>(</a:t>
            </a:r>
            <a:r>
              <a:rPr lang="en-US" sz="2000" b="1" dirty="0" err="1"/>
              <a:t>newCreature</a:t>
            </a:r>
            <a:r>
              <a:rPr lang="en-US" sz="2000" b="1" dirty="0"/>
              <a:t>. </a:t>
            </a:r>
            <a:r>
              <a:rPr lang="en-US" sz="2000" b="1" dirty="0" err="1"/>
              <a:t>equalsIgnoreCase</a:t>
            </a:r>
            <a:r>
              <a:rPr lang="en-US" sz="2000" b="1" dirty="0"/>
              <a:t>("horsefly"));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b="1" dirty="0"/>
              <a:t> } </a:t>
            </a:r>
            <a:r>
              <a:rPr lang="en-US" sz="2000" dirty="0"/>
              <a:t>// end main</a:t>
            </a:r>
          </a:p>
          <a:p>
            <a:pPr marL="0" indent="0">
              <a:buNone/>
            </a:pPr>
            <a:r>
              <a:rPr lang="en-US" sz="2000" b="1" dirty="0"/>
              <a:t>}</a:t>
            </a:r>
            <a:r>
              <a:rPr lang="en-US" sz="2000" dirty="0"/>
              <a:t> // end class Test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406457-5A1A-2D51-98F9-B340184FD4FF}"/>
              </a:ext>
            </a:extLst>
          </p:cNvPr>
          <p:cNvSpPr txBox="1"/>
          <p:nvPr/>
        </p:nvSpPr>
        <p:spPr>
          <a:xfrm>
            <a:off x="7319180" y="5372538"/>
            <a:ext cx="11675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</a:p>
          <a:p>
            <a:r>
              <a:rPr lang="en-US" b="1" dirty="0"/>
              <a:t>true</a:t>
            </a:r>
          </a:p>
          <a:p>
            <a:r>
              <a:rPr lang="en-US" b="1" dirty="0"/>
              <a:t>false</a:t>
            </a:r>
          </a:p>
          <a:p>
            <a:r>
              <a:rPr lang="en-US" b="1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678793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1170D-DA38-B456-1779-A4D44D13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String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4F896-7EA0-487E-08C6-2BEC1CE1D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You can find the String API by searching for Oracle </a:t>
            </a:r>
            <a:r>
              <a:rPr lang="en-US" sz="2400" dirty="0" err="1"/>
              <a:t>java.lang.string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35432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E398-8863-F955-1FDE-B2E3908E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No More </a:t>
            </a:r>
            <a:r>
              <a:rPr lang="en-US" b="1" dirty="0" err="1"/>
              <a:t>cin</a:t>
            </a:r>
            <a:r>
              <a:rPr lang="en-US" b="1" dirty="0"/>
              <a:t> or </a:t>
            </a:r>
            <a:r>
              <a:rPr lang="en-US" b="1" dirty="0" err="1"/>
              <a:t>cout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F4434-929B-28DF-4293-12ED249DA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4513" y="1935018"/>
            <a:ext cx="7328510" cy="37776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Output: Use </a:t>
            </a:r>
            <a:r>
              <a:rPr lang="en-US" sz="2400" dirty="0" err="1"/>
              <a:t>System.out.print</a:t>
            </a:r>
            <a:r>
              <a:rPr lang="en-US" sz="2400" dirty="0"/>
              <a:t>(xx), to send to the “standard output stream” and show up in a terminal window.</a:t>
            </a:r>
          </a:p>
          <a:p>
            <a:pPr marL="0" indent="0">
              <a:buNone/>
            </a:pPr>
            <a:r>
              <a:rPr lang="en-US" sz="2400" dirty="0"/>
              <a:t>Use print to print and end on the line. </a:t>
            </a:r>
          </a:p>
          <a:p>
            <a:pPr marL="914400" lvl="2" indent="0">
              <a:buNone/>
            </a:pPr>
            <a:r>
              <a:rPr lang="en-US" sz="2400" b="1" dirty="0" err="1"/>
              <a:t>System.out.print</a:t>
            </a:r>
            <a:r>
              <a:rPr lang="en-US" sz="2400" b="1" dirty="0"/>
              <a:t>(“Some string”);</a:t>
            </a:r>
          </a:p>
          <a:p>
            <a:pPr marL="0" indent="0">
              <a:buNone/>
            </a:pPr>
            <a:r>
              <a:rPr lang="en-US" sz="2400" dirty="0"/>
              <a:t>Use </a:t>
            </a:r>
            <a:r>
              <a:rPr lang="en-US" sz="2400" dirty="0" err="1"/>
              <a:t>println</a:t>
            </a:r>
            <a:r>
              <a:rPr lang="en-US" sz="2400" dirty="0"/>
              <a:t> to print and go to the next line:</a:t>
            </a:r>
          </a:p>
          <a:p>
            <a:pPr marL="914400" lvl="2" indent="0">
              <a:buNone/>
            </a:pPr>
            <a:r>
              <a:rPr lang="en-US" sz="2400" b="1" dirty="0" err="1"/>
              <a:t>System.out.println</a:t>
            </a:r>
            <a:r>
              <a:rPr lang="en-US" sz="2400" b="1" dirty="0"/>
              <a:t>(“Some other string”);</a:t>
            </a:r>
          </a:p>
          <a:p>
            <a:pPr marL="0" indent="0">
              <a:buNone/>
            </a:pPr>
            <a:r>
              <a:rPr lang="en-US" sz="2400" dirty="0"/>
              <a:t>Use </a:t>
            </a:r>
            <a:r>
              <a:rPr lang="en-US" sz="2400" dirty="0" err="1"/>
              <a:t>printf</a:t>
            </a:r>
            <a:r>
              <a:rPr lang="en-US" sz="2400" dirty="0"/>
              <a:t> to format the output.</a:t>
            </a:r>
          </a:p>
          <a:p>
            <a:pPr marL="914400" lvl="2" indent="0">
              <a:buNone/>
            </a:pPr>
            <a:r>
              <a:rPr lang="en-US" sz="2400" b="1" dirty="0" err="1"/>
              <a:t>System.out.printf</a:t>
            </a:r>
            <a:r>
              <a:rPr lang="en-US" sz="2400" b="1" dirty="0"/>
              <a:t>(“%8.2f”, item);</a:t>
            </a:r>
          </a:p>
          <a:p>
            <a:pPr marL="914400" lvl="2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8596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E32FE-9CD1-4DEE-584D-8558CB0A1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The Scanner class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69617-134A-9250-92C6-D437AE2B7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9"/>
            <a:ext cx="9329444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Reading from the “standard input stream” isn’t quite as simple because the corresponding System.in object only has methods to read individual bytes.</a:t>
            </a:r>
          </a:p>
          <a:p>
            <a:pPr marL="0" indent="0">
              <a:buNone/>
            </a:pPr>
            <a:r>
              <a:rPr lang="en-US" sz="2400" dirty="0"/>
              <a:t>To read strings and numbers, construct a Scanner that is attached to System.in:</a:t>
            </a:r>
          </a:p>
          <a:p>
            <a:pPr marL="0" indent="0">
              <a:buNone/>
            </a:pPr>
            <a:r>
              <a:rPr lang="en-US" sz="2400" b="1" dirty="0"/>
              <a:t>import </a:t>
            </a:r>
            <a:r>
              <a:rPr lang="en-US" sz="2400" b="1" dirty="0" err="1"/>
              <a:t>java.util.Scanner</a:t>
            </a:r>
            <a:r>
              <a:rPr lang="en-US" sz="2400" b="1" dirty="0"/>
              <a:t>;</a:t>
            </a:r>
          </a:p>
          <a:p>
            <a:pPr marL="0" indent="0">
              <a:buNone/>
            </a:pPr>
            <a:r>
              <a:rPr lang="en-US" sz="2400" b="1" dirty="0"/>
              <a:t>var in = new Scanner(System.in);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nextLine</a:t>
            </a:r>
            <a:r>
              <a:rPr lang="en-US" sz="2400" dirty="0"/>
              <a:t> method reads a line of input.</a:t>
            </a:r>
          </a:p>
          <a:p>
            <a:pPr marL="0" indent="0">
              <a:buNone/>
            </a:pPr>
            <a:r>
              <a:rPr lang="en-US" sz="2400" b="1" dirty="0" err="1"/>
              <a:t>System.out.println</a:t>
            </a:r>
            <a:r>
              <a:rPr lang="en-US" sz="2400" b="1" dirty="0"/>
              <a:t>("What is your name?");</a:t>
            </a:r>
          </a:p>
          <a:p>
            <a:pPr marL="0" indent="0">
              <a:buNone/>
            </a:pPr>
            <a:r>
              <a:rPr lang="en-US" sz="2400" b="1" dirty="0"/>
              <a:t>String name = </a:t>
            </a:r>
            <a:r>
              <a:rPr lang="en-US" sz="2400" b="1" dirty="0" err="1"/>
              <a:t>in.nextLine</a:t>
            </a:r>
            <a:r>
              <a:rPr lang="en-US" sz="2400" b="1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392386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EB5DC-3992-FD5E-C085-552C984B8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6074" y="1317315"/>
            <a:ext cx="9215926" cy="44026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next() </a:t>
            </a:r>
            <a:r>
              <a:rPr lang="en-US" sz="2400" dirty="0"/>
              <a:t>Skip leading whitespace until a token is found. Return the token as a String value.</a:t>
            </a:r>
          </a:p>
          <a:p>
            <a:pPr marL="0" indent="0">
              <a:buNone/>
            </a:pPr>
            <a:r>
              <a:rPr lang="en-US" sz="2400" b="1" dirty="0" err="1"/>
              <a:t>nextInt</a:t>
            </a:r>
            <a:r>
              <a:rPr lang="en-US" sz="2400" b="1" dirty="0"/>
              <a:t>() </a:t>
            </a:r>
            <a:r>
              <a:rPr lang="en-US" sz="2400" dirty="0"/>
              <a:t>	Skip leading whitespace until a token is found. Return the token as an int value.</a:t>
            </a:r>
          </a:p>
          <a:p>
            <a:pPr marL="0" indent="0">
              <a:buNone/>
            </a:pPr>
            <a:r>
              <a:rPr lang="en-US" sz="2400" b="1" dirty="0" err="1"/>
              <a:t>nextLong</a:t>
            </a:r>
            <a:r>
              <a:rPr lang="en-US" sz="2400" b="1" dirty="0"/>
              <a:t>() </a:t>
            </a:r>
            <a:r>
              <a:rPr lang="en-US" sz="2400" dirty="0"/>
              <a:t>	Skip leading whitespace until a token is found. Return the token as a long value.</a:t>
            </a:r>
          </a:p>
          <a:p>
            <a:pPr marL="0" indent="0">
              <a:buNone/>
            </a:pPr>
            <a:r>
              <a:rPr lang="en-US" sz="2400" b="1" dirty="0" err="1"/>
              <a:t>nextFloat</a:t>
            </a:r>
            <a:r>
              <a:rPr lang="en-US" sz="2400" b="1" dirty="0"/>
              <a:t>() </a:t>
            </a:r>
            <a:r>
              <a:rPr lang="en-US" sz="2400" dirty="0"/>
              <a:t>	Skip leading whitespace until a token is found. Return the token as a float value.</a:t>
            </a:r>
          </a:p>
          <a:p>
            <a:pPr marL="0" indent="0">
              <a:buNone/>
            </a:pPr>
            <a:r>
              <a:rPr lang="en-US" sz="2400" b="1" dirty="0" err="1"/>
              <a:t>nextDouble</a:t>
            </a:r>
            <a:r>
              <a:rPr lang="en-US" sz="2400" b="1" dirty="0"/>
              <a:t>() </a:t>
            </a:r>
            <a:r>
              <a:rPr lang="en-US" sz="2400" dirty="0"/>
              <a:t>	Skip leading whitespace until a token is found. Return the token as a double value.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34618-A449-CFBA-619F-7A70E15490C5}"/>
              </a:ext>
            </a:extLst>
          </p:cNvPr>
          <p:cNvSpPr txBox="1"/>
          <p:nvPr/>
        </p:nvSpPr>
        <p:spPr>
          <a:xfrm>
            <a:off x="3734152" y="214716"/>
            <a:ext cx="65483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Methods for Reading Input</a:t>
            </a:r>
          </a:p>
        </p:txBody>
      </p:sp>
    </p:spTree>
    <p:extLst>
      <p:ext uri="{BB962C8B-B14F-4D97-AF65-F5344CB8AC3E}">
        <p14:creationId xmlns:p14="http://schemas.microsoft.com/office/powerpoint/2010/main" val="33867817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3F726-98FA-4C5C-5B90-EE94E1FE7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6134" y="345827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2F408-98F5-19B8-CDE2-C80E7B4E1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6134" y="1453660"/>
            <a:ext cx="9368327" cy="45869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What is leading whitespace?  </a:t>
            </a:r>
            <a:r>
              <a:rPr lang="en-US" sz="2400" dirty="0"/>
              <a:t>Whitespace refers to all characters that appear as blanks on a display screen or printer. This includes the space character and  the tab character, </a:t>
            </a:r>
          </a:p>
          <a:p>
            <a:pPr marL="0" indent="0">
              <a:buNone/>
            </a:pPr>
            <a:r>
              <a:rPr lang="en-US" sz="2400" b="1" dirty="0"/>
              <a:t>What is a token?  </a:t>
            </a:r>
            <a:r>
              <a:rPr lang="en-US" sz="2400" dirty="0"/>
              <a:t>A token is a sequence of non-whitespace characters.</a:t>
            </a:r>
          </a:p>
          <a:p>
            <a:pPr marL="0" indent="0">
              <a:buNone/>
            </a:pPr>
            <a:r>
              <a:rPr lang="en-US" sz="2400" b="1" dirty="0"/>
              <a:t>What happens if the user provides invalid input for one of Scanner’s method calls? </a:t>
            </a:r>
            <a:r>
              <a:rPr lang="en-US" sz="2400" dirty="0"/>
              <a:t>The program crashes (the JVM prints an error message and stops the program).For example, hedgehog and 25.0 are invalid inputs if </a:t>
            </a:r>
            <a:r>
              <a:rPr lang="en-US" sz="2400" dirty="0" err="1"/>
              <a:t>nextInt</a:t>
            </a:r>
            <a:r>
              <a:rPr lang="en-US" sz="2400" dirty="0"/>
              <a:t>() is called.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71705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B9AFA-119A-D53B-7493-F8CC6D12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Enhanced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89597-BBE5-24F1-001F-C6DF80F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98430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Very often, you want to visit all elements of an array.</a:t>
            </a:r>
          </a:p>
          <a:p>
            <a:pPr marL="0" indent="0">
              <a:buNone/>
            </a:pPr>
            <a:r>
              <a:rPr lang="en-US" sz="2400" b="1" dirty="0"/>
              <a:t>int sum = 0;</a:t>
            </a:r>
          </a:p>
          <a:p>
            <a:pPr marL="0" indent="0">
              <a:buNone/>
            </a:pPr>
            <a:r>
              <a:rPr lang="en-US" sz="2400" b="1" dirty="0"/>
              <a:t>for (int n : numbers) {</a:t>
            </a:r>
          </a:p>
          <a:p>
            <a:pPr marL="0" indent="0">
              <a:buNone/>
            </a:pPr>
            <a:r>
              <a:rPr lang="en-US" sz="2400" b="1" dirty="0"/>
              <a:t>    sum += n;</a:t>
            </a:r>
          </a:p>
          <a:p>
            <a:pPr marL="0" indent="0">
              <a:buNone/>
            </a:pPr>
            <a:r>
              <a:rPr lang="en-US" sz="2400" b="1" dirty="0"/>
              <a:t>}</a:t>
            </a:r>
          </a:p>
          <a:p>
            <a:pPr marL="0" indent="0">
              <a:buNone/>
            </a:pPr>
            <a:r>
              <a:rPr lang="en-US" sz="2400" dirty="0"/>
              <a:t>The loop variable, n, traverses the elements of the numbers array, not the index values.  The variable n is assigned to numbers[0], numbers[1</a:t>
            </a:r>
            <a:r>
              <a:rPr lang="en-US" sz="2400"/>
              <a:t>] etc.</a:t>
            </a:r>
            <a:endParaRPr lang="en-US" sz="2400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49135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CF5B7-369D-116B-106B-1696A31E7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Modernized Version of Switch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3D872-9EFB-D47B-CDC1-DE57C3185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Java has multiple modernized versions of the switch statement.</a:t>
            </a:r>
          </a:p>
          <a:p>
            <a:pPr marL="0" indent="0">
              <a:buNone/>
            </a:pPr>
            <a:r>
              <a:rPr lang="en-US" sz="2400" dirty="0"/>
              <a:t>It also has a switch expression.</a:t>
            </a:r>
          </a:p>
          <a:p>
            <a:pPr marL="0" indent="0">
              <a:buNone/>
            </a:pPr>
            <a:r>
              <a:rPr lang="en-US" sz="2400" dirty="0"/>
              <a:t>We will look at these improvements in a separate </a:t>
            </a:r>
            <a:r>
              <a:rPr lang="en-US" sz="2400"/>
              <a:t>PPT.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But remember that the old-fashioned switch still works, too. </a:t>
            </a:r>
          </a:p>
        </p:txBody>
      </p:sp>
    </p:spTree>
    <p:extLst>
      <p:ext uri="{BB962C8B-B14F-4D97-AF65-F5344CB8AC3E}">
        <p14:creationId xmlns:p14="http://schemas.microsoft.com/office/powerpoint/2010/main" val="75030941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487</TotalTime>
  <Words>2603</Words>
  <Application>Microsoft Office PowerPoint</Application>
  <PresentationFormat>Widescreen</PresentationFormat>
  <Paragraphs>282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Calibri</vt:lpstr>
      <vt:lpstr>Courier New</vt:lpstr>
      <vt:lpstr>Symbol</vt:lpstr>
      <vt:lpstr>Tahoma</vt:lpstr>
      <vt:lpstr>Times New Roman</vt:lpstr>
      <vt:lpstr>Wingdings</vt:lpstr>
      <vt:lpstr>Wingdings 3</vt:lpstr>
      <vt:lpstr>Wisp</vt:lpstr>
      <vt:lpstr>Transitioning from C++ to Java What’s the same and what to watch out for</vt:lpstr>
      <vt:lpstr>Java is a Strongly Typed Language</vt:lpstr>
      <vt:lpstr>What’s the Same?</vt:lpstr>
      <vt:lpstr>More of the Same</vt:lpstr>
      <vt:lpstr>What’s Different?</vt:lpstr>
      <vt:lpstr>What is Really Different?</vt:lpstr>
      <vt:lpstr>Identifiers have one Addition</vt:lpstr>
      <vt:lpstr>Type Inference</vt:lpstr>
      <vt:lpstr>Why Use type Inference?</vt:lpstr>
      <vt:lpstr>For type inference use var</vt:lpstr>
      <vt:lpstr>Some var Restrictions</vt:lpstr>
      <vt:lpstr>Naming Conventions</vt:lpstr>
      <vt:lpstr>Primitives or Numerical Types</vt:lpstr>
      <vt:lpstr>Integer Types</vt:lpstr>
      <vt:lpstr>More Integers</vt:lpstr>
      <vt:lpstr>Floating-Point Types – float, double</vt:lpstr>
      <vt:lpstr>Char type</vt:lpstr>
      <vt:lpstr>Char Type</vt:lpstr>
      <vt:lpstr>Constants</vt:lpstr>
      <vt:lpstr>Numerical Promotions</vt:lpstr>
      <vt:lpstr>Type Casting</vt:lpstr>
      <vt:lpstr>The Modulus Operator</vt:lpstr>
      <vt:lpstr>Using Modulus in Java</vt:lpstr>
      <vt:lpstr>Strings</vt:lpstr>
      <vt:lpstr>Some Handy String Methods</vt:lpstr>
      <vt:lpstr>String Comparisons</vt:lpstr>
      <vt:lpstr>String Method equalsIgnoreCase()</vt:lpstr>
      <vt:lpstr>The String API</vt:lpstr>
      <vt:lpstr>No More cin or cout</vt:lpstr>
      <vt:lpstr>The Scanner class </vt:lpstr>
      <vt:lpstr>PowerPoint Presentation</vt:lpstr>
      <vt:lpstr>Definitions</vt:lpstr>
      <vt:lpstr>The Enhanced For loop</vt:lpstr>
      <vt:lpstr>Modernized Version of Switch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Java –  What have you heard?</dc:title>
  <dc:creator>Ivonne Nelson</dc:creator>
  <cp:lastModifiedBy>NELSON, IVONNE</cp:lastModifiedBy>
  <cp:revision>25</cp:revision>
  <dcterms:created xsi:type="dcterms:W3CDTF">2022-11-26T21:48:35Z</dcterms:created>
  <dcterms:modified xsi:type="dcterms:W3CDTF">2024-12-30T18:08:19Z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bb7484-22c2-4b98-9fb8-3ab13d821527_Enabled">
    <vt:lpwstr>true</vt:lpwstr>
  </property>
  <property fmtid="{D5CDD505-2E9C-101B-9397-08002B2CF9AE}" pid="3" name="MSIP_Label_d8bb7484-22c2-4b98-9fb8-3ab13d821527_SetDate">
    <vt:lpwstr>2024-05-24T21:06:23Z</vt:lpwstr>
  </property>
  <property fmtid="{D5CDD505-2E9C-101B-9397-08002B2CF9AE}" pid="4" name="MSIP_Label_d8bb7484-22c2-4b98-9fb8-3ab13d821527_Method">
    <vt:lpwstr>Standard</vt:lpwstr>
  </property>
  <property fmtid="{D5CDD505-2E9C-101B-9397-08002B2CF9AE}" pid="5" name="MSIP_Label_d8bb7484-22c2-4b98-9fb8-3ab13d821527_Name">
    <vt:lpwstr>defa4170-0d19-0005-0004-bc88714345d2</vt:lpwstr>
  </property>
  <property fmtid="{D5CDD505-2E9C-101B-9397-08002B2CF9AE}" pid="6" name="MSIP_Label_d8bb7484-22c2-4b98-9fb8-3ab13d821527_SiteId">
    <vt:lpwstr>f50e076b-86a5-45f3-87b0-3f4d0ec5e94e</vt:lpwstr>
  </property>
  <property fmtid="{D5CDD505-2E9C-101B-9397-08002B2CF9AE}" pid="7" name="MSIP_Label_d8bb7484-22c2-4b98-9fb8-3ab13d821527_ActionId">
    <vt:lpwstr>f497058c-8b27-42ca-95a7-02b85aaf9fd4</vt:lpwstr>
  </property>
  <property fmtid="{D5CDD505-2E9C-101B-9397-08002B2CF9AE}" pid="8" name="MSIP_Label_d8bb7484-22c2-4b98-9fb8-3ab13d821527_ContentBits">
    <vt:lpwstr>0</vt:lpwstr>
  </property>
</Properties>
</file>