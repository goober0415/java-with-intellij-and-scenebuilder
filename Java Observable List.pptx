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2EFF35-5C40-499F-8A85-76020AF2E1AB}"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2257194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2EFF35-5C40-499F-8A85-76020AF2E1AB}"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2923274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2EFF35-5C40-499F-8A85-76020AF2E1AB}"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1153007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2EFF35-5C40-499F-8A85-76020AF2E1AB}" type="datetimeFigureOut">
              <a:rPr lang="en-US" smtClean="0"/>
              <a:t>1/19/2023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2315263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2EFF35-5C40-499F-8A85-76020AF2E1AB}" type="datetimeFigureOut">
              <a:rPr lang="en-US" smtClean="0"/>
              <a:t>1/19/2023</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1039555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2EFF35-5C40-499F-8A85-76020AF2E1AB}" type="datetimeFigureOut">
              <a:rPr lang="en-US" smtClean="0"/>
              <a:t>1/19/2023</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647325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2EFF35-5C40-499F-8A85-76020AF2E1AB}" type="datetimeFigureOut">
              <a:rPr lang="en-US" smtClean="0"/>
              <a:t>1/19/2023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1101830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B2EFF35-5C40-499F-8A85-76020AF2E1AB}" type="datetimeFigureOut">
              <a:rPr lang="en-US" smtClean="0"/>
              <a:t>1/19/2023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4107384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B2EFF35-5C40-499F-8A85-76020AF2E1AB}" type="datetimeFigureOut">
              <a:rPr lang="en-US" smtClean="0"/>
              <a:t>1/19/2023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1285958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2EFF35-5C40-499F-8A85-76020AF2E1AB}"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2307314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2EFF35-5C40-499F-8A85-76020AF2E1AB}"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AB59AB9-00C4-462E-916D-0BD62B483B8F}"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564260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B2EFF35-5C40-499F-8A85-76020AF2E1AB}" type="datetimeFigureOut">
              <a:rPr lang="en-US" smtClean="0"/>
              <a:t>1/19/2023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13658902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B2EFF35-5C40-499F-8A85-76020AF2E1AB}" type="datetimeFigureOut">
              <a:rPr lang="en-US" smtClean="0"/>
              <a:t>1/19/2023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AB59AB9-00C4-462E-916D-0BD62B483B8F}"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563989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B2EFF35-5C40-499F-8A85-76020AF2E1AB}" type="datetimeFigureOut">
              <a:rPr lang="en-US" smtClean="0"/>
              <a:t>1/19/2023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522998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2EFF35-5C40-499F-8A85-76020AF2E1AB}"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1867630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2EFF35-5C40-499F-8A85-76020AF2E1AB}"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AB59AB9-00C4-462E-916D-0BD62B483B8F}" type="slidenum">
              <a:rPr lang="en-US" smtClean="0"/>
              <a:t>‹#›</a:t>
            </a:fld>
            <a:endParaRPr lang="en-US"/>
          </a:p>
        </p:txBody>
      </p:sp>
    </p:spTree>
    <p:extLst>
      <p:ext uri="{BB962C8B-B14F-4D97-AF65-F5344CB8AC3E}">
        <p14:creationId xmlns:p14="http://schemas.microsoft.com/office/powerpoint/2010/main" val="3992476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B2EFF35-5C40-499F-8A85-76020AF2E1AB}" type="datetimeFigureOut">
              <a:rPr lang="en-US" smtClean="0"/>
              <a:t>1/19/2023</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AB59AB9-00C4-462E-916D-0BD62B483B8F}" type="slidenum">
              <a:rPr lang="en-US" smtClean="0"/>
              <a:t>‹#›</a:t>
            </a:fld>
            <a:endParaRPr lang="en-US"/>
          </a:p>
        </p:txBody>
      </p:sp>
    </p:spTree>
    <p:extLst>
      <p:ext uri="{BB962C8B-B14F-4D97-AF65-F5344CB8AC3E}">
        <p14:creationId xmlns:p14="http://schemas.microsoft.com/office/powerpoint/2010/main" val="31221499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82EEC-6A31-4291-BA2B-0644DB0D5203}"/>
              </a:ext>
            </a:extLst>
          </p:cNvPr>
          <p:cNvSpPr>
            <a:spLocks noGrp="1"/>
          </p:cNvSpPr>
          <p:nvPr>
            <p:ph type="ctrTitle"/>
          </p:nvPr>
        </p:nvSpPr>
        <p:spPr/>
        <p:txBody>
          <a:bodyPr/>
          <a:lstStyle/>
          <a:p>
            <a:pPr algn="ctr"/>
            <a:r>
              <a:rPr lang="en-US" b="1" dirty="0"/>
              <a:t>Java Observable List</a:t>
            </a:r>
          </a:p>
        </p:txBody>
      </p:sp>
      <p:sp>
        <p:nvSpPr>
          <p:cNvPr id="3" name="Subtitle 2">
            <a:extLst>
              <a:ext uri="{FF2B5EF4-FFF2-40B4-BE49-F238E27FC236}">
                <a16:creationId xmlns:a16="http://schemas.microsoft.com/office/drawing/2014/main" id="{30A3E916-3D40-46C0-A874-8F5A15E3216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62227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5CD6C-DCF8-4517-87C9-28B6447617E6}"/>
              </a:ext>
            </a:extLst>
          </p:cNvPr>
          <p:cNvSpPr>
            <a:spLocks noGrp="1"/>
          </p:cNvSpPr>
          <p:nvPr>
            <p:ph type="title"/>
          </p:nvPr>
        </p:nvSpPr>
        <p:spPr/>
        <p:txBody>
          <a:bodyPr/>
          <a:lstStyle/>
          <a:p>
            <a:pPr algn="ctr"/>
            <a:r>
              <a:rPr lang="en-US" b="1" dirty="0"/>
              <a:t>What is an Observable List?</a:t>
            </a:r>
          </a:p>
        </p:txBody>
      </p:sp>
      <p:sp>
        <p:nvSpPr>
          <p:cNvPr id="3" name="Content Placeholder 2">
            <a:extLst>
              <a:ext uri="{FF2B5EF4-FFF2-40B4-BE49-F238E27FC236}">
                <a16:creationId xmlns:a16="http://schemas.microsoft.com/office/drawing/2014/main" id="{2E79A3AA-6F28-49EE-B311-BE92B261CF64}"/>
              </a:ext>
            </a:extLst>
          </p:cNvPr>
          <p:cNvSpPr>
            <a:spLocks noGrp="1"/>
          </p:cNvSpPr>
          <p:nvPr>
            <p:ph idx="1"/>
          </p:nvPr>
        </p:nvSpPr>
        <p:spPr/>
        <p:txBody>
          <a:bodyPr>
            <a:noAutofit/>
          </a:bodyPr>
          <a:lstStyle/>
          <a:p>
            <a:pPr marL="0" indent="0">
              <a:buNone/>
            </a:pPr>
            <a:r>
              <a:rPr lang="en-US" sz="2400" dirty="0"/>
              <a:t>It is a list that enables listeners to track changes when they occur.</a:t>
            </a:r>
          </a:p>
          <a:p>
            <a:pPr marL="0" indent="0">
              <a:buNone/>
            </a:pPr>
            <a:r>
              <a:rPr lang="en-US" sz="2400" dirty="0"/>
              <a:t>The JavaFX Observable interface is the base interface for many container classes and interfaces in the JavaFX Collection Framework. </a:t>
            </a:r>
          </a:p>
          <a:p>
            <a:pPr marL="0" indent="0">
              <a:buNone/>
            </a:pPr>
            <a:r>
              <a:rPr lang="en-US" sz="2400" dirty="0"/>
              <a:t>Because </a:t>
            </a:r>
            <a:r>
              <a:rPr lang="en-US" sz="2400" dirty="0" err="1"/>
              <a:t>ObservableList</a:t>
            </a:r>
            <a:r>
              <a:rPr lang="en-US" sz="2400" dirty="0"/>
              <a:t>&lt;E&gt; adheres to the rules of the observable and observer paradigm of MVC, such as providing notification to its interested observer regarding any updating or addition or removal of objects from the model list, it became a de-facto container for using any lists in the JavaFX arena.</a:t>
            </a:r>
          </a:p>
          <a:p>
            <a:pPr marL="0" indent="0">
              <a:buNone/>
            </a:pPr>
            <a:endParaRPr lang="en-US" sz="2400" dirty="0"/>
          </a:p>
        </p:txBody>
      </p:sp>
    </p:spTree>
    <p:extLst>
      <p:ext uri="{BB962C8B-B14F-4D97-AF65-F5344CB8AC3E}">
        <p14:creationId xmlns:p14="http://schemas.microsoft.com/office/powerpoint/2010/main" val="870528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5A476-8136-4F41-A697-442B68903908}"/>
              </a:ext>
            </a:extLst>
          </p:cNvPr>
          <p:cNvSpPr>
            <a:spLocks noGrp="1"/>
          </p:cNvSpPr>
          <p:nvPr>
            <p:ph type="title"/>
          </p:nvPr>
        </p:nvSpPr>
        <p:spPr/>
        <p:txBody>
          <a:bodyPr/>
          <a:lstStyle/>
          <a:p>
            <a:pPr algn="ctr"/>
            <a:r>
              <a:rPr lang="en-US" b="1" dirty="0"/>
              <a:t>Create an Observable List</a:t>
            </a:r>
          </a:p>
        </p:txBody>
      </p:sp>
      <p:sp>
        <p:nvSpPr>
          <p:cNvPr id="3" name="Content Placeholder 2">
            <a:extLst>
              <a:ext uri="{FF2B5EF4-FFF2-40B4-BE49-F238E27FC236}">
                <a16:creationId xmlns:a16="http://schemas.microsoft.com/office/drawing/2014/main" id="{F1380FE8-425F-4786-99D9-0E4F93FCC52B}"/>
              </a:ext>
            </a:extLst>
          </p:cNvPr>
          <p:cNvSpPr>
            <a:spLocks noGrp="1"/>
          </p:cNvSpPr>
          <p:nvPr>
            <p:ph idx="1"/>
          </p:nvPr>
        </p:nvSpPr>
        <p:spPr/>
        <p:txBody>
          <a:bodyPr>
            <a:normAutofit/>
          </a:bodyPr>
          <a:lstStyle/>
          <a:p>
            <a:pPr marL="0" indent="0">
              <a:buNone/>
            </a:pPr>
            <a:r>
              <a:rPr lang="en-US" sz="2400" b="1" dirty="0"/>
              <a:t>List&lt;String&gt; list = new </a:t>
            </a:r>
            <a:r>
              <a:rPr lang="en-US" sz="2400" b="1" dirty="0" err="1"/>
              <a:t>ArrayList</a:t>
            </a:r>
            <a:r>
              <a:rPr lang="en-US" sz="2400" b="1" dirty="0"/>
              <a:t>&lt;String&gt;();</a:t>
            </a:r>
          </a:p>
          <a:p>
            <a:pPr marL="0" indent="0">
              <a:buNone/>
            </a:pPr>
            <a:endParaRPr lang="en-US" sz="2400" b="1" dirty="0"/>
          </a:p>
          <a:p>
            <a:pPr marL="0" indent="0">
              <a:buNone/>
            </a:pPr>
            <a:r>
              <a:rPr lang="en-US" sz="2400" b="1" dirty="0" err="1"/>
              <a:t>ObservableList</a:t>
            </a:r>
            <a:r>
              <a:rPr lang="en-US" sz="2400" b="1" dirty="0"/>
              <a:t>&lt;String&gt;</a:t>
            </a:r>
            <a:r>
              <a:rPr lang="en-US" sz="2400" b="1" dirty="0" err="1"/>
              <a:t>observableList</a:t>
            </a:r>
            <a:r>
              <a:rPr lang="en-US" sz="2400" b="1" dirty="0"/>
              <a:t> = </a:t>
            </a:r>
            <a:r>
              <a:rPr lang="en-US" sz="2400" b="1" dirty="0" err="1"/>
              <a:t>FXCollections.observableList</a:t>
            </a:r>
            <a:r>
              <a:rPr lang="en-US" sz="2400" b="1" dirty="0"/>
              <a:t>(list);</a:t>
            </a:r>
          </a:p>
          <a:p>
            <a:pPr marL="0" indent="0">
              <a:buNone/>
            </a:pPr>
            <a:endParaRPr lang="en-US" sz="2400" b="1" dirty="0"/>
          </a:p>
        </p:txBody>
      </p:sp>
    </p:spTree>
    <p:extLst>
      <p:ext uri="{BB962C8B-B14F-4D97-AF65-F5344CB8AC3E}">
        <p14:creationId xmlns:p14="http://schemas.microsoft.com/office/powerpoint/2010/main" val="1185843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B8DC6-726B-4BDB-888B-B156048334D6}"/>
              </a:ext>
            </a:extLst>
          </p:cNvPr>
          <p:cNvSpPr>
            <a:spLocks noGrp="1"/>
          </p:cNvSpPr>
          <p:nvPr>
            <p:ph type="title"/>
          </p:nvPr>
        </p:nvSpPr>
        <p:spPr>
          <a:xfrm>
            <a:off x="2663946" y="186885"/>
            <a:ext cx="8911687" cy="1280890"/>
          </a:xfrm>
        </p:spPr>
        <p:txBody>
          <a:bodyPr/>
          <a:lstStyle/>
          <a:p>
            <a:pPr algn="ctr"/>
            <a:r>
              <a:rPr lang="en-US" b="1" dirty="0"/>
              <a:t>Use the Observable List</a:t>
            </a:r>
          </a:p>
        </p:txBody>
      </p:sp>
      <p:sp>
        <p:nvSpPr>
          <p:cNvPr id="3" name="Content Placeholder 2">
            <a:extLst>
              <a:ext uri="{FF2B5EF4-FFF2-40B4-BE49-F238E27FC236}">
                <a16:creationId xmlns:a16="http://schemas.microsoft.com/office/drawing/2014/main" id="{2A72444E-1057-4F06-A2C5-D074FB674617}"/>
              </a:ext>
            </a:extLst>
          </p:cNvPr>
          <p:cNvSpPr>
            <a:spLocks noGrp="1"/>
          </p:cNvSpPr>
          <p:nvPr>
            <p:ph idx="1"/>
          </p:nvPr>
        </p:nvSpPr>
        <p:spPr>
          <a:xfrm>
            <a:off x="2663946" y="1041647"/>
            <a:ext cx="9528054" cy="3777622"/>
          </a:xfrm>
        </p:spPr>
        <p:txBody>
          <a:bodyPr>
            <a:noAutofit/>
          </a:bodyPr>
          <a:lstStyle/>
          <a:p>
            <a:pPr marL="0" indent="0">
              <a:buNone/>
            </a:pPr>
            <a:r>
              <a:rPr lang="en-US" sz="2400" dirty="0"/>
              <a:t>In the case of the </a:t>
            </a:r>
            <a:r>
              <a:rPr lang="en-US" sz="2400" dirty="0" err="1"/>
              <a:t>DataBase</a:t>
            </a:r>
            <a:r>
              <a:rPr lang="en-US" sz="2400" dirty="0"/>
              <a:t> Program, we will place a </a:t>
            </a:r>
            <a:r>
              <a:rPr lang="en-US" sz="2400" dirty="0" err="1"/>
              <a:t>ListView</a:t>
            </a:r>
            <a:r>
              <a:rPr lang="en-US" sz="2400" dirty="0"/>
              <a:t> into our Window using  </a:t>
            </a:r>
            <a:r>
              <a:rPr lang="en-US" sz="2400" dirty="0" err="1"/>
              <a:t>Scenebuilder</a:t>
            </a:r>
            <a:r>
              <a:rPr lang="en-US" sz="2400" dirty="0"/>
              <a:t>.  It will display our table:</a:t>
            </a:r>
          </a:p>
          <a:p>
            <a:pPr marL="0" indent="0">
              <a:buNone/>
            </a:pPr>
            <a:r>
              <a:rPr lang="en-US" sz="2400" dirty="0"/>
              <a:t>           </a:t>
            </a:r>
            <a:r>
              <a:rPr lang="en-US" sz="2400" b="1" dirty="0"/>
              <a:t>@FXML private </a:t>
            </a:r>
            <a:r>
              <a:rPr lang="en-US" sz="2400" b="1" dirty="0" err="1"/>
              <a:t>ListView</a:t>
            </a:r>
            <a:r>
              <a:rPr lang="en-US" sz="2400" b="1" dirty="0"/>
              <a:t>&lt;String&gt; </a:t>
            </a:r>
            <a:r>
              <a:rPr lang="en-US" sz="2400" b="1" dirty="0" err="1"/>
              <a:t>lvData</a:t>
            </a:r>
            <a:r>
              <a:rPr lang="en-US" sz="2400" b="1" dirty="0"/>
              <a:t>;</a:t>
            </a:r>
          </a:p>
          <a:p>
            <a:pPr marL="0" indent="0">
              <a:buNone/>
            </a:pPr>
            <a:r>
              <a:rPr lang="en-US" sz="2400" dirty="0"/>
              <a:t>We will create an </a:t>
            </a:r>
            <a:r>
              <a:rPr lang="en-US" sz="2400" dirty="0" err="1"/>
              <a:t>ObservableList</a:t>
            </a:r>
            <a:r>
              <a:rPr lang="en-US" sz="2400" dirty="0"/>
              <a:t> of Strings, to hold our records:</a:t>
            </a:r>
          </a:p>
          <a:p>
            <a:pPr marL="0" indent="0">
              <a:buNone/>
            </a:pPr>
            <a:r>
              <a:rPr lang="en-US" sz="2400" b="1" dirty="0"/>
              <a:t>            private </a:t>
            </a:r>
            <a:r>
              <a:rPr lang="en-US" sz="2400" b="1" dirty="0" err="1"/>
              <a:t>ObservableList</a:t>
            </a:r>
            <a:r>
              <a:rPr lang="en-US" sz="2400" b="1" dirty="0"/>
              <a:t>&lt;String&gt; </a:t>
            </a:r>
            <a:r>
              <a:rPr lang="en-US" sz="2400" b="1" dirty="0" err="1"/>
              <a:t>dogList</a:t>
            </a:r>
            <a:r>
              <a:rPr lang="en-US" sz="2400" b="1" dirty="0"/>
              <a:t> =  			    		</a:t>
            </a:r>
            <a:r>
              <a:rPr lang="en-US" sz="2400" b="1" dirty="0" err="1"/>
              <a:t>FXCollections.observableArrayList</a:t>
            </a:r>
            <a:r>
              <a:rPr lang="en-US" sz="2400" b="1" dirty="0"/>
              <a:t>();</a:t>
            </a:r>
          </a:p>
          <a:p>
            <a:pPr marL="0" indent="0">
              <a:buNone/>
            </a:pPr>
            <a:r>
              <a:rPr lang="en-US" sz="2400" dirty="0"/>
              <a:t>The records will be the items in the List:</a:t>
            </a:r>
          </a:p>
          <a:p>
            <a:pPr marL="0" indent="0">
              <a:buNone/>
            </a:pPr>
            <a:r>
              <a:rPr lang="en-US" sz="2400" dirty="0"/>
              <a:t>		</a:t>
            </a:r>
            <a:r>
              <a:rPr lang="en-US" sz="2400" b="1" dirty="0"/>
              <a:t>    </a:t>
            </a:r>
            <a:r>
              <a:rPr lang="en-US" sz="2400" b="1" dirty="0" err="1"/>
              <a:t>doglist.add</a:t>
            </a:r>
            <a:r>
              <a:rPr lang="en-US" sz="2400" b="1" dirty="0"/>
              <a:t>(…) </a:t>
            </a:r>
          </a:p>
          <a:p>
            <a:pPr marL="0" indent="0">
              <a:buNone/>
            </a:pPr>
            <a:r>
              <a:rPr lang="en-US" sz="2400" dirty="0"/>
              <a:t>The list will be the content in the </a:t>
            </a:r>
            <a:r>
              <a:rPr lang="en-US" sz="2400" dirty="0" err="1"/>
              <a:t>ListView</a:t>
            </a:r>
            <a:r>
              <a:rPr lang="en-US" sz="2400" dirty="0"/>
              <a:t>:</a:t>
            </a:r>
          </a:p>
          <a:p>
            <a:pPr marL="0" indent="0">
              <a:buNone/>
            </a:pPr>
            <a:r>
              <a:rPr lang="en-US" sz="2400" dirty="0"/>
              <a:t>	  </a:t>
            </a:r>
            <a:r>
              <a:rPr lang="en-US" sz="2400" b="1" dirty="0"/>
              <a:t>      </a:t>
            </a:r>
            <a:r>
              <a:rPr lang="en-US" sz="2400" b="1" dirty="0" err="1"/>
              <a:t>lvData.setItems</a:t>
            </a:r>
            <a:r>
              <a:rPr lang="en-US" sz="2400" b="1" dirty="0"/>
              <a:t>(</a:t>
            </a:r>
            <a:r>
              <a:rPr lang="en-US" sz="2400" b="1" dirty="0" err="1"/>
              <a:t>dogList</a:t>
            </a:r>
            <a:r>
              <a:rPr lang="en-US" sz="2400" b="1" dirty="0"/>
              <a:t>);</a:t>
            </a:r>
          </a:p>
          <a:p>
            <a:pPr marL="0" indent="0">
              <a:buNone/>
            </a:pPr>
            <a:endParaRPr lang="en-US" sz="2400" dirty="0"/>
          </a:p>
        </p:txBody>
      </p:sp>
    </p:spTree>
    <p:extLst>
      <p:ext uri="{BB962C8B-B14F-4D97-AF65-F5344CB8AC3E}">
        <p14:creationId xmlns:p14="http://schemas.microsoft.com/office/powerpoint/2010/main" val="315067872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TotalTime>
  <Words>184</Words>
  <Application>Microsoft Office PowerPoint</Application>
  <PresentationFormat>Widescreen</PresentationFormat>
  <Paragraphs>18</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Century Gothic</vt:lpstr>
      <vt:lpstr>Wingdings 3</vt:lpstr>
      <vt:lpstr>Wisp</vt:lpstr>
      <vt:lpstr>Java Observable List</vt:lpstr>
      <vt:lpstr>What is an Observable List?</vt:lpstr>
      <vt:lpstr>Create an Observable List</vt:lpstr>
      <vt:lpstr>Use the Observable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Observable List</dc:title>
  <dc:creator>NELSON, IVONNE</dc:creator>
  <cp:lastModifiedBy>NELSON, IVONNE</cp:lastModifiedBy>
  <cp:revision>1</cp:revision>
  <dcterms:created xsi:type="dcterms:W3CDTF">2023-01-19T20:57:58Z</dcterms:created>
  <dcterms:modified xsi:type="dcterms:W3CDTF">2023-01-19T21:01:05Z</dcterms:modified>
</cp:coreProperties>
</file>