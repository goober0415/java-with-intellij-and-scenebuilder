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21"/>
  </p:notesMasterIdLst>
  <p:sldIdLst>
    <p:sldId id="256" r:id="rId2"/>
    <p:sldId id="495" r:id="rId3"/>
    <p:sldId id="496" r:id="rId4"/>
    <p:sldId id="493" r:id="rId5"/>
    <p:sldId id="494" r:id="rId6"/>
    <p:sldId id="448" r:id="rId7"/>
    <p:sldId id="257" r:id="rId8"/>
    <p:sldId id="451" r:id="rId9"/>
    <p:sldId id="452" r:id="rId10"/>
    <p:sldId id="258" r:id="rId11"/>
    <p:sldId id="453" r:id="rId12"/>
    <p:sldId id="455" r:id="rId13"/>
    <p:sldId id="497" r:id="rId14"/>
    <p:sldId id="454" r:id="rId15"/>
    <p:sldId id="456" r:id="rId16"/>
    <p:sldId id="498" r:id="rId17"/>
    <p:sldId id="450" r:id="rId18"/>
    <p:sldId id="466" r:id="rId19"/>
    <p:sldId id="45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5E5F76-882E-4989-B8C0-5E35147B17B3}"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B4E18-1685-4207-84D2-0E2003A04B80}" type="slidenum">
              <a:rPr lang="en-US" smtClean="0"/>
              <a:t>‹#›</a:t>
            </a:fld>
            <a:endParaRPr lang="en-US"/>
          </a:p>
        </p:txBody>
      </p:sp>
    </p:spTree>
    <p:extLst>
      <p:ext uri="{BB962C8B-B14F-4D97-AF65-F5344CB8AC3E}">
        <p14:creationId xmlns:p14="http://schemas.microsoft.com/office/powerpoint/2010/main" val="3733534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D38DFFE4-063A-4F01-829F-46EDF7C780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FB359C-664B-4783-B939-8304F592D19E}" type="slidenum">
              <a:rPr lang="en-US" altLang="en-US" smtClean="0">
                <a:latin typeface="Tahoma" panose="020B0604030504040204" pitchFamily="34" charset="0"/>
              </a:rPr>
              <a:pPr>
                <a:spcBef>
                  <a:spcPct val="0"/>
                </a:spcBef>
              </a:pPr>
              <a:t>2</a:t>
            </a:fld>
            <a:endParaRPr lang="en-US" altLang="en-US">
              <a:latin typeface="Tahoma" panose="020B0604030504040204" pitchFamily="34" charset="0"/>
            </a:endParaRPr>
          </a:p>
        </p:txBody>
      </p:sp>
      <p:sp>
        <p:nvSpPr>
          <p:cNvPr id="58371" name="Rectangle 2">
            <a:extLst>
              <a:ext uri="{FF2B5EF4-FFF2-40B4-BE49-F238E27FC236}">
                <a16:creationId xmlns:a16="http://schemas.microsoft.com/office/drawing/2014/main" id="{467DA839-1BB1-4929-A2C3-6255387F2F92}"/>
              </a:ext>
            </a:extLst>
          </p:cNvPr>
          <p:cNvSpPr>
            <a:spLocks noGrp="1" noRot="1" noChangeAspect="1" noChangeArrowheads="1" noTextEdit="1"/>
          </p:cNvSpPr>
          <p:nvPr>
            <p:ph type="sldImg"/>
          </p:nvPr>
        </p:nvSpPr>
        <p:spPr>
          <a:xfrm>
            <a:off x="381000" y="685800"/>
            <a:ext cx="6096000" cy="3429000"/>
          </a:xfrm>
          <a:ln/>
        </p:spPr>
      </p:sp>
      <p:sp>
        <p:nvSpPr>
          <p:cNvPr id="58372" name="Rectangle 3">
            <a:extLst>
              <a:ext uri="{FF2B5EF4-FFF2-40B4-BE49-F238E27FC236}">
                <a16:creationId xmlns:a16="http://schemas.microsoft.com/office/drawing/2014/main" id="{3B396DCF-70FA-4F15-AEC1-66E9AF233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The calling-object string is the string that appears at the left of the method call; it's the string that calls the method.</a:t>
            </a:r>
          </a:p>
          <a:p>
            <a:pPr eaLnBrk="1" hangingPunct="1"/>
            <a:r>
              <a:rPr lang="en-US" altLang="en-US" sz="1000"/>
              <a:t>Go to the next slide, note the calling object, read the first note, explain what the first substring call does, and </a:t>
            </a:r>
            <a:r>
              <a:rPr lang="en-US" altLang="en-US" sz="1000" u="sng"/>
              <a:t>return here</a:t>
            </a:r>
            <a:r>
              <a:rPr lang="en-US" altLang="en-US" sz="1000"/>
              <a:t>.</a:t>
            </a:r>
          </a:p>
          <a:p>
            <a:pPr eaLnBrk="1" hangingPunct="1"/>
            <a:endParaRPr lang="en-US" altLang="en-US" sz="1000"/>
          </a:p>
          <a:p>
            <a:pPr eaLnBrk="1" hangingPunct="1"/>
            <a:r>
              <a:rPr lang="en-US" altLang="en-US" sz="1000"/>
              <a:t>2. Note that there's no static modifier in the substring headers.</a:t>
            </a:r>
          </a:p>
          <a:p>
            <a:pPr eaLnBrk="1" hangingPunct="1"/>
            <a:r>
              <a:rPr lang="en-US" altLang="en-US" sz="1000"/>
              <a:t>The static modifier appears in the Math and wrapper methods because those methods are class methods.</a:t>
            </a:r>
          </a:p>
          <a:p>
            <a:pPr eaLnBrk="1" hangingPunct="1"/>
            <a:r>
              <a:rPr lang="en-US" altLang="en-US" sz="1000"/>
              <a:t>You call class methods by prefacing the method call with the class name (e.g., Math.abs(-2))</a:t>
            </a:r>
          </a:p>
          <a:p>
            <a:pPr eaLnBrk="1" hangingPunct="1"/>
            <a:r>
              <a:rPr lang="en-US" altLang="en-US" sz="1000"/>
              <a:t>String methods are not class methods, so you don't preface string method calls with the class name, String.</a:t>
            </a:r>
          </a:p>
          <a:p>
            <a:pPr eaLnBrk="1" hangingPunct="1"/>
            <a:endParaRPr lang="en-US" altLang="en-US" sz="1000"/>
          </a:p>
          <a:p>
            <a:pPr eaLnBrk="1" hangingPunct="1"/>
            <a:r>
              <a:rPr lang="en-US" altLang="en-US" sz="1000"/>
              <a:t>Instead, you preface string method calls with the particular string that you're interested in.</a:t>
            </a:r>
          </a:p>
          <a:p>
            <a:pPr eaLnBrk="1" hangingPunct="1"/>
            <a:r>
              <a:rPr lang="en-US" altLang="en-US" sz="1000"/>
              <a:t>On the next slide, note how the substring call is prefaced with the yoda string variable.</a:t>
            </a:r>
          </a:p>
          <a:p>
            <a:pPr eaLnBrk="1" hangingPunct="1"/>
            <a:endParaRPr lang="en-US" altLang="en-US" sz="1000"/>
          </a:p>
          <a:p>
            <a:pPr eaLnBrk="1" hangingPunct="1"/>
            <a:r>
              <a:rPr lang="en-US" altLang="en-US" sz="1000"/>
              <a:t>3. Study the second substring call on the next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54E38697-9AF3-43FF-8461-C8AD4C60C2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5F9E533-9EC6-4DCB-9190-340912900B4B}" type="slidenum">
              <a:rPr lang="en-US" altLang="en-US" smtClean="0">
                <a:latin typeface="Tahoma" panose="020B0604030504040204" pitchFamily="34" charset="0"/>
              </a:rPr>
              <a:pPr>
                <a:spcBef>
                  <a:spcPct val="0"/>
                </a:spcBef>
              </a:pPr>
              <a:t>3</a:t>
            </a:fld>
            <a:endParaRPr lang="en-US" altLang="en-US">
              <a:latin typeface="Tahoma" panose="020B0604030504040204" pitchFamily="34" charset="0"/>
            </a:endParaRPr>
          </a:p>
        </p:txBody>
      </p:sp>
      <p:sp>
        <p:nvSpPr>
          <p:cNvPr id="60419" name="Rectangle 2">
            <a:extLst>
              <a:ext uri="{FF2B5EF4-FFF2-40B4-BE49-F238E27FC236}">
                <a16:creationId xmlns:a16="http://schemas.microsoft.com/office/drawing/2014/main" id="{F53F11B8-3E09-431A-A009-CAF2DE3DC1C8}"/>
              </a:ext>
            </a:extLst>
          </p:cNvPr>
          <p:cNvSpPr>
            <a:spLocks noGrp="1" noRot="1" noChangeAspect="1" noChangeArrowheads="1" noTextEdit="1"/>
          </p:cNvSpPr>
          <p:nvPr>
            <p:ph type="sldImg"/>
          </p:nvPr>
        </p:nvSpPr>
        <p:spPr>
          <a:xfrm>
            <a:off x="381000" y="685800"/>
            <a:ext cx="6096000" cy="3429000"/>
          </a:xfrm>
          <a:ln/>
        </p:spPr>
      </p:sp>
      <p:sp>
        <p:nvSpPr>
          <p:cNvPr id="60420" name="Rectangle 3">
            <a:extLst>
              <a:ext uri="{FF2B5EF4-FFF2-40B4-BE49-F238E27FC236}">
                <a16:creationId xmlns:a16="http://schemas.microsoft.com/office/drawing/2014/main" id="{135E28B4-C985-4123-A710-9B6936F27E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This program processes a quote from Star Wars.</a:t>
            </a:r>
          </a:p>
          <a:p>
            <a:pPr eaLnBrk="1" hangingPunct="1"/>
            <a:r>
              <a:rPr lang="en-US" altLang="en-US" sz="1000"/>
              <a:t>As you may recall, string indices start at 0.</a:t>
            </a:r>
          </a:p>
          <a:p>
            <a:pPr eaLnBrk="1" hangingPunct="1"/>
            <a:r>
              <a:rPr lang="en-US" altLang="en-US" sz="1000"/>
              <a:t>So in yoda.substring(8), the 8 refers to yoda's ninth character, which is 'f'.</a:t>
            </a:r>
          </a:p>
          <a:p>
            <a:pPr eaLnBrk="1" hangingPunct="1"/>
            <a:r>
              <a:rPr lang="en-US" altLang="en-US" sz="1000"/>
              <a:t>Thus, the program prints "force be with you."</a:t>
            </a:r>
          </a:p>
          <a:p>
            <a:pPr eaLnBrk="1" hangingPunct="1"/>
            <a:endParaRPr lang="en-US" altLang="en-US" sz="1000"/>
          </a:p>
          <a:p>
            <a:pPr eaLnBrk="1" hangingPunct="1"/>
            <a:r>
              <a:rPr lang="en-US" altLang="en-US" sz="1000"/>
              <a:t>2. What does the second print statement print?</a:t>
            </a:r>
          </a:p>
          <a:p>
            <a:pPr eaLnBrk="1" hangingPunct="1"/>
            <a:r>
              <a:rPr lang="en-US" altLang="en-US" sz="1000"/>
              <a:t>In yoda.substring(4, 13), the 4 and 13 refer to the fifth and fourteenth characters, 't' and a space.</a:t>
            </a:r>
          </a:p>
          <a:p>
            <a:pPr eaLnBrk="1" hangingPunct="1"/>
            <a:r>
              <a:rPr lang="en-US" altLang="en-US" sz="1000"/>
              <a:t>Thus, the program prints "the force".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C54D498-7448-4455-8DF0-D96648AD4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E2A8D4-ECD9-4577-AC90-A06AD248055B}" type="slidenum">
              <a:rPr lang="en-US" altLang="en-US" smtClean="0">
                <a:latin typeface="Tahoma" panose="020B0604030504040204" pitchFamily="34" charset="0"/>
              </a:rPr>
              <a:pPr>
                <a:spcBef>
                  <a:spcPct val="0"/>
                </a:spcBef>
              </a:pPr>
              <a:t>4</a:t>
            </a:fld>
            <a:endParaRPr lang="en-US" altLang="en-US">
              <a:latin typeface="Tahoma" panose="020B0604030504040204" pitchFamily="34" charset="0"/>
            </a:endParaRPr>
          </a:p>
        </p:txBody>
      </p:sp>
      <p:sp>
        <p:nvSpPr>
          <p:cNvPr id="62467" name="Rectangle 2">
            <a:extLst>
              <a:ext uri="{FF2B5EF4-FFF2-40B4-BE49-F238E27FC236}">
                <a16:creationId xmlns:a16="http://schemas.microsoft.com/office/drawing/2014/main" id="{54902F94-4FDD-40C4-BA13-553384CFFE4B}"/>
              </a:ext>
            </a:extLst>
          </p:cNvPr>
          <p:cNvSpPr>
            <a:spLocks noGrp="1" noRot="1" noChangeAspect="1" noChangeArrowheads="1" noTextEdit="1"/>
          </p:cNvSpPr>
          <p:nvPr>
            <p:ph type="sldImg"/>
          </p:nvPr>
        </p:nvSpPr>
        <p:spPr>
          <a:xfrm>
            <a:off x="381000" y="685800"/>
            <a:ext cx="6096000" cy="3429000"/>
          </a:xfrm>
          <a:ln/>
        </p:spPr>
      </p:sp>
      <p:sp>
        <p:nvSpPr>
          <p:cNvPr id="62468" name="Rectangle 3">
            <a:extLst>
              <a:ext uri="{FF2B5EF4-FFF2-40B4-BE49-F238E27FC236}">
                <a16:creationId xmlns:a16="http://schemas.microsoft.com/office/drawing/2014/main" id="{857C5917-AF55-43C9-8C18-9A5A82BC00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Read the entire next slide, and </a:t>
            </a:r>
            <a:r>
              <a:rPr lang="en-US" altLang="en-US" sz="1000" u="sng"/>
              <a:t>return here</a:t>
            </a:r>
            <a:r>
              <a:rPr lang="en-US" altLang="en-US" sz="1000"/>
              <a:t>.</a:t>
            </a:r>
          </a:p>
          <a:p>
            <a:pPr eaLnBrk="1" hangingPunct="1"/>
            <a:endParaRPr lang="en-US" altLang="en-US" sz="1000"/>
          </a:p>
          <a:p>
            <a:pPr eaLnBrk="1" hangingPunct="1"/>
            <a:r>
              <a:rPr lang="en-US" altLang="en-US" sz="1000"/>
              <a:t>[2. The reason that the ch parameter is declared as an int instead of a char is because strings can hold characters from the supplementary Unicode character set, which uses 21 bits for each character (instead of 16 bits for a standard char).</a:t>
            </a:r>
          </a:p>
          <a:p>
            <a:pPr eaLnBrk="1" hangingPunct="1"/>
            <a:r>
              <a:rPr lang="en-US" altLang="en-US" sz="1000"/>
              <a:t>To search for a 21-bit supplementary character, you pass in a 32-bit int value, and the indexOf method will treat it as a character and search for it.</a:t>
            </a:r>
          </a:p>
          <a:p>
            <a:pPr eaLnBrk="1" hangingPunct="1"/>
            <a:r>
              <a:rPr lang="en-US" altLang="en-US" sz="1000"/>
              <a:t>For additional Unicode supplementary character details, see http://www.oracle.com/technetwork/articles/javase/supplementary-142654.html.</a:t>
            </a:r>
          </a:p>
          <a:p>
            <a:pPr eaLnBrk="1" hangingPunct="1"/>
            <a:r>
              <a:rPr lang="en-US" altLang="en-US" sz="1000"/>
              <a:t>That web page's "Representing Supplementary Characters in Source Files" section says:</a:t>
            </a:r>
          </a:p>
          <a:p>
            <a:pPr eaLnBrk="1" hangingPunct="1"/>
            <a:endParaRPr lang="en-US" altLang="en-US" sz="1000"/>
          </a:p>
          <a:p>
            <a:pPr eaLnBrk="1" hangingPunct="1"/>
            <a:r>
              <a:rPr lang="en-US" altLang="en-US" sz="1000"/>
              <a:t>In Java programming language source files, supplementary characters are easiest to use if a character encoding is used that can represent supplementary characters directly. UTF-8 is an excellent choice. For cases where the character encoding used cannot represent the characters directly, the Java programming language provides a Unicode escape syntax. This syntax has not been enhanced to express supplementary characters directly. Instead, they are represented by the two consecutive Unicode escapes for the two code units in the UTF-16 representation of the character. For example, the character U+20000 is written as "\uD840\uDC00". You probably don't want to figure out these escape sequences yourself; it's best to write in an encoding that supports the supplementary characters that you need and then use a tool such as native2ascii to convert to escape sequences. </a:t>
            </a:r>
          </a:p>
          <a:p>
            <a:pPr eaLnBrk="1" hangingPunct="1"/>
            <a:r>
              <a:rPr lang="en-US" altLang="en-US" sz="100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751C4B5-9241-41B8-A1C2-6D124A6527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26D1E85-47CC-4683-BC09-0C993D342A3F}" type="slidenum">
              <a:rPr lang="en-US" altLang="en-US" smtClean="0">
                <a:latin typeface="Tahoma" panose="020B0604030504040204" pitchFamily="34" charset="0"/>
              </a:rPr>
              <a:pPr>
                <a:spcBef>
                  <a:spcPct val="0"/>
                </a:spcBef>
              </a:pPr>
              <a:t>5</a:t>
            </a:fld>
            <a:endParaRPr lang="en-US" altLang="en-US">
              <a:latin typeface="Tahoma" panose="020B0604030504040204" pitchFamily="34" charset="0"/>
            </a:endParaRPr>
          </a:p>
        </p:txBody>
      </p:sp>
      <p:sp>
        <p:nvSpPr>
          <p:cNvPr id="64515" name="Rectangle 2">
            <a:extLst>
              <a:ext uri="{FF2B5EF4-FFF2-40B4-BE49-F238E27FC236}">
                <a16:creationId xmlns:a16="http://schemas.microsoft.com/office/drawing/2014/main" id="{ED6A3DA8-C50B-466C-90A2-C9850B99294F}"/>
              </a:ext>
            </a:extLst>
          </p:cNvPr>
          <p:cNvSpPr>
            <a:spLocks noGrp="1" noRot="1" noChangeAspect="1" noChangeArrowheads="1" noTextEdit="1"/>
          </p:cNvSpPr>
          <p:nvPr>
            <p:ph type="sldImg"/>
          </p:nvPr>
        </p:nvSpPr>
        <p:spPr>
          <a:xfrm>
            <a:off x="381000" y="685800"/>
            <a:ext cx="6096000" cy="3429000"/>
          </a:xfrm>
          <a:ln/>
        </p:spPr>
      </p:sp>
      <p:sp>
        <p:nvSpPr>
          <p:cNvPr id="64516" name="Rectangle 3">
            <a:extLst>
              <a:ext uri="{FF2B5EF4-FFF2-40B4-BE49-F238E27FC236}">
                <a16:creationId xmlns:a16="http://schemas.microsoft.com/office/drawing/2014/main" id="{7E8BA000-D4F0-44F3-9C22-34F8B53C9C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What square is the person referring to?</a:t>
            </a:r>
          </a:p>
          <a:p>
            <a:pPr eaLnBrk="1" hangingPunct="1"/>
            <a:r>
              <a:rPr lang="en-US" altLang="en-US" sz="1000"/>
              <a:t>Tahrir, in Cairo.</a:t>
            </a:r>
          </a:p>
          <a:p>
            <a:pPr eaLnBrk="1" hangingPunct="1"/>
            <a:endParaRPr lang="en-US" altLang="en-US" sz="1000"/>
          </a:p>
          <a:p>
            <a:pPr eaLnBrk="1" hangingPunct="1"/>
            <a:r>
              <a:rPr lang="en-US" altLang="en-US" sz="1000"/>
              <a:t>2. What does the program print?</a:t>
            </a:r>
          </a:p>
          <a:p>
            <a:pPr eaLnBrk="1" hangingPunct="1"/>
            <a:r>
              <a:rPr lang="en-US" altLang="en-US" sz="1000"/>
              <a:t>Over my dead body.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F18CDAC-40D0-4A59-8B8D-653C217F70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4572B16-C47D-4ACA-8B86-6E4BE128FE75}" type="slidenum">
              <a:rPr lang="en-US" altLang="en-US" smtClean="0">
                <a:latin typeface="Tahoma" panose="020B0604030504040204" pitchFamily="34" charset="0"/>
              </a:rPr>
              <a:pPr>
                <a:spcBef>
                  <a:spcPct val="0"/>
                </a:spcBef>
              </a:pPr>
              <a:t>6</a:t>
            </a:fld>
            <a:endParaRPr lang="en-US" altLang="en-US">
              <a:latin typeface="Tahoma" panose="020B0604030504040204" pitchFamily="34" charset="0"/>
            </a:endParaRPr>
          </a:p>
        </p:txBody>
      </p:sp>
      <p:sp>
        <p:nvSpPr>
          <p:cNvPr id="66563" name="Rectangle 2">
            <a:extLst>
              <a:ext uri="{FF2B5EF4-FFF2-40B4-BE49-F238E27FC236}">
                <a16:creationId xmlns:a16="http://schemas.microsoft.com/office/drawing/2014/main" id="{8A841EFE-74DA-4AC8-924B-31F436A8563A}"/>
              </a:ext>
            </a:extLst>
          </p:cNvPr>
          <p:cNvSpPr>
            <a:spLocks noGrp="1" noRot="1" noChangeAspect="1" noChangeArrowheads="1" noTextEdit="1"/>
          </p:cNvSpPr>
          <p:nvPr>
            <p:ph type="sldImg"/>
          </p:nvPr>
        </p:nvSpPr>
        <p:spPr>
          <a:xfrm>
            <a:off x="381000" y="685800"/>
            <a:ext cx="6096000" cy="3429000"/>
          </a:xfrm>
          <a:ln/>
        </p:spPr>
      </p:sp>
      <p:sp>
        <p:nvSpPr>
          <p:cNvPr id="66564" name="Rectangle 3">
            <a:extLst>
              <a:ext uri="{FF2B5EF4-FFF2-40B4-BE49-F238E27FC236}">
                <a16:creationId xmlns:a16="http://schemas.microsoft.com/office/drawing/2014/main" id="{8245AD70-AF83-4A5D-A06C-7EB91F45B4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dirty="0"/>
              <a:t>1. Who is this quote from?</a:t>
            </a:r>
          </a:p>
          <a:p>
            <a:pPr eaLnBrk="1" hangingPunct="1"/>
            <a:r>
              <a:rPr lang="en-US" altLang="en-US" sz="1000" dirty="0"/>
              <a:t>Albert Einstein</a:t>
            </a:r>
          </a:p>
          <a:p>
            <a:pPr eaLnBrk="1" hangingPunct="1"/>
            <a:endParaRPr lang="en-US" altLang="en-US" sz="1000" dirty="0"/>
          </a:p>
          <a:p>
            <a:pPr eaLnBrk="1" hangingPunct="1"/>
            <a:r>
              <a:rPr lang="en-US" altLang="en-US" sz="1000" dirty="0"/>
              <a:t>2. Hint: the semicolon is at position 29.</a:t>
            </a:r>
          </a:p>
          <a:p>
            <a:pPr eaLnBrk="1" hangingPunct="1"/>
            <a:r>
              <a:rPr lang="en-US" altLang="en-US" sz="1000" dirty="0"/>
              <a:t>6 34 34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9D225FE-4EC6-46C4-87C1-2A822F3910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28337C-01C5-42B1-A100-B490AECA0288}" type="slidenum">
              <a:rPr lang="en-US" altLang="en-US" smtClean="0">
                <a:latin typeface="Tahoma" panose="020B0604030504040204" pitchFamily="34" charset="0"/>
              </a:rPr>
              <a:pPr>
                <a:spcBef>
                  <a:spcPct val="0"/>
                </a:spcBef>
              </a:pPr>
              <a:t>8</a:t>
            </a:fld>
            <a:endParaRPr lang="en-US" altLang="en-US">
              <a:latin typeface="Tahoma" panose="020B0604030504040204" pitchFamily="34" charset="0"/>
            </a:endParaRPr>
          </a:p>
        </p:txBody>
      </p:sp>
      <p:sp>
        <p:nvSpPr>
          <p:cNvPr id="72707" name="Rectangle 2">
            <a:extLst>
              <a:ext uri="{FF2B5EF4-FFF2-40B4-BE49-F238E27FC236}">
                <a16:creationId xmlns:a16="http://schemas.microsoft.com/office/drawing/2014/main" id="{94936252-67BE-4240-BA1C-E0F975E66048}"/>
              </a:ext>
            </a:extLst>
          </p:cNvPr>
          <p:cNvSpPr>
            <a:spLocks noGrp="1" noRot="1" noChangeAspect="1" noChangeArrowheads="1" noTextEdit="1"/>
          </p:cNvSpPr>
          <p:nvPr>
            <p:ph type="sldImg"/>
          </p:nvPr>
        </p:nvSpPr>
        <p:spPr>
          <a:xfrm>
            <a:off x="381000" y="685800"/>
            <a:ext cx="6096000" cy="3429000"/>
          </a:xfrm>
          <a:ln/>
        </p:spPr>
      </p:sp>
      <p:sp>
        <p:nvSpPr>
          <p:cNvPr id="72708" name="Rectangle 3">
            <a:extLst>
              <a:ext uri="{FF2B5EF4-FFF2-40B4-BE49-F238E27FC236}">
                <a16:creationId xmlns:a16="http://schemas.microsoft.com/office/drawing/2014/main" id="{A1F1F5E0-E90B-4361-8DEE-C5975C7C1D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Format specifiers are very powerful.</a:t>
            </a:r>
          </a:p>
          <a:p>
            <a:pPr eaLnBrk="1" hangingPunct="1"/>
            <a:r>
              <a:rPr lang="en-US" altLang="en-US" sz="1000"/>
              <a:t>I won't bother to cover all of their power comprehensively, but I'll provide enough details to get you up and running.</a:t>
            </a:r>
          </a:p>
          <a:p>
            <a:pPr eaLnBrk="1" hangingPunct="1"/>
            <a:r>
              <a:rPr lang="en-US" altLang="en-US" sz="1000"/>
              <a:t>If you come across a formatting issue that you can't resolve with this limited coverage, look up printf on the Java API website and search for format specifier details.</a:t>
            </a:r>
          </a:p>
          <a:p>
            <a:pPr eaLnBrk="1" hangingPunct="1"/>
            <a:endParaRPr lang="en-US" altLang="en-US" sz="1000"/>
          </a:p>
          <a:p>
            <a:pPr eaLnBrk="1" hangingPunct="1"/>
            <a:r>
              <a:rPr lang="en-US" altLang="en-US" sz="1000"/>
              <a:t>2. You've already seen the % thing.</a:t>
            </a:r>
          </a:p>
          <a:p>
            <a:pPr eaLnBrk="1" hangingPunct="1"/>
            <a:r>
              <a:rPr lang="en-US" altLang="en-US" sz="1000"/>
              <a:t>It indicates the start of a format specifier.</a:t>
            </a:r>
          </a:p>
          <a:p>
            <a:pPr eaLnBrk="1" hangingPunct="1"/>
            <a:r>
              <a:rPr lang="en-US" altLang="en-US" sz="1000"/>
              <a:t>The flags, width, precision, and conversion character represent the different parts of a format specifier.</a:t>
            </a:r>
          </a:p>
          <a:p>
            <a:pPr eaLnBrk="1" hangingPunct="1"/>
            <a:r>
              <a:rPr lang="en-US" altLang="en-US" sz="1000"/>
              <a:t>Each of them specifies a different formatting trait.</a:t>
            </a:r>
          </a:p>
          <a:p>
            <a:pPr eaLnBrk="1" hangingPunct="1"/>
            <a:r>
              <a:rPr lang="en-US" altLang="en-US" sz="1000"/>
              <a:t>We'll cover the items in right-to-left order.</a:t>
            </a:r>
          </a:p>
          <a:p>
            <a:pPr eaLnBrk="1" hangingPunct="1"/>
            <a:r>
              <a:rPr lang="en-US" altLang="en-US" sz="1000"/>
              <a:t>Thus, we'll cover the conversion character first.</a:t>
            </a:r>
          </a:p>
          <a:p>
            <a:pPr eaLnBrk="1" hangingPunct="1"/>
            <a:endParaRPr lang="en-US" altLang="en-US" sz="1000"/>
          </a:p>
          <a:p>
            <a:pPr eaLnBrk="1" hangingPunct="1"/>
            <a:r>
              <a:rPr lang="en-US" altLang="en-US" sz="1000"/>
              <a:t>3. Let's talk about the conversion character in detail….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BDBE753B-0FD7-48F5-B5F5-9E640BC173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AA732E-6CBE-45E4-9044-CC0D956EFE52}" type="slidenum">
              <a:rPr lang="en-US" altLang="en-US" smtClean="0">
                <a:latin typeface="Tahoma" panose="020B0604030504040204" pitchFamily="34" charset="0"/>
              </a:rPr>
              <a:pPr>
                <a:spcBef>
                  <a:spcPct val="0"/>
                </a:spcBef>
              </a:pPr>
              <a:t>9</a:t>
            </a:fld>
            <a:endParaRPr lang="en-US" altLang="en-US">
              <a:latin typeface="Tahoma" panose="020B0604030504040204" pitchFamily="34" charset="0"/>
            </a:endParaRPr>
          </a:p>
        </p:txBody>
      </p:sp>
      <p:sp>
        <p:nvSpPr>
          <p:cNvPr id="74755" name="Rectangle 2">
            <a:extLst>
              <a:ext uri="{FF2B5EF4-FFF2-40B4-BE49-F238E27FC236}">
                <a16:creationId xmlns:a16="http://schemas.microsoft.com/office/drawing/2014/main" id="{594019BC-66E4-4101-953D-7AE6F910275A}"/>
              </a:ext>
            </a:extLst>
          </p:cNvPr>
          <p:cNvSpPr>
            <a:spLocks noGrp="1" noRot="1" noChangeAspect="1" noChangeArrowheads="1" noTextEdit="1"/>
          </p:cNvSpPr>
          <p:nvPr>
            <p:ph type="sldImg"/>
          </p:nvPr>
        </p:nvSpPr>
        <p:spPr>
          <a:xfrm>
            <a:off x="381000" y="685800"/>
            <a:ext cx="6096000" cy="3429000"/>
          </a:xfrm>
          <a:ln/>
        </p:spPr>
      </p:sp>
      <p:sp>
        <p:nvSpPr>
          <p:cNvPr id="74756" name="Rectangle 3">
            <a:extLst>
              <a:ext uri="{FF2B5EF4-FFF2-40B4-BE49-F238E27FC236}">
                <a16:creationId xmlns:a16="http://schemas.microsoft.com/office/drawing/2014/main" id="{0A74A666-A7D2-4D4B-9FCC-3CD49855CA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For example, it might tell the JVM to print a string or it might tell the JVM to print a floating-point number.</a:t>
            </a:r>
          </a:p>
          <a:p>
            <a:pPr eaLnBrk="1" hangingPunct="1"/>
            <a:endParaRPr lang="en-US" altLang="en-US" sz="1000"/>
          </a:p>
          <a:p>
            <a:pPr eaLnBrk="1" hangingPunct="1"/>
            <a:r>
              <a:rPr lang="en-US" altLang="en-US" sz="1000"/>
              <a:t>2. What's a decimal integer?</a:t>
            </a:r>
          </a:p>
          <a:p>
            <a:pPr eaLnBrk="1" hangingPunct="1"/>
            <a:r>
              <a:rPr lang="en-US" altLang="en-US" sz="1000"/>
              <a:t>Base 10!</a:t>
            </a:r>
          </a:p>
          <a:p>
            <a:pPr eaLnBrk="1" hangingPunct="1"/>
            <a:r>
              <a:rPr lang="en-US" altLang="en-US" sz="1000"/>
              <a:t>Java has base-16 integers also (hexadecimal), but we won't bother to discuss them because they're not used all that often.</a:t>
            </a:r>
          </a:p>
          <a:p>
            <a:pPr eaLnBrk="1" hangingPunct="1"/>
            <a:endParaRPr lang="en-US" altLang="en-US" sz="1000"/>
          </a:p>
          <a:p>
            <a:pPr eaLnBrk="1" hangingPunct="1"/>
            <a:r>
              <a:rPr lang="en-US" altLang="en-US" sz="1000"/>
              <a:t>3. We'll show examples on the next slide that uses these conversion characters….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B2094FEF-1480-4ABE-A9DB-A662407043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F9C669-9474-4288-A13A-F89B9C4F1398}" type="slidenum">
              <a:rPr lang="en-US" altLang="en-US" smtClean="0">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76803" name="Rectangle 2">
            <a:extLst>
              <a:ext uri="{FF2B5EF4-FFF2-40B4-BE49-F238E27FC236}">
                <a16:creationId xmlns:a16="http://schemas.microsoft.com/office/drawing/2014/main" id="{D62CFF5E-0FD3-44F4-8D00-0A88AED59A37}"/>
              </a:ext>
            </a:extLst>
          </p:cNvPr>
          <p:cNvSpPr>
            <a:spLocks noGrp="1" noRot="1" noChangeAspect="1" noChangeArrowheads="1" noTextEdit="1"/>
          </p:cNvSpPr>
          <p:nvPr>
            <p:ph type="sldImg"/>
          </p:nvPr>
        </p:nvSpPr>
        <p:spPr>
          <a:xfrm>
            <a:off x="381000" y="685800"/>
            <a:ext cx="6096000" cy="3429000"/>
          </a:xfrm>
          <a:ln/>
        </p:spPr>
      </p:sp>
      <p:sp>
        <p:nvSpPr>
          <p:cNvPr id="76804" name="Rectangle 3">
            <a:extLst>
              <a:ext uri="{FF2B5EF4-FFF2-40B4-BE49-F238E27FC236}">
                <a16:creationId xmlns:a16="http://schemas.microsoft.com/office/drawing/2014/main" id="{C5D4B4EE-4C71-4FFF-93AF-FB84D3D491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I walk through the Sop statements and show the corresponding output.</a:t>
            </a:r>
          </a:p>
          <a:p>
            <a:pPr eaLnBrk="1" hangingPunct="1"/>
            <a:endParaRPr lang="en-US" altLang="en-US" sz="1000"/>
          </a:p>
          <a:p>
            <a:pPr eaLnBrk="1" hangingPunct="1"/>
            <a:r>
              <a:rPr lang="en-US" altLang="en-US" sz="1000"/>
              <a:t>2. Note that by default, the f and e conversion characters print six digits at the right of the decimal point, and rounding occurs.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0FCE6ECE-5A17-40BF-9B69-05FC17AD7A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9BF695-775A-4924-8C92-89A2AEEEB749}" type="slidenum">
              <a:rPr lang="en-US" altLang="en-US" smtClean="0">
                <a:latin typeface="Tahoma" panose="020B0604030504040204" pitchFamily="34" charset="0"/>
              </a:rPr>
              <a:pPr>
                <a:spcBef>
                  <a:spcPct val="0"/>
                </a:spcBef>
              </a:pPr>
              <a:t>12</a:t>
            </a:fld>
            <a:endParaRPr lang="en-US" altLang="en-US">
              <a:latin typeface="Tahoma" panose="020B0604030504040204" pitchFamily="34" charset="0"/>
            </a:endParaRPr>
          </a:p>
        </p:txBody>
      </p:sp>
      <p:sp>
        <p:nvSpPr>
          <p:cNvPr id="78851" name="Rectangle 2">
            <a:extLst>
              <a:ext uri="{FF2B5EF4-FFF2-40B4-BE49-F238E27FC236}">
                <a16:creationId xmlns:a16="http://schemas.microsoft.com/office/drawing/2014/main" id="{6884CD0B-27F9-42CF-99B3-83E58C49A5CB}"/>
              </a:ext>
            </a:extLst>
          </p:cNvPr>
          <p:cNvSpPr>
            <a:spLocks noGrp="1" noRot="1" noChangeAspect="1" noChangeArrowheads="1" noTextEdit="1"/>
          </p:cNvSpPr>
          <p:nvPr>
            <p:ph type="sldImg"/>
          </p:nvPr>
        </p:nvSpPr>
        <p:spPr>
          <a:xfrm>
            <a:off x="381000" y="685800"/>
            <a:ext cx="6096000" cy="3429000"/>
          </a:xfrm>
          <a:ln/>
        </p:spPr>
      </p:sp>
      <p:sp>
        <p:nvSpPr>
          <p:cNvPr id="78852" name="Rectangle 3">
            <a:extLst>
              <a:ext uri="{FF2B5EF4-FFF2-40B4-BE49-F238E27FC236}">
                <a16:creationId xmlns:a16="http://schemas.microsoft.com/office/drawing/2014/main" id="{0042CDD1-2CD1-41B1-8653-F28DB0E814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It's now time to discuss the precision and width parts of a format specifier.</a:t>
            </a:r>
          </a:p>
          <a:p>
            <a:pPr eaLnBrk="1" hangingPunct="1"/>
            <a:endParaRPr lang="en-US" altLang="en-US" sz="1000"/>
          </a:p>
          <a:p>
            <a:pPr eaLnBrk="1" hangingPunct="1"/>
            <a:r>
              <a:rPr lang="en-US" altLang="en-US" sz="1000"/>
              <a:t>I  glance back at the  format specifier syntax slide and note the precision and width components.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E508E46-F1C8-4F10-BAD9-42BC1DD33C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5FCCE25-1979-4A73-B21C-BD27D1B9E5D6}" type="slidenum">
              <a:rPr lang="en-US" altLang="en-US" smtClean="0">
                <a:latin typeface="Tahoma" panose="020B0604030504040204" pitchFamily="34" charset="0"/>
              </a:rPr>
              <a:pPr>
                <a:spcBef>
                  <a:spcPct val="0"/>
                </a:spcBef>
              </a:pPr>
              <a:t>14</a:t>
            </a:fld>
            <a:endParaRPr lang="en-US" altLang="en-US">
              <a:latin typeface="Tahoma" panose="020B0604030504040204" pitchFamily="34" charset="0"/>
            </a:endParaRPr>
          </a:p>
        </p:txBody>
      </p:sp>
      <p:sp>
        <p:nvSpPr>
          <p:cNvPr id="80899" name="Rectangle 2">
            <a:extLst>
              <a:ext uri="{FF2B5EF4-FFF2-40B4-BE49-F238E27FC236}">
                <a16:creationId xmlns:a16="http://schemas.microsoft.com/office/drawing/2014/main" id="{1EED444D-B9F4-40A3-9BE9-A7DCEB88E3FC}"/>
              </a:ext>
            </a:extLst>
          </p:cNvPr>
          <p:cNvSpPr>
            <a:spLocks noGrp="1" noRot="1" noChangeAspect="1" noChangeArrowheads="1" noTextEdit="1"/>
          </p:cNvSpPr>
          <p:nvPr>
            <p:ph type="sldImg"/>
          </p:nvPr>
        </p:nvSpPr>
        <p:spPr>
          <a:xfrm>
            <a:off x="381000" y="685800"/>
            <a:ext cx="6096000" cy="3429000"/>
          </a:xfrm>
          <a:ln/>
        </p:spPr>
      </p:sp>
      <p:sp>
        <p:nvSpPr>
          <p:cNvPr id="80900" name="Rectangle 3">
            <a:extLst>
              <a:ext uri="{FF2B5EF4-FFF2-40B4-BE49-F238E27FC236}">
                <a16:creationId xmlns:a16="http://schemas.microsoft.com/office/drawing/2014/main" id="{A36417F9-577E-4FBF-8088-333B790762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I walk through the Sop statements and show the corresponding output.</a:t>
            </a:r>
          </a:p>
          <a:p>
            <a:pPr eaLnBrk="1" hangingPunct="1"/>
            <a:endParaRPr lang="en-US" altLang="en-US" sz="1000"/>
          </a:p>
          <a:p>
            <a:pPr eaLnBrk="1" hangingPunct="1"/>
            <a:r>
              <a:rPr lang="en-US" altLang="en-US" sz="1000"/>
              <a:t>2. In the third statement, note the %7.4f specifier.</a:t>
            </a:r>
          </a:p>
          <a:p>
            <a:pPr eaLnBrk="1" hangingPunct="1"/>
            <a:r>
              <a:rPr lang="en-US" altLang="en-US" sz="1000"/>
              <a:t>It's easy to get fooled by the 7.4.</a:t>
            </a:r>
          </a:p>
          <a:p>
            <a:pPr eaLnBrk="1" hangingPunct="1"/>
            <a:r>
              <a:rPr lang="en-US" altLang="en-US" sz="1000"/>
              <a:t>It looks like it might be saying "seven places to the left of the decimal point and four places to the right of the decimal point," but it's actually saying "seven total spaces, with four places to the right of the decimal point."</a:t>
            </a:r>
          </a:p>
          <a:p>
            <a:pPr eaLnBrk="1" hangingPunct="1"/>
            <a:r>
              <a:rPr lang="en-US" altLang="en-US" sz="1000"/>
              <a:t>And don't forget that the decimal point is counted as one of those seven total spaces.</a:t>
            </a:r>
          </a:p>
          <a:p>
            <a:pPr eaLnBrk="1" hangingPunct="1"/>
            <a:endParaRPr lang="en-US" altLang="en-US" sz="1000"/>
          </a:p>
          <a:p>
            <a:pPr eaLnBrk="1" hangingPunct="1"/>
            <a:r>
              <a:rPr lang="en-US" altLang="en-US" sz="1000"/>
              <a:t>Math.PI's value is 3.14159…, and when it gets printed with four places to the right of the decimal point, it gets rounded to 3.1416.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A03FD561-3AFC-41AA-AB52-C9B99E33CE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661F47-1196-4A50-B1A7-A1CBEBA249C5}" type="slidenum">
              <a:rPr lang="en-US" altLang="en-US" smtClean="0">
                <a:latin typeface="Tahoma" panose="020B0604030504040204" pitchFamily="34" charset="0"/>
              </a:rPr>
              <a:pPr>
                <a:spcBef>
                  <a:spcPct val="0"/>
                </a:spcBef>
              </a:pPr>
              <a:t>15</a:t>
            </a:fld>
            <a:endParaRPr lang="en-US" altLang="en-US">
              <a:latin typeface="Tahoma" panose="020B0604030504040204" pitchFamily="34" charset="0"/>
            </a:endParaRPr>
          </a:p>
        </p:txBody>
      </p:sp>
      <p:sp>
        <p:nvSpPr>
          <p:cNvPr id="82947" name="Rectangle 2">
            <a:extLst>
              <a:ext uri="{FF2B5EF4-FFF2-40B4-BE49-F238E27FC236}">
                <a16:creationId xmlns:a16="http://schemas.microsoft.com/office/drawing/2014/main" id="{7BFFFEAA-6CA1-4B7B-AE8C-E7D70428E3BE}"/>
              </a:ext>
            </a:extLst>
          </p:cNvPr>
          <p:cNvSpPr>
            <a:spLocks noGrp="1" noRot="1" noChangeAspect="1" noChangeArrowheads="1" noTextEdit="1"/>
          </p:cNvSpPr>
          <p:nvPr>
            <p:ph type="sldImg"/>
          </p:nvPr>
        </p:nvSpPr>
        <p:spPr>
          <a:xfrm>
            <a:off x="381000" y="685800"/>
            <a:ext cx="6096000" cy="3429000"/>
          </a:xfrm>
          <a:ln/>
        </p:spPr>
      </p:sp>
      <p:sp>
        <p:nvSpPr>
          <p:cNvPr id="82948" name="Rectangle 3">
            <a:extLst>
              <a:ext uri="{FF2B5EF4-FFF2-40B4-BE49-F238E27FC236}">
                <a16:creationId xmlns:a16="http://schemas.microsoft.com/office/drawing/2014/main" id="{BEB57A84-1EFC-4479-9A06-4B9694191F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We've covered the conversion character, precision, and width parts of a format specifier.</a:t>
            </a:r>
          </a:p>
          <a:p>
            <a:pPr eaLnBrk="1" hangingPunct="1"/>
            <a:r>
              <a:rPr lang="en-US" altLang="en-US" sz="1000"/>
              <a:t>It's now time to discuss the flags part.</a:t>
            </a:r>
          </a:p>
          <a:p>
            <a:pPr eaLnBrk="1" hangingPunct="1"/>
            <a:endParaRPr lang="en-US" altLang="en-US" sz="1000"/>
          </a:p>
          <a:p>
            <a:pPr eaLnBrk="1" hangingPunct="1"/>
            <a:r>
              <a:rPr lang="en-US" altLang="en-US" sz="1000"/>
              <a:t>I  glance back at the  format specifier syntax slide and note the flags component.</a:t>
            </a:r>
          </a:p>
          <a:p>
            <a:pPr eaLnBrk="1" hangingPunct="1"/>
            <a:endParaRPr lang="en-US" altLang="en-US" sz="1000"/>
          </a:p>
          <a:p>
            <a:pPr eaLnBrk="1" hangingPunct="1"/>
            <a:r>
              <a:rPr lang="en-US" altLang="en-US" sz="1000"/>
              <a:t>2. Right justification is the default.</a:t>
            </a:r>
          </a:p>
          <a:p>
            <a:pPr eaLnBrk="1" hangingPunct="1"/>
            <a:endParaRPr lang="en-US" altLang="en-US" sz="1000"/>
          </a:p>
          <a:p>
            <a:pPr eaLnBrk="1" hangingPunct="1"/>
            <a:r>
              <a:rPr lang="en-US" altLang="en-US" sz="1000"/>
              <a:t>3. Note that the flag is a zero, not the letter O.</a:t>
            </a:r>
          </a:p>
          <a:p>
            <a:pPr eaLnBrk="1" hangingPunct="1"/>
            <a:endParaRPr lang="en-US" altLang="en-US" sz="1000"/>
          </a:p>
          <a:p>
            <a:pPr eaLnBrk="1" hangingPunct="1"/>
            <a:r>
              <a:rPr lang="en-US" altLang="en-US" sz="1000"/>
              <a:t>4. Why might you want to pad with zeros on the left ?</a:t>
            </a:r>
          </a:p>
          <a:p>
            <a:pPr eaLnBrk="1" hangingPunct="1"/>
            <a:r>
              <a:rPr lang="en-US" altLang="en-US" sz="1000"/>
              <a:t>If you're writing a program that generates ticket numbers or id numbers, you'll probably want to print the numbers with padded zeros at the left, so each number has the same number of characters.</a:t>
            </a:r>
          </a:p>
          <a:p>
            <a:pPr eaLnBrk="1" hangingPunct="1"/>
            <a:r>
              <a:rPr lang="en-US" altLang="en-US" sz="1000"/>
              <a:t>I write 002164 on the board.</a:t>
            </a:r>
          </a:p>
          <a:p>
            <a:pPr eaLnBrk="1" hangingPunct="1"/>
            <a:endParaRPr lang="en-US" altLang="en-US" sz="1000"/>
          </a:p>
          <a:p>
            <a:pPr eaLnBrk="1" hangingPunct="1"/>
            <a:r>
              <a:rPr lang="en-US" altLang="en-US" sz="1000"/>
              <a:t>[5. Note that you can’t use the 0 flag to pad with zeros on the right side.</a:t>
            </a:r>
          </a:p>
          <a:p>
            <a:pPr eaLnBrk="1" hangingPunct="1"/>
            <a:r>
              <a:rPr lang="en-US" altLang="en-US" sz="1000"/>
              <a:t>In other words, you’ll get a runtime error if you use the - and 0 flags together in a format specifier.]</a:t>
            </a:r>
          </a:p>
          <a:p>
            <a:pPr eaLnBrk="1" hangingPunct="1"/>
            <a:endParaRPr lang="en-US" altLang="en-US" sz="1000"/>
          </a:p>
          <a:p>
            <a:pPr eaLnBrk="1" hangingPunct="1"/>
            <a:r>
              <a:rPr lang="en-US" altLang="en-US" sz="1000"/>
              <a:t>6. Let's see how format specifiers work in the context of a complete program….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5549DFB5-953A-418E-AA07-976184E98E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EB0B4A-CDC9-410C-8ABA-A36AD7BD1946}" type="slidenum">
              <a:rPr lang="en-US" altLang="en-US" smtClean="0">
                <a:latin typeface="Tahoma" panose="020B0604030504040204" pitchFamily="34" charset="0"/>
              </a:rPr>
              <a:pPr>
                <a:spcBef>
                  <a:spcPct val="0"/>
                </a:spcBef>
              </a:pPr>
              <a:t>17</a:t>
            </a:fld>
            <a:endParaRPr lang="en-US" altLang="en-US">
              <a:latin typeface="Tahoma" panose="020B0604030504040204" pitchFamily="34" charset="0"/>
            </a:endParaRPr>
          </a:p>
        </p:txBody>
      </p:sp>
      <p:sp>
        <p:nvSpPr>
          <p:cNvPr id="70659" name="Rectangle 2">
            <a:extLst>
              <a:ext uri="{FF2B5EF4-FFF2-40B4-BE49-F238E27FC236}">
                <a16:creationId xmlns:a16="http://schemas.microsoft.com/office/drawing/2014/main" id="{A881FFFE-AC1A-44E1-B21E-881A994DB319}"/>
              </a:ext>
            </a:extLst>
          </p:cNvPr>
          <p:cNvSpPr>
            <a:spLocks noGrp="1" noRot="1" noChangeAspect="1" noChangeArrowheads="1" noTextEdit="1"/>
          </p:cNvSpPr>
          <p:nvPr>
            <p:ph type="sldImg"/>
          </p:nvPr>
        </p:nvSpPr>
        <p:spPr>
          <a:xfrm>
            <a:off x="381000" y="685800"/>
            <a:ext cx="6096000" cy="3429000"/>
          </a:xfrm>
          <a:ln/>
        </p:spPr>
      </p:sp>
      <p:sp>
        <p:nvSpPr>
          <p:cNvPr id="70660" name="Rectangle 3">
            <a:extLst>
              <a:ext uri="{FF2B5EF4-FFF2-40B4-BE49-F238E27FC236}">
                <a16:creationId xmlns:a16="http://schemas.microsoft.com/office/drawing/2014/main" id="{ED17064F-4FCE-4CB8-86E3-97512F6AE5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The printf method's first argument is known as the format string.</a:t>
            </a:r>
          </a:p>
          <a:p>
            <a:pPr eaLnBrk="1" hangingPunct="1"/>
            <a:r>
              <a:rPr lang="en-US" altLang="en-US" sz="1000"/>
              <a:t>It contains text that prints as is plus format specifiers that handle formatted printing.</a:t>
            </a:r>
          </a:p>
          <a:p>
            <a:pPr eaLnBrk="1" hangingPunct="1"/>
            <a:r>
              <a:rPr lang="en-US" altLang="en-US" sz="1000"/>
              <a:t>In the above example, "\nTotal remaining: $...\n" is the text that prints as is.</a:t>
            </a:r>
          </a:p>
          <a:p>
            <a:pPr eaLnBrk="1" hangingPunct="1"/>
            <a:r>
              <a:rPr lang="en-US" altLang="en-US" sz="1000"/>
              <a:t>And %.2f is the format specifier.</a:t>
            </a:r>
          </a:p>
          <a:p>
            <a:pPr eaLnBrk="1" hangingPunct="1"/>
            <a:r>
              <a:rPr lang="en-US" altLang="en-US" sz="1000"/>
              <a:t>Think of a format specifier as a hole where you plug in a data item.</a:t>
            </a:r>
          </a:p>
          <a:p>
            <a:pPr eaLnBrk="1" hangingPunct="1"/>
            <a:r>
              <a:rPr lang="en-US" altLang="en-US" sz="1000"/>
              <a:t>In the above example, remaining1 + remaining2 is the data item that gets plugged in.</a:t>
            </a:r>
          </a:p>
          <a:p>
            <a:pPr eaLnBrk="1" hangingPunct="1"/>
            <a:r>
              <a:rPr lang="en-US" altLang="en-US" sz="1000"/>
              <a:t>If remaining1 + remaining2 equals 149.89, then 149.89 gets plugged into the format specifier hole.</a:t>
            </a:r>
          </a:p>
          <a:p>
            <a:pPr eaLnBrk="1" hangingPunct="1"/>
            <a:r>
              <a:rPr lang="en-US" altLang="en-US" sz="1000"/>
              <a:t>I go to the previous slide and show 149.89 in the bottom line of output.</a:t>
            </a:r>
          </a:p>
          <a:p>
            <a:pPr eaLnBrk="1" hangingPunct="1"/>
            <a:r>
              <a:rPr lang="en-US" altLang="en-US" sz="1000"/>
              <a:t>In the report, note how 149.89 was calculated from 250 + –100.11.</a:t>
            </a:r>
          </a:p>
          <a:p>
            <a:pPr eaLnBrk="1" hangingPunct="1"/>
            <a:endParaRPr lang="en-US" altLang="en-US" sz="1000"/>
          </a:p>
          <a:p>
            <a:pPr eaLnBrk="1" hangingPunct="1"/>
            <a:r>
              <a:rPr lang="en-US" altLang="en-US" sz="1000"/>
              <a:t>2. All format specifiers must start with %.</a:t>
            </a:r>
          </a:p>
          <a:p>
            <a:pPr eaLnBrk="1" hangingPunct="1"/>
            <a:r>
              <a:rPr lang="en-US" altLang="en-US" sz="1000"/>
              <a:t>The format specifier's .2 causes two digits to be displayed after the decimal point.</a:t>
            </a:r>
          </a:p>
          <a:p>
            <a:pPr eaLnBrk="1" hangingPunct="1"/>
            <a:r>
              <a:rPr lang="en-US" altLang="en-US" sz="1000"/>
              <a:t>The format specifier's f indicates that the data item is a floating-point number.</a:t>
            </a:r>
          </a:p>
          <a:p>
            <a:pPr eaLnBrk="1" hangingPunct="1"/>
            <a:endParaRPr lang="en-US" altLang="en-US" sz="1000"/>
          </a:p>
          <a:p>
            <a:pPr eaLnBrk="1" hangingPunct="1"/>
            <a:r>
              <a:rPr lang="en-US" altLang="en-US" sz="1000"/>
              <a:t>[3. If you include fewer data items than specifiers, you get a runtime error.</a:t>
            </a:r>
          </a:p>
          <a:p>
            <a:pPr eaLnBrk="1" hangingPunct="1"/>
            <a:r>
              <a:rPr lang="en-US" altLang="en-US" sz="1000"/>
              <a:t>If you include more data items than specifiers, the right-most extra data items are ignored.]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BD6D23F1-010C-48B2-9D02-51E98C05CD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9F7BE7E-22CA-4F9B-989F-0342D66F54BD}" type="slidenum">
              <a:rPr lang="en-US" altLang="en-US" smtClean="0">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84995" name="Rectangle 2">
            <a:extLst>
              <a:ext uri="{FF2B5EF4-FFF2-40B4-BE49-F238E27FC236}">
                <a16:creationId xmlns:a16="http://schemas.microsoft.com/office/drawing/2014/main" id="{30E1F81C-93DE-4226-BC00-726BD6918E2A}"/>
              </a:ext>
            </a:extLst>
          </p:cNvPr>
          <p:cNvSpPr>
            <a:spLocks noGrp="1" noRot="1" noChangeAspect="1" noChangeArrowheads="1" noTextEdit="1"/>
          </p:cNvSpPr>
          <p:nvPr>
            <p:ph type="sldImg"/>
          </p:nvPr>
        </p:nvSpPr>
        <p:spPr>
          <a:xfrm>
            <a:off x="381000" y="685800"/>
            <a:ext cx="6096000" cy="3429000"/>
          </a:xfrm>
          <a:ln/>
        </p:spPr>
      </p:sp>
      <p:sp>
        <p:nvSpPr>
          <p:cNvPr id="84996" name="Rectangle 3">
            <a:extLst>
              <a:ext uri="{FF2B5EF4-FFF2-40B4-BE49-F238E27FC236}">
                <a16:creationId xmlns:a16="http://schemas.microsoft.com/office/drawing/2014/main" id="{77C9659B-5021-45F3-BCAF-C46916C64017}"/>
              </a:ext>
            </a:extLst>
          </p:cNvPr>
          <p:cNvSpPr>
            <a:spLocks noGrp="1" noChangeArrowheads="1"/>
          </p:cNvSpPr>
          <p:nvPr>
            <p:ph type="body" idx="1"/>
          </p:nvPr>
        </p:nvSpPr>
        <p:spPr>
          <a:xfrm>
            <a:off x="914400" y="4416425"/>
            <a:ext cx="5029200" cy="4498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This is the program that generated the budget report on the earlier slide.</a:t>
            </a:r>
          </a:p>
          <a:p>
            <a:pPr eaLnBrk="1" hangingPunct="1"/>
            <a:r>
              <a:rPr lang="en-US" altLang="en-US" sz="1000"/>
              <a:t>I go back to that slide and look at the output.</a:t>
            </a:r>
          </a:p>
          <a:p>
            <a:pPr eaLnBrk="1" hangingPunct="1"/>
            <a:endParaRPr lang="en-US" altLang="en-US" sz="1000"/>
          </a:p>
          <a:p>
            <a:pPr eaLnBrk="1" hangingPunct="1"/>
            <a:r>
              <a:rPr lang="en-US" altLang="en-US" sz="1000"/>
              <a:t>2. Note that we use the same format string for printing the column headings and the column underlines, and the format string is stored in a HEADING_FMT_STR named constant.</a:t>
            </a:r>
          </a:p>
          <a:p>
            <a:pPr eaLnBrk="1" hangingPunct="1"/>
            <a:r>
              <a:rPr lang="en-US" altLang="en-US" sz="1000"/>
              <a:t>If you use a format string in more than one place, it's a good idea to save the format string in a named constant and use the named constant in the printf statements.</a:t>
            </a:r>
          </a:p>
          <a:p>
            <a:pPr eaLnBrk="1" hangingPunct="1"/>
            <a:r>
              <a:rPr lang="en-US" altLang="en-US" sz="1000"/>
              <a:t>Why?</a:t>
            </a:r>
          </a:p>
          <a:p>
            <a:pPr eaLnBrk="1" hangingPunct="1"/>
            <a:r>
              <a:rPr lang="en-US" altLang="en-US" sz="1000"/>
              <a:t>By storing the format string in one common place (in a named constant), you ensure consistency and you make it easier to update the format string in the future.</a:t>
            </a:r>
          </a:p>
          <a:p>
            <a:pPr eaLnBrk="1" hangingPunct="1"/>
            <a:endParaRPr lang="en-US" altLang="en-US" sz="1000"/>
          </a:p>
          <a:p>
            <a:pPr eaLnBrk="1" hangingPunct="1"/>
            <a:r>
              <a:rPr lang="en-US" altLang="en-US" sz="1000"/>
              <a:t>3. Note the minus sign in the HEADING_FMT_STR and DATA_FMT_STR format strings.</a:t>
            </a:r>
          </a:p>
          <a:p>
            <a:pPr eaLnBrk="1" hangingPunct="1"/>
            <a:r>
              <a:rPr lang="en-US" altLang="en-US" sz="1000"/>
              <a:t>That left justifies the first column's data.</a:t>
            </a:r>
          </a:p>
          <a:p>
            <a:pPr eaLnBrk="1" hangingPunct="1"/>
            <a:endParaRPr lang="en-US" altLang="en-US" sz="1000"/>
          </a:p>
          <a:p>
            <a:pPr eaLnBrk="1" hangingPunct="1"/>
            <a:r>
              <a:rPr lang="en-US" altLang="en-US" sz="1000"/>
              <a:t>Note the commas in the DATA_FMT_STR format string.</a:t>
            </a:r>
          </a:p>
          <a:p>
            <a:pPr eaLnBrk="1" hangingPunct="1"/>
            <a:r>
              <a:rPr lang="en-US" altLang="en-US" sz="1000"/>
              <a:t>That causes locale-specific characters (commas in the United States) to appear between every third digit at the left of the decimal point.</a:t>
            </a:r>
          </a:p>
          <a:p>
            <a:pPr eaLnBrk="1" hangingPunct="1"/>
            <a:endParaRPr lang="en-US" altLang="en-US" sz="1000"/>
          </a:p>
          <a:p>
            <a:pPr eaLnBrk="1" hangingPunct="1"/>
            <a:r>
              <a:rPr lang="en-US" altLang="en-US" sz="1000"/>
              <a:t>Note the left parenthesis in the DATA_FMT_STR format string.</a:t>
            </a:r>
          </a:p>
          <a:p>
            <a:pPr eaLnBrk="1" hangingPunct="1"/>
            <a:r>
              <a:rPr lang="en-US" altLang="en-US" sz="1000"/>
              <a:t>That causes negative numbers to use parentheses instead of a minus sign.</a:t>
            </a:r>
          </a:p>
          <a:p>
            <a:pPr eaLnBrk="1" hangingPunct="1"/>
            <a:endParaRPr lang="en-US" altLang="en-US" sz="1000"/>
          </a:p>
          <a:p>
            <a:pPr eaLnBrk="1" hangingPunct="1"/>
            <a:r>
              <a:rPr lang="en-US" altLang="en-US" sz="1000"/>
              <a:t>Note that the widths in the two format strings are the same so that the data and the column headings line up properly.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53B969B-2AC3-4B07-A284-F750E3A09E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A33DC89-2300-47EB-BC72-DB4FD76D0473}" type="slidenum">
              <a:rPr lang="en-US" altLang="en-US" smtClean="0">
                <a:latin typeface="Tahoma" panose="020B0604030504040204" pitchFamily="34" charset="0"/>
              </a:rPr>
              <a:pPr>
                <a:spcBef>
                  <a:spcPct val="0"/>
                </a:spcBef>
              </a:pPr>
              <a:t>19</a:t>
            </a:fld>
            <a:endParaRPr lang="en-US" altLang="en-US">
              <a:latin typeface="Tahoma" panose="020B0604030504040204" pitchFamily="34" charset="0"/>
            </a:endParaRPr>
          </a:p>
        </p:txBody>
      </p:sp>
      <p:sp>
        <p:nvSpPr>
          <p:cNvPr id="87043" name="Rectangle 2">
            <a:extLst>
              <a:ext uri="{FF2B5EF4-FFF2-40B4-BE49-F238E27FC236}">
                <a16:creationId xmlns:a16="http://schemas.microsoft.com/office/drawing/2014/main" id="{2713A15A-FFDA-4E7C-ADA2-D916CD67AD5B}"/>
              </a:ext>
            </a:extLst>
          </p:cNvPr>
          <p:cNvSpPr>
            <a:spLocks noGrp="1" noRot="1" noChangeAspect="1" noChangeArrowheads="1" noTextEdit="1"/>
          </p:cNvSpPr>
          <p:nvPr>
            <p:ph type="sldImg"/>
          </p:nvPr>
        </p:nvSpPr>
        <p:spPr>
          <a:xfrm>
            <a:off x="381000" y="685800"/>
            <a:ext cx="6096000" cy="3429000"/>
          </a:xfrm>
          <a:ln/>
        </p:spPr>
      </p:sp>
      <p:sp>
        <p:nvSpPr>
          <p:cNvPr id="87044" name="Rectangle 3">
            <a:extLst>
              <a:ext uri="{FF2B5EF4-FFF2-40B4-BE49-F238E27FC236}">
                <a16:creationId xmlns:a16="http://schemas.microsoft.com/office/drawing/2014/main" id="{BC0550E9-ADF9-4213-BA01-3A95E918B2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1. I walk through the code and show how the data lines are printed.</a:t>
            </a:r>
          </a:p>
          <a:p>
            <a:pPr eaLnBrk="1" hangingPunct="1"/>
            <a:r>
              <a:rPr lang="en-US" altLang="en-US" sz="1000"/>
              <a:t>I refer back to the output from the earlier slide, if necessary.</a:t>
            </a:r>
          </a:p>
          <a:p>
            <a:pPr eaLnBrk="1" hangingPunct="1"/>
            <a:endParaRPr lang="en-US" altLang="en-US" sz="1000"/>
          </a:p>
          <a:p>
            <a:pPr eaLnBrk="1" hangingPunct="1"/>
            <a:r>
              <a:rPr lang="en-US" altLang="en-US" sz="1000"/>
              <a:t>2. This last format specifier is used in just one place, so I didn’t bother to store it in a named constant, but it would have been OK to do so.</a:t>
            </a:r>
          </a:p>
          <a:p>
            <a:pPr eaLnBrk="1" hangingPunct="1"/>
            <a:endParaRPr lang="en-US" altLang="en-US" sz="1000"/>
          </a:p>
          <a:p>
            <a:pPr eaLnBrk="1" hangingPunct="1"/>
            <a:r>
              <a:rPr lang="en-US" altLang="en-US" sz="1000"/>
              <a:t>[3. If you  want to show a $ with negative numbers, you can write your own code to do it, but Java doesn't provide a built-in technique.</a:t>
            </a:r>
          </a:p>
          <a:p>
            <a:pPr eaLnBrk="1" hangingPunct="1"/>
            <a:r>
              <a:rPr lang="en-US" altLang="en-US" sz="1000"/>
              <a:t>Ideally, for this accounting report, I'd like to display a negative total remaining value using this standard accounting format:</a:t>
            </a:r>
          </a:p>
          <a:p>
            <a:pPr eaLnBrk="1" hangingPunct="1"/>
            <a:r>
              <a:rPr lang="en-US" altLang="en-US" sz="1000"/>
              <a:t>($1,234)</a:t>
            </a:r>
          </a:p>
          <a:p>
            <a:pPr eaLnBrk="1" hangingPunct="1"/>
            <a:r>
              <a:rPr lang="en-US" altLang="en-US" sz="1000"/>
              <a:t>But since that would require too much work, this program will display:</a:t>
            </a:r>
          </a:p>
          <a:p>
            <a:pPr eaLnBrk="1" hangingPunct="1"/>
            <a:r>
              <a:rPr lang="en-US" altLang="en-US" sz="1000"/>
              <a:t>(1,234)</a:t>
            </a:r>
          </a:p>
          <a:p>
            <a:pPr eaLnBrk="1" hangingPunct="1"/>
            <a:r>
              <a:rPr lang="en-US" altLang="en-US" sz="100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4914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1971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754115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94286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98584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2484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615640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754052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17465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09930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9E57DC2-970A-4B3E-BB1C-7A09969E49DF}"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3185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50472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9E57DC2-970A-4B3E-BB1C-7A09969E49DF}"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16483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76432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57078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29692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6/23/2024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9675064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174CD-11B8-4443-B4B4-FB7E649C4FF8}"/>
              </a:ext>
            </a:extLst>
          </p:cNvPr>
          <p:cNvSpPr>
            <a:spLocks noGrp="1"/>
          </p:cNvSpPr>
          <p:nvPr>
            <p:ph type="ctrTitle"/>
          </p:nvPr>
        </p:nvSpPr>
        <p:spPr>
          <a:xfrm>
            <a:off x="2044729" y="1925246"/>
            <a:ext cx="9459883" cy="2098226"/>
          </a:xfrm>
        </p:spPr>
        <p:txBody>
          <a:bodyPr/>
          <a:lstStyle/>
          <a:p>
            <a:pPr algn="ctr"/>
            <a:r>
              <a:rPr lang="en-US" b="1" dirty="0"/>
              <a:t>The Java String Class and Formatting Output</a:t>
            </a:r>
          </a:p>
        </p:txBody>
      </p:sp>
      <p:sp>
        <p:nvSpPr>
          <p:cNvPr id="3" name="Subtitle 2">
            <a:extLst>
              <a:ext uri="{FF2B5EF4-FFF2-40B4-BE49-F238E27FC236}">
                <a16:creationId xmlns:a16="http://schemas.microsoft.com/office/drawing/2014/main" id="{B6CBD620-F6C8-4903-854E-93F3312C50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229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9F40A7BE-E702-430F-A33F-8AA0392E4D36}"/>
              </a:ext>
            </a:extLst>
          </p:cNvPr>
          <p:cNvSpPr>
            <a:spLocks noGrp="1" noChangeArrowheads="1"/>
          </p:cNvSpPr>
          <p:nvPr>
            <p:ph type="title"/>
          </p:nvPr>
        </p:nvSpPr>
        <p:spPr>
          <a:xfrm>
            <a:off x="2674938" y="341314"/>
            <a:ext cx="8777364" cy="725487"/>
          </a:xfrm>
        </p:spPr>
        <p:txBody>
          <a:bodyPr>
            <a:noAutofit/>
          </a:bodyPr>
          <a:lstStyle/>
          <a:p>
            <a:pPr algn="ctr" eaLnBrk="1" hangingPunct="1"/>
            <a:r>
              <a:rPr lang="en-US" altLang="en-US" b="1" dirty="0"/>
              <a:t>The String Class's substring Method</a:t>
            </a:r>
          </a:p>
        </p:txBody>
      </p:sp>
      <p:sp>
        <p:nvSpPr>
          <p:cNvPr id="57348" name="Rectangle 3">
            <a:extLst>
              <a:ext uri="{FF2B5EF4-FFF2-40B4-BE49-F238E27FC236}">
                <a16:creationId xmlns:a16="http://schemas.microsoft.com/office/drawing/2014/main" id="{046F7163-3D7A-4DC0-B396-436C0BBFE750}"/>
              </a:ext>
            </a:extLst>
          </p:cNvPr>
          <p:cNvSpPr>
            <a:spLocks noGrp="1" noChangeArrowheads="1"/>
          </p:cNvSpPr>
          <p:nvPr>
            <p:ph idx="1"/>
          </p:nvPr>
        </p:nvSpPr>
        <p:spPr>
          <a:xfrm>
            <a:off x="2362200" y="1152907"/>
            <a:ext cx="9380034" cy="4953000"/>
          </a:xfrm>
        </p:spPr>
        <p:txBody>
          <a:bodyPr>
            <a:noAutofit/>
          </a:bodyPr>
          <a:lstStyle/>
          <a:p>
            <a:pPr marL="0" indent="0">
              <a:buNone/>
              <a:tabLst>
                <a:tab pos="5943600" algn="l"/>
              </a:tabLst>
            </a:pPr>
            <a:r>
              <a:rPr lang="en-US" altLang="en-US" sz="2400" dirty="0"/>
              <a:t>Here are API headers and brief descriptions for two alternative forms of the substring method:</a:t>
            </a:r>
          </a:p>
          <a:p>
            <a:pPr marL="457200" lvl="1" indent="0">
              <a:buNone/>
              <a:tabLst>
                <a:tab pos="5943600" algn="l"/>
              </a:tabLst>
            </a:pPr>
            <a:r>
              <a:rPr lang="en-US" altLang="en-US" sz="2400" b="1" dirty="0"/>
              <a:t>public String substring(int </a:t>
            </a:r>
            <a:r>
              <a:rPr lang="en-US" altLang="en-US" sz="2400" b="1" dirty="0" err="1"/>
              <a:t>beginIndex</a:t>
            </a:r>
            <a:r>
              <a:rPr lang="en-US" altLang="en-US" sz="2400" b="1" dirty="0"/>
              <a:t>)</a:t>
            </a:r>
          </a:p>
          <a:p>
            <a:pPr marL="914400" lvl="2" indent="0">
              <a:buNone/>
              <a:tabLst>
                <a:tab pos="5943600" algn="l"/>
              </a:tabLst>
            </a:pPr>
            <a:r>
              <a:rPr lang="en-US" altLang="en-US" sz="2400" dirty="0"/>
              <a:t>Returns a string that is a subset of the calling-object string, starting at the </a:t>
            </a:r>
            <a:r>
              <a:rPr lang="en-US" altLang="en-US" sz="2400" dirty="0" err="1"/>
              <a:t>beginIndex</a:t>
            </a:r>
            <a:r>
              <a:rPr lang="en-US" altLang="en-US" sz="2400" dirty="0"/>
              <a:t> position and extending to the end of the calling-object string.</a:t>
            </a:r>
          </a:p>
          <a:p>
            <a:pPr marL="457200" lvl="1" indent="0">
              <a:buNone/>
              <a:tabLst>
                <a:tab pos="5943600" algn="l"/>
              </a:tabLst>
            </a:pPr>
            <a:r>
              <a:rPr lang="en-US" altLang="en-US" sz="2400" b="1" dirty="0"/>
              <a:t>public String substring(int </a:t>
            </a:r>
            <a:r>
              <a:rPr lang="en-US" altLang="en-US" sz="2400" b="1" dirty="0" err="1"/>
              <a:t>beginIndex</a:t>
            </a:r>
            <a:r>
              <a:rPr lang="en-US" altLang="en-US" sz="2400" b="1" dirty="0"/>
              <a:t>, int </a:t>
            </a:r>
            <a:r>
              <a:rPr lang="en-US" altLang="en-US" sz="2400" b="1" dirty="0" err="1"/>
              <a:t>afterEndIndex</a:t>
            </a:r>
            <a:r>
              <a:rPr lang="en-US" altLang="en-US" sz="2400" b="1" dirty="0"/>
              <a:t>)</a:t>
            </a:r>
          </a:p>
          <a:p>
            <a:pPr marL="914400" lvl="2" indent="0">
              <a:buNone/>
              <a:tabLst>
                <a:tab pos="5943600" algn="l"/>
              </a:tabLst>
            </a:pPr>
            <a:r>
              <a:rPr lang="en-US" altLang="en-US" sz="2400" dirty="0"/>
              <a:t>Returns a string that is a subset of the calling-object string, starting at the </a:t>
            </a:r>
            <a:r>
              <a:rPr lang="en-US" altLang="en-US" sz="2400" dirty="0" err="1"/>
              <a:t>beginIndex</a:t>
            </a:r>
            <a:r>
              <a:rPr lang="en-US" altLang="en-US" sz="2400" dirty="0"/>
              <a:t> position and extending to the afterEndIndex-1 position.</a:t>
            </a:r>
          </a:p>
        </p:txBody>
      </p:sp>
      <p:sp>
        <p:nvSpPr>
          <p:cNvPr id="57346" name="Slide Number Placeholder 4">
            <a:extLst>
              <a:ext uri="{FF2B5EF4-FFF2-40B4-BE49-F238E27FC236}">
                <a16:creationId xmlns:a16="http://schemas.microsoft.com/office/drawing/2014/main" id="{B90DEED8-E4B0-4CB6-8A8F-3A10B38B86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B20DDCE-4770-4BD0-85D6-1E4640C43113}" type="slidenum">
              <a:rPr lang="en-US" altLang="en-US" sz="1400">
                <a:latin typeface="Times New Roman" panose="02020603050405020304" pitchFamily="18" charset="0"/>
              </a:rPr>
              <a:pPr>
                <a:spcBef>
                  <a:spcPct val="0"/>
                </a:spcBef>
                <a:buClrTx/>
                <a:buSzTx/>
                <a:buFontTx/>
                <a:buNone/>
              </a:pPr>
              <a:t>2</a:t>
            </a:fld>
            <a:endParaRPr lang="en-US" altLang="en-US" sz="1400">
              <a:latin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66CB3C16-6ED7-4234-AD5E-ED747F3C207E}"/>
              </a:ext>
            </a:extLst>
          </p:cNvPr>
          <p:cNvSpPr>
            <a:spLocks noGrp="1" noChangeArrowheads="1"/>
          </p:cNvSpPr>
          <p:nvPr>
            <p:ph type="title"/>
          </p:nvPr>
        </p:nvSpPr>
        <p:spPr>
          <a:xfrm>
            <a:off x="2143126" y="399688"/>
            <a:ext cx="9517062" cy="725487"/>
          </a:xfrm>
        </p:spPr>
        <p:txBody>
          <a:bodyPr>
            <a:noAutofit/>
          </a:bodyPr>
          <a:lstStyle/>
          <a:p>
            <a:pPr eaLnBrk="1" hangingPunct="1"/>
            <a:r>
              <a:rPr lang="en-US" altLang="en-US" b="1" dirty="0"/>
              <a:t>Example: String Class's substring Method</a:t>
            </a:r>
          </a:p>
        </p:txBody>
      </p:sp>
      <p:sp>
        <p:nvSpPr>
          <p:cNvPr id="59396" name="Rectangle 3">
            <a:extLst>
              <a:ext uri="{FF2B5EF4-FFF2-40B4-BE49-F238E27FC236}">
                <a16:creationId xmlns:a16="http://schemas.microsoft.com/office/drawing/2014/main" id="{CFA5E8F6-53C4-4244-805A-43EB046789F7}"/>
              </a:ext>
            </a:extLst>
          </p:cNvPr>
          <p:cNvSpPr>
            <a:spLocks noGrp="1" noChangeArrowheads="1"/>
          </p:cNvSpPr>
          <p:nvPr>
            <p:ph idx="1"/>
          </p:nvPr>
        </p:nvSpPr>
        <p:spPr>
          <a:xfrm>
            <a:off x="2509024" y="1445941"/>
            <a:ext cx="7924800" cy="4953000"/>
          </a:xfrm>
        </p:spPr>
        <p:txBody>
          <a:bodyPr>
            <a:normAutofit/>
          </a:bodyPr>
          <a:lstStyle/>
          <a:p>
            <a:pPr>
              <a:buNone/>
              <a:tabLst>
                <a:tab pos="5943600" algn="l"/>
              </a:tabLst>
            </a:pPr>
            <a:r>
              <a:rPr lang="en-US" altLang="en-US" sz="2400" b="1" dirty="0"/>
              <a:t>public class </a:t>
            </a:r>
            <a:r>
              <a:rPr lang="en-US" altLang="en-US" sz="2400" b="1" dirty="0" err="1"/>
              <a:t>StringMethodDemo</a:t>
            </a:r>
            <a:r>
              <a:rPr lang="en-US" altLang="en-US" sz="2400" b="1" dirty="0"/>
              <a:t>{</a:t>
            </a:r>
          </a:p>
          <a:p>
            <a:pPr>
              <a:buNone/>
              <a:tabLst>
                <a:tab pos="5943600" algn="l"/>
              </a:tabLst>
            </a:pPr>
            <a:r>
              <a:rPr lang="en-US" altLang="en-US" sz="2400" b="1" dirty="0"/>
              <a:t>  public static void main(String[] </a:t>
            </a:r>
            <a:r>
              <a:rPr lang="en-US" altLang="en-US" sz="2400" b="1" dirty="0" err="1"/>
              <a:t>args</a:t>
            </a:r>
            <a:r>
              <a:rPr lang="en-US" altLang="en-US" sz="2400" b="1" dirty="0"/>
              <a:t>)  {</a:t>
            </a:r>
          </a:p>
          <a:p>
            <a:pPr>
              <a:buNone/>
              <a:tabLst>
                <a:tab pos="5943600" algn="l"/>
              </a:tabLst>
            </a:pPr>
            <a:r>
              <a:rPr lang="en-US" altLang="en-US" sz="2400" b="1" dirty="0"/>
              <a:t>    String </a:t>
            </a:r>
            <a:r>
              <a:rPr lang="en-US" altLang="en-US" sz="2400" b="1" dirty="0" err="1"/>
              <a:t>yoda</a:t>
            </a:r>
            <a:r>
              <a:rPr lang="en-US" altLang="en-US" sz="2400" b="1" dirty="0"/>
              <a:t> =</a:t>
            </a:r>
          </a:p>
          <a:p>
            <a:pPr>
              <a:buNone/>
              <a:tabLst>
                <a:tab pos="5943600" algn="l"/>
              </a:tabLst>
            </a:pPr>
            <a:r>
              <a:rPr lang="en-US" altLang="en-US" sz="2400" b="1" dirty="0"/>
              <a:t>      "May the force be with you.";</a:t>
            </a:r>
          </a:p>
          <a:p>
            <a:pPr>
              <a:buNone/>
              <a:tabLst>
                <a:tab pos="5943600" algn="l"/>
              </a:tabLst>
            </a:pPr>
            <a:r>
              <a:rPr lang="en-US" altLang="en-US" sz="2400" b="1" dirty="0"/>
              <a:t>    </a:t>
            </a:r>
            <a:r>
              <a:rPr lang="en-US" altLang="en-US" sz="2400" b="1" dirty="0" err="1"/>
              <a:t>System.out.println</a:t>
            </a:r>
            <a:r>
              <a:rPr lang="en-US" altLang="en-US" sz="2400" b="1" dirty="0"/>
              <a:t>(</a:t>
            </a:r>
            <a:r>
              <a:rPr lang="en-US" altLang="en-US" sz="2400" b="1" dirty="0" err="1"/>
              <a:t>yoda.substring</a:t>
            </a:r>
            <a:r>
              <a:rPr lang="en-US" altLang="en-US" sz="2400" b="1" dirty="0"/>
              <a:t>(8));</a:t>
            </a:r>
          </a:p>
          <a:p>
            <a:pPr>
              <a:buNone/>
              <a:tabLst>
                <a:tab pos="5943600" algn="l"/>
              </a:tabLst>
            </a:pPr>
            <a:r>
              <a:rPr lang="en-US" altLang="en-US" sz="2400" b="1" dirty="0"/>
              <a:t>    </a:t>
            </a:r>
            <a:r>
              <a:rPr lang="en-US" altLang="en-US" sz="2400" b="1" dirty="0" err="1"/>
              <a:t>System.out.println</a:t>
            </a:r>
            <a:r>
              <a:rPr lang="en-US" altLang="en-US" sz="2400" b="1" dirty="0"/>
              <a:t>(</a:t>
            </a:r>
            <a:r>
              <a:rPr lang="en-US" altLang="en-US" sz="2400" b="1" dirty="0" err="1"/>
              <a:t>yoda.substring</a:t>
            </a:r>
            <a:r>
              <a:rPr lang="en-US" altLang="en-US" sz="2400" b="1" dirty="0"/>
              <a:t>(4, 13));</a:t>
            </a:r>
          </a:p>
          <a:p>
            <a:pPr>
              <a:buNone/>
              <a:tabLst>
                <a:tab pos="5943600" algn="l"/>
              </a:tabLst>
            </a:pPr>
            <a:r>
              <a:rPr lang="en-US" altLang="en-US" sz="2400" dirty="0"/>
              <a:t>  </a:t>
            </a:r>
            <a:r>
              <a:rPr lang="en-US" altLang="en-US" sz="2400" b="1" dirty="0"/>
              <a:t>}</a:t>
            </a:r>
            <a:r>
              <a:rPr lang="en-US" altLang="en-US" sz="2400" dirty="0"/>
              <a:t> // end main</a:t>
            </a:r>
          </a:p>
          <a:p>
            <a:pPr>
              <a:buNone/>
              <a:tabLst>
                <a:tab pos="5943600" algn="l"/>
              </a:tabLst>
            </a:pPr>
            <a:r>
              <a:rPr lang="en-US" altLang="en-US" sz="2400" b="1" dirty="0"/>
              <a:t>}</a:t>
            </a:r>
            <a:r>
              <a:rPr lang="en-US" altLang="en-US" sz="2400" dirty="0"/>
              <a:t> // end </a:t>
            </a:r>
            <a:r>
              <a:rPr lang="en-US" altLang="en-US" sz="2400" dirty="0" err="1"/>
              <a:t>StringMethodDemo</a:t>
            </a:r>
            <a:endParaRPr lang="en-US" altLang="en-US" sz="2400" dirty="0"/>
          </a:p>
        </p:txBody>
      </p:sp>
      <p:sp>
        <p:nvSpPr>
          <p:cNvPr id="59394" name="Slide Number Placeholder 4">
            <a:extLst>
              <a:ext uri="{FF2B5EF4-FFF2-40B4-BE49-F238E27FC236}">
                <a16:creationId xmlns:a16="http://schemas.microsoft.com/office/drawing/2014/main" id="{788A7A07-65D4-4901-B851-D414CD3802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15CCAA3-6C58-48EF-B6D9-2B7B73B3192B}" type="slidenum">
              <a:rPr lang="en-US" altLang="en-US" sz="1400">
                <a:latin typeface="Times New Roman" panose="02020603050405020304" pitchFamily="18" charset="0"/>
              </a:rPr>
              <a:pPr>
                <a:spcBef>
                  <a:spcPct val="0"/>
                </a:spcBef>
                <a:buClrTx/>
                <a:buSzTx/>
                <a:buFontTx/>
                <a:buNone/>
              </a:pPr>
              <a:t>3</a:t>
            </a:fld>
            <a:endParaRPr lang="en-US" altLang="en-US" sz="1400">
              <a:latin typeface="Times New Roman" panose="02020603050405020304" pitchFamily="18" charset="0"/>
            </a:endParaRPr>
          </a:p>
        </p:txBody>
      </p:sp>
      <p:sp>
        <p:nvSpPr>
          <p:cNvPr id="59400" name="Text Box 7">
            <a:extLst>
              <a:ext uri="{FF2B5EF4-FFF2-40B4-BE49-F238E27FC236}">
                <a16:creationId xmlns:a16="http://schemas.microsoft.com/office/drawing/2014/main" id="{9BC8947B-1C7D-43A6-AA52-96DC26E303DA}"/>
              </a:ext>
            </a:extLst>
          </p:cNvPr>
          <p:cNvSpPr txBox="1">
            <a:spLocks noChangeArrowheads="1"/>
          </p:cNvSpPr>
          <p:nvPr/>
        </p:nvSpPr>
        <p:spPr bwMode="auto">
          <a:xfrm>
            <a:off x="6353389" y="2607945"/>
            <a:ext cx="1676400" cy="406400"/>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000"/>
              <a:t>calling object</a:t>
            </a:r>
          </a:p>
        </p:txBody>
      </p:sp>
      <p:sp>
        <p:nvSpPr>
          <p:cNvPr id="59401" name="Line 8">
            <a:extLst>
              <a:ext uri="{FF2B5EF4-FFF2-40B4-BE49-F238E27FC236}">
                <a16:creationId xmlns:a16="http://schemas.microsoft.com/office/drawing/2014/main" id="{6F82623E-0BA3-4058-9730-2B2D3C7F2B8C}"/>
              </a:ext>
            </a:extLst>
          </p:cNvPr>
          <p:cNvSpPr>
            <a:spLocks noChangeShapeType="1"/>
          </p:cNvSpPr>
          <p:nvPr/>
        </p:nvSpPr>
        <p:spPr bwMode="auto">
          <a:xfrm flipH="1">
            <a:off x="6319024" y="3077936"/>
            <a:ext cx="304800" cy="5143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a:extLst>
              <a:ext uri="{FF2B5EF4-FFF2-40B4-BE49-F238E27FC236}">
                <a16:creationId xmlns:a16="http://schemas.microsoft.com/office/drawing/2014/main" id="{CADF0596-A8D9-46E3-A01B-4610C26E188B}"/>
              </a:ext>
            </a:extLst>
          </p:cNvPr>
          <p:cNvSpPr>
            <a:spLocks noGrp="1" noChangeArrowheads="1"/>
          </p:cNvSpPr>
          <p:nvPr>
            <p:ph type="title"/>
          </p:nvPr>
        </p:nvSpPr>
        <p:spPr>
          <a:xfrm>
            <a:off x="2311540" y="62295"/>
            <a:ext cx="8532038" cy="725487"/>
          </a:xfrm>
        </p:spPr>
        <p:txBody>
          <a:bodyPr>
            <a:noAutofit/>
          </a:bodyPr>
          <a:lstStyle/>
          <a:p>
            <a:pPr algn="ctr" eaLnBrk="1" hangingPunct="1"/>
            <a:r>
              <a:rPr lang="en-US" altLang="en-US" b="1" dirty="0"/>
              <a:t>Alternate Forms of the String Class's </a:t>
            </a:r>
            <a:r>
              <a:rPr lang="en-US" altLang="en-US" b="1" dirty="0" err="1"/>
              <a:t>indexOf</a:t>
            </a:r>
            <a:r>
              <a:rPr lang="en-US" altLang="en-US" b="1" dirty="0"/>
              <a:t> Methods</a:t>
            </a:r>
          </a:p>
        </p:txBody>
      </p:sp>
      <p:sp>
        <p:nvSpPr>
          <p:cNvPr id="61444" name="Rectangle 3">
            <a:extLst>
              <a:ext uri="{FF2B5EF4-FFF2-40B4-BE49-F238E27FC236}">
                <a16:creationId xmlns:a16="http://schemas.microsoft.com/office/drawing/2014/main" id="{051669C6-B5F4-4460-B116-0083DF4DB8F4}"/>
              </a:ext>
            </a:extLst>
          </p:cNvPr>
          <p:cNvSpPr>
            <a:spLocks noGrp="1" noChangeArrowheads="1"/>
          </p:cNvSpPr>
          <p:nvPr>
            <p:ph idx="1"/>
          </p:nvPr>
        </p:nvSpPr>
        <p:spPr>
          <a:xfrm>
            <a:off x="2589446" y="1336955"/>
            <a:ext cx="9123051" cy="4953000"/>
          </a:xfrm>
        </p:spPr>
        <p:txBody>
          <a:bodyPr>
            <a:noAutofit/>
          </a:bodyPr>
          <a:lstStyle/>
          <a:p>
            <a:pPr marL="457200" lvl="1" indent="0">
              <a:spcBef>
                <a:spcPts val="200"/>
              </a:spcBef>
              <a:buNone/>
              <a:tabLst>
                <a:tab pos="5943600" algn="l"/>
              </a:tabLst>
            </a:pPr>
            <a:r>
              <a:rPr lang="en-US" altLang="en-US" sz="2000" b="1" dirty="0"/>
              <a:t>public int </a:t>
            </a:r>
            <a:r>
              <a:rPr lang="en-US" altLang="en-US" sz="2000" b="1" dirty="0" err="1"/>
              <a:t>indexOf</a:t>
            </a:r>
            <a:r>
              <a:rPr lang="en-US" altLang="en-US" sz="2000" b="1" dirty="0"/>
              <a:t>(int </a:t>
            </a:r>
            <a:r>
              <a:rPr lang="en-US" altLang="en-US" sz="2000" b="1" dirty="0" err="1"/>
              <a:t>ch</a:t>
            </a:r>
            <a:r>
              <a:rPr lang="en-US" altLang="en-US" sz="2000" b="1" dirty="0"/>
              <a:t>)</a:t>
            </a:r>
          </a:p>
          <a:p>
            <a:pPr marL="457200" lvl="1" indent="0">
              <a:spcBef>
                <a:spcPts val="200"/>
              </a:spcBef>
              <a:buNone/>
              <a:tabLst>
                <a:tab pos="5943600" algn="l"/>
              </a:tabLst>
            </a:pPr>
            <a:r>
              <a:rPr lang="en-US" altLang="en-US" sz="2000" dirty="0"/>
              <a:t>Returns the position of the first occurrence of the given </a:t>
            </a:r>
            <a:r>
              <a:rPr lang="en-US" altLang="en-US" sz="2000" dirty="0" err="1"/>
              <a:t>ch</a:t>
            </a:r>
            <a:r>
              <a:rPr lang="en-US" altLang="en-US" sz="2000" dirty="0"/>
              <a:t> character within the calling-object string. Returns -1 if </a:t>
            </a:r>
            <a:r>
              <a:rPr lang="en-US" altLang="en-US" sz="2000" dirty="0" err="1"/>
              <a:t>ch</a:t>
            </a:r>
            <a:r>
              <a:rPr lang="en-US" altLang="en-US" sz="2000" dirty="0"/>
              <a:t> is not found.</a:t>
            </a:r>
          </a:p>
          <a:p>
            <a:pPr marL="457200" lvl="1" indent="0">
              <a:spcBef>
                <a:spcPts val="200"/>
              </a:spcBef>
              <a:buNone/>
              <a:tabLst>
                <a:tab pos="5943600" algn="l"/>
              </a:tabLst>
            </a:pPr>
            <a:endParaRPr lang="en-US" altLang="en-US" sz="2000" dirty="0"/>
          </a:p>
          <a:p>
            <a:pPr marL="457200" lvl="1" indent="0">
              <a:spcBef>
                <a:spcPts val="200"/>
              </a:spcBef>
              <a:buNone/>
              <a:tabLst>
                <a:tab pos="5943600" algn="l"/>
              </a:tabLst>
            </a:pPr>
            <a:r>
              <a:rPr lang="en-US" altLang="en-US" sz="2000" b="1" dirty="0"/>
              <a:t>public int </a:t>
            </a:r>
            <a:r>
              <a:rPr lang="en-US" altLang="en-US" sz="2000" b="1" dirty="0" err="1"/>
              <a:t>indexOf</a:t>
            </a:r>
            <a:r>
              <a:rPr lang="en-US" altLang="en-US" sz="2000" b="1" dirty="0"/>
              <a:t>(int </a:t>
            </a:r>
            <a:r>
              <a:rPr lang="en-US" altLang="en-US" sz="2000" b="1" dirty="0" err="1"/>
              <a:t>ch</a:t>
            </a:r>
            <a:r>
              <a:rPr lang="en-US" altLang="en-US" sz="2000" b="1" dirty="0"/>
              <a:t>, int </a:t>
            </a:r>
            <a:r>
              <a:rPr lang="en-US" altLang="en-US" sz="2000" b="1" dirty="0" err="1"/>
              <a:t>fromIndex</a:t>
            </a:r>
            <a:r>
              <a:rPr lang="en-US" altLang="en-US" sz="2000" b="1" dirty="0"/>
              <a:t>)</a:t>
            </a:r>
          </a:p>
          <a:p>
            <a:pPr marL="457200" lvl="1" indent="0">
              <a:spcBef>
                <a:spcPts val="200"/>
              </a:spcBef>
              <a:buNone/>
              <a:tabLst>
                <a:tab pos="5943600" algn="l"/>
              </a:tabLst>
            </a:pPr>
            <a:r>
              <a:rPr lang="en-US" altLang="en-US" sz="2000" dirty="0"/>
              <a:t>Returns the position of the first occurrence of the given </a:t>
            </a:r>
            <a:r>
              <a:rPr lang="en-US" altLang="en-US" sz="2000" dirty="0" err="1"/>
              <a:t>ch</a:t>
            </a:r>
            <a:r>
              <a:rPr lang="en-US" altLang="en-US" sz="2000" dirty="0"/>
              <a:t> character within the calling-object string, starting the search at the </a:t>
            </a:r>
            <a:r>
              <a:rPr lang="en-US" altLang="en-US" sz="2000" dirty="0" err="1"/>
              <a:t>fromIndex</a:t>
            </a:r>
            <a:r>
              <a:rPr lang="en-US" altLang="en-US" sz="2000" dirty="0"/>
              <a:t> position. Returns -1 if </a:t>
            </a:r>
            <a:r>
              <a:rPr lang="en-US" altLang="en-US" sz="2000" dirty="0" err="1"/>
              <a:t>ch</a:t>
            </a:r>
            <a:r>
              <a:rPr lang="en-US" altLang="en-US" sz="2000" dirty="0"/>
              <a:t> is not found.</a:t>
            </a:r>
          </a:p>
          <a:p>
            <a:pPr marL="457200" lvl="1" indent="0">
              <a:spcBef>
                <a:spcPts val="200"/>
              </a:spcBef>
              <a:buNone/>
              <a:tabLst>
                <a:tab pos="5943600" algn="l"/>
              </a:tabLst>
            </a:pPr>
            <a:endParaRPr lang="en-US" altLang="en-US" sz="2000" dirty="0"/>
          </a:p>
          <a:p>
            <a:pPr marL="457200" lvl="1" indent="0">
              <a:spcBef>
                <a:spcPts val="200"/>
              </a:spcBef>
              <a:buNone/>
              <a:tabLst>
                <a:tab pos="5943600" algn="l"/>
              </a:tabLst>
            </a:pPr>
            <a:r>
              <a:rPr lang="en-US" altLang="en-US" sz="2000" b="1" dirty="0"/>
              <a:t>public int </a:t>
            </a:r>
            <a:r>
              <a:rPr lang="en-US" altLang="en-US" sz="2000" b="1" dirty="0" err="1"/>
              <a:t>indexOf</a:t>
            </a:r>
            <a:r>
              <a:rPr lang="en-US" altLang="en-US" sz="2000" b="1" dirty="0"/>
              <a:t>(String str) </a:t>
            </a:r>
          </a:p>
          <a:p>
            <a:pPr marL="457200" lvl="1" indent="0">
              <a:spcBef>
                <a:spcPts val="200"/>
              </a:spcBef>
              <a:buNone/>
              <a:tabLst>
                <a:tab pos="5943600" algn="l"/>
              </a:tabLst>
            </a:pPr>
            <a:r>
              <a:rPr lang="en-US" altLang="en-US" sz="2000" dirty="0"/>
              <a:t>Returns the position of the first occurrence of the given str string within the calling-object string. Returns -1 if str is not found.</a:t>
            </a:r>
          </a:p>
          <a:p>
            <a:pPr marL="457200" lvl="1" indent="0">
              <a:spcBef>
                <a:spcPts val="200"/>
              </a:spcBef>
              <a:buNone/>
              <a:tabLst>
                <a:tab pos="5943600" algn="l"/>
              </a:tabLst>
            </a:pPr>
            <a:endParaRPr lang="en-US" altLang="en-US" sz="2000" dirty="0"/>
          </a:p>
          <a:p>
            <a:pPr marL="457200" lvl="1" indent="0">
              <a:spcBef>
                <a:spcPts val="200"/>
              </a:spcBef>
              <a:buNone/>
              <a:tabLst>
                <a:tab pos="5943600" algn="l"/>
              </a:tabLst>
            </a:pPr>
            <a:r>
              <a:rPr lang="en-US" altLang="en-US" sz="2000" b="1" dirty="0"/>
              <a:t>public int </a:t>
            </a:r>
            <a:r>
              <a:rPr lang="en-US" altLang="en-US" sz="2000" b="1" dirty="0" err="1"/>
              <a:t>indexOf</a:t>
            </a:r>
            <a:r>
              <a:rPr lang="en-US" altLang="en-US" sz="2000" b="1" dirty="0"/>
              <a:t>(String str, int </a:t>
            </a:r>
            <a:r>
              <a:rPr lang="en-US" altLang="en-US" sz="2000" b="1" dirty="0" err="1"/>
              <a:t>fromIndex</a:t>
            </a:r>
            <a:r>
              <a:rPr lang="en-US" altLang="en-US" sz="2000" b="1" dirty="0"/>
              <a:t>)</a:t>
            </a:r>
          </a:p>
          <a:p>
            <a:pPr marL="457200" lvl="1" indent="0">
              <a:spcBef>
                <a:spcPts val="200"/>
              </a:spcBef>
              <a:buNone/>
              <a:tabLst>
                <a:tab pos="5943600" algn="l"/>
              </a:tabLst>
            </a:pPr>
            <a:r>
              <a:rPr lang="en-US" altLang="en-US" sz="2000" dirty="0"/>
              <a:t>Returns the position of the first occurrence of the given str string within the calling-object string, starting the search at the </a:t>
            </a:r>
            <a:r>
              <a:rPr lang="en-US" altLang="en-US" sz="2000" dirty="0" err="1"/>
              <a:t>fromIndex</a:t>
            </a:r>
            <a:r>
              <a:rPr lang="en-US" altLang="en-US" sz="2000" dirty="0"/>
              <a:t> position. Returns -1 if str is not found.</a:t>
            </a:r>
          </a:p>
        </p:txBody>
      </p:sp>
      <p:sp>
        <p:nvSpPr>
          <p:cNvPr id="61442" name="Slide Number Placeholder 4">
            <a:extLst>
              <a:ext uri="{FF2B5EF4-FFF2-40B4-BE49-F238E27FC236}">
                <a16:creationId xmlns:a16="http://schemas.microsoft.com/office/drawing/2014/main" id="{71418890-7DC4-428D-8813-BDCCF7FFE6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F56C2C-4F75-47F7-A6DF-724B805E7F78}" type="slidenum">
              <a:rPr lang="en-US" altLang="en-US" sz="1400">
                <a:latin typeface="Times New Roman" panose="02020603050405020304" pitchFamily="18" charset="0"/>
              </a:rPr>
              <a:pPr>
                <a:spcBef>
                  <a:spcPct val="0"/>
                </a:spcBef>
                <a:buClrTx/>
                <a:buSzTx/>
                <a:buFontTx/>
                <a:buNone/>
              </a:pPr>
              <a:t>4</a:t>
            </a:fld>
            <a:endParaRPr lang="en-US" altLang="en-US" sz="1400">
              <a:latin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a:extLst>
              <a:ext uri="{FF2B5EF4-FFF2-40B4-BE49-F238E27FC236}">
                <a16:creationId xmlns:a16="http://schemas.microsoft.com/office/drawing/2014/main" id="{75B95E82-F24C-47BF-B25B-DFBD592FE002}"/>
              </a:ext>
            </a:extLst>
          </p:cNvPr>
          <p:cNvSpPr>
            <a:spLocks noGrp="1" noChangeArrowheads="1"/>
          </p:cNvSpPr>
          <p:nvPr>
            <p:ph type="title"/>
          </p:nvPr>
        </p:nvSpPr>
        <p:spPr>
          <a:xfrm>
            <a:off x="2639079" y="244857"/>
            <a:ext cx="7154862" cy="725487"/>
          </a:xfrm>
        </p:spPr>
        <p:txBody>
          <a:bodyPr>
            <a:noAutofit/>
          </a:bodyPr>
          <a:lstStyle/>
          <a:p>
            <a:pPr algn="ctr" eaLnBrk="1" hangingPunct="1"/>
            <a:r>
              <a:rPr lang="en-US" altLang="en-US" sz="3200" b="1" dirty="0"/>
              <a:t>Example of The String Class's </a:t>
            </a:r>
            <a:r>
              <a:rPr lang="en-US" altLang="en-US" sz="3200" b="1" dirty="0" err="1"/>
              <a:t>indexOf</a:t>
            </a:r>
            <a:r>
              <a:rPr lang="en-US" altLang="en-US" sz="3200" b="1" dirty="0"/>
              <a:t> Methods</a:t>
            </a:r>
          </a:p>
        </p:txBody>
      </p:sp>
      <p:sp>
        <p:nvSpPr>
          <p:cNvPr id="63492" name="Rectangle 3">
            <a:extLst>
              <a:ext uri="{FF2B5EF4-FFF2-40B4-BE49-F238E27FC236}">
                <a16:creationId xmlns:a16="http://schemas.microsoft.com/office/drawing/2014/main" id="{CC92B50E-DFBA-4947-A56B-8AE9FAD76546}"/>
              </a:ext>
            </a:extLst>
          </p:cNvPr>
          <p:cNvSpPr>
            <a:spLocks noGrp="1" noChangeArrowheads="1"/>
          </p:cNvSpPr>
          <p:nvPr>
            <p:ph idx="1"/>
          </p:nvPr>
        </p:nvSpPr>
        <p:spPr>
          <a:xfrm>
            <a:off x="2437962" y="1771472"/>
            <a:ext cx="8441473" cy="4953000"/>
          </a:xfrm>
        </p:spPr>
        <p:txBody>
          <a:bodyPr>
            <a:noAutofit/>
          </a:bodyPr>
          <a:lstStyle/>
          <a:p>
            <a:pPr>
              <a:buNone/>
              <a:tabLst>
                <a:tab pos="5943600" algn="l"/>
              </a:tabLst>
            </a:pPr>
            <a:r>
              <a:rPr lang="en-US" altLang="en-US" sz="2400" b="1" dirty="0"/>
              <a:t>public class </a:t>
            </a:r>
            <a:r>
              <a:rPr lang="en-US" altLang="en-US" sz="2400" b="1" dirty="0" err="1"/>
              <a:t>StringMethodDemo</a:t>
            </a:r>
            <a:r>
              <a:rPr lang="en-US" altLang="en-US" sz="2400" b="1" dirty="0"/>
              <a:t>{</a:t>
            </a:r>
          </a:p>
          <a:p>
            <a:pPr>
              <a:buNone/>
              <a:tabLst>
                <a:tab pos="5943600" algn="l"/>
              </a:tabLst>
            </a:pPr>
            <a:r>
              <a:rPr lang="en-US" altLang="en-US" sz="2400" b="1" dirty="0"/>
              <a:t>  public static void main(String[] </a:t>
            </a:r>
            <a:r>
              <a:rPr lang="en-US" altLang="en-US" sz="2400" b="1" dirty="0" err="1"/>
              <a:t>args</a:t>
            </a:r>
            <a:r>
              <a:rPr lang="en-US" altLang="en-US" sz="2400" b="1" dirty="0"/>
              <a:t>)  {</a:t>
            </a:r>
          </a:p>
          <a:p>
            <a:pPr>
              <a:buNone/>
              <a:tabLst>
                <a:tab pos="5943600" algn="l"/>
              </a:tabLst>
            </a:pPr>
            <a:r>
              <a:rPr lang="en-US" altLang="en-US" sz="2400" b="1" dirty="0"/>
              <a:t>    String </a:t>
            </a:r>
            <a:r>
              <a:rPr lang="en-US" altLang="en-US" sz="2400" b="1" dirty="0" err="1"/>
              <a:t>egyptian</a:t>
            </a:r>
            <a:r>
              <a:rPr lang="en-US" altLang="en-US" sz="2400" b="1" dirty="0"/>
              <a:t> =</a:t>
            </a:r>
          </a:p>
          <a:p>
            <a:pPr>
              <a:buNone/>
              <a:tabLst>
                <a:tab pos="5943600" algn="l"/>
              </a:tabLst>
            </a:pPr>
            <a:r>
              <a:rPr lang="en-US" altLang="en-US" sz="2400" b="1" dirty="0"/>
              <a:t>      "I will not leave the square. Over my dead body.";</a:t>
            </a:r>
          </a:p>
          <a:p>
            <a:pPr>
              <a:buNone/>
              <a:tabLst>
                <a:tab pos="5943600" algn="l"/>
              </a:tabLst>
            </a:pPr>
            <a:r>
              <a:rPr lang="en-US" altLang="en-US" sz="2400" b="1" dirty="0"/>
              <a:t>    int index = </a:t>
            </a:r>
            <a:r>
              <a:rPr lang="en-US" altLang="en-US" sz="2400" b="1" dirty="0" err="1"/>
              <a:t>egyptian.indexOf</a:t>
            </a:r>
            <a:r>
              <a:rPr lang="en-US" altLang="en-US" sz="2400" b="1" dirty="0"/>
              <a:t>('.');</a:t>
            </a:r>
          </a:p>
          <a:p>
            <a:pPr>
              <a:buNone/>
              <a:tabLst>
                <a:tab pos="5943600" algn="l"/>
              </a:tabLst>
            </a:pPr>
            <a:r>
              <a:rPr lang="en-US" altLang="en-US" sz="2400" b="1" dirty="0"/>
              <a:t>    String egyptian2 = </a:t>
            </a:r>
            <a:r>
              <a:rPr lang="en-US" altLang="en-US" sz="2400" b="1" dirty="0" err="1"/>
              <a:t>egyptian.substring</a:t>
            </a:r>
            <a:r>
              <a:rPr lang="en-US" altLang="en-US" sz="2400" b="1" dirty="0"/>
              <a:t>(index + 2);</a:t>
            </a:r>
          </a:p>
          <a:p>
            <a:pPr>
              <a:buNone/>
              <a:tabLst>
                <a:tab pos="5943600" algn="l"/>
              </a:tabLst>
            </a:pPr>
            <a:r>
              <a:rPr lang="en-US" altLang="en-US" sz="2400" b="1" dirty="0"/>
              <a:t>    </a:t>
            </a:r>
            <a:r>
              <a:rPr lang="en-US" altLang="en-US" sz="2400" b="1" dirty="0" err="1"/>
              <a:t>System.out.println</a:t>
            </a:r>
            <a:r>
              <a:rPr lang="en-US" altLang="en-US" sz="2400" b="1" dirty="0"/>
              <a:t>(egyptian2); </a:t>
            </a:r>
          </a:p>
          <a:p>
            <a:pPr>
              <a:buNone/>
              <a:tabLst>
                <a:tab pos="5943600" algn="l"/>
              </a:tabLst>
            </a:pPr>
            <a:r>
              <a:rPr lang="en-US" altLang="en-US" sz="2400" b="1" dirty="0"/>
              <a:t>  } </a:t>
            </a:r>
            <a:r>
              <a:rPr lang="en-US" altLang="en-US" sz="2400" dirty="0"/>
              <a:t>// end main</a:t>
            </a:r>
          </a:p>
          <a:p>
            <a:pPr>
              <a:buNone/>
              <a:tabLst>
                <a:tab pos="5943600" algn="l"/>
              </a:tabLst>
            </a:pPr>
            <a:r>
              <a:rPr lang="en-US" altLang="en-US" sz="2400" b="1" dirty="0"/>
              <a:t>}</a:t>
            </a:r>
            <a:r>
              <a:rPr lang="en-US" altLang="en-US" sz="2400" dirty="0"/>
              <a:t> // end </a:t>
            </a:r>
            <a:r>
              <a:rPr lang="en-US" altLang="en-US" sz="2400" dirty="0" err="1"/>
              <a:t>StringMethodDemo</a:t>
            </a:r>
            <a:endParaRPr lang="en-US" altLang="en-US" sz="2400" dirty="0"/>
          </a:p>
          <a:p>
            <a:pPr>
              <a:buNone/>
              <a:tabLst>
                <a:tab pos="5943600" algn="l"/>
              </a:tabLst>
            </a:pPr>
            <a:r>
              <a:rPr lang="en-US" altLang="en-US" sz="2400" dirty="0"/>
              <a:t>Output: Over my dead body.</a:t>
            </a:r>
          </a:p>
        </p:txBody>
      </p:sp>
      <p:sp>
        <p:nvSpPr>
          <p:cNvPr id="63490" name="Slide Number Placeholder 4">
            <a:extLst>
              <a:ext uri="{FF2B5EF4-FFF2-40B4-BE49-F238E27FC236}">
                <a16:creationId xmlns:a16="http://schemas.microsoft.com/office/drawing/2014/main" id="{044C74CD-CA1C-4D4C-A397-DAD33757A9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4938700-1562-4962-BB3F-7C9D39850883}" type="slidenum">
              <a:rPr lang="en-US" altLang="en-US" sz="1400">
                <a:latin typeface="Times New Roman" panose="02020603050405020304" pitchFamily="18" charset="0"/>
              </a:rPr>
              <a:pPr>
                <a:spcBef>
                  <a:spcPct val="0"/>
                </a:spcBef>
                <a:buClrTx/>
                <a:buSzTx/>
                <a:buFontTx/>
                <a:buNone/>
              </a:pPr>
              <a:t>5</a:t>
            </a:fld>
            <a:endParaRPr lang="en-US" altLang="en-US" sz="1400">
              <a:latin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a:extLst>
              <a:ext uri="{FF2B5EF4-FFF2-40B4-BE49-F238E27FC236}">
                <a16:creationId xmlns:a16="http://schemas.microsoft.com/office/drawing/2014/main" id="{CB4099DA-E40D-4EB2-B3D1-C03BAD786C08}"/>
              </a:ext>
            </a:extLst>
          </p:cNvPr>
          <p:cNvSpPr>
            <a:spLocks noGrp="1" noChangeArrowheads="1"/>
          </p:cNvSpPr>
          <p:nvPr>
            <p:ph type="title"/>
          </p:nvPr>
        </p:nvSpPr>
        <p:spPr>
          <a:xfrm>
            <a:off x="2286000" y="381000"/>
            <a:ext cx="8985250" cy="725487"/>
          </a:xfrm>
        </p:spPr>
        <p:txBody>
          <a:bodyPr>
            <a:noAutofit/>
          </a:bodyPr>
          <a:lstStyle/>
          <a:p>
            <a:pPr eaLnBrk="1" hangingPunct="1"/>
            <a:r>
              <a:rPr lang="en-US" altLang="en-US" b="1" dirty="0"/>
              <a:t>The String Class's </a:t>
            </a:r>
            <a:r>
              <a:rPr lang="en-US" altLang="en-US" b="1" dirty="0" err="1"/>
              <a:t>lastIndexOf</a:t>
            </a:r>
            <a:r>
              <a:rPr lang="en-US" altLang="en-US" b="1" dirty="0"/>
              <a:t> Methods</a:t>
            </a:r>
          </a:p>
        </p:txBody>
      </p:sp>
      <p:sp>
        <p:nvSpPr>
          <p:cNvPr id="65540" name="Rectangle 4">
            <a:extLst>
              <a:ext uri="{FF2B5EF4-FFF2-40B4-BE49-F238E27FC236}">
                <a16:creationId xmlns:a16="http://schemas.microsoft.com/office/drawing/2014/main" id="{419203BA-65F1-487B-9585-1865D951217A}"/>
              </a:ext>
            </a:extLst>
          </p:cNvPr>
          <p:cNvSpPr>
            <a:spLocks noGrp="1" noChangeArrowheads="1"/>
          </p:cNvSpPr>
          <p:nvPr>
            <p:ph idx="1"/>
          </p:nvPr>
        </p:nvSpPr>
        <p:spPr>
          <a:xfrm>
            <a:off x="2419814" y="1152907"/>
            <a:ext cx="9240374" cy="4953000"/>
          </a:xfrm>
        </p:spPr>
        <p:txBody>
          <a:bodyPr>
            <a:noAutofit/>
          </a:bodyPr>
          <a:lstStyle/>
          <a:p>
            <a:pPr marL="0" indent="0">
              <a:buNone/>
              <a:tabLst>
                <a:tab pos="5943600" algn="l"/>
              </a:tabLst>
            </a:pPr>
            <a:r>
              <a:rPr lang="en-US" altLang="en-US" sz="2000" dirty="0"/>
              <a:t>The </a:t>
            </a:r>
            <a:r>
              <a:rPr lang="en-US" altLang="en-US" sz="2000" dirty="0" err="1"/>
              <a:t>lastIndexOf</a:t>
            </a:r>
            <a:r>
              <a:rPr lang="en-US" altLang="en-US" sz="2000" dirty="0"/>
              <a:t> methods are identical to the </a:t>
            </a:r>
            <a:r>
              <a:rPr lang="en-US" altLang="en-US" sz="2000" dirty="0" err="1"/>
              <a:t>indexOf</a:t>
            </a:r>
            <a:r>
              <a:rPr lang="en-US" altLang="en-US" sz="2000" dirty="0"/>
              <a:t> methods except that they search the calling-object string from right to left.</a:t>
            </a:r>
          </a:p>
          <a:p>
            <a:pPr marL="0" indent="0">
              <a:buNone/>
              <a:tabLst>
                <a:tab pos="5943600" algn="l"/>
              </a:tabLst>
            </a:pPr>
            <a:r>
              <a:rPr lang="en-US" altLang="en-US" sz="2000" dirty="0"/>
              <a:t>For the one-parameter </a:t>
            </a:r>
            <a:r>
              <a:rPr lang="en-US" altLang="en-US" sz="2000" dirty="0" err="1"/>
              <a:t>lastIndexOf</a:t>
            </a:r>
            <a:r>
              <a:rPr lang="en-US" altLang="en-US" sz="2000" dirty="0"/>
              <a:t> methods, the search starts from the rightmost character.</a:t>
            </a:r>
          </a:p>
          <a:p>
            <a:pPr marL="0" indent="0">
              <a:buNone/>
              <a:tabLst>
                <a:tab pos="5943600" algn="l"/>
              </a:tabLst>
            </a:pPr>
            <a:r>
              <a:rPr lang="en-US" altLang="en-US" sz="2000" dirty="0"/>
              <a:t>For the two-parameter </a:t>
            </a:r>
            <a:r>
              <a:rPr lang="en-US" altLang="en-US" sz="2000" dirty="0" err="1"/>
              <a:t>lastIndexOf</a:t>
            </a:r>
            <a:r>
              <a:rPr lang="en-US" altLang="en-US" sz="2000" dirty="0"/>
              <a:t> methods, the search starts from the position specified by the second parameter.</a:t>
            </a:r>
          </a:p>
          <a:p>
            <a:pPr marL="0" indent="0">
              <a:buNone/>
              <a:tabLst>
                <a:tab pos="5943600" algn="l"/>
              </a:tabLst>
            </a:pPr>
            <a:r>
              <a:rPr lang="en-US" altLang="en-US" sz="2000" dirty="0"/>
              <a:t>What does this code fragment print?</a:t>
            </a:r>
          </a:p>
          <a:p>
            <a:pPr marL="457200" lvl="1" indent="0">
              <a:buNone/>
              <a:tabLst>
                <a:tab pos="5943600" algn="l"/>
              </a:tabLst>
            </a:pPr>
            <a:r>
              <a:rPr lang="en-US" altLang="en-US" sz="2000" b="1" dirty="0"/>
              <a:t>String quote =  "Peace cannot be kept by force; it can" +</a:t>
            </a:r>
          </a:p>
          <a:p>
            <a:pPr marL="457200" lvl="1" indent="0">
              <a:buNone/>
              <a:tabLst>
                <a:tab pos="5943600" algn="l"/>
              </a:tabLst>
            </a:pPr>
            <a:r>
              <a:rPr lang="en-US" altLang="en-US" sz="2000" b="1" dirty="0"/>
              <a:t>  " only be achieved by understanding.“;</a:t>
            </a:r>
          </a:p>
          <a:p>
            <a:pPr marL="457200" lvl="1" indent="0">
              <a:buNone/>
              <a:tabLst>
                <a:tab pos="5943600" algn="l"/>
              </a:tabLst>
            </a:pPr>
            <a:r>
              <a:rPr lang="en-US" altLang="en-US" sz="2000" b="1" dirty="0" err="1"/>
              <a:t>System.out.print</a:t>
            </a:r>
            <a:r>
              <a:rPr lang="en-US" altLang="en-US" sz="2000" b="1" dirty="0"/>
              <a:t>(  </a:t>
            </a:r>
            <a:r>
              <a:rPr lang="en-US" altLang="en-US" sz="2000" b="1" dirty="0" err="1"/>
              <a:t>quote.indexOf</a:t>
            </a:r>
            <a:r>
              <a:rPr lang="en-US" altLang="en-US" sz="2000" b="1" dirty="0"/>
              <a:t>("can") + " " +  </a:t>
            </a:r>
            <a:r>
              <a:rPr lang="en-US" altLang="en-US" sz="2000" b="1" dirty="0" err="1"/>
              <a:t>quote.indexOf</a:t>
            </a:r>
            <a:r>
              <a:rPr lang="en-US" altLang="en-US" sz="2000" b="1" dirty="0"/>
              <a:t>("can", 7) + " " +  </a:t>
            </a:r>
            <a:r>
              <a:rPr lang="en-US" altLang="en-US" sz="2000" b="1" dirty="0" err="1"/>
              <a:t>quote.lastIndexOf</a:t>
            </a:r>
            <a:r>
              <a:rPr lang="en-US" altLang="en-US" sz="2000" b="1" dirty="0"/>
              <a:t>("can"));</a:t>
            </a:r>
          </a:p>
          <a:p>
            <a:pPr marL="0" indent="0">
              <a:buNone/>
              <a:tabLst>
                <a:tab pos="5943600" algn="l"/>
              </a:tabLst>
            </a:pPr>
            <a:endParaRPr lang="en-US" altLang="en-US" sz="2000" dirty="0"/>
          </a:p>
        </p:txBody>
      </p:sp>
      <p:sp>
        <p:nvSpPr>
          <p:cNvPr id="65538" name="Slide Number Placeholder 4">
            <a:extLst>
              <a:ext uri="{FF2B5EF4-FFF2-40B4-BE49-F238E27FC236}">
                <a16:creationId xmlns:a16="http://schemas.microsoft.com/office/drawing/2014/main" id="{6741ED74-669B-4ECB-93EA-9C99E4C351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D9CAE9B-C3E4-4ECB-BEAD-1714CEF4E491}" type="slidenum">
              <a:rPr lang="en-US" altLang="en-US" sz="1400">
                <a:latin typeface="Times New Roman" panose="02020603050405020304" pitchFamily="18" charset="0"/>
              </a:rPr>
              <a:pPr>
                <a:spcBef>
                  <a:spcPct val="0"/>
                </a:spcBef>
                <a:buClrTx/>
                <a:buSzTx/>
                <a:buFontTx/>
                <a:buNone/>
              </a:pPr>
              <a:t>6</a:t>
            </a:fld>
            <a:endParaRPr lang="en-US" altLang="en-US" sz="1400">
              <a:latin typeface="Times New Roman" panose="02020603050405020304"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1700-6288-9CBF-3C7B-F9BEFC20C69E}"/>
              </a:ext>
            </a:extLst>
          </p:cNvPr>
          <p:cNvSpPr>
            <a:spLocks noGrp="1"/>
          </p:cNvSpPr>
          <p:nvPr>
            <p:ph type="title"/>
          </p:nvPr>
        </p:nvSpPr>
        <p:spPr/>
        <p:txBody>
          <a:bodyPr/>
          <a:lstStyle/>
          <a:p>
            <a:pPr algn="ctr"/>
            <a:r>
              <a:rPr lang="en-US" b="1" dirty="0"/>
              <a:t>What is </a:t>
            </a:r>
            <a:r>
              <a:rPr lang="en-US" b="1" dirty="0" err="1"/>
              <a:t>String.format</a:t>
            </a:r>
            <a:r>
              <a:rPr lang="en-US" b="1" dirty="0"/>
              <a:t>?</a:t>
            </a:r>
          </a:p>
        </p:txBody>
      </p:sp>
      <p:sp>
        <p:nvSpPr>
          <p:cNvPr id="3" name="Content Placeholder 2">
            <a:extLst>
              <a:ext uri="{FF2B5EF4-FFF2-40B4-BE49-F238E27FC236}">
                <a16:creationId xmlns:a16="http://schemas.microsoft.com/office/drawing/2014/main" id="{615A5386-4AEC-1B8A-0F08-F91B408B74CD}"/>
              </a:ext>
            </a:extLst>
          </p:cNvPr>
          <p:cNvSpPr>
            <a:spLocks noGrp="1"/>
          </p:cNvSpPr>
          <p:nvPr>
            <p:ph idx="1"/>
          </p:nvPr>
        </p:nvSpPr>
        <p:spPr>
          <a:xfrm>
            <a:off x="2811950" y="1540189"/>
            <a:ext cx="8915400" cy="3777622"/>
          </a:xfrm>
        </p:spPr>
        <p:txBody>
          <a:bodyPr>
            <a:noAutofit/>
          </a:bodyPr>
          <a:lstStyle/>
          <a:p>
            <a:pPr marL="0" indent="0">
              <a:buNone/>
            </a:pPr>
            <a:r>
              <a:rPr lang="en-US" sz="2400" dirty="0"/>
              <a:t>You can build a formatted String and assign it to a variable using the static format method of the String class.  The format method returns a String.</a:t>
            </a:r>
          </a:p>
          <a:p>
            <a:pPr marL="0" indent="0">
              <a:buNone/>
            </a:pPr>
            <a:r>
              <a:rPr lang="en-US" sz="2400" dirty="0"/>
              <a:t>There are two types of string format() method.</a:t>
            </a:r>
          </a:p>
          <a:p>
            <a:pPr marL="457200" lvl="1" indent="0">
              <a:buNone/>
            </a:pPr>
            <a:r>
              <a:rPr lang="en-US" sz="2400" b="1" dirty="0"/>
              <a:t>public static String format(Locale loc, String form, Object... </a:t>
            </a:r>
            <a:r>
              <a:rPr lang="en-US" sz="2400" b="1" dirty="0" err="1"/>
              <a:t>args</a:t>
            </a:r>
            <a:r>
              <a:rPr lang="en-US" sz="2400" b="1" dirty="0"/>
              <a:t>)</a:t>
            </a:r>
          </a:p>
          <a:p>
            <a:pPr marL="457200" lvl="1" indent="0">
              <a:buNone/>
            </a:pPr>
            <a:r>
              <a:rPr lang="en-US" sz="2400" b="1" dirty="0"/>
              <a:t>public static String format(String form, Object... </a:t>
            </a:r>
            <a:r>
              <a:rPr lang="en-US" sz="2400" b="1" dirty="0" err="1"/>
              <a:t>args</a:t>
            </a:r>
            <a:r>
              <a:rPr lang="en-US" sz="2400" b="1" dirty="0"/>
              <a:t>)</a:t>
            </a:r>
          </a:p>
          <a:p>
            <a:pPr marL="0" indent="0">
              <a:buNone/>
            </a:pPr>
            <a:r>
              <a:rPr lang="en-US" sz="2400" dirty="0"/>
              <a:t>For example, this gives output in 8 decimal places:</a:t>
            </a:r>
          </a:p>
          <a:p>
            <a:pPr marL="0" indent="0">
              <a:buNone/>
            </a:pPr>
            <a:r>
              <a:rPr lang="en-US" sz="2400" b="1" dirty="0"/>
              <a:t> String str = </a:t>
            </a:r>
            <a:r>
              <a:rPr lang="en-US" sz="2400" b="1" dirty="0" err="1"/>
              <a:t>String.format</a:t>
            </a:r>
            <a:r>
              <a:rPr lang="en-US" sz="2400" b="1" dirty="0"/>
              <a:t>("My answer is %.8f", 47.65734);</a:t>
            </a:r>
          </a:p>
          <a:p>
            <a:pPr marL="0" indent="0">
              <a:buNone/>
            </a:pPr>
            <a:endParaRPr lang="en-US" sz="2400" dirty="0"/>
          </a:p>
        </p:txBody>
      </p:sp>
    </p:spTree>
    <p:extLst>
      <p:ext uri="{BB962C8B-B14F-4D97-AF65-F5344CB8AC3E}">
        <p14:creationId xmlns:p14="http://schemas.microsoft.com/office/powerpoint/2010/main" val="1062046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a:extLst>
              <a:ext uri="{FF2B5EF4-FFF2-40B4-BE49-F238E27FC236}">
                <a16:creationId xmlns:a16="http://schemas.microsoft.com/office/drawing/2014/main" id="{A71122FE-A2F2-4856-B8DF-ADFA1A560E05}"/>
              </a:ext>
            </a:extLst>
          </p:cNvPr>
          <p:cNvSpPr>
            <a:spLocks noGrp="1" noChangeArrowheads="1"/>
          </p:cNvSpPr>
          <p:nvPr>
            <p:ph type="title"/>
          </p:nvPr>
        </p:nvSpPr>
        <p:spPr>
          <a:xfrm>
            <a:off x="2674938" y="341314"/>
            <a:ext cx="7154862" cy="725487"/>
          </a:xfrm>
        </p:spPr>
        <p:txBody>
          <a:bodyPr>
            <a:normAutofit fontScale="90000"/>
          </a:bodyPr>
          <a:lstStyle/>
          <a:p>
            <a:pPr algn="ctr" eaLnBrk="1" hangingPunct="1"/>
            <a:r>
              <a:rPr lang="en-US" altLang="en-US" b="1" dirty="0"/>
              <a:t>Format Specifier Details – This formatting also is used in the </a:t>
            </a:r>
            <a:r>
              <a:rPr lang="en-US" altLang="en-US" b="1" dirty="0" err="1"/>
              <a:t>String.format</a:t>
            </a:r>
            <a:r>
              <a:rPr lang="en-US" altLang="en-US" b="1" dirty="0"/>
              <a:t> method</a:t>
            </a:r>
          </a:p>
        </p:txBody>
      </p:sp>
      <p:sp>
        <p:nvSpPr>
          <p:cNvPr id="71684" name="Rectangle 3">
            <a:extLst>
              <a:ext uri="{FF2B5EF4-FFF2-40B4-BE49-F238E27FC236}">
                <a16:creationId xmlns:a16="http://schemas.microsoft.com/office/drawing/2014/main" id="{AA8898C6-63DA-492E-AE18-4B0EBB54A3E9}"/>
              </a:ext>
            </a:extLst>
          </p:cNvPr>
          <p:cNvSpPr>
            <a:spLocks noGrp="1" noChangeArrowheads="1"/>
          </p:cNvSpPr>
          <p:nvPr>
            <p:ph idx="1"/>
          </p:nvPr>
        </p:nvSpPr>
        <p:spPr>
          <a:xfrm>
            <a:off x="2674938" y="2272342"/>
            <a:ext cx="7924800" cy="3567742"/>
          </a:xfrm>
        </p:spPr>
        <p:txBody>
          <a:bodyPr>
            <a:normAutofit/>
          </a:bodyPr>
          <a:lstStyle/>
          <a:p>
            <a:pPr marL="0" indent="0">
              <a:buNone/>
              <a:tabLst>
                <a:tab pos="5943600" algn="l"/>
              </a:tabLst>
            </a:pPr>
            <a:r>
              <a:rPr lang="en-US" altLang="en-US" sz="2400" dirty="0"/>
              <a:t>Here's the syntax for a format specifier:</a:t>
            </a:r>
          </a:p>
          <a:p>
            <a:pPr marL="457200" lvl="1" indent="0">
              <a:spcBef>
                <a:spcPct val="50000"/>
              </a:spcBef>
              <a:spcAft>
                <a:spcPct val="50000"/>
              </a:spcAft>
              <a:buNone/>
              <a:tabLst>
                <a:tab pos="5943600" algn="l"/>
              </a:tabLst>
            </a:pPr>
            <a:r>
              <a:rPr lang="en-US" altLang="en-US" sz="2400" b="1" dirty="0"/>
              <a:t>%[</a:t>
            </a:r>
            <a:r>
              <a:rPr lang="en-US" altLang="en-US" sz="2400" b="1" i="1" dirty="0"/>
              <a:t>flags</a:t>
            </a:r>
            <a:r>
              <a:rPr lang="en-US" altLang="en-US" sz="2400" b="1" dirty="0"/>
              <a:t>][</a:t>
            </a:r>
            <a:r>
              <a:rPr lang="en-US" altLang="en-US" sz="2400" b="1" i="1" dirty="0"/>
              <a:t>width</a:t>
            </a:r>
            <a:r>
              <a:rPr lang="en-US" altLang="en-US" sz="2400" b="1" dirty="0"/>
              <a:t>][.</a:t>
            </a:r>
            <a:r>
              <a:rPr lang="en-US" altLang="en-US" sz="2400" b="1" i="1" dirty="0"/>
              <a:t>precision</a:t>
            </a:r>
            <a:r>
              <a:rPr lang="en-US" altLang="en-US" sz="2400" b="1" dirty="0"/>
              <a:t>]</a:t>
            </a:r>
            <a:r>
              <a:rPr lang="en-US" altLang="en-US" sz="2400" b="1" i="1" dirty="0"/>
              <a:t>conversion-character</a:t>
            </a:r>
          </a:p>
          <a:p>
            <a:pPr marL="0" indent="0">
              <a:buNone/>
              <a:tabLst>
                <a:tab pos="5943600" algn="l"/>
              </a:tabLst>
            </a:pPr>
            <a:r>
              <a:rPr lang="en-US" altLang="en-US" sz="2400" dirty="0"/>
              <a:t>The square brackets indicate that something is optional. </a:t>
            </a:r>
          </a:p>
          <a:p>
            <a:pPr marL="0" indent="0">
              <a:buNone/>
              <a:tabLst>
                <a:tab pos="5943600" algn="l"/>
              </a:tabLst>
            </a:pPr>
            <a:r>
              <a:rPr lang="en-US" altLang="en-US" sz="2400" dirty="0"/>
              <a:t>So the flags, width, and precision parts are optional.</a:t>
            </a:r>
          </a:p>
          <a:p>
            <a:pPr marL="0" indent="0">
              <a:buNone/>
              <a:tabLst>
                <a:tab pos="5943600" algn="l"/>
              </a:tabLst>
            </a:pPr>
            <a:r>
              <a:rPr lang="en-US" altLang="en-US" sz="2400" dirty="0"/>
              <a:t> Only the % and the conversion character are required.</a:t>
            </a:r>
          </a:p>
        </p:txBody>
      </p:sp>
      <p:sp>
        <p:nvSpPr>
          <p:cNvPr id="71682" name="Slide Number Placeholder 4">
            <a:extLst>
              <a:ext uri="{FF2B5EF4-FFF2-40B4-BE49-F238E27FC236}">
                <a16:creationId xmlns:a16="http://schemas.microsoft.com/office/drawing/2014/main" id="{C0918F6F-28BB-4628-A4E2-4FE03F62A8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B9948C6-67AF-497E-BFC3-38AF8F1430E6}" type="slidenum">
              <a:rPr lang="en-US" altLang="en-US" sz="1400">
                <a:latin typeface="Times New Roman" panose="02020603050405020304" pitchFamily="18" charset="0"/>
              </a:rPr>
              <a:pPr>
                <a:spcBef>
                  <a:spcPct val="0"/>
                </a:spcBef>
                <a:buClrTx/>
                <a:buSzTx/>
                <a:buFontTx/>
                <a:buNone/>
              </a:pPr>
              <a:t>8</a:t>
            </a:fld>
            <a:endParaRPr lang="en-US" altLang="en-US" sz="1400">
              <a:latin typeface="Times New Roman" panose="02020603050405020304"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a16="http://schemas.microsoft.com/office/drawing/2014/main" id="{DFCF1036-EBB0-44C0-A21A-BF7272196F16}"/>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b="1" dirty="0"/>
              <a:t>Conversion Character</a:t>
            </a:r>
          </a:p>
        </p:txBody>
      </p:sp>
      <p:sp>
        <p:nvSpPr>
          <p:cNvPr id="73732" name="Rectangle 3">
            <a:extLst>
              <a:ext uri="{FF2B5EF4-FFF2-40B4-BE49-F238E27FC236}">
                <a16:creationId xmlns:a16="http://schemas.microsoft.com/office/drawing/2014/main" id="{1DCC9481-E587-454E-B08F-1AD2CE0119F6}"/>
              </a:ext>
            </a:extLst>
          </p:cNvPr>
          <p:cNvSpPr>
            <a:spLocks noGrp="1" noChangeArrowheads="1"/>
          </p:cNvSpPr>
          <p:nvPr>
            <p:ph idx="1"/>
          </p:nvPr>
        </p:nvSpPr>
        <p:spPr>
          <a:xfrm>
            <a:off x="2575932" y="1066801"/>
            <a:ext cx="8619892" cy="4953000"/>
          </a:xfrm>
        </p:spPr>
        <p:txBody>
          <a:bodyPr>
            <a:noAutofit/>
          </a:bodyPr>
          <a:lstStyle/>
          <a:p>
            <a:pPr marL="0" indent="0">
              <a:buNone/>
              <a:tabLst>
                <a:tab pos="5943600" algn="l"/>
              </a:tabLst>
            </a:pPr>
            <a:r>
              <a:rPr lang="en-US" altLang="en-US" sz="2400" dirty="0"/>
              <a:t>The conversion character tells the Java Virtual Machine (JVM) the type of thing that is to be printed.</a:t>
            </a:r>
          </a:p>
          <a:p>
            <a:pPr marL="0" indent="0">
              <a:buNone/>
              <a:tabLst>
                <a:tab pos="5943600" algn="l"/>
              </a:tabLst>
            </a:pPr>
            <a:r>
              <a:rPr lang="en-US" altLang="en-US" sz="2400" dirty="0"/>
              <a:t>Here is a partial list of conversion characters:</a:t>
            </a:r>
          </a:p>
          <a:p>
            <a:pPr marL="457200" lvl="1" indent="0">
              <a:spcBef>
                <a:spcPct val="50000"/>
              </a:spcBef>
              <a:buNone/>
              <a:tabLst>
                <a:tab pos="5943600" algn="l"/>
              </a:tabLst>
            </a:pPr>
            <a:r>
              <a:rPr lang="en-US" altLang="en-US" sz="2400" b="1" dirty="0"/>
              <a:t>s </a:t>
            </a:r>
            <a:r>
              <a:rPr lang="en-US" altLang="en-US" sz="2400" dirty="0"/>
              <a:t>    This displays a string.</a:t>
            </a:r>
          </a:p>
          <a:p>
            <a:pPr marL="457200" lvl="1" indent="0">
              <a:buNone/>
              <a:tabLst>
                <a:tab pos="5943600" algn="l"/>
              </a:tabLst>
            </a:pPr>
            <a:r>
              <a:rPr lang="en-US" altLang="en-US" sz="2400" b="1" dirty="0"/>
              <a:t>d</a:t>
            </a:r>
            <a:r>
              <a:rPr lang="en-US" altLang="en-US" sz="2400" dirty="0"/>
              <a:t>    This displays a </a:t>
            </a:r>
            <a:r>
              <a:rPr lang="en-US" altLang="en-US" sz="2400" u="sng" dirty="0"/>
              <a:t>d</a:t>
            </a:r>
            <a:r>
              <a:rPr lang="en-US" altLang="en-US" sz="2400" dirty="0"/>
              <a:t>ecimal integer (an </a:t>
            </a:r>
            <a:r>
              <a:rPr lang="en-US" altLang="en-US" sz="2400" dirty="0">
                <a:latin typeface="Courier New" panose="02070309020205020404" pitchFamily="49" charset="0"/>
                <a:cs typeface="Courier New" panose="02070309020205020404" pitchFamily="49" charset="0"/>
              </a:rPr>
              <a:t>int</a:t>
            </a:r>
            <a:r>
              <a:rPr lang="en-US" altLang="en-US" sz="2400" dirty="0"/>
              <a:t> or a </a:t>
            </a:r>
            <a:r>
              <a:rPr lang="en-US" altLang="en-US" sz="2400" dirty="0">
                <a:latin typeface="Courier New" panose="02070309020205020404" pitchFamily="49" charset="0"/>
                <a:cs typeface="Courier New" panose="02070309020205020404" pitchFamily="49" charset="0"/>
              </a:rPr>
              <a:t>long</a:t>
            </a:r>
            <a:r>
              <a:rPr lang="en-US" altLang="en-US" sz="2400" dirty="0"/>
              <a:t>).</a:t>
            </a:r>
          </a:p>
          <a:p>
            <a:pPr marL="457200" lvl="1" indent="0">
              <a:buNone/>
              <a:tabLst>
                <a:tab pos="5943600" algn="l"/>
              </a:tabLst>
            </a:pPr>
            <a:r>
              <a:rPr lang="en-US" altLang="en-US" sz="2400" b="1" dirty="0"/>
              <a:t>f </a:t>
            </a:r>
            <a:r>
              <a:rPr lang="en-US" altLang="en-US" sz="2400" dirty="0"/>
              <a:t>    This displays a floating-point number (a </a:t>
            </a:r>
            <a:r>
              <a:rPr lang="en-US" altLang="en-US" sz="2400" dirty="0">
                <a:latin typeface="Courier New" panose="02070309020205020404" pitchFamily="49" charset="0"/>
                <a:cs typeface="Courier New" panose="02070309020205020404" pitchFamily="49" charset="0"/>
              </a:rPr>
              <a:t>float</a:t>
            </a:r>
            <a:r>
              <a:rPr lang="en-US" altLang="en-US" sz="2400" dirty="0"/>
              <a:t> or a </a:t>
            </a:r>
            <a:r>
              <a:rPr lang="en-US" altLang="en-US" sz="2400" dirty="0">
                <a:latin typeface="Courier New" panose="02070309020205020404" pitchFamily="49" charset="0"/>
                <a:cs typeface="Courier New" panose="02070309020205020404" pitchFamily="49" charset="0"/>
              </a:rPr>
              <a:t>double</a:t>
            </a:r>
            <a:r>
              <a:rPr lang="en-US" altLang="en-US" sz="2400" dirty="0"/>
              <a:t>) with a decimal point and at least one digit to the left of the decimal point.</a:t>
            </a:r>
          </a:p>
          <a:p>
            <a:pPr marL="457200" lvl="1" indent="0">
              <a:buNone/>
              <a:tabLst>
                <a:tab pos="5943600" algn="l"/>
              </a:tabLst>
            </a:pPr>
            <a:r>
              <a:rPr lang="en-US" altLang="en-US" sz="2400" b="1" dirty="0"/>
              <a:t>e</a:t>
            </a:r>
            <a:r>
              <a:rPr lang="en-US" altLang="en-US" sz="2400" dirty="0"/>
              <a:t>     This displays a floating-point number (</a:t>
            </a:r>
            <a:r>
              <a:rPr lang="en-US" altLang="en-US" sz="2400" dirty="0">
                <a:latin typeface="Courier New" panose="02070309020205020404" pitchFamily="49" charset="0"/>
                <a:cs typeface="Courier New" panose="02070309020205020404" pitchFamily="49" charset="0"/>
              </a:rPr>
              <a:t>float</a:t>
            </a:r>
            <a:r>
              <a:rPr lang="en-US" altLang="en-US" sz="2400" dirty="0"/>
              <a:t> or </a:t>
            </a:r>
            <a:r>
              <a:rPr lang="en-US" altLang="en-US" sz="2400" dirty="0">
                <a:latin typeface="Courier New" panose="02070309020205020404" pitchFamily="49" charset="0"/>
                <a:cs typeface="Courier New" panose="02070309020205020404" pitchFamily="49" charset="0"/>
              </a:rPr>
              <a:t>double</a:t>
            </a:r>
            <a:r>
              <a:rPr lang="en-US" altLang="en-US" sz="2400" dirty="0"/>
              <a:t>) in scientific notation.</a:t>
            </a:r>
          </a:p>
        </p:txBody>
      </p:sp>
      <p:sp>
        <p:nvSpPr>
          <p:cNvPr id="73730" name="Slide Number Placeholder 4">
            <a:extLst>
              <a:ext uri="{FF2B5EF4-FFF2-40B4-BE49-F238E27FC236}">
                <a16:creationId xmlns:a16="http://schemas.microsoft.com/office/drawing/2014/main" id="{FBD899FD-1805-45BB-9529-14EB6B13D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632F3B4-2996-427A-8CB3-8E813EC880F8}" type="slidenum">
              <a:rPr lang="en-US" altLang="en-US" sz="1400">
                <a:latin typeface="Times New Roman" panose="02020603050405020304" pitchFamily="18" charset="0"/>
              </a:rPr>
              <a:pPr>
                <a:spcBef>
                  <a:spcPct val="0"/>
                </a:spcBef>
                <a:buClrTx/>
                <a:buSzTx/>
                <a:buFontTx/>
                <a:buNone/>
              </a:pPr>
              <a:t>9</a:t>
            </a:fld>
            <a:endParaRPr lang="en-US" altLang="en-US" sz="1400">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3696-D0DF-DD54-4EB0-310E492509FD}"/>
              </a:ext>
            </a:extLst>
          </p:cNvPr>
          <p:cNvSpPr>
            <a:spLocks noGrp="1"/>
          </p:cNvSpPr>
          <p:nvPr>
            <p:ph type="title"/>
          </p:nvPr>
        </p:nvSpPr>
        <p:spPr>
          <a:xfrm>
            <a:off x="1840927" y="210042"/>
            <a:ext cx="9712998" cy="1280890"/>
          </a:xfrm>
        </p:spPr>
        <p:txBody>
          <a:bodyPr>
            <a:normAutofit/>
          </a:bodyPr>
          <a:lstStyle/>
          <a:p>
            <a:pPr algn="ctr"/>
            <a:r>
              <a:rPr lang="en-US" b="1" dirty="0"/>
              <a:t>Java String Format Specifiers or Conversion Characters</a:t>
            </a:r>
          </a:p>
        </p:txBody>
      </p:sp>
      <p:graphicFrame>
        <p:nvGraphicFramePr>
          <p:cNvPr id="4" name="Content Placeholder 3">
            <a:extLst>
              <a:ext uri="{FF2B5EF4-FFF2-40B4-BE49-F238E27FC236}">
                <a16:creationId xmlns:a16="http://schemas.microsoft.com/office/drawing/2014/main" id="{CE5BAF3E-D440-DB3A-461B-A42E225FA27F}"/>
              </a:ext>
            </a:extLst>
          </p:cNvPr>
          <p:cNvGraphicFramePr>
            <a:graphicFrameLocks noGrp="1"/>
          </p:cNvGraphicFramePr>
          <p:nvPr>
            <p:ph idx="1"/>
            <p:extLst>
              <p:ext uri="{D42A27DB-BD31-4B8C-83A1-F6EECF244321}">
                <p14:modId xmlns:p14="http://schemas.microsoft.com/office/powerpoint/2010/main" val="4145677940"/>
              </p:ext>
            </p:extLst>
          </p:nvPr>
        </p:nvGraphicFramePr>
        <p:xfrm>
          <a:off x="2052917" y="1352980"/>
          <a:ext cx="10042053" cy="4876800"/>
        </p:xfrm>
        <a:graphic>
          <a:graphicData uri="http://schemas.openxmlformats.org/drawingml/2006/table">
            <a:tbl>
              <a:tblPr/>
              <a:tblGrid>
                <a:gridCol w="1718966">
                  <a:extLst>
                    <a:ext uri="{9D8B030D-6E8A-4147-A177-3AD203B41FA5}">
                      <a16:colId xmlns:a16="http://schemas.microsoft.com/office/drawing/2014/main" val="697566672"/>
                    </a:ext>
                  </a:extLst>
                </a:gridCol>
                <a:gridCol w="4019571">
                  <a:extLst>
                    <a:ext uri="{9D8B030D-6E8A-4147-A177-3AD203B41FA5}">
                      <a16:colId xmlns:a16="http://schemas.microsoft.com/office/drawing/2014/main" val="3024049539"/>
                    </a:ext>
                  </a:extLst>
                </a:gridCol>
                <a:gridCol w="4303516">
                  <a:extLst>
                    <a:ext uri="{9D8B030D-6E8A-4147-A177-3AD203B41FA5}">
                      <a16:colId xmlns:a16="http://schemas.microsoft.com/office/drawing/2014/main" val="4154833093"/>
                    </a:ext>
                  </a:extLst>
                </a:gridCol>
              </a:tblGrid>
              <a:tr h="369994">
                <a:tc>
                  <a:txBody>
                    <a:bodyPr/>
                    <a:lstStyle/>
                    <a:p>
                      <a:pPr algn="l" fontAlgn="t">
                        <a:spcBef>
                          <a:spcPts val="0"/>
                        </a:spcBef>
                        <a:spcAft>
                          <a:spcPts val="0"/>
                        </a:spcAft>
                      </a:pPr>
                      <a:r>
                        <a:rPr lang="en-US" sz="900" b="0" i="0" u="none" strike="noStrike">
                          <a:solidFill>
                            <a:srgbClr val="000000"/>
                          </a:solidFill>
                          <a:effectLst/>
                          <a:latin typeface="times new roman" panose="02020603050405020304" pitchFamily="18" charset="0"/>
                        </a:rPr>
                        <a:t>Format Specifier</a:t>
                      </a:r>
                      <a:endParaRPr lang="en-US" sz="900" b="0" i="0" u="none" strike="noStrike">
                        <a:effectLst/>
                        <a:latin typeface="Arial" panose="020B0604020202020204" pitchFamily="34" charset="0"/>
                      </a:endParaRPr>
                    </a:p>
                  </a:txBody>
                  <a:tcPr marL="58732" marR="58732" marT="58732" marB="58732">
                    <a:lnL w="9525" cap="flat" cmpd="sng" algn="ctr">
                      <a:solidFill>
                        <a:srgbClr val="209F53"/>
                      </a:solidFill>
                      <a:prstDash val="solid"/>
                      <a:round/>
                      <a:headEnd type="none" w="med" len="med"/>
                      <a:tailEnd type="none" w="med" len="med"/>
                    </a:lnL>
                    <a:lnR w="9525" cap="flat" cmpd="sng" algn="ctr">
                      <a:solidFill>
                        <a:srgbClr val="209F53"/>
                      </a:solidFill>
                      <a:prstDash val="solid"/>
                      <a:round/>
                      <a:headEnd type="none" w="med" len="med"/>
                      <a:tailEnd type="none" w="med" len="med"/>
                    </a:lnR>
                    <a:lnT w="9525" cap="flat" cmpd="sng" algn="ctr">
                      <a:solidFill>
                        <a:srgbClr val="209F5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spcBef>
                          <a:spcPts val="0"/>
                        </a:spcBef>
                        <a:spcAft>
                          <a:spcPts val="0"/>
                        </a:spcAft>
                      </a:pPr>
                      <a:r>
                        <a:rPr lang="en-US" sz="900" b="0" i="0" u="none" strike="noStrike">
                          <a:solidFill>
                            <a:srgbClr val="000000"/>
                          </a:solidFill>
                          <a:effectLst/>
                          <a:latin typeface="times new roman" panose="02020603050405020304" pitchFamily="18" charset="0"/>
                        </a:rPr>
                        <a:t>Data Type</a:t>
                      </a:r>
                      <a:endParaRPr lang="en-US" sz="900" b="0" i="0" u="none" strike="noStrike">
                        <a:effectLst/>
                        <a:latin typeface="Arial" panose="020B0604020202020204" pitchFamily="34" charset="0"/>
                      </a:endParaRPr>
                    </a:p>
                  </a:txBody>
                  <a:tcPr marL="58732" marR="58732" marT="58732" marB="58732">
                    <a:lnL w="9525" cap="flat" cmpd="sng" algn="ctr">
                      <a:solidFill>
                        <a:srgbClr val="209F53"/>
                      </a:solidFill>
                      <a:prstDash val="solid"/>
                      <a:round/>
                      <a:headEnd type="none" w="med" len="med"/>
                      <a:tailEnd type="none" w="med" len="med"/>
                    </a:lnL>
                    <a:lnR w="9525" cap="flat" cmpd="sng" algn="ctr">
                      <a:solidFill>
                        <a:srgbClr val="209F53"/>
                      </a:solidFill>
                      <a:prstDash val="solid"/>
                      <a:round/>
                      <a:headEnd type="none" w="med" len="med"/>
                      <a:tailEnd type="none" w="med" len="med"/>
                    </a:lnR>
                    <a:lnT w="9525" cap="flat" cmpd="sng" algn="ctr">
                      <a:solidFill>
                        <a:srgbClr val="209F5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spcBef>
                          <a:spcPts val="0"/>
                        </a:spcBef>
                        <a:spcAft>
                          <a:spcPts val="0"/>
                        </a:spcAft>
                      </a:pPr>
                      <a:r>
                        <a:rPr lang="en-US" sz="900" b="0" i="0" u="none" strike="noStrike">
                          <a:solidFill>
                            <a:srgbClr val="000000"/>
                          </a:solidFill>
                          <a:effectLst/>
                          <a:latin typeface="times new roman" panose="02020603050405020304" pitchFamily="18" charset="0"/>
                        </a:rPr>
                        <a:t>Output</a:t>
                      </a:r>
                      <a:endParaRPr lang="en-US" sz="900" b="0" i="0" u="none" strike="noStrike">
                        <a:effectLst/>
                        <a:latin typeface="Arial" panose="020B0604020202020204" pitchFamily="34" charset="0"/>
                      </a:endParaRPr>
                    </a:p>
                  </a:txBody>
                  <a:tcPr marL="58732" marR="58732" marT="58732" marB="58732">
                    <a:lnL w="9525" cap="flat" cmpd="sng" algn="ctr">
                      <a:solidFill>
                        <a:srgbClr val="209F53"/>
                      </a:solidFill>
                      <a:prstDash val="solid"/>
                      <a:round/>
                      <a:headEnd type="none" w="med" len="med"/>
                      <a:tailEnd type="none" w="med" len="med"/>
                    </a:lnL>
                    <a:lnR w="9525" cap="flat" cmpd="sng" algn="ctr">
                      <a:solidFill>
                        <a:srgbClr val="209F53"/>
                      </a:solidFill>
                      <a:prstDash val="solid"/>
                      <a:round/>
                      <a:headEnd type="none" w="med" len="med"/>
                      <a:tailEnd type="none" w="med" len="med"/>
                    </a:lnR>
                    <a:lnT w="9525" cap="flat" cmpd="sng" algn="ctr">
                      <a:solidFill>
                        <a:srgbClr val="209F5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404099737"/>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%a</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floating point (except </a:t>
                      </a:r>
                      <a:r>
                        <a:rPr lang="en-US" sz="900" b="0" i="1" u="none" strike="noStrike">
                          <a:solidFill>
                            <a:srgbClr val="333333"/>
                          </a:solidFill>
                          <a:effectLst/>
                          <a:latin typeface="inter-regular"/>
                        </a:rPr>
                        <a:t>BigDecimal</a:t>
                      </a:r>
                      <a:r>
                        <a:rPr lang="en-US" sz="900" b="0" i="0" u="none" strike="noStrike">
                          <a:solidFill>
                            <a:srgbClr val="333333"/>
                          </a:solidFill>
                          <a:effectLst/>
                          <a:latin typeface="inter-regular"/>
                        </a:rPr>
                        <a: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Returns Hex output of floating point number.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4028288321"/>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%b</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Any type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"true" if non-null, "false" if null</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52899951"/>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%c</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character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Unicode character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653978969"/>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%d</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integer (incl. byte, short, int, long, bigint)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Decimal Integer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52775885"/>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floating point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decimal number in scientific notation</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3762354091"/>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%f</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dirty="0">
                          <a:solidFill>
                            <a:srgbClr val="333333"/>
                          </a:solidFill>
                          <a:effectLst/>
                          <a:latin typeface="inter-regular"/>
                        </a:rPr>
                        <a:t>floating point</a:t>
                      </a:r>
                      <a:endParaRPr lang="en-US" sz="900" b="0" i="0" u="none" strike="noStrike" dirty="0">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decimal number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94330319"/>
                  </a:ext>
                </a:extLst>
              </a:tr>
              <a:tr h="505866">
                <a:tc>
                  <a:txBody>
                    <a:bodyPr/>
                    <a:lstStyle/>
                    <a:p>
                      <a:pPr algn="just" fontAlgn="t">
                        <a:spcBef>
                          <a:spcPts val="0"/>
                        </a:spcBef>
                        <a:spcAft>
                          <a:spcPts val="0"/>
                        </a:spcAft>
                      </a:pPr>
                      <a:r>
                        <a:rPr lang="en-US" sz="900" b="0" i="0" u="none" strike="noStrike">
                          <a:solidFill>
                            <a:srgbClr val="333333"/>
                          </a:solidFill>
                          <a:effectLst/>
                          <a:latin typeface="inter-regular"/>
                        </a:rPr>
                        <a:t>%g</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floating point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decimal number, possibly in scientific notation depending on the precision and value.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1557660260"/>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%h</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any type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Hex String of value from hashCode() method.</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00705984"/>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%n</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none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Platform-specific line separator.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1255044635"/>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%o</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integer (incl. byte, short, int, long, bigint)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Octal number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09612970"/>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%s</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any type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String value</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288467246"/>
                  </a:ext>
                </a:extLst>
              </a:tr>
              <a:tr h="505866">
                <a:tc>
                  <a:txBody>
                    <a:bodyPr/>
                    <a:lstStyle/>
                    <a:p>
                      <a:pPr algn="just" fontAlgn="t">
                        <a:spcBef>
                          <a:spcPts val="0"/>
                        </a:spcBef>
                        <a:spcAft>
                          <a:spcPts val="0"/>
                        </a:spcAft>
                      </a:pPr>
                      <a:r>
                        <a:rPr lang="en-US" sz="900" b="0" i="0" u="none" strike="noStrike">
                          <a:solidFill>
                            <a:srgbClr val="333333"/>
                          </a:solidFill>
                          <a:effectLst/>
                          <a:latin typeface="inter-regular"/>
                        </a:rPr>
                        <a:t>%t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Date/Time (incl. long, Calendar, Date and TemporalAccessor)</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spcBef>
                          <a:spcPts val="0"/>
                        </a:spcBef>
                        <a:spcAft>
                          <a:spcPts val="0"/>
                        </a:spcAft>
                      </a:pPr>
                      <a:r>
                        <a:rPr lang="en-US" sz="900" b="0" i="0" u="none" strike="noStrike">
                          <a:solidFill>
                            <a:srgbClr val="333333"/>
                          </a:solidFill>
                          <a:effectLst/>
                          <a:latin typeface="inter-regular"/>
                        </a:rPr>
                        <a:t>%t is the prefix for Date/Time conversions. More formatting flags are needed after this. See Date/Time conversion below.</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79130494"/>
                  </a:ext>
                </a:extLst>
              </a:tr>
              <a:tr h="317734">
                <a:tc>
                  <a:txBody>
                    <a:bodyPr/>
                    <a:lstStyle/>
                    <a:p>
                      <a:pPr algn="just" fontAlgn="t">
                        <a:spcBef>
                          <a:spcPts val="0"/>
                        </a:spcBef>
                        <a:spcAft>
                          <a:spcPts val="0"/>
                        </a:spcAft>
                      </a:pPr>
                      <a:r>
                        <a:rPr lang="en-US" sz="900" b="0" i="0" u="none" strike="noStrike">
                          <a:solidFill>
                            <a:srgbClr val="333333"/>
                          </a:solidFill>
                          <a:effectLst/>
                          <a:latin typeface="inter-regular"/>
                        </a:rPr>
                        <a:t>%x</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a:solidFill>
                            <a:srgbClr val="333333"/>
                          </a:solidFill>
                          <a:effectLst/>
                          <a:latin typeface="inter-regular"/>
                        </a:rPr>
                        <a:t>integer (incl. byte, short, int, long, bigint)</a:t>
                      </a:r>
                      <a:endParaRPr lang="en-US" sz="900" b="0" i="0" u="none" strike="noStrike">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tc>
                  <a:txBody>
                    <a:bodyPr/>
                    <a:lstStyle/>
                    <a:p>
                      <a:pPr algn="just" fontAlgn="t">
                        <a:spcBef>
                          <a:spcPts val="0"/>
                        </a:spcBef>
                        <a:spcAft>
                          <a:spcPts val="0"/>
                        </a:spcAft>
                      </a:pPr>
                      <a:r>
                        <a:rPr lang="en-US" sz="900" b="0" i="0" u="none" strike="noStrike" dirty="0">
                          <a:solidFill>
                            <a:srgbClr val="333333"/>
                          </a:solidFill>
                          <a:effectLst/>
                          <a:latin typeface="inter-regular"/>
                        </a:rPr>
                        <a:t>Hex string.</a:t>
                      </a:r>
                      <a:endParaRPr lang="en-US" sz="900" b="0" i="0" u="none" strike="noStrike" dirty="0">
                        <a:effectLst/>
                        <a:latin typeface="Arial" panose="020B0604020202020204" pitchFamily="34" charset="0"/>
                      </a:endParaRPr>
                    </a:p>
                  </a:txBody>
                  <a:tcPr marL="39155" marR="39155" marT="39155" marB="3915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888290120"/>
                  </a:ext>
                </a:extLst>
              </a:tr>
            </a:tbl>
          </a:graphicData>
        </a:graphic>
      </p:graphicFrame>
    </p:spTree>
    <p:extLst>
      <p:ext uri="{BB962C8B-B14F-4D97-AF65-F5344CB8AC3E}">
        <p14:creationId xmlns:p14="http://schemas.microsoft.com/office/powerpoint/2010/main" val="131609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a:extLst>
              <a:ext uri="{FF2B5EF4-FFF2-40B4-BE49-F238E27FC236}">
                <a16:creationId xmlns:a16="http://schemas.microsoft.com/office/drawing/2014/main" id="{9C65C4A3-8E39-4910-9DCB-3992E1A8DDEA}"/>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b="1" dirty="0"/>
              <a:t>Conversion Character</a:t>
            </a:r>
          </a:p>
        </p:txBody>
      </p:sp>
      <p:sp>
        <p:nvSpPr>
          <p:cNvPr id="75780" name="Rectangle 3">
            <a:extLst>
              <a:ext uri="{FF2B5EF4-FFF2-40B4-BE49-F238E27FC236}">
                <a16:creationId xmlns:a16="http://schemas.microsoft.com/office/drawing/2014/main" id="{E0A3C930-F2EC-4E37-9B6C-3C9C23F51172}"/>
              </a:ext>
            </a:extLst>
          </p:cNvPr>
          <p:cNvSpPr>
            <a:spLocks noGrp="1" noChangeArrowheads="1"/>
          </p:cNvSpPr>
          <p:nvPr>
            <p:ph idx="1"/>
          </p:nvPr>
        </p:nvSpPr>
        <p:spPr>
          <a:xfrm>
            <a:off x="1983562" y="1059980"/>
            <a:ext cx="9937092" cy="5456705"/>
          </a:xfrm>
          <a:solidFill>
            <a:schemeClr val="bg1"/>
          </a:solidFill>
        </p:spPr>
        <p:txBody>
          <a:bodyPr>
            <a:noAutofit/>
          </a:bodyPr>
          <a:lstStyle/>
          <a:p>
            <a:pPr marL="0" indent="0">
              <a:buNone/>
              <a:tabLst>
                <a:tab pos="5943600" algn="l"/>
              </a:tabLst>
            </a:pPr>
            <a:r>
              <a:rPr lang="en-US" altLang="en-US" sz="2400" dirty="0"/>
              <a:t>This code fragment shows how to use the conversion characters:</a:t>
            </a:r>
          </a:p>
          <a:p>
            <a:pPr marL="457200" lvl="1" indent="0">
              <a:spcBef>
                <a:spcPct val="50000"/>
              </a:spcBef>
              <a:buNone/>
              <a:tabLst>
                <a:tab pos="5943600" algn="l"/>
              </a:tabLst>
            </a:pPr>
            <a:r>
              <a:rPr lang="en-US" altLang="en-US" sz="2400" b="1" dirty="0" err="1"/>
              <a:t>System.out.printf</a:t>
            </a:r>
            <a:r>
              <a:rPr lang="en-US" altLang="en-US" sz="2400" b="1" dirty="0"/>
              <a:t>("Planet: %s\n", "Neptune");</a:t>
            </a:r>
          </a:p>
          <a:p>
            <a:pPr marL="457200" lvl="1" indent="0">
              <a:buNone/>
              <a:tabLst>
                <a:tab pos="5943600" algn="l"/>
              </a:tabLst>
            </a:pPr>
            <a:r>
              <a:rPr lang="en-US" altLang="en-US" sz="2400" b="1" dirty="0" err="1"/>
              <a:t>System.out.printf</a:t>
            </a:r>
            <a:r>
              <a:rPr lang="en-US" altLang="en-US" sz="2400" b="1" dirty="0"/>
              <a:t>("Number of moons: %d\n", 13);</a:t>
            </a:r>
          </a:p>
          <a:p>
            <a:pPr marL="457200" lvl="1" indent="0">
              <a:buNone/>
              <a:tabLst>
                <a:tab pos="5943600" algn="l"/>
              </a:tabLst>
            </a:pPr>
            <a:r>
              <a:rPr lang="en-US" altLang="en-US" sz="2400" b="1" dirty="0" err="1"/>
              <a:t>System.out.printf</a:t>
            </a:r>
            <a:r>
              <a:rPr lang="en-US" altLang="en-US" sz="2400" b="1" dirty="0"/>
              <a:t>("Orbital period (in earth years): %f\n", 164.79);</a:t>
            </a:r>
          </a:p>
          <a:p>
            <a:pPr marL="457200" lvl="1" indent="0">
              <a:buNone/>
              <a:tabLst>
                <a:tab pos="5943600" algn="l"/>
              </a:tabLst>
            </a:pPr>
            <a:r>
              <a:rPr lang="en-US" altLang="en-US" sz="2400" b="1" dirty="0" err="1"/>
              <a:t>System.out.printf</a:t>
            </a:r>
            <a:r>
              <a:rPr lang="en-US" altLang="en-US" sz="2400" b="1" dirty="0"/>
              <a:t>(  "Average distance from the sun (in km): %e\n", 4_498_252_900.0);</a:t>
            </a:r>
          </a:p>
          <a:p>
            <a:pPr marL="0" indent="0">
              <a:buNone/>
              <a:tabLst>
                <a:tab pos="5943600" algn="l"/>
              </a:tabLst>
            </a:pPr>
            <a:r>
              <a:rPr lang="en-US" altLang="en-US" sz="2400" dirty="0"/>
              <a:t>Here is the output:</a:t>
            </a:r>
          </a:p>
          <a:p>
            <a:pPr marL="457200" lvl="1" indent="0">
              <a:spcBef>
                <a:spcPct val="50000"/>
              </a:spcBef>
              <a:buNone/>
              <a:tabLst>
                <a:tab pos="5943600" algn="l"/>
              </a:tabLst>
            </a:pPr>
            <a:r>
              <a:rPr lang="en-US" altLang="en-US" sz="2400" dirty="0"/>
              <a:t>Planet: Neptune</a:t>
            </a:r>
          </a:p>
          <a:p>
            <a:pPr marL="457200" lvl="1" indent="0">
              <a:buNone/>
              <a:tabLst>
                <a:tab pos="5943600" algn="l"/>
              </a:tabLst>
            </a:pPr>
            <a:r>
              <a:rPr lang="en-US" altLang="en-US" sz="2400" dirty="0"/>
              <a:t>Number of moons: 13</a:t>
            </a:r>
          </a:p>
          <a:p>
            <a:pPr marL="457200" lvl="1" indent="0">
              <a:buNone/>
              <a:tabLst>
                <a:tab pos="5943600" algn="l"/>
              </a:tabLst>
            </a:pPr>
            <a:r>
              <a:rPr lang="en-US" altLang="en-US" sz="2400" dirty="0"/>
              <a:t>Orbital period (in earth years): 164.790000</a:t>
            </a:r>
          </a:p>
          <a:p>
            <a:pPr marL="457200" lvl="1" indent="0">
              <a:buNone/>
              <a:tabLst>
                <a:tab pos="5943600" algn="l"/>
              </a:tabLst>
            </a:pPr>
            <a:r>
              <a:rPr lang="en-US" altLang="en-US" sz="2400" dirty="0"/>
              <a:t>Average distance from the sun (in km): 4.498253e+09</a:t>
            </a:r>
          </a:p>
        </p:txBody>
      </p:sp>
      <p:sp>
        <p:nvSpPr>
          <p:cNvPr id="75778" name="Slide Number Placeholder 4">
            <a:extLst>
              <a:ext uri="{FF2B5EF4-FFF2-40B4-BE49-F238E27FC236}">
                <a16:creationId xmlns:a16="http://schemas.microsoft.com/office/drawing/2014/main" id="{7687EE23-C764-450A-B99A-2DDAEF3E1DF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59047A2-8F7C-43CB-B6EA-CA80F07BBDAA}" type="slidenum">
              <a:rPr lang="en-US" altLang="en-US" sz="1400">
                <a:latin typeface="Times New Roman" panose="02020603050405020304" pitchFamily="18" charset="0"/>
              </a:rPr>
              <a:pPr>
                <a:spcBef>
                  <a:spcPct val="0"/>
                </a:spcBef>
                <a:buClrTx/>
                <a:buSzTx/>
                <a:buFontTx/>
                <a:buNone/>
              </a:pPr>
              <a:t>11</a:t>
            </a:fld>
            <a:endParaRPr lang="en-US" altLang="en-US" sz="1400">
              <a:latin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a:extLst>
              <a:ext uri="{FF2B5EF4-FFF2-40B4-BE49-F238E27FC236}">
                <a16:creationId xmlns:a16="http://schemas.microsoft.com/office/drawing/2014/main" id="{93D29E9D-E10F-44B2-BF00-C8B5896F811F}"/>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b="1" dirty="0"/>
              <a:t>Precision</a:t>
            </a:r>
          </a:p>
        </p:txBody>
      </p:sp>
      <p:sp>
        <p:nvSpPr>
          <p:cNvPr id="77828" name="Rectangle 3">
            <a:extLst>
              <a:ext uri="{FF2B5EF4-FFF2-40B4-BE49-F238E27FC236}">
                <a16:creationId xmlns:a16="http://schemas.microsoft.com/office/drawing/2014/main" id="{E1291850-84C2-4B93-B1B8-51DDF859B8C2}"/>
              </a:ext>
            </a:extLst>
          </p:cNvPr>
          <p:cNvSpPr>
            <a:spLocks noGrp="1" noChangeArrowheads="1"/>
          </p:cNvSpPr>
          <p:nvPr>
            <p:ph idx="1"/>
          </p:nvPr>
        </p:nvSpPr>
        <p:spPr>
          <a:xfrm>
            <a:off x="2486722" y="1066801"/>
            <a:ext cx="8307658" cy="4953000"/>
          </a:xfrm>
        </p:spPr>
        <p:txBody>
          <a:bodyPr>
            <a:noAutofit/>
          </a:bodyPr>
          <a:lstStyle/>
          <a:p>
            <a:pPr marL="0" indent="0">
              <a:buNone/>
              <a:tabLst>
                <a:tab pos="5943600" algn="l"/>
              </a:tabLst>
            </a:pPr>
            <a:r>
              <a:rPr lang="en-US" altLang="en-US" sz="2400" dirty="0"/>
              <a:t>Precision:</a:t>
            </a:r>
          </a:p>
          <a:p>
            <a:pPr marL="457200" lvl="1" indent="0">
              <a:buNone/>
              <a:tabLst>
                <a:tab pos="5943600" algn="l"/>
              </a:tabLst>
            </a:pPr>
            <a:r>
              <a:rPr lang="en-US" altLang="en-US" sz="2400" dirty="0"/>
              <a:t>Applies only to floating-point numbers (i.e., it works only in conjunction with the f and e conversion characters).</a:t>
            </a:r>
          </a:p>
          <a:p>
            <a:pPr marL="457200" lvl="1" indent="0">
              <a:buNone/>
              <a:tabLst>
                <a:tab pos="5943600" algn="l"/>
              </a:tabLst>
            </a:pPr>
            <a:r>
              <a:rPr lang="en-US" altLang="en-US" sz="2400" dirty="0"/>
              <a:t>Its syntax consists of a dot and then the number of digits that are to be printed to the right of the decimal point.</a:t>
            </a:r>
          </a:p>
          <a:p>
            <a:pPr marL="457200" lvl="1" indent="0">
              <a:buNone/>
              <a:tabLst>
                <a:tab pos="5943600" algn="l"/>
              </a:tabLst>
            </a:pPr>
            <a:r>
              <a:rPr lang="en-US" altLang="en-US" sz="2400" dirty="0"/>
              <a:t>If the data item has more fractional digits than the precision specifier's value, then rounding occurs. </a:t>
            </a:r>
          </a:p>
          <a:p>
            <a:pPr marL="457200" lvl="1" indent="0">
              <a:buNone/>
              <a:tabLst>
                <a:tab pos="5943600" algn="l"/>
              </a:tabLst>
            </a:pPr>
            <a:r>
              <a:rPr lang="en-US" altLang="en-US" sz="2400" dirty="0"/>
              <a:t>If the data item has fewer fractional digits than the precision specifier's value, then zeros are added at the right so the printed value has the specified number of fractional digits.</a:t>
            </a:r>
          </a:p>
          <a:p>
            <a:pPr marL="0" indent="0">
              <a:buNone/>
              <a:tabLst>
                <a:tab pos="5943600" algn="l"/>
              </a:tabLst>
            </a:pPr>
            <a:endParaRPr lang="en-US" altLang="en-US" sz="2400" dirty="0"/>
          </a:p>
        </p:txBody>
      </p:sp>
      <p:sp>
        <p:nvSpPr>
          <p:cNvPr id="77826" name="Slide Number Placeholder 4">
            <a:extLst>
              <a:ext uri="{FF2B5EF4-FFF2-40B4-BE49-F238E27FC236}">
                <a16:creationId xmlns:a16="http://schemas.microsoft.com/office/drawing/2014/main" id="{5234A6EC-34FF-4A25-83A2-DA85D0D461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C6E06DA-39CA-48BF-AD52-2C87BCD64CCB}" type="slidenum">
              <a:rPr lang="en-US" altLang="en-US" sz="1400">
                <a:latin typeface="Times New Roman" panose="02020603050405020304" pitchFamily="18" charset="0"/>
              </a:rPr>
              <a:pPr>
                <a:spcBef>
                  <a:spcPct val="0"/>
                </a:spcBef>
                <a:buClrTx/>
                <a:buSzTx/>
                <a:buFontTx/>
                <a:buNone/>
              </a:pPr>
              <a:t>12</a:t>
            </a:fld>
            <a:endParaRPr lang="en-US" altLang="en-US" sz="1400">
              <a:latin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2A808-6BF9-63F6-BA6B-3C0D19591B9B}"/>
              </a:ext>
            </a:extLst>
          </p:cNvPr>
          <p:cNvSpPr>
            <a:spLocks noGrp="1"/>
          </p:cNvSpPr>
          <p:nvPr>
            <p:ph type="title"/>
          </p:nvPr>
        </p:nvSpPr>
        <p:spPr/>
        <p:txBody>
          <a:bodyPr/>
          <a:lstStyle/>
          <a:p>
            <a:pPr algn="ctr"/>
            <a:r>
              <a:rPr lang="en-US" b="1" dirty="0"/>
              <a:t>Width</a:t>
            </a:r>
          </a:p>
        </p:txBody>
      </p:sp>
      <p:sp>
        <p:nvSpPr>
          <p:cNvPr id="3" name="Content Placeholder 2">
            <a:extLst>
              <a:ext uri="{FF2B5EF4-FFF2-40B4-BE49-F238E27FC236}">
                <a16:creationId xmlns:a16="http://schemas.microsoft.com/office/drawing/2014/main" id="{E213BB15-C290-D5A7-C961-B14F6C01E522}"/>
              </a:ext>
            </a:extLst>
          </p:cNvPr>
          <p:cNvSpPr>
            <a:spLocks noGrp="1"/>
          </p:cNvSpPr>
          <p:nvPr>
            <p:ph idx="1"/>
          </p:nvPr>
        </p:nvSpPr>
        <p:spPr>
          <a:xfrm>
            <a:off x="2678421" y="1698703"/>
            <a:ext cx="8915400" cy="3777622"/>
          </a:xfrm>
        </p:spPr>
        <p:txBody>
          <a:bodyPr>
            <a:normAutofit lnSpcReduction="10000"/>
          </a:bodyPr>
          <a:lstStyle/>
          <a:p>
            <a:pPr marL="0" indent="0">
              <a:buNone/>
            </a:pPr>
            <a:r>
              <a:rPr lang="en-US" sz="2400" dirty="0"/>
              <a:t>Width:</a:t>
            </a:r>
          </a:p>
          <a:p>
            <a:pPr marL="0" indent="0">
              <a:buNone/>
            </a:pPr>
            <a:r>
              <a:rPr lang="en-US" sz="2400" dirty="0"/>
              <a:t>Specifies the minimum number of characters that are to be printed. </a:t>
            </a:r>
          </a:p>
          <a:p>
            <a:pPr marL="0" indent="0">
              <a:buNone/>
            </a:pPr>
            <a:r>
              <a:rPr lang="en-US" sz="2400" dirty="0"/>
              <a:t>If the data item contains more than the specified number of characters, then all of the characters are printed. </a:t>
            </a:r>
          </a:p>
          <a:p>
            <a:pPr marL="0" indent="0">
              <a:buNone/>
            </a:pPr>
            <a:r>
              <a:rPr lang="en-US" sz="2400" dirty="0"/>
              <a:t>If the data item contains fewer than the specified number of characters, then spaces are added.</a:t>
            </a:r>
          </a:p>
          <a:p>
            <a:pPr marL="0" indent="0">
              <a:buNone/>
            </a:pPr>
            <a:r>
              <a:rPr lang="en-US" sz="2400" dirty="0"/>
              <a:t>By default, output values are right aligned, so when spaces are added, they go on the left side.</a:t>
            </a:r>
          </a:p>
          <a:p>
            <a:pPr marL="0" indent="0">
              <a:buNone/>
            </a:pPr>
            <a:endParaRPr lang="en-US" sz="2400" dirty="0"/>
          </a:p>
        </p:txBody>
      </p:sp>
    </p:spTree>
    <p:extLst>
      <p:ext uri="{BB962C8B-B14F-4D97-AF65-F5344CB8AC3E}">
        <p14:creationId xmlns:p14="http://schemas.microsoft.com/office/powerpoint/2010/main" val="146394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3123352E-C0AA-462F-A97D-874364A3728A}"/>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sz="3200" b="1" dirty="0"/>
              <a:t>Precision and Width</a:t>
            </a:r>
          </a:p>
        </p:txBody>
      </p:sp>
      <p:sp>
        <p:nvSpPr>
          <p:cNvPr id="79876" name="Rectangle 3">
            <a:extLst>
              <a:ext uri="{FF2B5EF4-FFF2-40B4-BE49-F238E27FC236}">
                <a16:creationId xmlns:a16="http://schemas.microsoft.com/office/drawing/2014/main" id="{AC4A1DC6-FD91-416F-A4BB-557AD20AAD86}"/>
              </a:ext>
            </a:extLst>
          </p:cNvPr>
          <p:cNvSpPr>
            <a:spLocks noGrp="1" noChangeArrowheads="1"/>
          </p:cNvSpPr>
          <p:nvPr>
            <p:ph idx="1"/>
          </p:nvPr>
        </p:nvSpPr>
        <p:spPr>
          <a:xfrm>
            <a:off x="2709069" y="970344"/>
            <a:ext cx="9100750" cy="4953000"/>
          </a:xfrm>
        </p:spPr>
        <p:txBody>
          <a:bodyPr>
            <a:noAutofit/>
          </a:bodyPr>
          <a:lstStyle/>
          <a:p>
            <a:pPr marL="0" indent="0">
              <a:buNone/>
              <a:tabLst>
                <a:tab pos="5943600" algn="l"/>
              </a:tabLst>
            </a:pPr>
            <a:r>
              <a:rPr lang="en-US" altLang="en-US" sz="2400" dirty="0"/>
              <a:t>This code fragment illustrates how to specify precision and width in a format specifier:</a:t>
            </a:r>
          </a:p>
          <a:p>
            <a:pPr marL="457200" lvl="1" indent="0">
              <a:spcBef>
                <a:spcPct val="50000"/>
              </a:spcBef>
              <a:buNone/>
              <a:tabLst>
                <a:tab pos="5943600" algn="l"/>
              </a:tabLst>
            </a:pPr>
            <a:r>
              <a:rPr lang="en-US" altLang="en-US" sz="2400" b="1" dirty="0" err="1">
                <a:latin typeface="Courier New" panose="02070309020205020404" pitchFamily="49" charset="0"/>
              </a:rPr>
              <a:t>System.out.printf</a:t>
            </a:r>
            <a:r>
              <a:rPr lang="en-US" altLang="en-US" sz="2400" b="1" dirty="0">
                <a:latin typeface="Courier New" panose="02070309020205020404" pitchFamily="49" charset="0"/>
              </a:rPr>
              <a:t>("Cows are %6s\n", "cool");</a:t>
            </a:r>
          </a:p>
          <a:p>
            <a:pPr marL="457200" lvl="1" indent="0">
              <a:buNone/>
              <a:tabLst>
                <a:tab pos="5943600" algn="l"/>
              </a:tabLst>
            </a:pPr>
            <a:r>
              <a:rPr lang="en-US" altLang="en-US" sz="2400" b="1" dirty="0" err="1">
                <a:latin typeface="Courier New" panose="02070309020205020404" pitchFamily="49" charset="0"/>
              </a:rPr>
              <a:t>System.out.printf</a:t>
            </a:r>
            <a:r>
              <a:rPr lang="en-US" altLang="en-US" sz="2400" b="1" dirty="0">
                <a:latin typeface="Courier New" panose="02070309020205020404" pitchFamily="49" charset="0"/>
              </a:rPr>
              <a:t>("But dogs %2s\n", "rule");</a:t>
            </a:r>
          </a:p>
          <a:p>
            <a:pPr marL="457200" lvl="1" indent="0">
              <a:spcAft>
                <a:spcPct val="50000"/>
              </a:spcAft>
              <a:buNone/>
              <a:tabLst>
                <a:tab pos="5943600" algn="l"/>
              </a:tabLst>
            </a:pPr>
            <a:r>
              <a:rPr lang="en-US" altLang="en-US" sz="2400" b="1" dirty="0" err="1">
                <a:latin typeface="Courier New" panose="02070309020205020404" pitchFamily="49" charset="0"/>
              </a:rPr>
              <a:t>System.out.printf</a:t>
            </a:r>
            <a:r>
              <a:rPr lang="en-US" altLang="en-US" sz="2400" b="1" dirty="0">
                <a:latin typeface="Courier New" panose="02070309020205020404" pitchFamily="49" charset="0"/>
              </a:rPr>
              <a:t>("PI = %7.4f\n", </a:t>
            </a:r>
            <a:r>
              <a:rPr lang="en-US" altLang="en-US" sz="2400" b="1" dirty="0" err="1">
                <a:latin typeface="Courier New" panose="02070309020205020404" pitchFamily="49" charset="0"/>
              </a:rPr>
              <a:t>Math.PI</a:t>
            </a:r>
            <a:r>
              <a:rPr lang="en-US" altLang="en-US" sz="2400" b="1" dirty="0">
                <a:latin typeface="Courier New" panose="02070309020205020404" pitchFamily="49" charset="0"/>
              </a:rPr>
              <a:t>);</a:t>
            </a:r>
          </a:p>
          <a:p>
            <a:pPr marL="0" indent="0">
              <a:buNone/>
              <a:tabLst>
                <a:tab pos="5943600" algn="l"/>
              </a:tabLst>
            </a:pPr>
            <a:r>
              <a:rPr lang="en-US" altLang="en-US" sz="2400" dirty="0"/>
              <a:t>Here is the output:</a:t>
            </a:r>
            <a:endParaRPr lang="en-US" altLang="en-US" sz="2400" dirty="0">
              <a:latin typeface="Courier New" panose="02070309020205020404" pitchFamily="49" charset="0"/>
            </a:endParaRPr>
          </a:p>
          <a:p>
            <a:pPr marL="457200" lvl="1" indent="0">
              <a:buNone/>
              <a:tabLst>
                <a:tab pos="5943600" algn="l"/>
              </a:tabLst>
            </a:pPr>
            <a:r>
              <a:rPr lang="en-US" altLang="en-US" sz="2400" dirty="0">
                <a:latin typeface="Courier New" panose="02070309020205020404" pitchFamily="49" charset="0"/>
              </a:rPr>
              <a:t>Cows are   </a:t>
            </a:r>
            <a:r>
              <a:rPr lang="en-US" altLang="en-US" sz="2000" dirty="0">
                <a:latin typeface="Courier New" panose="02070309020205020404" pitchFamily="49" charset="0"/>
              </a:rPr>
              <a:t>cool</a:t>
            </a:r>
          </a:p>
          <a:p>
            <a:pPr marL="457200" lvl="1" indent="0">
              <a:buNone/>
              <a:tabLst>
                <a:tab pos="5943600" algn="l"/>
              </a:tabLst>
            </a:pPr>
            <a:r>
              <a:rPr lang="en-US" altLang="en-US" sz="2400" dirty="0">
                <a:latin typeface="Courier New" panose="02070309020205020404" pitchFamily="49" charset="0"/>
              </a:rPr>
              <a:t>But dogs rule</a:t>
            </a:r>
          </a:p>
          <a:p>
            <a:pPr marL="457200" lvl="1" indent="0">
              <a:buNone/>
              <a:tabLst>
                <a:tab pos="5943600" algn="l"/>
              </a:tabLst>
            </a:pPr>
            <a:r>
              <a:rPr lang="en-US" altLang="en-US" sz="2400" dirty="0">
                <a:latin typeface="Courier New" panose="02070309020205020404" pitchFamily="49" charset="0"/>
              </a:rPr>
              <a:t>PI =  </a:t>
            </a:r>
            <a:r>
              <a:rPr lang="en-US" altLang="en-US" sz="2000" dirty="0">
                <a:latin typeface="Courier New" panose="02070309020205020404" pitchFamily="49" charset="0"/>
              </a:rPr>
              <a:t>3.1416</a:t>
            </a:r>
            <a:endParaRPr lang="en-US" altLang="en-US" sz="2000" dirty="0"/>
          </a:p>
        </p:txBody>
      </p:sp>
      <p:sp>
        <p:nvSpPr>
          <p:cNvPr id="79874" name="Slide Number Placeholder 4">
            <a:extLst>
              <a:ext uri="{FF2B5EF4-FFF2-40B4-BE49-F238E27FC236}">
                <a16:creationId xmlns:a16="http://schemas.microsoft.com/office/drawing/2014/main" id="{36BED804-5367-49A4-B591-C9BAD2BCC9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04D175D-BDE8-4D2E-B7AA-FBB5331B75B5}" type="slidenum">
              <a:rPr lang="en-US" altLang="en-US" sz="1400">
                <a:latin typeface="Times New Roman" panose="02020603050405020304" pitchFamily="18" charset="0"/>
              </a:rPr>
              <a:pPr>
                <a:spcBef>
                  <a:spcPct val="0"/>
                </a:spcBef>
                <a:buClrTx/>
                <a:buSzTx/>
                <a:buFontTx/>
                <a:buNone/>
              </a:pPr>
              <a:t>14</a:t>
            </a:fld>
            <a:endParaRPr lang="en-US" altLang="en-US" sz="1400">
              <a:latin typeface="Times New Roman" panose="02020603050405020304" pitchFamily="18" charset="0"/>
            </a:endParaRPr>
          </a:p>
        </p:txBody>
      </p:sp>
      <p:sp>
        <p:nvSpPr>
          <p:cNvPr id="79879" name="Rectangle 6">
            <a:extLst>
              <a:ext uri="{FF2B5EF4-FFF2-40B4-BE49-F238E27FC236}">
                <a16:creationId xmlns:a16="http://schemas.microsoft.com/office/drawing/2014/main" id="{4E203F7D-1EAA-4139-9385-1BC2B38897B3}"/>
              </a:ext>
            </a:extLst>
          </p:cNvPr>
          <p:cNvSpPr>
            <a:spLocks noChangeArrowheads="1"/>
          </p:cNvSpPr>
          <p:nvPr/>
        </p:nvSpPr>
        <p:spPr bwMode="auto">
          <a:xfrm>
            <a:off x="5028694" y="4185192"/>
            <a:ext cx="857250" cy="247650"/>
          </a:xfrm>
          <a:prstGeom prst="rect">
            <a:avLst/>
          </a:prstGeom>
          <a:noFill/>
          <a:ln w="952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79880" name="Rectangle 7">
            <a:extLst>
              <a:ext uri="{FF2B5EF4-FFF2-40B4-BE49-F238E27FC236}">
                <a16:creationId xmlns:a16="http://schemas.microsoft.com/office/drawing/2014/main" id="{2708CDAE-29BB-48CB-9F68-4EDAB890E248}"/>
              </a:ext>
            </a:extLst>
          </p:cNvPr>
          <p:cNvSpPr>
            <a:spLocks noChangeArrowheads="1"/>
          </p:cNvSpPr>
          <p:nvPr/>
        </p:nvSpPr>
        <p:spPr bwMode="auto">
          <a:xfrm>
            <a:off x="4287118" y="5118151"/>
            <a:ext cx="990600" cy="266700"/>
          </a:xfrm>
          <a:prstGeom prst="rect">
            <a:avLst/>
          </a:prstGeom>
          <a:noFill/>
          <a:ln w="952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79881" name="Text Box 8">
            <a:extLst>
              <a:ext uri="{FF2B5EF4-FFF2-40B4-BE49-F238E27FC236}">
                <a16:creationId xmlns:a16="http://schemas.microsoft.com/office/drawing/2014/main" id="{AA9EA3B1-2B62-4D63-9592-ACB923F300AF}"/>
              </a:ext>
            </a:extLst>
          </p:cNvPr>
          <p:cNvSpPr txBox="1">
            <a:spLocks noChangeArrowheads="1"/>
          </p:cNvSpPr>
          <p:nvPr/>
        </p:nvSpPr>
        <p:spPr bwMode="auto">
          <a:xfrm>
            <a:off x="7259444" y="3808954"/>
            <a:ext cx="1447800" cy="376238"/>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a:t>6 characters</a:t>
            </a:r>
          </a:p>
        </p:txBody>
      </p:sp>
      <p:sp>
        <p:nvSpPr>
          <p:cNvPr id="79882" name="Line 9">
            <a:extLst>
              <a:ext uri="{FF2B5EF4-FFF2-40B4-BE49-F238E27FC236}">
                <a16:creationId xmlns:a16="http://schemas.microsoft.com/office/drawing/2014/main" id="{8BB699A0-8078-47BB-A2F5-3BECBEFA56FB}"/>
              </a:ext>
            </a:extLst>
          </p:cNvPr>
          <p:cNvSpPr>
            <a:spLocks noChangeShapeType="1"/>
          </p:cNvSpPr>
          <p:nvPr/>
        </p:nvSpPr>
        <p:spPr bwMode="auto">
          <a:xfrm flipH="1">
            <a:off x="6387113" y="4000325"/>
            <a:ext cx="838200" cy="0"/>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9883" name="Line 10">
            <a:extLst>
              <a:ext uri="{FF2B5EF4-FFF2-40B4-BE49-F238E27FC236}">
                <a16:creationId xmlns:a16="http://schemas.microsoft.com/office/drawing/2014/main" id="{03843CEE-DD2A-4BC3-8B9E-AC8562E69E21}"/>
              </a:ext>
            </a:extLst>
          </p:cNvPr>
          <p:cNvSpPr>
            <a:spLocks noChangeShapeType="1"/>
          </p:cNvSpPr>
          <p:nvPr/>
        </p:nvSpPr>
        <p:spPr bwMode="auto">
          <a:xfrm flipH="1">
            <a:off x="5920075" y="4013741"/>
            <a:ext cx="447523" cy="247639"/>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884" name="Text Box 11">
            <a:extLst>
              <a:ext uri="{FF2B5EF4-FFF2-40B4-BE49-F238E27FC236}">
                <a16:creationId xmlns:a16="http://schemas.microsoft.com/office/drawing/2014/main" id="{914C5489-0FDB-47C0-9AD3-D7CDDA0DA14C}"/>
              </a:ext>
            </a:extLst>
          </p:cNvPr>
          <p:cNvSpPr txBox="1">
            <a:spLocks noChangeArrowheads="1"/>
          </p:cNvSpPr>
          <p:nvPr/>
        </p:nvSpPr>
        <p:spPr bwMode="auto">
          <a:xfrm>
            <a:off x="7267130" y="5303334"/>
            <a:ext cx="1447800" cy="376238"/>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a:t>7 characters</a:t>
            </a:r>
          </a:p>
        </p:txBody>
      </p:sp>
      <p:sp>
        <p:nvSpPr>
          <p:cNvPr id="79885" name="Line 14">
            <a:extLst>
              <a:ext uri="{FF2B5EF4-FFF2-40B4-BE49-F238E27FC236}">
                <a16:creationId xmlns:a16="http://schemas.microsoft.com/office/drawing/2014/main" id="{426305AE-3F05-4C05-9BD5-9A081AFD596E}"/>
              </a:ext>
            </a:extLst>
          </p:cNvPr>
          <p:cNvSpPr>
            <a:spLocks noChangeShapeType="1"/>
          </p:cNvSpPr>
          <p:nvPr/>
        </p:nvSpPr>
        <p:spPr bwMode="auto">
          <a:xfrm flipH="1">
            <a:off x="6000537" y="5516543"/>
            <a:ext cx="1219200" cy="0"/>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9886" name="Line 15">
            <a:extLst>
              <a:ext uri="{FF2B5EF4-FFF2-40B4-BE49-F238E27FC236}">
                <a16:creationId xmlns:a16="http://schemas.microsoft.com/office/drawing/2014/main" id="{2E6FCE4C-EF0D-4177-8404-AE897801EA05}"/>
              </a:ext>
            </a:extLst>
          </p:cNvPr>
          <p:cNvSpPr>
            <a:spLocks noChangeShapeType="1"/>
          </p:cNvSpPr>
          <p:nvPr/>
        </p:nvSpPr>
        <p:spPr bwMode="auto">
          <a:xfrm flipH="1" flipV="1">
            <a:off x="5325111" y="5303334"/>
            <a:ext cx="667398" cy="213208"/>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a:extLst>
              <a:ext uri="{FF2B5EF4-FFF2-40B4-BE49-F238E27FC236}">
                <a16:creationId xmlns:a16="http://schemas.microsoft.com/office/drawing/2014/main" id="{A7C1B530-600E-411F-ADC6-F14F4B12AFE9}"/>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b="1" dirty="0"/>
              <a:t>Flags</a:t>
            </a:r>
          </a:p>
        </p:txBody>
      </p:sp>
      <p:sp>
        <p:nvSpPr>
          <p:cNvPr id="81924" name="Rectangle 3">
            <a:extLst>
              <a:ext uri="{FF2B5EF4-FFF2-40B4-BE49-F238E27FC236}">
                <a16:creationId xmlns:a16="http://schemas.microsoft.com/office/drawing/2014/main" id="{8F7E63CE-601A-4897-9025-3F95B506F779}"/>
              </a:ext>
            </a:extLst>
          </p:cNvPr>
          <p:cNvSpPr>
            <a:spLocks noGrp="1" noChangeArrowheads="1"/>
          </p:cNvSpPr>
          <p:nvPr>
            <p:ph idx="1"/>
          </p:nvPr>
        </p:nvSpPr>
        <p:spPr>
          <a:xfrm>
            <a:off x="2397512" y="1278673"/>
            <a:ext cx="7924800" cy="4953000"/>
          </a:xfrm>
        </p:spPr>
        <p:txBody>
          <a:bodyPr>
            <a:noAutofit/>
          </a:bodyPr>
          <a:lstStyle/>
          <a:p>
            <a:pPr marL="0" indent="0">
              <a:buNone/>
              <a:tabLst>
                <a:tab pos="5943600" algn="l"/>
              </a:tabLst>
            </a:pPr>
            <a:r>
              <a:rPr lang="en-US" altLang="en-US" sz="2000" dirty="0"/>
              <a:t>Flags allow you to add supplemental formatting features, one flag character for each formatting feature. Here's a partial list of flag characters:</a:t>
            </a:r>
          </a:p>
          <a:p>
            <a:pPr marL="457200" lvl="1" indent="0">
              <a:spcBef>
                <a:spcPct val="50000"/>
              </a:spcBef>
              <a:buNone/>
              <a:tabLst>
                <a:tab pos="5943600" algn="l"/>
              </a:tabLst>
            </a:pPr>
            <a:r>
              <a:rPr lang="en-US" altLang="en-US" sz="2000" b="1" dirty="0"/>
              <a:t>- </a:t>
            </a:r>
            <a:r>
              <a:rPr lang="en-US" altLang="en-US" sz="2000" dirty="0"/>
              <a:t>  Display the printed value using left justification.</a:t>
            </a:r>
          </a:p>
          <a:p>
            <a:pPr marL="457200" lvl="1" indent="0">
              <a:buNone/>
              <a:tabLst>
                <a:tab pos="5943600" algn="l"/>
              </a:tabLst>
            </a:pPr>
            <a:r>
              <a:rPr lang="en-US" altLang="en-US" sz="2000" b="1" dirty="0"/>
              <a:t>0 </a:t>
            </a:r>
            <a:r>
              <a:rPr lang="en-US" altLang="en-US" sz="2000" dirty="0"/>
              <a:t>  If a numeric data item contains fewer characters than the width specifier's value, then pad the printed value with leading zeros (i.e., display zeros at the left of the number).</a:t>
            </a:r>
          </a:p>
          <a:p>
            <a:pPr marL="457200" lvl="1" indent="0">
              <a:buNone/>
              <a:tabLst>
                <a:tab pos="5943600" algn="l"/>
              </a:tabLst>
            </a:pPr>
            <a:r>
              <a:rPr lang="en-US" altLang="en-US" sz="2000" b="1" dirty="0"/>
              <a:t>,  </a:t>
            </a:r>
            <a:r>
              <a:rPr lang="en-US" altLang="en-US" sz="2000" dirty="0"/>
              <a:t>  Display a numeric data item with locale-specific grouping separators. In the United States, that means commas are inserted between every third digit at the left of the decimal point.</a:t>
            </a:r>
          </a:p>
          <a:p>
            <a:pPr marL="457200" lvl="1" indent="0">
              <a:buNone/>
              <a:tabLst>
                <a:tab pos="5943600" algn="l"/>
              </a:tabLst>
            </a:pPr>
            <a:r>
              <a:rPr lang="en-US" altLang="en-US" sz="2000" b="1" dirty="0"/>
              <a:t>( </a:t>
            </a:r>
            <a:r>
              <a:rPr lang="en-US" altLang="en-US" sz="2000" dirty="0"/>
              <a:t>  Display a negative numeric data item using parentheses, rather than a minus sign. Using parentheses for negative numbers is a common practice in the field of accounting.</a:t>
            </a:r>
          </a:p>
        </p:txBody>
      </p:sp>
      <p:sp>
        <p:nvSpPr>
          <p:cNvPr id="81922" name="Slide Number Placeholder 4">
            <a:extLst>
              <a:ext uri="{FF2B5EF4-FFF2-40B4-BE49-F238E27FC236}">
                <a16:creationId xmlns:a16="http://schemas.microsoft.com/office/drawing/2014/main" id="{07876E0C-70F2-410E-805E-24EC53B1C3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97FC31A-BE17-4D20-B666-7C8DF9A049AA}" type="slidenum">
              <a:rPr lang="en-US" altLang="en-US" sz="1400">
                <a:latin typeface="Times New Roman" panose="02020603050405020304" pitchFamily="18" charset="0"/>
              </a:rPr>
              <a:pPr>
                <a:spcBef>
                  <a:spcPct val="0"/>
                </a:spcBef>
                <a:buClrTx/>
                <a:buSzTx/>
                <a:buFontTx/>
                <a:buNone/>
              </a:pPr>
              <a:t>15</a:t>
            </a:fld>
            <a:endParaRPr lang="en-US" altLang="en-US" sz="1400">
              <a:latin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4CD3-6487-2958-39E5-CFD4B06F47AA}"/>
              </a:ext>
            </a:extLst>
          </p:cNvPr>
          <p:cNvSpPr>
            <a:spLocks noGrp="1"/>
          </p:cNvSpPr>
          <p:nvPr>
            <p:ph type="title"/>
          </p:nvPr>
        </p:nvSpPr>
        <p:spPr>
          <a:xfrm>
            <a:off x="2027209" y="624110"/>
            <a:ext cx="9477404" cy="1280890"/>
          </a:xfrm>
        </p:spPr>
        <p:txBody>
          <a:bodyPr/>
          <a:lstStyle/>
          <a:p>
            <a:pPr algn="ctr"/>
            <a:r>
              <a:rPr lang="en-US" b="1" dirty="0"/>
              <a:t>Formatted Output with the </a:t>
            </a:r>
            <a:r>
              <a:rPr lang="en-US" b="1" dirty="0" err="1"/>
              <a:t>printf</a:t>
            </a:r>
            <a:r>
              <a:rPr lang="en-US" b="1" dirty="0"/>
              <a:t> Method</a:t>
            </a:r>
          </a:p>
        </p:txBody>
      </p:sp>
      <p:sp>
        <p:nvSpPr>
          <p:cNvPr id="3" name="Content Placeholder 2">
            <a:extLst>
              <a:ext uri="{FF2B5EF4-FFF2-40B4-BE49-F238E27FC236}">
                <a16:creationId xmlns:a16="http://schemas.microsoft.com/office/drawing/2014/main" id="{286963C1-8B60-A766-5C9B-C8304F2DF201}"/>
              </a:ext>
            </a:extLst>
          </p:cNvPr>
          <p:cNvSpPr>
            <a:spLocks noGrp="1"/>
          </p:cNvSpPr>
          <p:nvPr>
            <p:ph idx="1"/>
          </p:nvPr>
        </p:nvSpPr>
        <p:spPr>
          <a:xfrm>
            <a:off x="2411728" y="1540189"/>
            <a:ext cx="8915400" cy="3777622"/>
          </a:xfrm>
        </p:spPr>
        <p:txBody>
          <a:bodyPr>
            <a:noAutofit/>
          </a:bodyPr>
          <a:lstStyle/>
          <a:p>
            <a:pPr marL="0" indent="0">
              <a:buNone/>
            </a:pPr>
            <a:r>
              <a:rPr lang="en-US" sz="2400" dirty="0"/>
              <a:t>You should strive to make program output be well formatted. Here's an example of formatted output:</a:t>
            </a:r>
          </a:p>
          <a:p>
            <a:pPr marL="0" indent="0">
              <a:buNone/>
            </a:pPr>
            <a:endParaRPr lang="en-US" sz="2400" dirty="0"/>
          </a:p>
          <a:p>
            <a:pPr marL="0" indent="0">
              <a:buNone/>
            </a:pPr>
            <a:r>
              <a:rPr lang="en-US" sz="2400" dirty="0"/>
              <a:t>Account                         Actual       Budget      Remaining</a:t>
            </a:r>
          </a:p>
          <a:p>
            <a:pPr marL="0" indent="0">
              <a:buNone/>
            </a:pPr>
            <a:r>
              <a:rPr lang="en-US" sz="2400" dirty="0"/>
              <a:t>  -------                             ------           ------             ---------</a:t>
            </a:r>
          </a:p>
          <a:p>
            <a:pPr marL="0" indent="0">
              <a:buNone/>
            </a:pPr>
            <a:r>
              <a:rPr lang="en-US" sz="2400" dirty="0"/>
              <a:t>Office Supplies            1,150.00     1,400.00         250.00</a:t>
            </a:r>
          </a:p>
          <a:p>
            <a:pPr marL="0" indent="0">
              <a:buNone/>
            </a:pPr>
            <a:r>
              <a:rPr lang="en-US" sz="2400" dirty="0"/>
              <a:t>Photocopying               2,100.11     2,000.00       (100.11)</a:t>
            </a:r>
          </a:p>
          <a:p>
            <a:pPr marL="0" indent="0">
              <a:buNone/>
            </a:pPr>
            <a:r>
              <a:rPr lang="en-US" sz="2400" dirty="0"/>
              <a:t>Total remaining:  149.89</a:t>
            </a:r>
          </a:p>
          <a:p>
            <a:pPr marL="0" indent="0">
              <a:buNone/>
            </a:pPr>
            <a:endParaRPr lang="en-US" sz="2400" dirty="0"/>
          </a:p>
          <a:p>
            <a:pPr marL="0" indent="0">
              <a:buNone/>
            </a:pPr>
            <a:r>
              <a:rPr lang="en-US" sz="2400" dirty="0"/>
              <a:t>The </a:t>
            </a:r>
            <a:r>
              <a:rPr lang="en-US" sz="2400" dirty="0" err="1"/>
              <a:t>System.out.printf</a:t>
            </a:r>
            <a:r>
              <a:rPr lang="en-US" sz="2400" dirty="0"/>
              <a:t> method is in charge of generating formatted output.</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4035571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DE07061A-A91F-4559-BE65-E7A884DF0F1E}"/>
              </a:ext>
            </a:extLst>
          </p:cNvPr>
          <p:cNvSpPr>
            <a:spLocks noGrp="1" noChangeArrowheads="1"/>
          </p:cNvSpPr>
          <p:nvPr>
            <p:ph type="title"/>
          </p:nvPr>
        </p:nvSpPr>
        <p:spPr>
          <a:xfrm>
            <a:off x="2051825" y="338932"/>
            <a:ext cx="9790770" cy="725487"/>
          </a:xfrm>
        </p:spPr>
        <p:txBody>
          <a:bodyPr>
            <a:noAutofit/>
          </a:bodyPr>
          <a:lstStyle/>
          <a:p>
            <a:pPr eaLnBrk="1" hangingPunct="1"/>
            <a:r>
              <a:rPr lang="en-US" altLang="en-US" b="1" dirty="0"/>
              <a:t>Formatted Output with the </a:t>
            </a:r>
            <a:r>
              <a:rPr lang="en-US" altLang="en-US" b="1" dirty="0" err="1"/>
              <a:t>printf</a:t>
            </a:r>
            <a:r>
              <a:rPr lang="en-US" altLang="en-US" b="1" dirty="0"/>
              <a:t> Method</a:t>
            </a:r>
          </a:p>
        </p:txBody>
      </p:sp>
      <p:sp>
        <p:nvSpPr>
          <p:cNvPr id="69636" name="Rectangle 4">
            <a:extLst>
              <a:ext uri="{FF2B5EF4-FFF2-40B4-BE49-F238E27FC236}">
                <a16:creationId xmlns:a16="http://schemas.microsoft.com/office/drawing/2014/main" id="{10544148-A643-4520-8421-E8C21CFD8F81}"/>
              </a:ext>
            </a:extLst>
          </p:cNvPr>
          <p:cNvSpPr>
            <a:spLocks noGrp="1" noChangeArrowheads="1"/>
          </p:cNvSpPr>
          <p:nvPr>
            <p:ph idx="1"/>
          </p:nvPr>
        </p:nvSpPr>
        <p:spPr>
          <a:xfrm>
            <a:off x="2743199" y="1183308"/>
            <a:ext cx="9099395" cy="4953000"/>
          </a:xfrm>
        </p:spPr>
        <p:txBody>
          <a:bodyPr/>
          <a:lstStyle/>
          <a:p>
            <a:pPr marL="0" indent="0">
              <a:buNone/>
              <a:tabLst>
                <a:tab pos="5943600" algn="l"/>
              </a:tabLst>
            </a:pPr>
            <a:r>
              <a:rPr lang="en-US" altLang="en-US" sz="2400" dirty="0"/>
              <a:t>Here's how to generate the "Total remaining" line in the previous slide's budget report:</a:t>
            </a:r>
          </a:p>
          <a:p>
            <a:pPr marL="0" indent="0">
              <a:buNone/>
              <a:tabLst>
                <a:tab pos="5943600" algn="l"/>
              </a:tabLst>
            </a:pPr>
            <a:endParaRPr lang="en-US" altLang="en-US" dirty="0"/>
          </a:p>
          <a:p>
            <a:pPr marL="457200" lvl="1" indent="0">
              <a:spcBef>
                <a:spcPct val="50000"/>
              </a:spcBef>
              <a:buNone/>
              <a:tabLst>
                <a:tab pos="5943600" algn="l"/>
              </a:tabLst>
            </a:pPr>
            <a:r>
              <a:rPr lang="en-US" altLang="en-US" sz="1800" b="1" dirty="0" err="1">
                <a:latin typeface="Courier New" panose="02070309020205020404" pitchFamily="49" charset="0"/>
              </a:rPr>
              <a:t>System.out.printf</a:t>
            </a:r>
            <a:r>
              <a:rPr lang="en-US" altLang="en-US" sz="1800" b="1" dirty="0">
                <a:latin typeface="Courier New" panose="02070309020205020404" pitchFamily="49" charset="0"/>
              </a:rPr>
              <a:t>(</a:t>
            </a:r>
          </a:p>
          <a:p>
            <a:pPr marL="457200" lvl="1" indent="0">
              <a:spcBef>
                <a:spcPct val="50000"/>
              </a:spcBef>
              <a:buNone/>
              <a:tabLst>
                <a:tab pos="5943600" algn="l"/>
              </a:tabLst>
            </a:pPr>
            <a:r>
              <a:rPr lang="en-US" altLang="en-US" sz="1800" b="1" dirty="0">
                <a:latin typeface="Courier New" panose="02070309020205020404" pitchFamily="49" charset="0"/>
              </a:rPr>
              <a:t>  "\</a:t>
            </a:r>
            <a:r>
              <a:rPr lang="en-US" altLang="en-US" sz="1800" b="1" dirty="0" err="1">
                <a:latin typeface="Courier New" panose="02070309020205020404" pitchFamily="49" charset="0"/>
              </a:rPr>
              <a:t>nTotal</a:t>
            </a:r>
            <a:r>
              <a:rPr lang="en-US" altLang="en-US" sz="1800" b="1" dirty="0">
                <a:latin typeface="Courier New" panose="02070309020205020404" pitchFamily="49" charset="0"/>
              </a:rPr>
              <a:t> remaining: $%.2f\n", remaining1 + remaining2);</a:t>
            </a:r>
          </a:p>
          <a:p>
            <a:pPr marL="0" indent="0">
              <a:buNone/>
              <a:tabLst>
                <a:tab pos="5943600" algn="l"/>
              </a:tabLst>
            </a:pPr>
            <a:r>
              <a:rPr lang="en-US" altLang="en-US" sz="2400" dirty="0"/>
              <a:t>You can have as many format specifiers as you like in a given format string. For each format specifier, you should have a corresponding data item/argument.</a:t>
            </a:r>
          </a:p>
        </p:txBody>
      </p:sp>
      <p:sp>
        <p:nvSpPr>
          <p:cNvPr id="69634" name="Slide Number Placeholder 4">
            <a:extLst>
              <a:ext uri="{FF2B5EF4-FFF2-40B4-BE49-F238E27FC236}">
                <a16:creationId xmlns:a16="http://schemas.microsoft.com/office/drawing/2014/main" id="{3052835C-31F9-4CE9-A8B9-92809E921F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AC58266-6414-4965-B9B9-8CE9F994DD8E}" type="slidenum">
              <a:rPr lang="en-US" altLang="en-US" sz="1400">
                <a:latin typeface="Times New Roman" panose="02020603050405020304" pitchFamily="18" charset="0"/>
              </a:rPr>
              <a:pPr>
                <a:spcBef>
                  <a:spcPct val="0"/>
                </a:spcBef>
                <a:buClrTx/>
                <a:buSzTx/>
                <a:buFontTx/>
                <a:buNone/>
              </a:pPr>
              <a:t>17</a:t>
            </a:fld>
            <a:endParaRPr lang="en-US" altLang="en-US" sz="1400">
              <a:latin typeface="Times New Roman" panose="02020603050405020304" pitchFamily="18" charset="0"/>
            </a:endParaRPr>
          </a:p>
        </p:txBody>
      </p:sp>
      <p:sp>
        <p:nvSpPr>
          <p:cNvPr id="69639" name="Text Box 7">
            <a:extLst>
              <a:ext uri="{FF2B5EF4-FFF2-40B4-BE49-F238E27FC236}">
                <a16:creationId xmlns:a16="http://schemas.microsoft.com/office/drawing/2014/main" id="{31732496-D8BC-4D42-BD5F-AF41AC38490A}"/>
              </a:ext>
            </a:extLst>
          </p:cNvPr>
          <p:cNvSpPr txBox="1">
            <a:spLocks noChangeArrowheads="1"/>
          </p:cNvSpPr>
          <p:nvPr/>
        </p:nvSpPr>
        <p:spPr bwMode="auto">
          <a:xfrm>
            <a:off x="7429964" y="2122485"/>
            <a:ext cx="1676400" cy="346075"/>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600"/>
              <a:t>format specifier</a:t>
            </a:r>
          </a:p>
        </p:txBody>
      </p:sp>
      <p:sp>
        <p:nvSpPr>
          <p:cNvPr id="69640" name="AutoShape 8">
            <a:extLst>
              <a:ext uri="{FF2B5EF4-FFF2-40B4-BE49-F238E27FC236}">
                <a16:creationId xmlns:a16="http://schemas.microsoft.com/office/drawing/2014/main" id="{3C8AA110-F529-496E-ADE3-72F9C1CA3677}"/>
              </a:ext>
            </a:extLst>
          </p:cNvPr>
          <p:cNvSpPr>
            <a:spLocks/>
          </p:cNvSpPr>
          <p:nvPr/>
        </p:nvSpPr>
        <p:spPr bwMode="auto">
          <a:xfrm rot="5400000">
            <a:off x="6606401" y="2680097"/>
            <a:ext cx="76200" cy="381000"/>
          </a:xfrm>
          <a:prstGeom prst="leftBrace">
            <a:avLst>
              <a:gd name="adj1" fmla="val 41667"/>
              <a:gd name="adj2" fmla="val 50000"/>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69641" name="Line 9">
            <a:extLst>
              <a:ext uri="{FF2B5EF4-FFF2-40B4-BE49-F238E27FC236}">
                <a16:creationId xmlns:a16="http://schemas.microsoft.com/office/drawing/2014/main" id="{6AD8BA18-59E0-43C2-B179-CCB8AA0CB699}"/>
              </a:ext>
            </a:extLst>
          </p:cNvPr>
          <p:cNvSpPr>
            <a:spLocks noChangeShapeType="1"/>
          </p:cNvSpPr>
          <p:nvPr/>
        </p:nvSpPr>
        <p:spPr bwMode="auto">
          <a:xfrm>
            <a:off x="6644501" y="2295523"/>
            <a:ext cx="0" cy="53697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642" name="Line 10">
            <a:extLst>
              <a:ext uri="{FF2B5EF4-FFF2-40B4-BE49-F238E27FC236}">
                <a16:creationId xmlns:a16="http://schemas.microsoft.com/office/drawing/2014/main" id="{05B48BB6-3C03-4C5D-A8C4-8D2BFB027042}"/>
              </a:ext>
            </a:extLst>
          </p:cNvPr>
          <p:cNvSpPr>
            <a:spLocks noChangeShapeType="1"/>
          </p:cNvSpPr>
          <p:nvPr/>
        </p:nvSpPr>
        <p:spPr bwMode="auto">
          <a:xfrm flipH="1">
            <a:off x="6644501" y="2295522"/>
            <a:ext cx="762000" cy="0"/>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pic>
        <p:nvPicPr>
          <p:cNvPr id="69643" name="Picture 14">
            <a:extLst>
              <a:ext uri="{FF2B5EF4-FFF2-40B4-BE49-F238E27FC236}">
                <a16:creationId xmlns:a16="http://schemas.microsoft.com/office/drawing/2014/main" id="{332E3E83-A240-4CDC-AE10-E19340003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5164" y="4866507"/>
            <a:ext cx="822960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95290537-96FC-4039-816D-D93C91902F1D}"/>
              </a:ext>
            </a:extLst>
          </p:cNvPr>
          <p:cNvSpPr>
            <a:spLocks noGrp="1" noChangeArrowheads="1"/>
          </p:cNvSpPr>
          <p:nvPr>
            <p:ph type="title"/>
          </p:nvPr>
        </p:nvSpPr>
        <p:spPr>
          <a:xfrm>
            <a:off x="2674938" y="341314"/>
            <a:ext cx="7154862" cy="725487"/>
          </a:xfrm>
        </p:spPr>
        <p:txBody>
          <a:bodyPr>
            <a:normAutofit/>
          </a:bodyPr>
          <a:lstStyle/>
          <a:p>
            <a:pPr algn="ctr" eaLnBrk="1" hangingPunct="1"/>
            <a:r>
              <a:rPr lang="en-US" altLang="en-US" b="1" dirty="0" err="1"/>
              <a:t>BudgetReport</a:t>
            </a:r>
            <a:r>
              <a:rPr lang="en-US" altLang="en-US" b="1" dirty="0"/>
              <a:t> Example</a:t>
            </a:r>
          </a:p>
        </p:txBody>
      </p:sp>
      <p:sp>
        <p:nvSpPr>
          <p:cNvPr id="83972" name="Rectangle 3">
            <a:extLst>
              <a:ext uri="{FF2B5EF4-FFF2-40B4-BE49-F238E27FC236}">
                <a16:creationId xmlns:a16="http://schemas.microsoft.com/office/drawing/2014/main" id="{BEF1DE86-336E-4F72-9270-CFF46423E540}"/>
              </a:ext>
            </a:extLst>
          </p:cNvPr>
          <p:cNvSpPr>
            <a:spLocks noGrp="1" noChangeArrowheads="1"/>
          </p:cNvSpPr>
          <p:nvPr>
            <p:ph idx="1"/>
          </p:nvPr>
        </p:nvSpPr>
        <p:spPr>
          <a:xfrm>
            <a:off x="1680117" y="1234068"/>
            <a:ext cx="10508166" cy="4953000"/>
          </a:xfrm>
        </p:spPr>
        <p:txBody>
          <a:bodyPr>
            <a:noAutofit/>
          </a:bodyPr>
          <a:lstStyle/>
          <a:p>
            <a:pPr>
              <a:buNone/>
              <a:tabLst>
                <a:tab pos="5943600" algn="l"/>
              </a:tabLst>
            </a:pPr>
            <a:r>
              <a:rPr lang="en-US" altLang="en-US" sz="2000" b="1" dirty="0">
                <a:latin typeface="Courier New" panose="02070309020205020404" pitchFamily="49" charset="0"/>
              </a:rPr>
              <a:t>public class </a:t>
            </a:r>
            <a:r>
              <a:rPr lang="en-US" altLang="en-US" sz="2000" b="1" dirty="0" err="1">
                <a:latin typeface="Courier New" panose="02070309020205020404" pitchFamily="49" charset="0"/>
              </a:rPr>
              <a:t>BudgetReport</a:t>
            </a:r>
            <a:endParaRPr lang="en-US" altLang="en-US" sz="2000" b="1" dirty="0">
              <a:latin typeface="Courier New" panose="02070309020205020404" pitchFamily="49" charset="0"/>
            </a:endParaRPr>
          </a:p>
          <a:p>
            <a:pPr>
              <a:buNone/>
              <a:tabLst>
                <a:tab pos="5943600" algn="l"/>
              </a:tabLst>
            </a:pPr>
            <a:r>
              <a:rPr lang="en-US" altLang="en-US" sz="2000" b="1" dirty="0">
                <a:latin typeface="Courier New" panose="02070309020205020404" pitchFamily="49" charset="0"/>
              </a:rPr>
              <a:t>{</a:t>
            </a:r>
          </a:p>
          <a:p>
            <a:pPr>
              <a:buNone/>
              <a:tabLst>
                <a:tab pos="5943600" algn="l"/>
              </a:tabLst>
            </a:pPr>
            <a:r>
              <a:rPr lang="en-US" altLang="en-US" sz="2000" dirty="0">
                <a:latin typeface="Courier New" panose="02070309020205020404" pitchFamily="49" charset="0"/>
              </a:rPr>
              <a:t>  </a:t>
            </a:r>
            <a:r>
              <a:rPr lang="en-US" altLang="en-US" sz="2000" b="1" dirty="0">
                <a:latin typeface="Courier New" panose="02070309020205020404" pitchFamily="49" charset="0"/>
              </a:rPr>
              <a:t>public static void main(String[] </a:t>
            </a:r>
            <a:r>
              <a:rPr lang="en-US" altLang="en-US" sz="2000" b="1" dirty="0" err="1">
                <a:latin typeface="Courier New" panose="02070309020205020404" pitchFamily="49" charset="0"/>
              </a:rPr>
              <a:t>args</a:t>
            </a:r>
            <a:r>
              <a:rPr lang="en-US" altLang="en-US" sz="2000" b="1" dirty="0">
                <a:latin typeface="Courier New" panose="02070309020205020404" pitchFamily="49" charset="0"/>
              </a:rPr>
              <a:t>)</a:t>
            </a:r>
          </a:p>
          <a:p>
            <a:pPr>
              <a:buNone/>
              <a:tabLst>
                <a:tab pos="5943600" algn="l"/>
              </a:tabLst>
            </a:pPr>
            <a:r>
              <a:rPr lang="en-US" altLang="en-US" sz="2000" b="1" dirty="0">
                <a:latin typeface="Courier New" panose="02070309020205020404" pitchFamily="49" charset="0"/>
              </a:rPr>
              <a:t>  {</a:t>
            </a:r>
          </a:p>
          <a:p>
            <a:pPr>
              <a:buNone/>
              <a:tabLst>
                <a:tab pos="5943600" algn="l"/>
              </a:tabLst>
            </a:pPr>
            <a:r>
              <a:rPr lang="en-US" altLang="en-US" sz="2000" b="1" dirty="0">
                <a:latin typeface="Courier New" panose="02070309020205020404" pitchFamily="49" charset="0"/>
              </a:rPr>
              <a:t>    final String HEADING_FMT_STR = "%-25s%13s%13s%15s\n";</a:t>
            </a:r>
          </a:p>
          <a:p>
            <a:pPr>
              <a:buNone/>
              <a:tabLst>
                <a:tab pos="5943600" algn="l"/>
              </a:tabLst>
            </a:pPr>
            <a:r>
              <a:rPr lang="en-US" altLang="en-US" sz="2000" b="1" dirty="0">
                <a:latin typeface="Courier New" panose="02070309020205020404" pitchFamily="49" charset="0"/>
              </a:rPr>
              <a:t>    final String DATA_FMT_STR = "%-25s%,13.2f%,13.2f%(,15.2f\n";</a:t>
            </a:r>
          </a:p>
          <a:p>
            <a:pPr>
              <a:buNone/>
              <a:tabLst>
                <a:tab pos="5943600" algn="l"/>
              </a:tabLst>
            </a:pPr>
            <a:r>
              <a:rPr lang="en-US" altLang="en-US" sz="2000" dirty="0">
                <a:latin typeface="Courier New" panose="02070309020205020404" pitchFamily="49" charset="0"/>
              </a:rPr>
              <a:t>   </a:t>
            </a:r>
            <a:r>
              <a:rPr lang="en-US" altLang="en-US" sz="2000" b="1" dirty="0">
                <a:latin typeface="Courier New" panose="02070309020205020404" pitchFamily="49" charset="0"/>
              </a:rPr>
              <a:t> double actual1 = 1149.999</a:t>
            </a:r>
            <a:r>
              <a:rPr lang="en-US" altLang="en-US" sz="2000" dirty="0">
                <a:latin typeface="Courier New" panose="02070309020205020404" pitchFamily="49" charset="0"/>
              </a:rPr>
              <a:t>; // amount spent on 1st account</a:t>
            </a:r>
          </a:p>
          <a:p>
            <a:pPr>
              <a:buNone/>
              <a:tabLst>
                <a:tab pos="5943600" algn="l"/>
              </a:tabLst>
            </a:pPr>
            <a:r>
              <a:rPr lang="en-US" altLang="en-US" sz="2000" dirty="0">
                <a:latin typeface="Courier New" panose="02070309020205020404" pitchFamily="49" charset="0"/>
              </a:rPr>
              <a:t>    </a:t>
            </a:r>
            <a:r>
              <a:rPr lang="en-US" altLang="en-US" sz="2000" b="1" dirty="0">
                <a:latin typeface="Courier New" panose="02070309020205020404" pitchFamily="49" charset="0"/>
              </a:rPr>
              <a:t>double budget1 = 1400;     </a:t>
            </a:r>
            <a:r>
              <a:rPr lang="en-US" altLang="en-US" sz="2000" dirty="0">
                <a:latin typeface="Courier New" panose="02070309020205020404" pitchFamily="49" charset="0"/>
              </a:rPr>
              <a:t>// budgeted for 1st account</a:t>
            </a:r>
          </a:p>
          <a:p>
            <a:pPr>
              <a:buNone/>
              <a:tabLst>
                <a:tab pos="5943600" algn="l"/>
              </a:tabLst>
            </a:pPr>
            <a:r>
              <a:rPr lang="en-US" altLang="en-US" sz="2000" b="1" dirty="0">
                <a:latin typeface="Courier New" panose="02070309020205020404" pitchFamily="49" charset="0"/>
              </a:rPr>
              <a:t>    double actual2 = 2100.111; </a:t>
            </a:r>
            <a:r>
              <a:rPr lang="en-US" altLang="en-US" sz="2000" dirty="0">
                <a:latin typeface="Courier New" panose="02070309020205020404" pitchFamily="49" charset="0"/>
              </a:rPr>
              <a:t>// amount spent on 2nd account</a:t>
            </a:r>
          </a:p>
          <a:p>
            <a:pPr>
              <a:buNone/>
              <a:tabLst>
                <a:tab pos="5943600" algn="l"/>
              </a:tabLst>
            </a:pPr>
            <a:r>
              <a:rPr lang="en-US" altLang="en-US" sz="2000" dirty="0">
                <a:latin typeface="Courier New" panose="02070309020205020404" pitchFamily="49" charset="0"/>
              </a:rPr>
              <a:t>    </a:t>
            </a:r>
            <a:r>
              <a:rPr lang="en-US" altLang="en-US" sz="2000" b="1" dirty="0">
                <a:latin typeface="Courier New" panose="02070309020205020404" pitchFamily="49" charset="0"/>
              </a:rPr>
              <a:t>double budget2 = 2000;     </a:t>
            </a:r>
            <a:r>
              <a:rPr lang="en-US" altLang="en-US" sz="2000" dirty="0">
                <a:latin typeface="Courier New" panose="02070309020205020404" pitchFamily="49" charset="0"/>
              </a:rPr>
              <a:t>// budgeted for 2nd account</a:t>
            </a:r>
          </a:p>
          <a:p>
            <a:pPr>
              <a:buNone/>
              <a:tabLst>
                <a:tab pos="5943600" algn="l"/>
              </a:tabLst>
            </a:pPr>
            <a:r>
              <a:rPr lang="en-US" altLang="en-US" sz="2000" dirty="0">
                <a:latin typeface="Courier New" panose="02070309020205020404" pitchFamily="49" charset="0"/>
              </a:rPr>
              <a:t>    </a:t>
            </a:r>
            <a:r>
              <a:rPr lang="en-US" altLang="en-US" sz="2000" b="1" dirty="0">
                <a:latin typeface="Courier New" panose="02070309020205020404" pitchFamily="49" charset="0"/>
              </a:rPr>
              <a:t>double remaining1, remaining2; </a:t>
            </a:r>
            <a:r>
              <a:rPr lang="en-US" altLang="en-US" sz="2000" dirty="0">
                <a:latin typeface="Courier New" panose="02070309020205020404" pitchFamily="49" charset="0"/>
              </a:rPr>
              <a:t>// unspent amounts</a:t>
            </a:r>
          </a:p>
          <a:p>
            <a:pPr>
              <a:buNone/>
              <a:tabLst>
                <a:tab pos="5943600" algn="l"/>
              </a:tabLst>
            </a:pPr>
            <a:endParaRPr lang="en-US" altLang="en-US" sz="2000" dirty="0">
              <a:latin typeface="Courier New" panose="02070309020205020404" pitchFamily="49" charset="0"/>
            </a:endParaRPr>
          </a:p>
          <a:p>
            <a:pPr>
              <a:buNone/>
              <a:tabLst>
                <a:tab pos="5943600" algn="l"/>
              </a:tabLst>
            </a:pPr>
            <a:r>
              <a:rPr lang="en-US" altLang="en-US" sz="2000" dirty="0">
                <a:latin typeface="Courier New" panose="02070309020205020404" pitchFamily="49" charset="0"/>
              </a:rPr>
              <a:t>    </a:t>
            </a:r>
          </a:p>
        </p:txBody>
      </p:sp>
      <p:sp>
        <p:nvSpPr>
          <p:cNvPr id="83970" name="Slide Number Placeholder 4">
            <a:extLst>
              <a:ext uri="{FF2B5EF4-FFF2-40B4-BE49-F238E27FC236}">
                <a16:creationId xmlns:a16="http://schemas.microsoft.com/office/drawing/2014/main" id="{3DE39ECF-2FF0-4FC0-A069-AF84C3E01A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3ECF4EC-2B27-411C-8ADC-124D948911C7}" type="slidenum">
              <a:rPr lang="en-US" altLang="en-US" sz="1400">
                <a:latin typeface="Times New Roman" panose="02020603050405020304" pitchFamily="18" charset="0"/>
              </a:rPr>
              <a:pPr>
                <a:spcBef>
                  <a:spcPct val="0"/>
                </a:spcBef>
                <a:buClrTx/>
                <a:buSzTx/>
                <a:buFontTx/>
                <a:buNone/>
              </a:pPr>
              <a:t>18</a:t>
            </a:fld>
            <a:endParaRPr lang="en-US" altLang="en-US" sz="1400">
              <a:latin typeface="Times New Roman" panose="02020603050405020304" pitchFamily="18" charset="0"/>
            </a:endParaRPr>
          </a:p>
        </p:txBody>
      </p:sp>
      <p:sp>
        <p:nvSpPr>
          <p:cNvPr id="83976" name="Text Box 7">
            <a:extLst>
              <a:ext uri="{FF2B5EF4-FFF2-40B4-BE49-F238E27FC236}">
                <a16:creationId xmlns:a16="http://schemas.microsoft.com/office/drawing/2014/main" id="{D3C6715C-7A04-44D3-8424-AC0C606EDB40}"/>
              </a:ext>
            </a:extLst>
          </p:cNvPr>
          <p:cNvSpPr txBox="1">
            <a:spLocks noChangeArrowheads="1"/>
          </p:cNvSpPr>
          <p:nvPr/>
        </p:nvSpPr>
        <p:spPr bwMode="auto">
          <a:xfrm>
            <a:off x="7491760" y="1730838"/>
            <a:ext cx="1676400" cy="346075"/>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600"/>
              <a:t>left justification</a:t>
            </a:r>
          </a:p>
        </p:txBody>
      </p:sp>
      <p:sp>
        <p:nvSpPr>
          <p:cNvPr id="83977" name="Line 8">
            <a:extLst>
              <a:ext uri="{FF2B5EF4-FFF2-40B4-BE49-F238E27FC236}">
                <a16:creationId xmlns:a16="http://schemas.microsoft.com/office/drawing/2014/main" id="{A8326D79-C327-4191-B3A4-479AF8F60C6A}"/>
              </a:ext>
            </a:extLst>
          </p:cNvPr>
          <p:cNvSpPr>
            <a:spLocks noChangeShapeType="1"/>
          </p:cNvSpPr>
          <p:nvPr/>
        </p:nvSpPr>
        <p:spPr bwMode="auto">
          <a:xfrm flipH="1">
            <a:off x="7504761" y="2104943"/>
            <a:ext cx="591024" cy="100020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78" name="Text Box 9">
            <a:extLst>
              <a:ext uri="{FF2B5EF4-FFF2-40B4-BE49-F238E27FC236}">
                <a16:creationId xmlns:a16="http://schemas.microsoft.com/office/drawing/2014/main" id="{1C6732C0-05F8-48A3-A24E-656D0EF33D44}"/>
              </a:ext>
            </a:extLst>
          </p:cNvPr>
          <p:cNvSpPr txBox="1">
            <a:spLocks noChangeArrowheads="1"/>
          </p:cNvSpPr>
          <p:nvPr/>
        </p:nvSpPr>
        <p:spPr bwMode="auto">
          <a:xfrm>
            <a:off x="9168160" y="1702808"/>
            <a:ext cx="2819400" cy="590550"/>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600"/>
              <a:t>parentheses for negatives, comma for group separators</a:t>
            </a:r>
          </a:p>
        </p:txBody>
      </p:sp>
      <p:sp>
        <p:nvSpPr>
          <p:cNvPr id="83979" name="Line 10">
            <a:extLst>
              <a:ext uri="{FF2B5EF4-FFF2-40B4-BE49-F238E27FC236}">
                <a16:creationId xmlns:a16="http://schemas.microsoft.com/office/drawing/2014/main" id="{11CB4B50-0879-4C62-A21F-FC4CCFDEC1C3}"/>
              </a:ext>
            </a:extLst>
          </p:cNvPr>
          <p:cNvSpPr>
            <a:spLocks noChangeShapeType="1"/>
          </p:cNvSpPr>
          <p:nvPr/>
        </p:nvSpPr>
        <p:spPr bwMode="auto">
          <a:xfrm>
            <a:off x="10095570" y="2375210"/>
            <a:ext cx="0" cy="1103039"/>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a:extLst>
              <a:ext uri="{FF2B5EF4-FFF2-40B4-BE49-F238E27FC236}">
                <a16:creationId xmlns:a16="http://schemas.microsoft.com/office/drawing/2014/main" id="{93401F50-9A45-4F8E-B550-C0BB1277795F}"/>
              </a:ext>
            </a:extLst>
          </p:cNvPr>
          <p:cNvSpPr>
            <a:spLocks noGrp="1" noChangeArrowheads="1"/>
          </p:cNvSpPr>
          <p:nvPr>
            <p:ph type="title"/>
          </p:nvPr>
        </p:nvSpPr>
        <p:spPr>
          <a:xfrm>
            <a:off x="2708392" y="381000"/>
            <a:ext cx="7154862" cy="725487"/>
          </a:xfrm>
        </p:spPr>
        <p:txBody>
          <a:bodyPr>
            <a:normAutofit/>
          </a:bodyPr>
          <a:lstStyle/>
          <a:p>
            <a:pPr algn="ctr" eaLnBrk="1" hangingPunct="1"/>
            <a:r>
              <a:rPr lang="en-US" altLang="en-US" b="1" dirty="0" err="1"/>
              <a:t>BudgetReport</a:t>
            </a:r>
            <a:r>
              <a:rPr lang="en-US" altLang="en-US" b="1" dirty="0"/>
              <a:t> Example</a:t>
            </a:r>
          </a:p>
        </p:txBody>
      </p:sp>
      <p:sp>
        <p:nvSpPr>
          <p:cNvPr id="86020" name="Rectangle 3">
            <a:extLst>
              <a:ext uri="{FF2B5EF4-FFF2-40B4-BE49-F238E27FC236}">
                <a16:creationId xmlns:a16="http://schemas.microsoft.com/office/drawing/2014/main" id="{E690E676-96B8-4E5A-A241-3C15CAC9BDF0}"/>
              </a:ext>
            </a:extLst>
          </p:cNvPr>
          <p:cNvSpPr>
            <a:spLocks noGrp="1" noChangeArrowheads="1"/>
          </p:cNvSpPr>
          <p:nvPr>
            <p:ph idx="1"/>
          </p:nvPr>
        </p:nvSpPr>
        <p:spPr>
          <a:xfrm>
            <a:off x="1311579" y="1086700"/>
            <a:ext cx="10709436" cy="5537124"/>
          </a:xfrm>
          <a:solidFill>
            <a:schemeClr val="bg1"/>
          </a:solidFill>
        </p:spPr>
        <p:txBody>
          <a:bodyPr>
            <a:noAutofit/>
          </a:bodyPr>
          <a:lstStyle/>
          <a:p>
            <a:pPr>
              <a:buNone/>
              <a:tabLst>
                <a:tab pos="5943600" algn="l"/>
              </a:tabLst>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System.out.printf</a:t>
            </a:r>
            <a:r>
              <a:rPr lang="en-US" altLang="en-US" sz="2000" b="1" dirty="0">
                <a:latin typeface="Courier New" panose="02070309020205020404" pitchFamily="49" charset="0"/>
              </a:rPr>
              <a:t>(HEADING_FMT_STR, “Account", "Actual", "Budget", "Remaining");</a:t>
            </a:r>
          </a:p>
          <a:p>
            <a:pPr>
              <a:buNone/>
              <a:tabLst>
                <a:tab pos="5943600" algn="l"/>
              </a:tabLst>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System.out.printf</a:t>
            </a:r>
            <a:r>
              <a:rPr lang="en-US" altLang="en-US" sz="2000" b="1" dirty="0">
                <a:latin typeface="Courier New" panose="02070309020205020404" pitchFamily="49" charset="0"/>
              </a:rPr>
              <a:t>(HEADING_FMT_STR, "-------", "------", "------", "---------");</a:t>
            </a:r>
          </a:p>
          <a:p>
            <a:pPr>
              <a:buNone/>
              <a:tabLst>
                <a:tab pos="5943600" algn="l"/>
              </a:tabLst>
            </a:pPr>
            <a:r>
              <a:rPr lang="en-US" altLang="en-US" sz="2000" b="1" dirty="0">
                <a:latin typeface="Courier New" panose="02070309020205020404" pitchFamily="49" charset="0"/>
              </a:rPr>
              <a:t>   remaining1 = budget1 - actual1 ;</a:t>
            </a:r>
          </a:p>
          <a:p>
            <a:pPr>
              <a:buNone/>
              <a:tabLst>
                <a:tab pos="5943600" algn="l"/>
              </a:tabLst>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System.out.printf</a:t>
            </a:r>
            <a:r>
              <a:rPr lang="en-US" altLang="en-US" sz="2000" b="1" dirty="0">
                <a:latin typeface="Courier New" panose="02070309020205020404" pitchFamily="49" charset="0"/>
              </a:rPr>
              <a:t>(</a:t>
            </a:r>
            <a:r>
              <a:rPr lang="en-US" altLang="en-US" sz="2000" b="1" dirty="0" err="1">
                <a:latin typeface="Courier New" panose="02070309020205020404" pitchFamily="49" charset="0"/>
              </a:rPr>
              <a:t>DATA_FMT_STR,"Office</a:t>
            </a:r>
            <a:r>
              <a:rPr lang="en-US" altLang="en-US" sz="2000" b="1" dirty="0">
                <a:latin typeface="Courier New" panose="02070309020205020404" pitchFamily="49" charset="0"/>
              </a:rPr>
              <a:t> Supplies", actual1,     budget1, remaining1);</a:t>
            </a:r>
          </a:p>
          <a:p>
            <a:pPr>
              <a:buNone/>
              <a:tabLst>
                <a:tab pos="5943600" algn="l"/>
              </a:tabLst>
            </a:pPr>
            <a:r>
              <a:rPr lang="en-US" altLang="en-US" sz="2000" b="1" dirty="0">
                <a:latin typeface="Courier New" panose="02070309020205020404" pitchFamily="49" charset="0"/>
              </a:rPr>
              <a:t>    remaining2 = budget2 - actual2;</a:t>
            </a:r>
          </a:p>
          <a:p>
            <a:pPr>
              <a:buNone/>
              <a:tabLst>
                <a:tab pos="5943600" algn="l"/>
              </a:tabLst>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System.out.printf</a:t>
            </a:r>
            <a:r>
              <a:rPr lang="en-US" altLang="en-US" sz="2000" b="1" dirty="0">
                <a:latin typeface="Courier New" panose="02070309020205020404" pitchFamily="49" charset="0"/>
              </a:rPr>
              <a:t>(</a:t>
            </a:r>
            <a:r>
              <a:rPr lang="en-US" altLang="en-US" sz="2000" b="1" dirty="0" err="1">
                <a:latin typeface="Courier New" panose="02070309020205020404" pitchFamily="49" charset="0"/>
              </a:rPr>
              <a:t>DATA_FMT_STR,"Photocopying</a:t>
            </a:r>
            <a:r>
              <a:rPr lang="en-US" altLang="en-US" sz="2000" b="1" dirty="0">
                <a:latin typeface="Courier New" panose="02070309020205020404" pitchFamily="49" charset="0"/>
              </a:rPr>
              <a:t>", actual2, budget2, remaining2);</a:t>
            </a:r>
          </a:p>
          <a:p>
            <a:pPr>
              <a:buNone/>
              <a:tabLst>
                <a:tab pos="5943600" algn="l"/>
              </a:tabLst>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System.out.printf</a:t>
            </a:r>
            <a:r>
              <a:rPr lang="en-US" altLang="en-US" sz="2000" b="1" dirty="0">
                <a:latin typeface="Courier New" panose="02070309020205020404" pitchFamily="49" charset="0"/>
              </a:rPr>
              <a:t>("\</a:t>
            </a:r>
            <a:r>
              <a:rPr lang="en-US" altLang="en-US" sz="2000" b="1" dirty="0" err="1">
                <a:latin typeface="Courier New" panose="02070309020205020404" pitchFamily="49" charset="0"/>
              </a:rPr>
              <a:t>nTotal</a:t>
            </a:r>
            <a:r>
              <a:rPr lang="en-US" altLang="en-US" sz="2000" b="1" dirty="0">
                <a:latin typeface="Courier New" panose="02070309020205020404" pitchFamily="49" charset="0"/>
              </a:rPr>
              <a:t> remaining: %(,.2f\n", remaining1 + remaining2);</a:t>
            </a:r>
          </a:p>
          <a:p>
            <a:pPr>
              <a:buNone/>
              <a:tabLst>
                <a:tab pos="5943600" algn="l"/>
              </a:tabLst>
            </a:pPr>
            <a:r>
              <a:rPr lang="en-US" altLang="en-US" sz="2000" b="1" dirty="0">
                <a:latin typeface="Courier New" panose="02070309020205020404" pitchFamily="49" charset="0"/>
              </a:rPr>
              <a:t>  } </a:t>
            </a:r>
            <a:r>
              <a:rPr lang="en-US" altLang="en-US" sz="2000" dirty="0">
                <a:latin typeface="Courier New" panose="02070309020205020404" pitchFamily="49" charset="0"/>
              </a:rPr>
              <a:t>// end main</a:t>
            </a:r>
          </a:p>
          <a:p>
            <a:pPr>
              <a:buNone/>
              <a:tabLst>
                <a:tab pos="5943600" algn="l"/>
              </a:tabLst>
            </a:pPr>
            <a:r>
              <a:rPr lang="en-US" altLang="en-US" sz="2000" b="1" dirty="0">
                <a:latin typeface="Courier New" panose="02070309020205020404" pitchFamily="49" charset="0"/>
              </a:rPr>
              <a:t>}</a:t>
            </a:r>
            <a:r>
              <a:rPr lang="en-US" altLang="en-US" sz="2000" dirty="0">
                <a:latin typeface="Courier New" panose="02070309020205020404" pitchFamily="49" charset="0"/>
              </a:rPr>
              <a:t> // end class </a:t>
            </a:r>
            <a:r>
              <a:rPr lang="en-US" altLang="en-US" sz="2000" dirty="0" err="1">
                <a:latin typeface="Courier New" panose="02070309020205020404" pitchFamily="49" charset="0"/>
              </a:rPr>
              <a:t>BudgetReport</a:t>
            </a:r>
            <a:endParaRPr lang="en-US" altLang="en-US" sz="2000" dirty="0">
              <a:latin typeface="Courier New" panose="02070309020205020404" pitchFamily="49" charset="0"/>
            </a:endParaRPr>
          </a:p>
        </p:txBody>
      </p:sp>
      <p:sp>
        <p:nvSpPr>
          <p:cNvPr id="86018" name="Slide Number Placeholder 4">
            <a:extLst>
              <a:ext uri="{FF2B5EF4-FFF2-40B4-BE49-F238E27FC236}">
                <a16:creationId xmlns:a16="http://schemas.microsoft.com/office/drawing/2014/main" id="{EE3968B3-7F1B-4382-A5AE-285E39C15A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D2C67F0-5D38-46EB-B6D3-DB3E2344D0F9}" type="slidenum">
              <a:rPr lang="en-US" altLang="en-US" sz="1400">
                <a:latin typeface="Times New Roman" panose="02020603050405020304" pitchFamily="18" charset="0"/>
              </a:rPr>
              <a:pPr>
                <a:spcBef>
                  <a:spcPct val="0"/>
                </a:spcBef>
                <a:buClrTx/>
                <a:buSzTx/>
                <a:buFontTx/>
                <a:buNone/>
              </a:pPr>
              <a:t>19</a:t>
            </a:fld>
            <a:endParaRPr lang="en-US" altLang="en-US" sz="1400">
              <a:latin typeface="Times New Roman" panose="02020603050405020304" pitchFamily="18" charset="0"/>
            </a:endParaRPr>
          </a:p>
        </p:txBody>
      </p:sp>
    </p:spTree>
  </p:cSld>
  <p:clrMapOvr>
    <a:masterClrMapping/>
  </p:clrMapOvr>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53</TotalTime>
  <Words>3750</Words>
  <Application>Microsoft Office PowerPoint</Application>
  <PresentationFormat>Widescreen</PresentationFormat>
  <Paragraphs>356</Paragraphs>
  <Slides>19</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Courier New</vt:lpstr>
      <vt:lpstr>inter-regular</vt:lpstr>
      <vt:lpstr>Tahoma</vt:lpstr>
      <vt:lpstr>times new roman</vt:lpstr>
      <vt:lpstr>times new roman</vt:lpstr>
      <vt:lpstr>Wingdings 3</vt:lpstr>
      <vt:lpstr>Wisp</vt:lpstr>
      <vt:lpstr>The Java String Class and Formatting Output</vt:lpstr>
      <vt:lpstr>The String Class's substring Method</vt:lpstr>
      <vt:lpstr>Example: String Class's substring Method</vt:lpstr>
      <vt:lpstr>Alternate Forms of the String Class's indexOf Methods</vt:lpstr>
      <vt:lpstr>Example of The String Class's indexOf Methods</vt:lpstr>
      <vt:lpstr>The String Class's lastIndexOf Methods</vt:lpstr>
      <vt:lpstr>What is String.format?</vt:lpstr>
      <vt:lpstr>Format Specifier Details – This formatting also is used in the String.format method</vt:lpstr>
      <vt:lpstr>Conversion Character</vt:lpstr>
      <vt:lpstr>Java String Format Specifiers or Conversion Characters</vt:lpstr>
      <vt:lpstr>Conversion Character</vt:lpstr>
      <vt:lpstr>Precision</vt:lpstr>
      <vt:lpstr>Width</vt:lpstr>
      <vt:lpstr>Precision and Width</vt:lpstr>
      <vt:lpstr>Flags</vt:lpstr>
      <vt:lpstr>Formatted Output with the printf Method</vt:lpstr>
      <vt:lpstr>Formatted Output with the printf Method</vt:lpstr>
      <vt:lpstr>BudgetReport Example</vt:lpstr>
      <vt:lpstr>BudgetReport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Java STring Class and formatting output</dc:title>
  <dc:creator>NELSON, IVONNE</dc:creator>
  <cp:lastModifiedBy>NELSON, IVONNE</cp:lastModifiedBy>
  <cp:revision>6</cp:revision>
  <dcterms:created xsi:type="dcterms:W3CDTF">2020-04-23T23:01:54Z</dcterms:created>
  <dcterms:modified xsi:type="dcterms:W3CDTF">2024-06-23T17:06:32Z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2024-06-10T15:08:33Z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7e8e6534-4354-4c52-8779-2e63e81f689b</vt:lpwstr>
  </property>
  <property fmtid="{D5CDD505-2E9C-101B-9397-08002B2CF9AE}" pid="8" name="MSIP_Label_d8bb7484-22c2-4b98-9fb8-3ab13d821527_ContentBits">
    <vt:lpwstr>0</vt:lpwstr>
  </property>
</Properties>
</file>