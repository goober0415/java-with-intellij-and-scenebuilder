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4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5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2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0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3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6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3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676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90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1260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67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30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2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4A4B-68D8-476E-8C52-E17FD1E6125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BB744C6-F562-4BDD-9715-405A04AA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4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4F93-1B8D-9AC4-9849-5B9069CF0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188" y="2499996"/>
            <a:ext cx="10782300" cy="3352800"/>
          </a:xfrm>
        </p:spPr>
        <p:txBody>
          <a:bodyPr/>
          <a:lstStyle/>
          <a:p>
            <a:pPr algn="ctr"/>
            <a:r>
              <a:rPr lang="en-US" dirty="0"/>
              <a:t>Number and Decimal Format Classes</a:t>
            </a:r>
            <a:br>
              <a:rPr lang="en-US" dirty="0"/>
            </a:br>
            <a:r>
              <a:rPr lang="en-US" sz="4800" dirty="0"/>
              <a:t>How to make your numerical data look good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59574-C5F0-1A44-327F-7AE55821A5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44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E906-C47A-16A7-2C34-44E4E0E6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Decimal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4AF06-4592-A69F-7F1A-E1B5EB60B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4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4787-610D-0C2F-8BA3-706B46F3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Decimal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A194E-7A64-52A4-7370-B47CE037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dirty="0" err="1"/>
              <a:t>DecimalFormat</a:t>
            </a:r>
            <a:r>
              <a:rPr lang="en-US" sz="2400" dirty="0"/>
              <a:t> object is associated with a pattern when it is created using the new command</a:t>
            </a:r>
          </a:p>
          <a:p>
            <a:pPr marL="0" indent="0">
              <a:buNone/>
            </a:pPr>
            <a:r>
              <a:rPr lang="en-US" sz="2400" dirty="0"/>
              <a:t>The object can then be used with the method format to create strings that satisfy the format</a:t>
            </a:r>
          </a:p>
          <a:p>
            <a:pPr marL="0" indent="0">
              <a:buNone/>
            </a:pPr>
            <a:r>
              <a:rPr lang="en-US" sz="2400" dirty="0"/>
              <a:t>An object of the class </a:t>
            </a:r>
            <a:r>
              <a:rPr lang="en-US" sz="2400" dirty="0" err="1"/>
              <a:t>DecimalFormat</a:t>
            </a:r>
            <a:r>
              <a:rPr lang="en-US" sz="2400" dirty="0"/>
              <a:t> has a number of different methods that can be used to produce numeral strings in various formats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268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882A-9C50-9D4D-34E2-8442F844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130" y="119705"/>
            <a:ext cx="10772775" cy="1658198"/>
          </a:xfrm>
        </p:spPr>
        <p:txBody>
          <a:bodyPr/>
          <a:lstStyle/>
          <a:p>
            <a:pPr algn="ctr"/>
            <a:r>
              <a:rPr lang="en-US" dirty="0"/>
              <a:t>How to Use Decimal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D28F4-379E-3F84-4E4D-C8C610843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744" y="1777903"/>
            <a:ext cx="10753725" cy="43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import </a:t>
            </a:r>
            <a:r>
              <a:rPr lang="en-US" sz="2400" b="1" dirty="0" err="1"/>
              <a:t>java.text.DecimalFormat</a:t>
            </a:r>
            <a:r>
              <a:rPr lang="en-US" sz="2400" b="1" dirty="0"/>
              <a:t>;</a:t>
            </a:r>
          </a:p>
          <a:p>
            <a:pPr marL="0" indent="0">
              <a:buNone/>
            </a:pPr>
            <a:r>
              <a:rPr lang="en-US" sz="2400" dirty="0"/>
              <a:t>Instantiate a </a:t>
            </a:r>
            <a:r>
              <a:rPr lang="en-US" sz="2400" dirty="0" err="1"/>
              <a:t>DecimalFormat</a:t>
            </a:r>
            <a:r>
              <a:rPr lang="en-US" sz="2400" dirty="0"/>
              <a:t> object using a constructor which passes a String for the pattern: </a:t>
            </a:r>
          </a:p>
          <a:p>
            <a:pPr marL="0" indent="0">
              <a:buNone/>
            </a:pPr>
            <a:r>
              <a:rPr lang="en-US" sz="2400" b="1" dirty="0" err="1"/>
              <a:t>DecimalFormat</a:t>
            </a:r>
            <a:r>
              <a:rPr lang="en-US" sz="2400" b="1" dirty="0"/>
              <a:t> </a:t>
            </a:r>
            <a:r>
              <a:rPr lang="en-US" sz="2400" b="1" dirty="0" err="1"/>
              <a:t>pricePattern</a:t>
            </a:r>
            <a:r>
              <a:rPr lang="en-US" sz="2400" b="1" dirty="0"/>
              <a:t> = new	</a:t>
            </a:r>
            <a:r>
              <a:rPr lang="en-US" sz="2400" b="1" dirty="0" err="1"/>
              <a:t>DecimalFormat</a:t>
            </a:r>
            <a:r>
              <a:rPr lang="en-US" sz="2400" b="1" dirty="0"/>
              <a:t>(“$0.00”);</a:t>
            </a:r>
          </a:p>
          <a:p>
            <a:pPr marL="0" indent="0">
              <a:buNone/>
            </a:pPr>
            <a:r>
              <a:rPr lang="en-US" sz="2400" dirty="0"/>
              <a:t>Use the </a:t>
            </a:r>
            <a:r>
              <a:rPr lang="en-US" sz="2400" dirty="0" err="1"/>
              <a:t>DecimalFormat</a:t>
            </a:r>
            <a:r>
              <a:rPr lang="en-US" sz="2400" dirty="0"/>
              <a:t> class’s method format to format a number and return a String: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double price = 38.9555555 </a:t>
            </a:r>
          </a:p>
          <a:p>
            <a:pPr marL="0" indent="0">
              <a:buNone/>
            </a:pPr>
            <a:r>
              <a:rPr lang="en-US" sz="2400" b="1" dirty="0" err="1"/>
              <a:t>binding.textView.setText</a:t>
            </a:r>
            <a:r>
              <a:rPr lang="en-US" sz="2400" b="1" dirty="0"/>
              <a:t>(</a:t>
            </a:r>
            <a:r>
              <a:rPr lang="en-US" sz="2400" b="1" dirty="0" err="1"/>
              <a:t>pricepattern.format</a:t>
            </a:r>
            <a:r>
              <a:rPr lang="en-US" sz="2400" b="1" dirty="0"/>
              <a:t>(price));</a:t>
            </a:r>
          </a:p>
          <a:p>
            <a:pPr marL="0" indent="0">
              <a:buNone/>
            </a:pPr>
            <a:r>
              <a:rPr lang="en-US" sz="2400" dirty="0"/>
              <a:t>	Result:  $38.55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773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AB54-803C-E7D1-BA0C-5C0982ED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AA71F-8CCF-FC09-D73D-1F00125E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Create a </a:t>
            </a:r>
            <a:r>
              <a:rPr lang="en-US" sz="2400" dirty="0" err="1"/>
              <a:t>DecimalFormat</a:t>
            </a:r>
            <a:r>
              <a:rPr lang="en-US" sz="2400" dirty="0"/>
              <a:t> object to help format numbers – the default format  gives 3 decimal places:</a:t>
            </a:r>
          </a:p>
          <a:p>
            <a:pPr marL="0" indent="0">
              <a:buNone/>
            </a:pPr>
            <a:r>
              <a:rPr lang="en-US" sz="2400" b="1" dirty="0" err="1"/>
              <a:t>DecimalFormat</a:t>
            </a:r>
            <a:r>
              <a:rPr lang="en-US" sz="2400" b="1" dirty="0"/>
              <a:t> formatter = new </a:t>
            </a:r>
            <a:r>
              <a:rPr lang="en-US" sz="2400" b="1" dirty="0" err="1"/>
              <a:t>DecimalFormat</a:t>
            </a:r>
            <a:r>
              <a:rPr lang="en-US" sz="2400" b="1" dirty="0"/>
              <a:t>( );   </a:t>
            </a:r>
          </a:p>
          <a:p>
            <a:pPr marL="0" indent="0">
              <a:buNone/>
            </a:pPr>
            <a:r>
              <a:rPr lang="en-US" sz="2400" b="1" dirty="0"/>
              <a:t>String pattern = “###,###.###”;</a:t>
            </a:r>
          </a:p>
          <a:p>
            <a:pPr marL="0" indent="0">
              <a:buNone/>
            </a:pPr>
            <a:r>
              <a:rPr lang="en-US" sz="2400" b="1" dirty="0" err="1"/>
              <a:t>DecimalFormat</a:t>
            </a:r>
            <a:r>
              <a:rPr lang="en-US" sz="2400" b="1" dirty="0"/>
              <a:t> formatter = new </a:t>
            </a:r>
            <a:r>
              <a:rPr lang="en-US" sz="2400" b="1" dirty="0" err="1"/>
              <a:t>DecimalFormat</a:t>
            </a:r>
            <a:r>
              <a:rPr lang="en-US" sz="2400" b="1" dirty="0"/>
              <a:t>( pattern);   </a:t>
            </a:r>
          </a:p>
          <a:p>
            <a:pPr marL="0" indent="0">
              <a:buNone/>
            </a:pPr>
            <a:r>
              <a:rPr lang="en-US" sz="2400" b="1" dirty="0"/>
              <a:t>String number = </a:t>
            </a:r>
            <a:r>
              <a:rPr lang="en-US" sz="2400" b="1" dirty="0" err="1"/>
              <a:t>formatter.format</a:t>
            </a:r>
            <a:r>
              <a:rPr lang="en-US" sz="2400" b="1" dirty="0"/>
              <a:t>(123456789.123);</a:t>
            </a:r>
          </a:p>
          <a:p>
            <a:pPr marL="0" indent="0">
              <a:buNone/>
            </a:pPr>
            <a:r>
              <a:rPr lang="en-US" sz="2400" dirty="0"/>
              <a:t>number will look like: 123,456,789.123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6380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9D4A-313F-C41A-7C4C-86558AE8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54743"/>
            <a:ext cx="10772775" cy="1081423"/>
          </a:xfrm>
        </p:spPr>
        <p:txBody>
          <a:bodyPr/>
          <a:lstStyle/>
          <a:p>
            <a:r>
              <a:rPr lang="en-US" dirty="0"/>
              <a:t>Long Example of Decimal Format, pt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14A893-606F-9C2A-30C0-66E3B2B48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4083" y="843581"/>
            <a:ext cx="8037840" cy="5751521"/>
          </a:xfrm>
        </p:spPr>
      </p:pic>
    </p:spTree>
    <p:extLst>
      <p:ext uri="{BB962C8B-B14F-4D97-AF65-F5344CB8AC3E}">
        <p14:creationId xmlns:p14="http://schemas.microsoft.com/office/powerpoint/2010/main" val="80718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2E69-48E7-961C-B35F-76EB844DF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225082"/>
            <a:ext cx="10772775" cy="1299602"/>
          </a:xfrm>
        </p:spPr>
        <p:txBody>
          <a:bodyPr/>
          <a:lstStyle/>
          <a:p>
            <a:r>
              <a:rPr lang="en-US" dirty="0"/>
              <a:t>Long Example of Decimal Format, pt 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6C88A2-AACE-471F-34D3-68051DED0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5889" y="1215864"/>
            <a:ext cx="7573433" cy="5156126"/>
          </a:xfrm>
        </p:spPr>
      </p:pic>
    </p:spTree>
    <p:extLst>
      <p:ext uri="{BB962C8B-B14F-4D97-AF65-F5344CB8AC3E}">
        <p14:creationId xmlns:p14="http://schemas.microsoft.com/office/powerpoint/2010/main" val="218485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40F2-82C7-4E64-6892-331F63D7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274637"/>
            <a:ext cx="10772775" cy="129960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Results of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989A68-806B-AD73-AA33-083150A30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991" y="1565484"/>
            <a:ext cx="7871130" cy="4775073"/>
          </a:xfrm>
        </p:spPr>
      </p:pic>
    </p:spTree>
    <p:extLst>
      <p:ext uri="{BB962C8B-B14F-4D97-AF65-F5344CB8AC3E}">
        <p14:creationId xmlns:p14="http://schemas.microsoft.com/office/powerpoint/2010/main" val="214425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9A3F-AB9E-5C25-C022-283EFB48B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Number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9AB65-6B60-42FD-3051-4598D850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1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64A62-82BA-B701-4CCB-D65F50EF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Number Format -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7D6A-226B-491B-4CCE-0919D56C5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import </a:t>
            </a:r>
            <a:r>
              <a:rPr lang="en-US" sz="2400" dirty="0" err="1"/>
              <a:t>java.text.NumberFormat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An object of </a:t>
            </a:r>
            <a:r>
              <a:rPr lang="en-US" sz="2400" dirty="0" err="1"/>
              <a:t>NumberFormat</a:t>
            </a:r>
            <a:r>
              <a:rPr lang="en-US" sz="2400" dirty="0"/>
              <a:t> must then be created using the </a:t>
            </a:r>
            <a:r>
              <a:rPr lang="en-US" sz="2400" dirty="0" err="1"/>
              <a:t>getCurrencyInstance</a:t>
            </a:r>
            <a:r>
              <a:rPr lang="en-US" sz="2400" dirty="0"/>
              <a:t>() method</a:t>
            </a:r>
          </a:p>
          <a:p>
            <a:pPr marL="0" indent="0">
              <a:buNone/>
            </a:pPr>
            <a:r>
              <a:rPr lang="en-US" sz="2400" dirty="0"/>
              <a:t>The format method takes a floating-point number as an argument and returns a String value representation of the number in the local currency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98554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5159-8E66-8EFE-CE13-C61AECA1D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47711"/>
            <a:ext cx="10772775" cy="1130789"/>
          </a:xfrm>
        </p:spPr>
        <p:txBody>
          <a:bodyPr/>
          <a:lstStyle/>
          <a:p>
            <a:pPr algn="ctr"/>
            <a:r>
              <a:rPr lang="en-US" dirty="0"/>
              <a:t>Number Format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8023CD-A79E-67F2-6463-B76FCD1E1D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83214" y="1278500"/>
            <a:ext cx="7425572" cy="524301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81AFDB-57A4-4056-3D9C-1C0B62F084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053196" y="2206771"/>
            <a:ext cx="1935648" cy="221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5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4906-BB82-E2EE-AF59-1DE400A6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117986"/>
            <a:ext cx="10772775" cy="1317073"/>
          </a:xfrm>
        </p:spPr>
        <p:txBody>
          <a:bodyPr/>
          <a:lstStyle/>
          <a:p>
            <a:pPr algn="ctr"/>
            <a:r>
              <a:rPr lang="en-US" dirty="0"/>
              <a:t>Number Format Pattern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280E8-F813-F768-B750-4F4ADD7DF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301" y="1069803"/>
            <a:ext cx="5222699" cy="50471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0	A digit - always displayed, even if number has less digits (then 0 is 	displayed)</a:t>
            </a:r>
          </a:p>
          <a:p>
            <a:pPr marL="0" indent="0">
              <a:buNone/>
            </a:pPr>
            <a:r>
              <a:rPr lang="en-US" sz="2200" dirty="0"/>
              <a:t>#	A digit, leading zeroes are omitted.</a:t>
            </a:r>
          </a:p>
          <a:p>
            <a:pPr marL="0" indent="0">
              <a:buNone/>
            </a:pPr>
            <a:r>
              <a:rPr lang="en-US" sz="2200" dirty="0"/>
              <a:t>.	Marks decimal separator</a:t>
            </a:r>
          </a:p>
          <a:p>
            <a:pPr marL="0" indent="0">
              <a:buNone/>
            </a:pPr>
            <a:r>
              <a:rPr lang="en-US" sz="2200" dirty="0"/>
              <a:t>,	Marks grouping separator (e.g. thousand separator)</a:t>
            </a:r>
          </a:p>
          <a:p>
            <a:pPr marL="0" indent="0">
              <a:buNone/>
            </a:pPr>
            <a:r>
              <a:rPr lang="en-US" sz="2200" dirty="0"/>
              <a:t>E	Marks separation of mantissa and exponent for exponential formats.</a:t>
            </a:r>
          </a:p>
          <a:p>
            <a:pPr marL="0" indent="0">
              <a:buNone/>
            </a:pPr>
            <a:r>
              <a:rPr lang="en-US" sz="2200" dirty="0"/>
              <a:t>;	Separates formats</a:t>
            </a:r>
          </a:p>
          <a:p>
            <a:pPr marL="0" indent="0">
              <a:buNone/>
            </a:pPr>
            <a:r>
              <a:rPr lang="en-US" sz="2200" dirty="0"/>
              <a:t>-	Marks the negative number prefix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2B4FB-6E7D-0B95-6ABD-5D841EDD7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9192" y="1069803"/>
            <a:ext cx="5462916" cy="5606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%	Multiplies by 100 and shows number as percentage</a:t>
            </a:r>
          </a:p>
          <a:p>
            <a:pPr marL="0" indent="0">
              <a:buNone/>
            </a:pPr>
            <a:r>
              <a:rPr lang="en-US" sz="2200" dirty="0"/>
              <a:t>?	Multiplies by 1000 and shows number as per </a:t>
            </a:r>
            <a:r>
              <a:rPr lang="en-US" sz="2200" dirty="0" err="1"/>
              <a:t>mille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¤	Currency sign - replaced by the currency sign for the Locale. Also makes formatting use the monetary decimal separator instead of normal decimal separator. ¤¤ makes formatting use international 	monetary symbols.</a:t>
            </a:r>
          </a:p>
          <a:p>
            <a:pPr marL="0" indent="0">
              <a:buNone/>
            </a:pPr>
            <a:r>
              <a:rPr lang="en-US" sz="2200" dirty="0"/>
              <a:t>X	Marks a character to be used in number prefix or suffix</a:t>
            </a:r>
          </a:p>
          <a:p>
            <a:pPr marL="0" indent="0">
              <a:buNone/>
            </a:pPr>
            <a:r>
              <a:rPr lang="en-US" sz="2200" dirty="0"/>
              <a:t>'	Marks a quote around special characters in prefix or suffix of 	formatted number.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70950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1AAB-D02C-F4E5-664E-BB4E0419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638" y="259299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Number Format Pattern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6A02-2430-32B4-055E-45600637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747" y="123873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0	A digit - always displayed, even if number has less digits (then 0 is 	displayed)</a:t>
            </a:r>
          </a:p>
          <a:p>
            <a:pPr marL="0" indent="0">
              <a:buNone/>
            </a:pPr>
            <a:r>
              <a:rPr lang="en-US" dirty="0"/>
              <a:t>#	A digit, leading zeroes are omitted.</a:t>
            </a:r>
          </a:p>
          <a:p>
            <a:pPr marL="0" indent="0">
              <a:buNone/>
            </a:pPr>
            <a:r>
              <a:rPr lang="en-US" dirty="0"/>
              <a:t>.	Marks decimal separator</a:t>
            </a:r>
          </a:p>
          <a:p>
            <a:pPr marL="0" indent="0">
              <a:buNone/>
            </a:pPr>
            <a:r>
              <a:rPr lang="en-US" dirty="0"/>
              <a:t>,	Marks grouping separator (e.g. thousand separator)</a:t>
            </a:r>
          </a:p>
          <a:p>
            <a:pPr marL="0" indent="0">
              <a:buNone/>
            </a:pPr>
            <a:r>
              <a:rPr lang="en-US" dirty="0"/>
              <a:t>E	Marks separation of mantissa and exponent for exponential formats.</a:t>
            </a:r>
          </a:p>
          <a:p>
            <a:pPr marL="0" indent="0">
              <a:buNone/>
            </a:pPr>
            <a:r>
              <a:rPr lang="en-US" dirty="0"/>
              <a:t>;	Separates formats</a:t>
            </a:r>
          </a:p>
          <a:p>
            <a:pPr marL="0" indent="0">
              <a:buNone/>
            </a:pPr>
            <a:r>
              <a:rPr lang="en-US" dirty="0"/>
              <a:t>-	Marks the negative number prefix</a:t>
            </a:r>
          </a:p>
          <a:p>
            <a:pPr marL="0" indent="0">
              <a:buNone/>
            </a:pPr>
            <a:r>
              <a:rPr lang="en-US" dirty="0"/>
              <a:t>%	Multiplies by 100 and shows number as percentage</a:t>
            </a:r>
          </a:p>
          <a:p>
            <a:pPr marL="0" indent="0">
              <a:buNone/>
            </a:pPr>
            <a:r>
              <a:rPr lang="en-US" dirty="0"/>
              <a:t>?	Multiplies by 1000 and shows number as per </a:t>
            </a:r>
            <a:r>
              <a:rPr lang="en-US" dirty="0" err="1"/>
              <a:t>mille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¤	Currency sign - replaced by the currency sign for the Locale. Also 	makes formatting use the monetary decimal separator instead of 	normal decimal 	separator. ¤¤ makes formatting use international 	monetary symbols.</a:t>
            </a:r>
          </a:p>
          <a:p>
            <a:pPr marL="0" indent="0">
              <a:buNone/>
            </a:pPr>
            <a:r>
              <a:rPr lang="en-US" dirty="0"/>
              <a:t>X	Marks a character to be used in number prefix or suffix</a:t>
            </a:r>
          </a:p>
          <a:p>
            <a:pPr marL="0" indent="0">
              <a:buNone/>
            </a:pPr>
            <a:r>
              <a:rPr lang="en-US" dirty="0"/>
              <a:t>'	Marks a quote around special characters in prefix or suffix of 	formatted number.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4842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602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Wingdings 3</vt:lpstr>
      <vt:lpstr>Wisp</vt:lpstr>
      <vt:lpstr>Number and Decimal Format Classes How to make your numerical data look good</vt:lpstr>
      <vt:lpstr>Decimal Format</vt:lpstr>
      <vt:lpstr>Decimal Format</vt:lpstr>
      <vt:lpstr>How to Use Decimal Format</vt:lpstr>
      <vt:lpstr>Another Example</vt:lpstr>
      <vt:lpstr>Long Example of Decimal Format, pt 1</vt:lpstr>
      <vt:lpstr>Long Example of Decimal Format, pt 2</vt:lpstr>
      <vt:lpstr>Results of Example</vt:lpstr>
      <vt:lpstr>Number Format</vt:lpstr>
      <vt:lpstr>Number Format - Money</vt:lpstr>
      <vt:lpstr>Number Format Example</vt:lpstr>
      <vt:lpstr>Number Format Pattern Syntax</vt:lpstr>
      <vt:lpstr>Number Format Pattern Syntax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and Decimal Format Classes How to make your numerical data look good</dc:title>
  <dc:creator>Ivonne Nelson</dc:creator>
  <cp:lastModifiedBy>NELSON, IVONNE</cp:lastModifiedBy>
  <cp:revision>2</cp:revision>
  <dcterms:created xsi:type="dcterms:W3CDTF">2023-05-27T22:24:42Z</dcterms:created>
  <dcterms:modified xsi:type="dcterms:W3CDTF">2025-01-21T23:39:29Z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2025-01-21T23:39:29Z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2a4f178b-00d3-4660-8394-6f5c7619ec8e</vt:lpwstr>
  </property>
  <property fmtid="{D5CDD505-2E9C-101B-9397-08002B2CF9AE}" pid="8" name="MSIP_Label_d8bb7484-22c2-4b98-9fb8-3ab13d821527_ContentBits">
    <vt:lpwstr>0</vt:lpwstr>
  </property>
  <property fmtid="{D5CDD505-2E9C-101B-9397-08002B2CF9AE}" pid="9" name="MSIP_Label_d8bb7484-22c2-4b98-9fb8-3ab13d821527_Tag">
    <vt:lpwstr>10, 3, 0, 1</vt:lpwstr>
  </property>
</Properties>
</file>