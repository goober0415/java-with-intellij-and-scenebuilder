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2"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86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42AEBB-9F7B-44A9-B30B-4DF97A8D0611}" type="datetimeFigureOut">
              <a:rPr lang="en-US" smtClean="0"/>
              <a:t>1/3/2023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74404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42AEBB-9F7B-44A9-B30B-4DF97A8D0611}" type="datetimeFigureOut">
              <a:rPr lang="en-US" smtClean="0"/>
              <a:t>1/3/2023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248056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42AEBB-9F7B-44A9-B30B-4DF97A8D0611}" type="datetimeFigureOut">
              <a:rPr lang="en-US" smtClean="0"/>
              <a:t>1/3/2023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2175906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42AEBB-9F7B-44A9-B30B-4DF97A8D0611}" type="datetimeFigureOut">
              <a:rPr lang="en-US" smtClean="0"/>
              <a:t>1/3/2023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2293445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42AEBB-9F7B-44A9-B30B-4DF97A8D0611}" type="datetimeFigureOut">
              <a:rPr lang="en-US" smtClean="0"/>
              <a:t>1/3/2023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720950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42AEBB-9F7B-44A9-B30B-4DF97A8D0611}" type="datetimeFigureOut">
              <a:rPr lang="en-US" smtClean="0"/>
              <a:t>1/3/2023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3283815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42AEBB-9F7B-44A9-B30B-4DF97A8D0611}" type="datetimeFigureOut">
              <a:rPr lang="en-US" smtClean="0"/>
              <a:t>1/3/2023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4000160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42AEBB-9F7B-44A9-B30B-4DF97A8D0611}" type="datetimeFigureOut">
              <a:rPr lang="en-US" smtClean="0"/>
              <a:t>1/3/2023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3152291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42AEBB-9F7B-44A9-B30B-4DF97A8D0611}" type="datetimeFigureOut">
              <a:rPr lang="en-US" smtClean="0"/>
              <a:t>1/3/2023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3298717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42AEBB-9F7B-44A9-B30B-4DF97A8D0611}" type="datetimeFigureOut">
              <a:rPr lang="en-US" smtClean="0"/>
              <a:t>1/3/2023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3161267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42AEBB-9F7B-44A9-B30B-4DF97A8D0611}" type="datetimeFigureOut">
              <a:rPr lang="en-US" smtClean="0"/>
              <a:t>1/3/2023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148C446-1F51-4D30-9511-1E718FE33B92}"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268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D42AEBB-9F7B-44A9-B30B-4DF97A8D0611}" type="datetimeFigureOut">
              <a:rPr lang="en-US" smtClean="0"/>
              <a:t>1/3/2023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20487127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D42AEBB-9F7B-44A9-B30B-4DF97A8D0611}" type="datetimeFigureOut">
              <a:rPr lang="en-US" smtClean="0"/>
              <a:t>1/3/2023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148C446-1F51-4D30-9511-1E718FE33B92}"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25119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D42AEBB-9F7B-44A9-B30B-4DF97A8D0611}" type="datetimeFigureOut">
              <a:rPr lang="en-US" smtClean="0"/>
              <a:t>1/3/2023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288080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42AEBB-9F7B-44A9-B30B-4DF97A8D0611}" type="datetimeFigureOut">
              <a:rPr lang="en-US" smtClean="0"/>
              <a:t>1/3/2023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997117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42AEBB-9F7B-44A9-B30B-4DF97A8D0611}" type="datetimeFigureOut">
              <a:rPr lang="en-US" smtClean="0"/>
              <a:t>1/3/2023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148C446-1F51-4D30-9511-1E718FE33B92}" type="slidenum">
              <a:rPr lang="en-US" smtClean="0"/>
              <a:t>‹#›</a:t>
            </a:fld>
            <a:endParaRPr lang="en-US"/>
          </a:p>
        </p:txBody>
      </p:sp>
    </p:spTree>
    <p:extLst>
      <p:ext uri="{BB962C8B-B14F-4D97-AF65-F5344CB8AC3E}">
        <p14:creationId xmlns:p14="http://schemas.microsoft.com/office/powerpoint/2010/main" val="254960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D42AEBB-9F7B-44A9-B30B-4DF97A8D0611}" type="datetimeFigureOut">
              <a:rPr lang="en-US" smtClean="0"/>
              <a:t>1/3/2023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148C446-1F51-4D30-9511-1E718FE33B92}" type="slidenum">
              <a:rPr lang="en-US" smtClean="0"/>
              <a:t>‹#›</a:t>
            </a:fld>
            <a:endParaRPr lang="en-US"/>
          </a:p>
        </p:txBody>
      </p:sp>
    </p:spTree>
    <p:extLst>
      <p:ext uri="{BB962C8B-B14F-4D97-AF65-F5344CB8AC3E}">
        <p14:creationId xmlns:p14="http://schemas.microsoft.com/office/powerpoint/2010/main" val="1137168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62DE5-F109-D857-F096-234A033DB570}"/>
              </a:ext>
            </a:extLst>
          </p:cNvPr>
          <p:cNvSpPr>
            <a:spLocks noGrp="1"/>
          </p:cNvSpPr>
          <p:nvPr>
            <p:ph type="ctrTitle"/>
          </p:nvPr>
        </p:nvSpPr>
        <p:spPr/>
        <p:txBody>
          <a:bodyPr/>
          <a:lstStyle/>
          <a:p>
            <a:pPr algn="ctr"/>
            <a:r>
              <a:rPr lang="en-US" b="1" dirty="0"/>
              <a:t>Arrays</a:t>
            </a:r>
          </a:p>
        </p:txBody>
      </p:sp>
      <p:sp>
        <p:nvSpPr>
          <p:cNvPr id="3" name="Subtitle 2">
            <a:extLst>
              <a:ext uri="{FF2B5EF4-FFF2-40B4-BE49-F238E27FC236}">
                <a16:creationId xmlns:a16="http://schemas.microsoft.com/office/drawing/2014/main" id="{F7163D1D-1A95-DB60-C27C-7A51C25B74A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80393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F94A-2B69-6A6C-77CC-DB252E11E39F}"/>
              </a:ext>
            </a:extLst>
          </p:cNvPr>
          <p:cNvSpPr>
            <a:spLocks noGrp="1"/>
          </p:cNvSpPr>
          <p:nvPr>
            <p:ph type="title"/>
          </p:nvPr>
        </p:nvSpPr>
        <p:spPr/>
        <p:txBody>
          <a:bodyPr/>
          <a:lstStyle/>
          <a:p>
            <a:pPr algn="ctr"/>
            <a:r>
              <a:rPr lang="en-US" b="1" dirty="0"/>
              <a:t>Arrays</a:t>
            </a:r>
          </a:p>
        </p:txBody>
      </p:sp>
      <p:sp>
        <p:nvSpPr>
          <p:cNvPr id="3" name="Text Placeholder 2">
            <a:extLst>
              <a:ext uri="{FF2B5EF4-FFF2-40B4-BE49-F238E27FC236}">
                <a16:creationId xmlns:a16="http://schemas.microsoft.com/office/drawing/2014/main" id="{64F88696-CB1C-985B-8C05-C5DC3341C7B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98719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314E-0499-C114-C736-52C5984EEC01}"/>
              </a:ext>
            </a:extLst>
          </p:cNvPr>
          <p:cNvSpPr>
            <a:spLocks noGrp="1"/>
          </p:cNvSpPr>
          <p:nvPr>
            <p:ph type="title"/>
          </p:nvPr>
        </p:nvSpPr>
        <p:spPr>
          <a:xfrm>
            <a:off x="1640156" y="155187"/>
            <a:ext cx="10551844" cy="1280890"/>
          </a:xfrm>
        </p:spPr>
        <p:txBody>
          <a:bodyPr/>
          <a:lstStyle/>
          <a:p>
            <a:r>
              <a:rPr lang="en-US" b="1" dirty="0"/>
              <a:t>Array Objects are different from Other Objects</a:t>
            </a:r>
          </a:p>
        </p:txBody>
      </p:sp>
      <p:sp>
        <p:nvSpPr>
          <p:cNvPr id="3" name="Content Placeholder 2">
            <a:extLst>
              <a:ext uri="{FF2B5EF4-FFF2-40B4-BE49-F238E27FC236}">
                <a16:creationId xmlns:a16="http://schemas.microsoft.com/office/drawing/2014/main" id="{B555D649-C990-1E9A-44A5-574D51C9721E}"/>
              </a:ext>
            </a:extLst>
          </p:cNvPr>
          <p:cNvSpPr>
            <a:spLocks noGrp="1"/>
          </p:cNvSpPr>
          <p:nvPr>
            <p:ph idx="1"/>
          </p:nvPr>
        </p:nvSpPr>
        <p:spPr>
          <a:xfrm>
            <a:off x="2448535" y="1031630"/>
            <a:ext cx="9251096" cy="5322277"/>
          </a:xfrm>
        </p:spPr>
        <p:txBody>
          <a:bodyPr>
            <a:normAutofit/>
          </a:bodyPr>
          <a:lstStyle/>
          <a:p>
            <a:pPr marL="0" indent="0">
              <a:buNone/>
            </a:pPr>
            <a:r>
              <a:rPr lang="en-US" sz="2400" dirty="0"/>
              <a:t>Array objects differ from other objects in Java in three ways:</a:t>
            </a:r>
          </a:p>
          <a:p>
            <a:pPr marL="0" indent="0">
              <a:buNone/>
            </a:pPr>
            <a:r>
              <a:rPr lang="en-US" sz="2400" dirty="0"/>
              <a:t>  1. Java implicitly creates a special array class type for us whenever we declare a new type of array. </a:t>
            </a:r>
          </a:p>
          <a:p>
            <a:pPr marL="0" indent="0">
              <a:buNone/>
            </a:pPr>
            <a:r>
              <a:rPr lang="en-US" sz="2400" dirty="0"/>
              <a:t> 2. Java lets us use the [] operator to access array elements so that arrays look as we expect. We could implement our own classes that act like arrays, but we would have to settle for having methods such as get() and set() instead of using the special [] notation.</a:t>
            </a:r>
          </a:p>
          <a:p>
            <a:pPr marL="0" indent="0">
              <a:buNone/>
            </a:pPr>
            <a:r>
              <a:rPr lang="en-US" sz="2400" dirty="0"/>
              <a:t> 3. Java provides a corresponding special form of the new operator that lets us construct an instance of an array with a specified length with the [] notation, or initialize it directly from a structured list of values.</a:t>
            </a:r>
          </a:p>
        </p:txBody>
      </p:sp>
    </p:spTree>
    <p:extLst>
      <p:ext uri="{BB962C8B-B14F-4D97-AF65-F5344CB8AC3E}">
        <p14:creationId xmlns:p14="http://schemas.microsoft.com/office/powerpoint/2010/main" val="44398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245FE-ABC0-3409-CD76-9AA12B752A0F}"/>
              </a:ext>
            </a:extLst>
          </p:cNvPr>
          <p:cNvSpPr>
            <a:spLocks noGrp="1"/>
          </p:cNvSpPr>
          <p:nvPr>
            <p:ph type="title"/>
          </p:nvPr>
        </p:nvSpPr>
        <p:spPr/>
        <p:txBody>
          <a:bodyPr/>
          <a:lstStyle/>
          <a:p>
            <a:pPr algn="ctr"/>
            <a:r>
              <a:rPr lang="en-US" b="1" dirty="0"/>
              <a:t>Array Types</a:t>
            </a:r>
          </a:p>
        </p:txBody>
      </p:sp>
      <p:sp>
        <p:nvSpPr>
          <p:cNvPr id="3" name="Content Placeholder 2">
            <a:extLst>
              <a:ext uri="{FF2B5EF4-FFF2-40B4-BE49-F238E27FC236}">
                <a16:creationId xmlns:a16="http://schemas.microsoft.com/office/drawing/2014/main" id="{A8334BB3-5623-40DC-BB54-3F1CFBE24BA1}"/>
              </a:ext>
            </a:extLst>
          </p:cNvPr>
          <p:cNvSpPr>
            <a:spLocks noGrp="1"/>
          </p:cNvSpPr>
          <p:nvPr>
            <p:ph idx="1"/>
          </p:nvPr>
        </p:nvSpPr>
        <p:spPr>
          <a:xfrm>
            <a:off x="2811950" y="1844847"/>
            <a:ext cx="8915400" cy="4208585"/>
          </a:xfrm>
        </p:spPr>
        <p:txBody>
          <a:bodyPr>
            <a:noAutofit/>
          </a:bodyPr>
          <a:lstStyle/>
          <a:p>
            <a:pPr marL="0" indent="0">
              <a:buNone/>
            </a:pPr>
            <a:r>
              <a:rPr lang="en-US" sz="2400" dirty="0"/>
              <a:t>An array type variable is denoted by a base type followed by the empty brackets, []. Alternatively, Java accepts a C-style declaration with the brackets placed after the array name.</a:t>
            </a:r>
          </a:p>
          <a:p>
            <a:pPr marL="0" indent="0">
              <a:buNone/>
            </a:pPr>
            <a:r>
              <a:rPr lang="en-US" sz="2400" dirty="0"/>
              <a:t>The following are equivalent:</a:t>
            </a:r>
          </a:p>
          <a:p>
            <a:pPr marL="0" indent="0">
              <a:buNone/>
            </a:pPr>
            <a:r>
              <a:rPr lang="en-US" sz="2400" b="1" dirty="0"/>
              <a:t>    int [] </a:t>
            </a:r>
            <a:r>
              <a:rPr lang="en-US" sz="2400" b="1" dirty="0" err="1"/>
              <a:t>arrayOfInts</a:t>
            </a:r>
            <a:r>
              <a:rPr lang="en-US" sz="2400" b="1" dirty="0"/>
              <a:t>;  </a:t>
            </a:r>
            <a:r>
              <a:rPr lang="en-US" sz="2400" dirty="0"/>
              <a:t>// preferred</a:t>
            </a:r>
          </a:p>
          <a:p>
            <a:pPr marL="0" indent="0">
              <a:buNone/>
            </a:pPr>
            <a:r>
              <a:rPr lang="en-US" sz="2400" dirty="0"/>
              <a:t>    </a:t>
            </a:r>
            <a:r>
              <a:rPr lang="en-US" sz="2400" b="1" dirty="0"/>
              <a:t>int </a:t>
            </a:r>
            <a:r>
              <a:rPr lang="en-US" sz="2400" b="1" dirty="0" err="1"/>
              <a:t>arrayOfInts</a:t>
            </a:r>
            <a:r>
              <a:rPr lang="en-US" sz="2400" b="1" dirty="0"/>
              <a:t> [];  </a:t>
            </a:r>
            <a:r>
              <a:rPr lang="en-US" sz="2400" dirty="0"/>
              <a:t>// C-style  - don’t do it this way!</a:t>
            </a:r>
          </a:p>
          <a:p>
            <a:pPr marL="0" indent="0">
              <a:buNone/>
            </a:pPr>
            <a:r>
              <a:rPr lang="en-US" sz="2400" dirty="0"/>
              <a:t>In each case, </a:t>
            </a:r>
            <a:r>
              <a:rPr lang="en-US" sz="2400" dirty="0" err="1"/>
              <a:t>arrayOfInts</a:t>
            </a:r>
            <a:r>
              <a:rPr lang="en-US" sz="2400" dirty="0"/>
              <a:t> is declared as an array of integers.  </a:t>
            </a:r>
            <a:r>
              <a:rPr lang="en-US" sz="2400" b="1" dirty="0"/>
              <a:t>We are only declaring the array type variable.</a:t>
            </a:r>
          </a:p>
        </p:txBody>
      </p:sp>
    </p:spTree>
    <p:extLst>
      <p:ext uri="{BB962C8B-B14F-4D97-AF65-F5344CB8AC3E}">
        <p14:creationId xmlns:p14="http://schemas.microsoft.com/office/powerpoint/2010/main" val="1828820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304F0-CD82-0724-839E-67D64A4AA4F2}"/>
              </a:ext>
            </a:extLst>
          </p:cNvPr>
          <p:cNvSpPr>
            <a:spLocks noGrp="1"/>
          </p:cNvSpPr>
          <p:nvPr>
            <p:ph type="title"/>
          </p:nvPr>
        </p:nvSpPr>
        <p:spPr>
          <a:xfrm>
            <a:off x="2604648" y="354479"/>
            <a:ext cx="8911687" cy="1280890"/>
          </a:xfrm>
        </p:spPr>
        <p:txBody>
          <a:bodyPr/>
          <a:lstStyle/>
          <a:p>
            <a:pPr algn="ctr"/>
            <a:r>
              <a:rPr lang="en-US" b="1" dirty="0"/>
              <a:t>Creating the array type variable</a:t>
            </a:r>
          </a:p>
        </p:txBody>
      </p:sp>
      <p:sp>
        <p:nvSpPr>
          <p:cNvPr id="3" name="Content Placeholder 2">
            <a:extLst>
              <a:ext uri="{FF2B5EF4-FFF2-40B4-BE49-F238E27FC236}">
                <a16:creationId xmlns:a16="http://schemas.microsoft.com/office/drawing/2014/main" id="{4CCA80D7-5475-7C8C-B027-0C2024737D20}"/>
              </a:ext>
            </a:extLst>
          </p:cNvPr>
          <p:cNvSpPr>
            <a:spLocks noGrp="1"/>
          </p:cNvSpPr>
          <p:nvPr>
            <p:ph idx="1"/>
          </p:nvPr>
        </p:nvSpPr>
        <p:spPr>
          <a:xfrm>
            <a:off x="2718166" y="1264555"/>
            <a:ext cx="8915400" cy="3777622"/>
          </a:xfrm>
        </p:spPr>
        <p:txBody>
          <a:bodyPr>
            <a:noAutofit/>
          </a:bodyPr>
          <a:lstStyle/>
          <a:p>
            <a:pPr marL="0" indent="0">
              <a:buNone/>
            </a:pPr>
            <a:r>
              <a:rPr lang="en-US" sz="2400" dirty="0"/>
              <a:t>We have just created a reference to the array.  It is null.</a:t>
            </a:r>
          </a:p>
          <a:p>
            <a:pPr marL="0" indent="0">
              <a:buNone/>
            </a:pPr>
            <a:r>
              <a:rPr lang="en-US" sz="2400" dirty="0"/>
              <a:t>We have not yet created an actual instance of the array class, with its associated storage.</a:t>
            </a:r>
          </a:p>
          <a:p>
            <a:pPr marL="0" indent="0">
              <a:buNone/>
            </a:pPr>
            <a:r>
              <a:rPr lang="en-US" sz="2400" dirty="0"/>
              <a:t>It’s not even possible to specify the length of an array when declaring an array type variable. The size is strictly a function of the array object itself, not the reference to it.</a:t>
            </a:r>
          </a:p>
          <a:p>
            <a:pPr marL="0" indent="0">
              <a:buNone/>
            </a:pPr>
            <a:r>
              <a:rPr lang="en-US" sz="2400" dirty="0"/>
              <a:t>An array of reference types can be created in the same way:</a:t>
            </a:r>
          </a:p>
          <a:p>
            <a:pPr marL="0" indent="0">
              <a:buNone/>
            </a:pPr>
            <a:r>
              <a:rPr lang="en-US" sz="2400" b="1" dirty="0"/>
              <a:t>    String [] </a:t>
            </a:r>
            <a:r>
              <a:rPr lang="en-US" sz="2400" b="1" dirty="0" err="1"/>
              <a:t>someStrings</a:t>
            </a:r>
            <a:r>
              <a:rPr lang="en-US" sz="2400" b="1" dirty="0"/>
              <a:t>;</a:t>
            </a:r>
          </a:p>
          <a:p>
            <a:pPr marL="0" indent="0">
              <a:buNone/>
            </a:pPr>
            <a:r>
              <a:rPr lang="en-US" sz="2400" b="1" dirty="0"/>
              <a:t>    Button [] </a:t>
            </a:r>
            <a:r>
              <a:rPr lang="en-US" sz="2400" b="1" dirty="0" err="1"/>
              <a:t>someButtons</a:t>
            </a:r>
            <a:r>
              <a:rPr lang="en-US" sz="2400" b="1" dirty="0"/>
              <a:t>;</a:t>
            </a:r>
          </a:p>
        </p:txBody>
      </p:sp>
    </p:spTree>
    <p:extLst>
      <p:ext uri="{BB962C8B-B14F-4D97-AF65-F5344CB8AC3E}">
        <p14:creationId xmlns:p14="http://schemas.microsoft.com/office/powerpoint/2010/main" val="1657745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D81CB-96A7-D242-62BC-B614C8F1765B}"/>
              </a:ext>
            </a:extLst>
          </p:cNvPr>
          <p:cNvSpPr>
            <a:spLocks noGrp="1"/>
          </p:cNvSpPr>
          <p:nvPr>
            <p:ph type="title"/>
          </p:nvPr>
        </p:nvSpPr>
        <p:spPr/>
        <p:txBody>
          <a:bodyPr/>
          <a:lstStyle/>
          <a:p>
            <a:pPr algn="ctr"/>
            <a:r>
              <a:rPr lang="en-US" b="1" dirty="0"/>
              <a:t>Array Creation and Initialization</a:t>
            </a:r>
          </a:p>
        </p:txBody>
      </p:sp>
      <p:sp>
        <p:nvSpPr>
          <p:cNvPr id="3" name="Content Placeholder 2">
            <a:extLst>
              <a:ext uri="{FF2B5EF4-FFF2-40B4-BE49-F238E27FC236}">
                <a16:creationId xmlns:a16="http://schemas.microsoft.com/office/drawing/2014/main" id="{101AF5AD-29AA-D59D-B7DB-1AD5E7056B8C}"/>
              </a:ext>
            </a:extLst>
          </p:cNvPr>
          <p:cNvSpPr>
            <a:spLocks noGrp="1"/>
          </p:cNvSpPr>
          <p:nvPr>
            <p:ph idx="1"/>
          </p:nvPr>
        </p:nvSpPr>
        <p:spPr>
          <a:xfrm>
            <a:off x="2589212" y="1540189"/>
            <a:ext cx="8915400" cy="3777622"/>
          </a:xfrm>
        </p:spPr>
        <p:txBody>
          <a:bodyPr>
            <a:noAutofit/>
          </a:bodyPr>
          <a:lstStyle/>
          <a:p>
            <a:pPr marL="0" indent="0">
              <a:buNone/>
            </a:pPr>
            <a:r>
              <a:rPr lang="en-US" sz="2400" dirty="0"/>
              <a:t>The new operator is used to create an instance of an array. After the new operator, we specify the base type of the array and its length with a bracketed integer expression:</a:t>
            </a:r>
          </a:p>
          <a:p>
            <a:pPr marL="0" indent="0">
              <a:buNone/>
            </a:pPr>
            <a:r>
              <a:rPr lang="en-US" sz="2400" dirty="0"/>
              <a:t>    </a:t>
            </a:r>
            <a:r>
              <a:rPr lang="en-US" sz="2400" b="1" dirty="0" err="1"/>
              <a:t>arrayOfInts</a:t>
            </a:r>
            <a:r>
              <a:rPr lang="en-US" sz="2400" b="1" dirty="0"/>
              <a:t> = new int [42];</a:t>
            </a:r>
          </a:p>
          <a:p>
            <a:pPr marL="0" indent="0">
              <a:buNone/>
            </a:pPr>
            <a:r>
              <a:rPr lang="en-US" sz="2400" b="1" dirty="0"/>
              <a:t>    </a:t>
            </a:r>
            <a:r>
              <a:rPr lang="en-US" sz="2400" b="1" dirty="0" err="1"/>
              <a:t>someStrings</a:t>
            </a:r>
            <a:r>
              <a:rPr lang="en-US" sz="2400" b="1" dirty="0"/>
              <a:t> = new String [ number + 2 ];</a:t>
            </a:r>
          </a:p>
          <a:p>
            <a:pPr marL="0" indent="0">
              <a:buNone/>
            </a:pPr>
            <a:r>
              <a:rPr lang="en-US" sz="2400" dirty="0"/>
              <a:t>We can, of course, combine the steps of declaring and allocating the array:</a:t>
            </a:r>
          </a:p>
          <a:p>
            <a:pPr marL="0" indent="0">
              <a:buNone/>
            </a:pPr>
            <a:r>
              <a:rPr lang="en-US" sz="2400" dirty="0"/>
              <a:t>    </a:t>
            </a:r>
            <a:r>
              <a:rPr lang="en-US" sz="2400" b="1" dirty="0"/>
              <a:t>double [] </a:t>
            </a:r>
            <a:r>
              <a:rPr lang="en-US" sz="2400" b="1" dirty="0" err="1"/>
              <a:t>someNumbers</a:t>
            </a:r>
            <a:r>
              <a:rPr lang="en-US" sz="2400" b="1" dirty="0"/>
              <a:t> = new double [20];</a:t>
            </a:r>
          </a:p>
          <a:p>
            <a:pPr marL="0" indent="0">
              <a:buNone/>
            </a:pPr>
            <a:r>
              <a:rPr lang="en-US" sz="2400" b="1" dirty="0"/>
              <a:t>    Component [] widgets = new Component [12];</a:t>
            </a:r>
          </a:p>
        </p:txBody>
      </p:sp>
    </p:spTree>
    <p:extLst>
      <p:ext uri="{BB962C8B-B14F-4D97-AF65-F5344CB8AC3E}">
        <p14:creationId xmlns:p14="http://schemas.microsoft.com/office/powerpoint/2010/main" val="3031215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D9BD0-3EDF-1207-9E10-72B20FE177EF}"/>
              </a:ext>
            </a:extLst>
          </p:cNvPr>
          <p:cNvSpPr>
            <a:spLocks noGrp="1"/>
          </p:cNvSpPr>
          <p:nvPr>
            <p:ph type="title"/>
          </p:nvPr>
        </p:nvSpPr>
        <p:spPr/>
        <p:txBody>
          <a:bodyPr/>
          <a:lstStyle/>
          <a:p>
            <a:pPr algn="ctr"/>
            <a:r>
              <a:rPr lang="en-US" b="1" dirty="0"/>
              <a:t>Array Elements</a:t>
            </a:r>
          </a:p>
        </p:txBody>
      </p:sp>
      <p:sp>
        <p:nvSpPr>
          <p:cNvPr id="3" name="Content Placeholder 2">
            <a:extLst>
              <a:ext uri="{FF2B5EF4-FFF2-40B4-BE49-F238E27FC236}">
                <a16:creationId xmlns:a16="http://schemas.microsoft.com/office/drawing/2014/main" id="{DB60A93A-B228-BD87-631B-19FA5EEFE6E7}"/>
              </a:ext>
            </a:extLst>
          </p:cNvPr>
          <p:cNvSpPr>
            <a:spLocks noGrp="1"/>
          </p:cNvSpPr>
          <p:nvPr>
            <p:ph idx="1"/>
          </p:nvPr>
        </p:nvSpPr>
        <p:spPr>
          <a:xfrm>
            <a:off x="2835397" y="2067728"/>
            <a:ext cx="8915400" cy="3777622"/>
          </a:xfrm>
        </p:spPr>
        <p:txBody>
          <a:bodyPr>
            <a:normAutofit lnSpcReduction="10000"/>
          </a:bodyPr>
          <a:lstStyle/>
          <a:p>
            <a:pPr marL="0" indent="0">
              <a:buNone/>
            </a:pPr>
            <a:r>
              <a:rPr lang="en-US" sz="2400" dirty="0"/>
              <a:t>Array indices start with zero. Thus, the first element of </a:t>
            </a:r>
            <a:r>
              <a:rPr lang="en-US" sz="2400" dirty="0" err="1"/>
              <a:t>someNumbers</a:t>
            </a:r>
            <a:r>
              <a:rPr lang="en-US" sz="2400" dirty="0"/>
              <a:t>[] is 0, and the last element is 19. </a:t>
            </a:r>
          </a:p>
          <a:p>
            <a:pPr marL="0" indent="0">
              <a:buNone/>
            </a:pPr>
            <a:r>
              <a:rPr lang="en-US" sz="2400" dirty="0"/>
              <a:t>After creation, the array elements are initialized to the default values for their type. For numeric types, this means the elements are initially zero:</a:t>
            </a:r>
          </a:p>
          <a:p>
            <a:pPr marL="0" indent="0">
              <a:buNone/>
            </a:pPr>
            <a:r>
              <a:rPr lang="en-US" sz="2400" b="1" dirty="0"/>
              <a:t>int [] grades = new int [30];</a:t>
            </a:r>
          </a:p>
          <a:p>
            <a:pPr marL="0" indent="0">
              <a:buNone/>
            </a:pPr>
            <a:r>
              <a:rPr lang="en-US" sz="2400" b="1" dirty="0"/>
              <a:t>    grades[0] = 99;</a:t>
            </a:r>
          </a:p>
          <a:p>
            <a:pPr marL="0" indent="0">
              <a:buNone/>
            </a:pPr>
            <a:r>
              <a:rPr lang="en-US" sz="2400" b="1" dirty="0"/>
              <a:t>    grades[1] = 72;</a:t>
            </a:r>
          </a:p>
          <a:p>
            <a:pPr marL="0" indent="0">
              <a:buNone/>
            </a:pPr>
            <a:r>
              <a:rPr lang="en-US" sz="2400" dirty="0"/>
              <a:t>    // grades[2] == 0</a:t>
            </a:r>
          </a:p>
          <a:p>
            <a:pPr marL="0" indent="0">
              <a:buNone/>
            </a:pPr>
            <a:endParaRPr lang="en-US" sz="2400" dirty="0"/>
          </a:p>
        </p:txBody>
      </p:sp>
    </p:spTree>
    <p:extLst>
      <p:ext uri="{BB962C8B-B14F-4D97-AF65-F5344CB8AC3E}">
        <p14:creationId xmlns:p14="http://schemas.microsoft.com/office/powerpoint/2010/main" val="309088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5D1A7-2192-DE2A-2318-2C72A6FFCF10}"/>
              </a:ext>
            </a:extLst>
          </p:cNvPr>
          <p:cNvSpPr>
            <a:spLocks noGrp="1"/>
          </p:cNvSpPr>
          <p:nvPr>
            <p:ph type="title"/>
          </p:nvPr>
        </p:nvSpPr>
        <p:spPr/>
        <p:txBody>
          <a:bodyPr/>
          <a:lstStyle/>
          <a:p>
            <a:pPr algn="ctr"/>
            <a:r>
              <a:rPr lang="en-US" b="1" dirty="0"/>
              <a:t>In An Array of Objects</a:t>
            </a:r>
          </a:p>
        </p:txBody>
      </p:sp>
      <p:sp>
        <p:nvSpPr>
          <p:cNvPr id="3" name="Content Placeholder 2">
            <a:extLst>
              <a:ext uri="{FF2B5EF4-FFF2-40B4-BE49-F238E27FC236}">
                <a16:creationId xmlns:a16="http://schemas.microsoft.com/office/drawing/2014/main" id="{EF6196BB-5DD4-309B-3CD0-C9B30C5961A4}"/>
              </a:ext>
            </a:extLst>
          </p:cNvPr>
          <p:cNvSpPr>
            <a:spLocks noGrp="1"/>
          </p:cNvSpPr>
          <p:nvPr>
            <p:ph idx="1"/>
          </p:nvPr>
        </p:nvSpPr>
        <p:spPr>
          <a:xfrm>
            <a:off x="2589212" y="1383323"/>
            <a:ext cx="8915400" cy="3777622"/>
          </a:xfrm>
        </p:spPr>
        <p:txBody>
          <a:bodyPr>
            <a:noAutofit/>
          </a:bodyPr>
          <a:lstStyle/>
          <a:p>
            <a:pPr marL="0" indent="0">
              <a:buNone/>
            </a:pPr>
            <a:r>
              <a:rPr lang="en-US" sz="2400" dirty="0"/>
              <a:t>The elements of an array of objects are references to the objects—just like individual variables they point to—but do not actually contain instances of the objects. The default value of each element is therefore null until we assign instances of appropriate objects:</a:t>
            </a:r>
          </a:p>
          <a:p>
            <a:pPr marL="0" indent="0">
              <a:buNone/>
            </a:pPr>
            <a:endParaRPr lang="en-US" sz="2400" dirty="0"/>
          </a:p>
          <a:p>
            <a:pPr marL="0" indent="0">
              <a:buNone/>
            </a:pPr>
            <a:r>
              <a:rPr lang="en-US" sz="2400" b="1" dirty="0"/>
              <a:t>    String names [] = new String [4];  </a:t>
            </a:r>
            <a:r>
              <a:rPr lang="en-US" sz="2400" dirty="0"/>
              <a:t>//size of array = 4</a:t>
            </a:r>
          </a:p>
          <a:p>
            <a:pPr marL="0" indent="0">
              <a:buNone/>
            </a:pPr>
            <a:r>
              <a:rPr lang="en-US" sz="2400" b="1" dirty="0"/>
              <a:t>    names [0] = new String();</a:t>
            </a:r>
          </a:p>
          <a:p>
            <a:pPr marL="0" indent="0">
              <a:buNone/>
            </a:pPr>
            <a:r>
              <a:rPr lang="en-US" sz="2400" b="1" dirty="0"/>
              <a:t>    names [1] = "Walla Walla";</a:t>
            </a:r>
          </a:p>
          <a:p>
            <a:pPr marL="0" indent="0">
              <a:buNone/>
            </a:pPr>
            <a:r>
              <a:rPr lang="en-US" sz="2400" b="1" dirty="0"/>
              <a:t>    names [2] = </a:t>
            </a:r>
            <a:r>
              <a:rPr lang="en-US" sz="2400" b="1" dirty="0" err="1"/>
              <a:t>someObject.toString</a:t>
            </a:r>
            <a:r>
              <a:rPr lang="en-US" sz="2400" b="1" dirty="0"/>
              <a:t>();</a:t>
            </a:r>
          </a:p>
          <a:p>
            <a:pPr marL="0" indent="0">
              <a:buNone/>
            </a:pPr>
            <a:r>
              <a:rPr lang="en-US" sz="2400" dirty="0"/>
              <a:t>    // names[3] == null</a:t>
            </a:r>
          </a:p>
        </p:txBody>
      </p:sp>
    </p:spTree>
    <p:extLst>
      <p:ext uri="{BB962C8B-B14F-4D97-AF65-F5344CB8AC3E}">
        <p14:creationId xmlns:p14="http://schemas.microsoft.com/office/powerpoint/2010/main" val="3401139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962D8-1A42-C769-DE70-C47874510917}"/>
              </a:ext>
            </a:extLst>
          </p:cNvPr>
          <p:cNvSpPr>
            <a:spLocks noGrp="1"/>
          </p:cNvSpPr>
          <p:nvPr>
            <p:ph type="title"/>
          </p:nvPr>
        </p:nvSpPr>
        <p:spPr>
          <a:xfrm>
            <a:off x="2180493" y="624110"/>
            <a:ext cx="9324120" cy="1280890"/>
          </a:xfrm>
        </p:spPr>
        <p:txBody>
          <a:bodyPr/>
          <a:lstStyle/>
          <a:p>
            <a:r>
              <a:rPr lang="en-US" b="1" dirty="0"/>
              <a:t>A new Array is filled with null References</a:t>
            </a:r>
          </a:p>
        </p:txBody>
      </p:sp>
      <p:sp>
        <p:nvSpPr>
          <p:cNvPr id="3" name="Content Placeholder 2">
            <a:extLst>
              <a:ext uri="{FF2B5EF4-FFF2-40B4-BE49-F238E27FC236}">
                <a16:creationId xmlns:a16="http://schemas.microsoft.com/office/drawing/2014/main" id="{647D2A4D-D860-8661-12E0-810FC0227183}"/>
              </a:ext>
            </a:extLst>
          </p:cNvPr>
          <p:cNvSpPr>
            <a:spLocks noGrp="1"/>
          </p:cNvSpPr>
          <p:nvPr>
            <p:ph idx="1"/>
          </p:nvPr>
        </p:nvSpPr>
        <p:spPr>
          <a:xfrm>
            <a:off x="2589213" y="1817077"/>
            <a:ext cx="8915400" cy="3777622"/>
          </a:xfrm>
        </p:spPr>
        <p:txBody>
          <a:bodyPr>
            <a:normAutofit/>
          </a:bodyPr>
          <a:lstStyle/>
          <a:p>
            <a:pPr marL="0" indent="0">
              <a:buNone/>
            </a:pPr>
            <a:r>
              <a:rPr lang="en-US" sz="2400" dirty="0"/>
              <a:t>This is an </a:t>
            </a:r>
            <a:r>
              <a:rPr lang="en-US" sz="2400" b="1" dirty="0"/>
              <a:t>important </a:t>
            </a:r>
            <a:r>
              <a:rPr lang="en-US" sz="2400" dirty="0"/>
              <a:t>distinction that can cause confusion. </a:t>
            </a:r>
          </a:p>
          <a:p>
            <a:pPr marL="0" indent="0">
              <a:buNone/>
            </a:pPr>
            <a:r>
              <a:rPr lang="en-US" sz="2400" dirty="0"/>
              <a:t>In many other languages, the act of creating an array is the same as allocating storage for its elements. </a:t>
            </a:r>
          </a:p>
          <a:p>
            <a:pPr marL="0" indent="0">
              <a:buNone/>
            </a:pPr>
            <a:r>
              <a:rPr lang="en-US" sz="2400" dirty="0"/>
              <a:t>In Java, a newly allocated array of objects actually contains only reference variables, each with the value null.</a:t>
            </a:r>
          </a:p>
          <a:p>
            <a:pPr marL="0" indent="0">
              <a:buNone/>
            </a:pPr>
            <a:r>
              <a:rPr lang="en-US" sz="2400" dirty="0"/>
              <a:t>That’s not to say that there is no memory associated with an empty array; memory is needed to hold those references (the empty “slots” in the array). </a:t>
            </a:r>
          </a:p>
        </p:txBody>
      </p:sp>
    </p:spTree>
    <p:extLst>
      <p:ext uri="{BB962C8B-B14F-4D97-AF65-F5344CB8AC3E}">
        <p14:creationId xmlns:p14="http://schemas.microsoft.com/office/powerpoint/2010/main" val="2997653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E091-A5E7-6153-D704-6A7AB80C98FF}"/>
              </a:ext>
            </a:extLst>
          </p:cNvPr>
          <p:cNvSpPr>
            <a:spLocks noGrp="1"/>
          </p:cNvSpPr>
          <p:nvPr>
            <p:ph type="title"/>
          </p:nvPr>
        </p:nvSpPr>
        <p:spPr/>
        <p:txBody>
          <a:bodyPr/>
          <a:lstStyle/>
          <a:p>
            <a:pPr algn="ctr"/>
            <a:r>
              <a:rPr lang="en-US" b="1" dirty="0"/>
              <a:t>Initializing Arrays</a:t>
            </a:r>
          </a:p>
        </p:txBody>
      </p:sp>
      <p:sp>
        <p:nvSpPr>
          <p:cNvPr id="3" name="Content Placeholder 2">
            <a:extLst>
              <a:ext uri="{FF2B5EF4-FFF2-40B4-BE49-F238E27FC236}">
                <a16:creationId xmlns:a16="http://schemas.microsoft.com/office/drawing/2014/main" id="{6FDE9907-889C-C93E-5292-55E6BC612044}"/>
              </a:ext>
            </a:extLst>
          </p:cNvPr>
          <p:cNvSpPr>
            <a:spLocks noGrp="1"/>
          </p:cNvSpPr>
          <p:nvPr>
            <p:ph idx="1"/>
          </p:nvPr>
        </p:nvSpPr>
        <p:spPr>
          <a:xfrm>
            <a:off x="2592925" y="1652954"/>
            <a:ext cx="8915400" cy="4724400"/>
          </a:xfrm>
        </p:spPr>
        <p:txBody>
          <a:bodyPr>
            <a:normAutofit lnSpcReduction="10000"/>
          </a:bodyPr>
          <a:lstStyle/>
          <a:p>
            <a:pPr marL="0" indent="0">
              <a:buNone/>
            </a:pPr>
            <a:r>
              <a:rPr lang="en-US" sz="2400" dirty="0"/>
              <a:t>Java allows us to create an array reference variable and fill the array with array elements without formally instantiating the array.  It’s a shortcut!</a:t>
            </a:r>
          </a:p>
          <a:p>
            <a:pPr marL="0" indent="0">
              <a:buNone/>
            </a:pPr>
            <a:r>
              <a:rPr lang="en-US" sz="2400" dirty="0"/>
              <a:t>Java supports the braced initialization from C++.</a:t>
            </a:r>
          </a:p>
          <a:p>
            <a:pPr marL="0" indent="0">
              <a:buNone/>
            </a:pPr>
            <a:r>
              <a:rPr lang="fr-FR" sz="2400" b="1" dirty="0"/>
              <a:t> </a:t>
            </a:r>
            <a:r>
              <a:rPr lang="fr-FR" sz="2400" b="1" dirty="0" err="1"/>
              <a:t>int</a:t>
            </a:r>
            <a:r>
              <a:rPr lang="fr-FR" sz="2400" b="1" dirty="0"/>
              <a:t> [] primes = { 2, 3, 5, 7, 7+4 }; </a:t>
            </a:r>
          </a:p>
          <a:p>
            <a:pPr marL="0" indent="0">
              <a:buNone/>
            </a:pPr>
            <a:r>
              <a:rPr lang="en-US" sz="2400" dirty="0"/>
              <a:t>An array object of the proper type and length is implicitly created, and the values of the comma-separated list of expressions are assigned to its elements. </a:t>
            </a:r>
          </a:p>
          <a:p>
            <a:pPr marL="0" indent="0">
              <a:buNone/>
            </a:pPr>
            <a:r>
              <a:rPr lang="en-US" sz="2400" dirty="0"/>
              <a:t>Note that we did not use the new keyword or the array type here.</a:t>
            </a:r>
          </a:p>
          <a:p>
            <a:pPr marL="0" indent="0">
              <a:buNone/>
            </a:pPr>
            <a:r>
              <a:rPr lang="en-US" sz="2400" dirty="0"/>
              <a:t> The type of the array was inferred from the assignment.</a:t>
            </a:r>
          </a:p>
        </p:txBody>
      </p:sp>
    </p:spTree>
    <p:extLst>
      <p:ext uri="{BB962C8B-B14F-4D97-AF65-F5344CB8AC3E}">
        <p14:creationId xmlns:p14="http://schemas.microsoft.com/office/powerpoint/2010/main" val="631768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0AC3-CD80-FC6F-2940-D4495B4F2857}"/>
              </a:ext>
            </a:extLst>
          </p:cNvPr>
          <p:cNvSpPr>
            <a:spLocks noGrp="1"/>
          </p:cNvSpPr>
          <p:nvPr>
            <p:ph type="title"/>
          </p:nvPr>
        </p:nvSpPr>
        <p:spPr/>
        <p:txBody>
          <a:bodyPr/>
          <a:lstStyle/>
          <a:p>
            <a:pPr algn="ctr"/>
            <a:r>
              <a:rPr lang="en-US" b="1" dirty="0"/>
              <a:t>Use the Braced Syntax for Objects, too</a:t>
            </a:r>
          </a:p>
        </p:txBody>
      </p:sp>
      <p:sp>
        <p:nvSpPr>
          <p:cNvPr id="3" name="Content Placeholder 2">
            <a:extLst>
              <a:ext uri="{FF2B5EF4-FFF2-40B4-BE49-F238E27FC236}">
                <a16:creationId xmlns:a16="http://schemas.microsoft.com/office/drawing/2014/main" id="{9445EACD-0F91-A858-E8F7-30AE335A3F27}"/>
              </a:ext>
            </a:extLst>
          </p:cNvPr>
          <p:cNvSpPr>
            <a:spLocks noGrp="1"/>
          </p:cNvSpPr>
          <p:nvPr>
            <p:ph idx="1"/>
          </p:nvPr>
        </p:nvSpPr>
        <p:spPr>
          <a:xfrm>
            <a:off x="2589211" y="1465385"/>
            <a:ext cx="9485557" cy="4935415"/>
          </a:xfrm>
        </p:spPr>
        <p:txBody>
          <a:bodyPr>
            <a:normAutofit/>
          </a:bodyPr>
          <a:lstStyle/>
          <a:p>
            <a:pPr marL="0" indent="0">
              <a:buNone/>
            </a:pPr>
            <a:r>
              <a:rPr lang="en-US" sz="2400" dirty="0"/>
              <a:t>We can use the {} syntax with an array of objects. </a:t>
            </a:r>
          </a:p>
          <a:p>
            <a:pPr marL="0" indent="0">
              <a:buNone/>
            </a:pPr>
            <a:r>
              <a:rPr lang="en-US" sz="2400" dirty="0"/>
              <a:t>In this case, each expression must evaluate to an object that can be assigned to a variable of the base type of the array or the value null. Here are some examples:</a:t>
            </a:r>
          </a:p>
          <a:p>
            <a:pPr marL="0" indent="0">
              <a:buNone/>
            </a:pPr>
            <a:r>
              <a:rPr lang="en-US" sz="2400" b="1" dirty="0"/>
              <a:t>    String [] verbs = { "run", "jump", </a:t>
            </a:r>
            <a:r>
              <a:rPr lang="en-US" sz="2400" b="1" dirty="0" err="1"/>
              <a:t>someWord.toString</a:t>
            </a:r>
            <a:r>
              <a:rPr lang="en-US" sz="2400" b="1" dirty="0"/>
              <a:t>() };</a:t>
            </a:r>
          </a:p>
          <a:p>
            <a:pPr marL="0" indent="0">
              <a:buNone/>
            </a:pPr>
            <a:r>
              <a:rPr lang="en-US" sz="2400" b="1" dirty="0"/>
              <a:t>    Button [] controls = { </a:t>
            </a:r>
            <a:r>
              <a:rPr lang="en-US" sz="2400" b="1" dirty="0" err="1"/>
              <a:t>stopButton</a:t>
            </a:r>
            <a:r>
              <a:rPr lang="en-US" sz="2400" b="1" dirty="0"/>
              <a:t>, new Button("Forwards"),</a:t>
            </a:r>
          </a:p>
          <a:p>
            <a:pPr marL="0" indent="0">
              <a:buNone/>
            </a:pPr>
            <a:r>
              <a:rPr lang="en-US" sz="2400" b="1" dirty="0"/>
              <a:t>        new Button("Backwards") };</a:t>
            </a:r>
          </a:p>
          <a:p>
            <a:pPr marL="0" indent="0">
              <a:buNone/>
            </a:pPr>
            <a:r>
              <a:rPr lang="en-US" sz="2400" dirty="0"/>
              <a:t>    // All types are subtypes of Object</a:t>
            </a:r>
          </a:p>
          <a:p>
            <a:pPr marL="0" indent="0">
              <a:buNone/>
            </a:pPr>
            <a:r>
              <a:rPr lang="en-US" sz="2400" dirty="0"/>
              <a:t>    </a:t>
            </a:r>
            <a:r>
              <a:rPr lang="en-US" sz="2400" b="1" dirty="0"/>
              <a:t>Object [] objects = { </a:t>
            </a:r>
            <a:r>
              <a:rPr lang="en-US" sz="2400" b="1" dirty="0" err="1"/>
              <a:t>stopButton</a:t>
            </a:r>
            <a:r>
              <a:rPr lang="en-US" sz="2400" b="1" dirty="0"/>
              <a:t>, "A word", null };</a:t>
            </a:r>
          </a:p>
        </p:txBody>
      </p:sp>
    </p:spTree>
    <p:extLst>
      <p:ext uri="{BB962C8B-B14F-4D97-AF65-F5344CB8AC3E}">
        <p14:creationId xmlns:p14="http://schemas.microsoft.com/office/powerpoint/2010/main" val="162478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9D822-F486-ACC9-A9F6-3428513904A3}"/>
              </a:ext>
            </a:extLst>
          </p:cNvPr>
          <p:cNvSpPr>
            <a:spLocks noGrp="1"/>
          </p:cNvSpPr>
          <p:nvPr>
            <p:ph type="title"/>
          </p:nvPr>
        </p:nvSpPr>
        <p:spPr/>
        <p:txBody>
          <a:bodyPr/>
          <a:lstStyle/>
          <a:p>
            <a:r>
              <a:rPr lang="en-US" dirty="0"/>
              <a:t>Keeping this in mind:</a:t>
            </a:r>
          </a:p>
        </p:txBody>
      </p:sp>
      <p:sp>
        <p:nvSpPr>
          <p:cNvPr id="3" name="Content Placeholder 2">
            <a:extLst>
              <a:ext uri="{FF2B5EF4-FFF2-40B4-BE49-F238E27FC236}">
                <a16:creationId xmlns:a16="http://schemas.microsoft.com/office/drawing/2014/main" id="{859A6D63-95E8-E178-83F7-BCAC3C588B97}"/>
              </a:ext>
            </a:extLst>
          </p:cNvPr>
          <p:cNvSpPr>
            <a:spLocks noGrp="1"/>
          </p:cNvSpPr>
          <p:nvPr>
            <p:ph idx="1"/>
          </p:nvPr>
        </p:nvSpPr>
        <p:spPr/>
        <p:txBody>
          <a:bodyPr>
            <a:normAutofit/>
          </a:bodyPr>
          <a:lstStyle/>
          <a:p>
            <a:pPr marL="0" indent="0">
              <a:buNone/>
            </a:pPr>
            <a:r>
              <a:rPr lang="en-US" sz="2400" dirty="0"/>
              <a:t>The following are equivalent:</a:t>
            </a:r>
          </a:p>
          <a:p>
            <a:pPr marL="0" indent="0">
              <a:buNone/>
            </a:pPr>
            <a:endParaRPr lang="en-US" sz="2400" dirty="0"/>
          </a:p>
          <a:p>
            <a:pPr marL="0" indent="0">
              <a:buNone/>
            </a:pPr>
            <a:r>
              <a:rPr lang="en-US" sz="2400" b="1" dirty="0"/>
              <a:t>    Button [] </a:t>
            </a:r>
            <a:r>
              <a:rPr lang="en-US" sz="2400" b="1" dirty="0" err="1"/>
              <a:t>threeButtons</a:t>
            </a:r>
            <a:r>
              <a:rPr lang="en-US" sz="2400" b="1" dirty="0"/>
              <a:t> = new Button [3];  </a:t>
            </a:r>
            <a:r>
              <a:rPr lang="en-US" sz="2400" dirty="0"/>
              <a:t>//size of array = 3</a:t>
            </a:r>
          </a:p>
          <a:p>
            <a:pPr marL="0" indent="0">
              <a:buNone/>
            </a:pPr>
            <a:r>
              <a:rPr lang="en-US" sz="2400" b="1" dirty="0"/>
              <a:t>    Button [] </a:t>
            </a:r>
            <a:r>
              <a:rPr lang="en-US" sz="2400" b="1" dirty="0" err="1"/>
              <a:t>threeButtons</a:t>
            </a:r>
            <a:r>
              <a:rPr lang="en-US" sz="2400" b="1" dirty="0"/>
              <a:t> = { null, null, null };</a:t>
            </a:r>
          </a:p>
        </p:txBody>
      </p:sp>
    </p:spTree>
    <p:extLst>
      <p:ext uri="{BB962C8B-B14F-4D97-AF65-F5344CB8AC3E}">
        <p14:creationId xmlns:p14="http://schemas.microsoft.com/office/powerpoint/2010/main" val="3685971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C62C2-4807-2864-7B98-72C72925D178}"/>
              </a:ext>
            </a:extLst>
          </p:cNvPr>
          <p:cNvSpPr>
            <a:spLocks noGrp="1"/>
          </p:cNvSpPr>
          <p:nvPr>
            <p:ph type="title"/>
          </p:nvPr>
        </p:nvSpPr>
        <p:spPr/>
        <p:txBody>
          <a:bodyPr/>
          <a:lstStyle/>
          <a:p>
            <a:pPr algn="ctr"/>
            <a:r>
              <a:rPr lang="en-US" b="1" dirty="0"/>
              <a:t>Using Arrays</a:t>
            </a:r>
          </a:p>
        </p:txBody>
      </p:sp>
      <p:sp>
        <p:nvSpPr>
          <p:cNvPr id="3" name="Content Placeholder 2">
            <a:extLst>
              <a:ext uri="{FF2B5EF4-FFF2-40B4-BE49-F238E27FC236}">
                <a16:creationId xmlns:a16="http://schemas.microsoft.com/office/drawing/2014/main" id="{066BCEDB-D2D1-FB80-E20B-B492890D2389}"/>
              </a:ext>
            </a:extLst>
          </p:cNvPr>
          <p:cNvSpPr>
            <a:spLocks noGrp="1"/>
          </p:cNvSpPr>
          <p:nvPr>
            <p:ph idx="1"/>
          </p:nvPr>
        </p:nvSpPr>
        <p:spPr>
          <a:xfrm>
            <a:off x="2592925" y="1540189"/>
            <a:ext cx="8915400" cy="3777622"/>
          </a:xfrm>
        </p:spPr>
        <p:txBody>
          <a:bodyPr>
            <a:noAutofit/>
          </a:bodyPr>
          <a:lstStyle/>
          <a:p>
            <a:pPr marL="0" indent="0">
              <a:buNone/>
            </a:pPr>
            <a:r>
              <a:rPr lang="en-US" sz="2400" dirty="0"/>
              <a:t>The size of an array object is available in the public variable length:</a:t>
            </a:r>
          </a:p>
          <a:p>
            <a:pPr marL="0" indent="0">
              <a:buNone/>
            </a:pPr>
            <a:r>
              <a:rPr lang="en-US" sz="2400" dirty="0"/>
              <a:t>    </a:t>
            </a:r>
            <a:r>
              <a:rPr lang="en-US" sz="2400" b="1" dirty="0"/>
              <a:t>char [] alphabet = new char [26];</a:t>
            </a:r>
          </a:p>
          <a:p>
            <a:pPr marL="0" indent="0">
              <a:buNone/>
            </a:pPr>
            <a:r>
              <a:rPr lang="en-US" sz="2400" b="1" dirty="0"/>
              <a:t>    int </a:t>
            </a:r>
            <a:r>
              <a:rPr lang="en-US" sz="2400" b="1" dirty="0" err="1"/>
              <a:t>alphaLen</a:t>
            </a:r>
            <a:r>
              <a:rPr lang="en-US" sz="2400" b="1" dirty="0"/>
              <a:t> = </a:t>
            </a:r>
            <a:r>
              <a:rPr lang="en-US" sz="2400" b="1" dirty="0" err="1"/>
              <a:t>alphabet.length</a:t>
            </a:r>
            <a:r>
              <a:rPr lang="en-US" sz="2400" b="1" dirty="0"/>
              <a:t>;      </a:t>
            </a:r>
            <a:r>
              <a:rPr lang="en-US" sz="2400" dirty="0"/>
              <a:t>// </a:t>
            </a:r>
            <a:r>
              <a:rPr lang="en-US" sz="2400" dirty="0" err="1"/>
              <a:t>alphaLen</a:t>
            </a:r>
            <a:r>
              <a:rPr lang="en-US" sz="2400" dirty="0"/>
              <a:t> == 26</a:t>
            </a:r>
          </a:p>
          <a:p>
            <a:pPr marL="0" indent="0">
              <a:buNone/>
            </a:pPr>
            <a:r>
              <a:rPr lang="en-US" sz="2400" dirty="0"/>
              <a:t>    </a:t>
            </a:r>
            <a:r>
              <a:rPr lang="en-US" sz="2400" b="1" dirty="0"/>
              <a:t>String [] musketeers = { "one", "two", "three" };</a:t>
            </a:r>
          </a:p>
          <a:p>
            <a:pPr marL="0" indent="0">
              <a:buNone/>
            </a:pPr>
            <a:r>
              <a:rPr lang="en-US" sz="2400" b="1" dirty="0"/>
              <a:t>    int num = </a:t>
            </a:r>
            <a:r>
              <a:rPr lang="en-US" sz="2400" b="1" dirty="0" err="1"/>
              <a:t>musketeers.length</a:t>
            </a:r>
            <a:r>
              <a:rPr lang="en-US" sz="2400" b="1" dirty="0"/>
              <a:t>;                </a:t>
            </a:r>
            <a:r>
              <a:rPr lang="en-US" sz="2400" dirty="0"/>
              <a:t>// num == 3</a:t>
            </a:r>
          </a:p>
          <a:p>
            <a:pPr marL="0" indent="0">
              <a:buNone/>
            </a:pPr>
            <a:r>
              <a:rPr lang="en-US" sz="2400" dirty="0"/>
              <a:t>length is the only accessible field of an array; it is a variable, not a method.</a:t>
            </a:r>
          </a:p>
        </p:txBody>
      </p:sp>
    </p:spTree>
    <p:extLst>
      <p:ext uri="{BB962C8B-B14F-4D97-AF65-F5344CB8AC3E}">
        <p14:creationId xmlns:p14="http://schemas.microsoft.com/office/powerpoint/2010/main" val="1330386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C1F-8C22-EAA4-F97E-DF518AD5A5C9}"/>
              </a:ext>
            </a:extLst>
          </p:cNvPr>
          <p:cNvSpPr>
            <a:spLocks noGrp="1"/>
          </p:cNvSpPr>
          <p:nvPr>
            <p:ph type="title"/>
          </p:nvPr>
        </p:nvSpPr>
        <p:spPr/>
        <p:txBody>
          <a:bodyPr/>
          <a:lstStyle/>
          <a:p>
            <a:pPr algn="ctr"/>
            <a:r>
              <a:rPr lang="en-US" b="1" dirty="0"/>
              <a:t>Array Access </a:t>
            </a:r>
          </a:p>
        </p:txBody>
      </p:sp>
      <p:sp>
        <p:nvSpPr>
          <p:cNvPr id="3" name="Content Placeholder 2">
            <a:extLst>
              <a:ext uri="{FF2B5EF4-FFF2-40B4-BE49-F238E27FC236}">
                <a16:creationId xmlns:a16="http://schemas.microsoft.com/office/drawing/2014/main" id="{A0E8B628-75E0-2FF9-9B84-003044E16EED}"/>
              </a:ext>
            </a:extLst>
          </p:cNvPr>
          <p:cNvSpPr>
            <a:spLocks noGrp="1"/>
          </p:cNvSpPr>
          <p:nvPr>
            <p:ph idx="1"/>
          </p:nvPr>
        </p:nvSpPr>
        <p:spPr>
          <a:xfrm>
            <a:off x="2788504" y="1453661"/>
            <a:ext cx="8915400" cy="3777622"/>
          </a:xfrm>
        </p:spPr>
        <p:txBody>
          <a:bodyPr>
            <a:noAutofit/>
          </a:bodyPr>
          <a:lstStyle/>
          <a:p>
            <a:pPr marL="0" indent="0">
              <a:buNone/>
            </a:pPr>
            <a:r>
              <a:rPr lang="en-US" sz="2400" dirty="0"/>
              <a:t>Array access in Java is just like array access in other languages; you access an element by putting an integer-valued expression between brackets after the name of the array. </a:t>
            </a:r>
          </a:p>
          <a:p>
            <a:pPr marL="0" indent="0">
              <a:buNone/>
            </a:pPr>
            <a:r>
              <a:rPr lang="en-US" sz="2400" dirty="0"/>
              <a:t>The following example creates an array of Button objects called </a:t>
            </a:r>
            <a:r>
              <a:rPr lang="en-US" sz="2400" dirty="0" err="1"/>
              <a:t>keyPad</a:t>
            </a:r>
            <a:r>
              <a:rPr lang="en-US" sz="2400" dirty="0"/>
              <a:t> and then fills the array with Button objects:</a:t>
            </a:r>
          </a:p>
          <a:p>
            <a:pPr marL="0" indent="0">
              <a:buNone/>
            </a:pPr>
            <a:endParaRPr lang="en-US" sz="2400" dirty="0"/>
          </a:p>
          <a:p>
            <a:pPr marL="0" indent="0">
              <a:buNone/>
            </a:pPr>
            <a:r>
              <a:rPr lang="en-US" sz="2400" b="1" dirty="0"/>
              <a:t>    Button [] </a:t>
            </a:r>
            <a:r>
              <a:rPr lang="en-US" sz="2400" b="1" dirty="0" err="1"/>
              <a:t>keyPad</a:t>
            </a:r>
            <a:r>
              <a:rPr lang="en-US" sz="2400" b="1" dirty="0"/>
              <a:t> = new Button [ 10 ];</a:t>
            </a:r>
          </a:p>
          <a:p>
            <a:pPr marL="0" indent="0">
              <a:buNone/>
            </a:pPr>
            <a:r>
              <a:rPr lang="en-US" sz="2400" b="1" dirty="0"/>
              <a:t>    for ( int </a:t>
            </a:r>
            <a:r>
              <a:rPr lang="en-US" sz="2400" b="1" dirty="0" err="1"/>
              <a:t>i</a:t>
            </a:r>
            <a:r>
              <a:rPr lang="en-US" sz="2400" b="1" dirty="0"/>
              <a:t>=0; </a:t>
            </a:r>
            <a:r>
              <a:rPr lang="en-US" sz="2400" b="1" dirty="0" err="1"/>
              <a:t>i</a:t>
            </a:r>
            <a:r>
              <a:rPr lang="en-US" sz="2400" b="1" dirty="0"/>
              <a:t> &lt; </a:t>
            </a:r>
            <a:r>
              <a:rPr lang="en-US" sz="2400" b="1" dirty="0" err="1"/>
              <a:t>keyPad.length</a:t>
            </a:r>
            <a:r>
              <a:rPr lang="en-US" sz="2400" b="1" dirty="0"/>
              <a:t>; </a:t>
            </a:r>
            <a:r>
              <a:rPr lang="en-US" sz="2400" b="1" dirty="0" err="1"/>
              <a:t>i</a:t>
            </a:r>
            <a:r>
              <a:rPr lang="en-US" sz="2400" b="1" dirty="0"/>
              <a:t>++ )</a:t>
            </a:r>
          </a:p>
          <a:p>
            <a:pPr marL="0" indent="0">
              <a:buNone/>
            </a:pPr>
            <a:r>
              <a:rPr lang="en-US" sz="2400" b="1" dirty="0"/>
              <a:t>       </a:t>
            </a:r>
            <a:r>
              <a:rPr lang="en-US" sz="2400" b="1" dirty="0" err="1"/>
              <a:t>keyPad</a:t>
            </a:r>
            <a:r>
              <a:rPr lang="en-US" sz="2400" b="1" dirty="0"/>
              <a:t>[ </a:t>
            </a:r>
            <a:r>
              <a:rPr lang="en-US" sz="2400" b="1" dirty="0" err="1"/>
              <a:t>i</a:t>
            </a:r>
            <a:r>
              <a:rPr lang="en-US" sz="2400" b="1" dirty="0"/>
              <a:t> ] = new Button( </a:t>
            </a:r>
            <a:r>
              <a:rPr lang="en-US" sz="2400" b="1" dirty="0" err="1"/>
              <a:t>Integer.toString</a:t>
            </a:r>
            <a:r>
              <a:rPr lang="en-US" sz="2400" b="1" dirty="0"/>
              <a:t>( </a:t>
            </a:r>
            <a:r>
              <a:rPr lang="en-US" sz="2400" b="1" dirty="0" err="1"/>
              <a:t>i</a:t>
            </a:r>
            <a:r>
              <a:rPr lang="en-US" sz="2400" b="1" dirty="0"/>
              <a:t> ) );</a:t>
            </a:r>
          </a:p>
        </p:txBody>
      </p:sp>
    </p:spTree>
    <p:extLst>
      <p:ext uri="{BB962C8B-B14F-4D97-AF65-F5344CB8AC3E}">
        <p14:creationId xmlns:p14="http://schemas.microsoft.com/office/powerpoint/2010/main" val="3226381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2B154-EF0F-2985-1C74-7BAF86803B3E}"/>
              </a:ext>
            </a:extLst>
          </p:cNvPr>
          <p:cNvSpPr>
            <a:spLocks noGrp="1"/>
          </p:cNvSpPr>
          <p:nvPr>
            <p:ph type="title"/>
          </p:nvPr>
        </p:nvSpPr>
        <p:spPr/>
        <p:txBody>
          <a:bodyPr/>
          <a:lstStyle/>
          <a:p>
            <a:pPr algn="ctr"/>
            <a:r>
              <a:rPr lang="en-US" b="1" dirty="0"/>
              <a:t>Remember the Enhance For Loop</a:t>
            </a:r>
          </a:p>
        </p:txBody>
      </p:sp>
      <p:sp>
        <p:nvSpPr>
          <p:cNvPr id="3" name="Content Placeholder 2">
            <a:extLst>
              <a:ext uri="{FF2B5EF4-FFF2-40B4-BE49-F238E27FC236}">
                <a16:creationId xmlns:a16="http://schemas.microsoft.com/office/drawing/2014/main" id="{8E8B1553-2646-F0B2-5EA0-669CB2BED42A}"/>
              </a:ext>
            </a:extLst>
          </p:cNvPr>
          <p:cNvSpPr>
            <a:spLocks noGrp="1"/>
          </p:cNvSpPr>
          <p:nvPr>
            <p:ph idx="1"/>
          </p:nvPr>
        </p:nvSpPr>
        <p:spPr>
          <a:xfrm>
            <a:off x="2507149" y="1540189"/>
            <a:ext cx="9368327" cy="4848888"/>
          </a:xfrm>
        </p:spPr>
        <p:txBody>
          <a:bodyPr>
            <a:normAutofit/>
          </a:bodyPr>
          <a:lstStyle/>
          <a:p>
            <a:pPr marL="0" indent="0">
              <a:buNone/>
            </a:pPr>
            <a:r>
              <a:rPr lang="en-US" sz="2400" dirty="0"/>
              <a:t>Remember that we can also use the enhanced for loop to iterate over array values. Here we’ll use it to print all the values we just assigned:</a:t>
            </a:r>
          </a:p>
          <a:p>
            <a:pPr marL="0" indent="0">
              <a:buNone/>
            </a:pPr>
            <a:r>
              <a:rPr lang="en-US" sz="2400" dirty="0"/>
              <a:t>    </a:t>
            </a:r>
            <a:r>
              <a:rPr lang="en-US" sz="2400" b="1" dirty="0"/>
              <a:t>for (Button b : </a:t>
            </a:r>
            <a:r>
              <a:rPr lang="en-US" sz="2400" b="1" dirty="0" err="1"/>
              <a:t>keyPad</a:t>
            </a:r>
            <a:r>
              <a:rPr lang="en-US" sz="2400" b="1" dirty="0"/>
              <a:t>)</a:t>
            </a:r>
          </a:p>
          <a:p>
            <a:pPr marL="0" indent="0">
              <a:buNone/>
            </a:pPr>
            <a:r>
              <a:rPr lang="en-US" sz="2400" dirty="0"/>
              <a:t>        </a:t>
            </a:r>
            <a:r>
              <a:rPr lang="en-US" sz="2400" b="1" dirty="0" err="1"/>
              <a:t>System.out.println</a:t>
            </a:r>
            <a:r>
              <a:rPr lang="en-US" sz="2400" b="1" dirty="0"/>
              <a:t>(b);</a:t>
            </a:r>
          </a:p>
          <a:p>
            <a:pPr marL="0" indent="0">
              <a:buNone/>
            </a:pPr>
            <a:r>
              <a:rPr lang="en-US" sz="2400" dirty="0"/>
              <a:t>One big advantage of the enhanced for loop is that it only starts at the beginning and goes to the end.  There is no possibility of an array index going out of bounds.</a:t>
            </a:r>
          </a:p>
          <a:p>
            <a:pPr marL="0" indent="0">
              <a:buNone/>
            </a:pPr>
            <a:r>
              <a:rPr lang="en-US" sz="2400" dirty="0"/>
              <a:t>Attempting to access an element that is outside the range of the array generates an </a:t>
            </a:r>
            <a:r>
              <a:rPr lang="en-US" sz="2400" dirty="0" err="1"/>
              <a:t>arrayIndexOutOfBoundsException</a:t>
            </a:r>
            <a:r>
              <a:rPr lang="en-US" sz="2400" dirty="0"/>
              <a:t>. </a:t>
            </a:r>
          </a:p>
          <a:p>
            <a:pPr marL="0" indent="0">
              <a:buNone/>
            </a:pPr>
            <a:r>
              <a:rPr lang="en-US" sz="2400" dirty="0"/>
              <a:t>Yikes!</a:t>
            </a:r>
          </a:p>
        </p:txBody>
      </p:sp>
    </p:spTree>
    <p:extLst>
      <p:ext uri="{BB962C8B-B14F-4D97-AF65-F5344CB8AC3E}">
        <p14:creationId xmlns:p14="http://schemas.microsoft.com/office/powerpoint/2010/main" val="1799911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3867A-413B-829C-3B99-4A87F947817B}"/>
              </a:ext>
            </a:extLst>
          </p:cNvPr>
          <p:cNvSpPr>
            <a:spLocks noGrp="1"/>
          </p:cNvSpPr>
          <p:nvPr>
            <p:ph type="title"/>
          </p:nvPr>
        </p:nvSpPr>
        <p:spPr/>
        <p:txBody>
          <a:bodyPr/>
          <a:lstStyle/>
          <a:p>
            <a:pPr algn="ctr"/>
            <a:r>
              <a:rPr lang="en-US" b="1" dirty="0"/>
              <a:t>Array Index Out of Bounds</a:t>
            </a:r>
          </a:p>
        </p:txBody>
      </p:sp>
      <p:sp>
        <p:nvSpPr>
          <p:cNvPr id="3" name="Content Placeholder 2">
            <a:extLst>
              <a:ext uri="{FF2B5EF4-FFF2-40B4-BE49-F238E27FC236}">
                <a16:creationId xmlns:a16="http://schemas.microsoft.com/office/drawing/2014/main" id="{084D25A2-4ABB-909B-69AE-8E974E5071F3}"/>
              </a:ext>
            </a:extLst>
          </p:cNvPr>
          <p:cNvSpPr>
            <a:spLocks noGrp="1"/>
          </p:cNvSpPr>
          <p:nvPr>
            <p:ph idx="1"/>
          </p:nvPr>
        </p:nvSpPr>
        <p:spPr>
          <a:xfrm>
            <a:off x="2589212" y="1172307"/>
            <a:ext cx="8915400" cy="5193323"/>
          </a:xfrm>
        </p:spPr>
        <p:txBody>
          <a:bodyPr>
            <a:normAutofit/>
          </a:bodyPr>
          <a:lstStyle/>
          <a:p>
            <a:pPr marL="0" indent="0">
              <a:buNone/>
            </a:pPr>
            <a:r>
              <a:rPr lang="en-US" sz="2000" dirty="0"/>
              <a:t>Here’s a taste of the try/catch syntax Java uses to wrap such  potentially problematic code:</a:t>
            </a:r>
          </a:p>
          <a:p>
            <a:pPr marL="0" indent="0">
              <a:buNone/>
            </a:pPr>
            <a:r>
              <a:rPr lang="en-US" sz="2000" b="1" dirty="0"/>
              <a:t>    String [] states = new String [50];</a:t>
            </a:r>
          </a:p>
          <a:p>
            <a:pPr marL="0" indent="0">
              <a:buNone/>
            </a:pPr>
            <a:r>
              <a:rPr lang="en-US" sz="2000" b="1" dirty="0"/>
              <a:t>    try {</a:t>
            </a:r>
          </a:p>
          <a:p>
            <a:pPr marL="0" indent="0">
              <a:buNone/>
            </a:pPr>
            <a:r>
              <a:rPr lang="en-US" sz="2000" b="1" dirty="0"/>
              <a:t>        states[0] = "California";</a:t>
            </a:r>
          </a:p>
          <a:p>
            <a:pPr marL="0" indent="0">
              <a:buNone/>
            </a:pPr>
            <a:r>
              <a:rPr lang="en-US" sz="2000" b="1" dirty="0"/>
              <a:t>        states[1] = "Oregon";</a:t>
            </a:r>
          </a:p>
          <a:p>
            <a:pPr marL="0" indent="0">
              <a:buNone/>
            </a:pPr>
            <a:r>
              <a:rPr lang="en-US" sz="2000" b="1" dirty="0"/>
              <a:t>        ...</a:t>
            </a:r>
          </a:p>
          <a:p>
            <a:pPr marL="0" indent="0">
              <a:buNone/>
            </a:pPr>
            <a:r>
              <a:rPr lang="en-US" sz="2000" b="1" dirty="0"/>
              <a:t>        states[50] = "McDonald's Land";  // Error: array out of bounds</a:t>
            </a:r>
          </a:p>
          <a:p>
            <a:pPr marL="0" indent="0">
              <a:buNone/>
            </a:pPr>
            <a:r>
              <a:rPr lang="en-US" sz="2000" b="1" dirty="0"/>
              <a:t>    }</a:t>
            </a:r>
          </a:p>
          <a:p>
            <a:pPr marL="0" indent="0">
              <a:buNone/>
            </a:pPr>
            <a:r>
              <a:rPr lang="en-US" sz="2000" b="1" dirty="0"/>
              <a:t>    catch ( </a:t>
            </a:r>
            <a:r>
              <a:rPr lang="en-US" sz="2000" b="1" dirty="0" err="1"/>
              <a:t>ArrayIndexOutOfBoundsException</a:t>
            </a:r>
            <a:r>
              <a:rPr lang="en-US" sz="2000" b="1" dirty="0"/>
              <a:t> err ) {</a:t>
            </a:r>
          </a:p>
          <a:p>
            <a:pPr marL="0" indent="0">
              <a:buNone/>
            </a:pPr>
            <a:r>
              <a:rPr lang="en-US" sz="2000" b="1" dirty="0"/>
              <a:t>        </a:t>
            </a:r>
            <a:r>
              <a:rPr lang="en-US" sz="2000" b="1" dirty="0" err="1"/>
              <a:t>System.out.println</a:t>
            </a:r>
            <a:r>
              <a:rPr lang="en-US" sz="2000" b="1" dirty="0"/>
              <a:t>( "Handled error: " + </a:t>
            </a:r>
            <a:r>
              <a:rPr lang="en-US" sz="2000" b="1" dirty="0" err="1"/>
              <a:t>err.getMessage</a:t>
            </a:r>
            <a:r>
              <a:rPr lang="en-US" sz="2000" b="1" dirty="0"/>
              <a:t>() );</a:t>
            </a:r>
          </a:p>
          <a:p>
            <a:pPr marL="0" indent="0">
              <a:buNone/>
            </a:pPr>
            <a:r>
              <a:rPr lang="en-US" sz="2000" b="1" dirty="0"/>
              <a:t>    }</a:t>
            </a:r>
          </a:p>
        </p:txBody>
      </p:sp>
    </p:spTree>
    <p:extLst>
      <p:ext uri="{BB962C8B-B14F-4D97-AF65-F5344CB8AC3E}">
        <p14:creationId xmlns:p14="http://schemas.microsoft.com/office/powerpoint/2010/main" val="499113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F4A05-5FF2-1725-58E7-0CAA27CA0025}"/>
              </a:ext>
            </a:extLst>
          </p:cNvPr>
          <p:cNvSpPr>
            <a:spLocks noGrp="1"/>
          </p:cNvSpPr>
          <p:nvPr>
            <p:ph type="title"/>
          </p:nvPr>
        </p:nvSpPr>
        <p:spPr/>
        <p:txBody>
          <a:bodyPr/>
          <a:lstStyle/>
          <a:p>
            <a:pPr algn="ctr"/>
            <a:r>
              <a:rPr lang="en-US" b="1" dirty="0"/>
              <a:t>Copying Arrays</a:t>
            </a:r>
          </a:p>
        </p:txBody>
      </p:sp>
      <p:sp>
        <p:nvSpPr>
          <p:cNvPr id="3" name="Content Placeholder 2">
            <a:extLst>
              <a:ext uri="{FF2B5EF4-FFF2-40B4-BE49-F238E27FC236}">
                <a16:creationId xmlns:a16="http://schemas.microsoft.com/office/drawing/2014/main" id="{3EEF8F24-DD20-1135-5EED-E98779E5A25A}"/>
              </a:ext>
            </a:extLst>
          </p:cNvPr>
          <p:cNvSpPr>
            <a:spLocks noGrp="1"/>
          </p:cNvSpPr>
          <p:nvPr>
            <p:ph idx="1"/>
          </p:nvPr>
        </p:nvSpPr>
        <p:spPr>
          <a:xfrm>
            <a:off x="2592925" y="1805354"/>
            <a:ext cx="8915400" cy="3777622"/>
          </a:xfrm>
        </p:spPr>
        <p:txBody>
          <a:bodyPr>
            <a:normAutofit/>
          </a:bodyPr>
          <a:lstStyle/>
          <a:p>
            <a:pPr marL="0" indent="0">
              <a:buNone/>
            </a:pPr>
            <a:r>
              <a:rPr lang="en-US" sz="2400" dirty="0"/>
              <a:t>It’s a common task to copy a range of elements from one array into another. </a:t>
            </a:r>
          </a:p>
          <a:p>
            <a:pPr marL="0" indent="0">
              <a:buNone/>
            </a:pPr>
            <a:r>
              <a:rPr lang="en-US" sz="2400" dirty="0"/>
              <a:t>One simple way to copy arrays is to use the low-level </a:t>
            </a:r>
            <a:r>
              <a:rPr lang="en-US" sz="2400" dirty="0" err="1"/>
              <a:t>arraycopy</a:t>
            </a:r>
            <a:r>
              <a:rPr lang="en-US" sz="2400" dirty="0"/>
              <a:t>() method of the System class:</a:t>
            </a:r>
          </a:p>
          <a:p>
            <a:pPr marL="0" indent="0">
              <a:buNone/>
            </a:pPr>
            <a:r>
              <a:rPr lang="en-US" sz="2400" dirty="0"/>
              <a:t>    </a:t>
            </a:r>
            <a:r>
              <a:rPr lang="en-US" sz="2400" b="1" dirty="0" err="1"/>
              <a:t>System.arraycopy</a:t>
            </a:r>
            <a:r>
              <a:rPr lang="en-US" sz="2400" b="1" dirty="0"/>
              <a:t>( source, </a:t>
            </a:r>
            <a:r>
              <a:rPr lang="en-US" sz="2400" b="1" dirty="0" err="1"/>
              <a:t>sourceStart</a:t>
            </a:r>
            <a:r>
              <a:rPr lang="en-US" sz="2400" b="1" dirty="0"/>
              <a:t>, destination, </a:t>
            </a:r>
            <a:r>
              <a:rPr lang="en-US" sz="2400" b="1" dirty="0" err="1"/>
              <a:t>destStart</a:t>
            </a:r>
            <a:r>
              <a:rPr lang="en-US" sz="2400" b="1" dirty="0"/>
              <a:t>, length );</a:t>
            </a:r>
          </a:p>
          <a:p>
            <a:pPr marL="0" indent="0">
              <a:buNone/>
            </a:pPr>
            <a:endParaRPr lang="en-US" sz="2400" b="1" dirty="0"/>
          </a:p>
        </p:txBody>
      </p:sp>
    </p:spTree>
    <p:extLst>
      <p:ext uri="{BB962C8B-B14F-4D97-AF65-F5344CB8AC3E}">
        <p14:creationId xmlns:p14="http://schemas.microsoft.com/office/powerpoint/2010/main" val="3546440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ACE2B-3952-E461-015E-B5DD608F23DB}"/>
              </a:ext>
            </a:extLst>
          </p:cNvPr>
          <p:cNvSpPr>
            <a:spLocks noGrp="1"/>
          </p:cNvSpPr>
          <p:nvPr>
            <p:ph type="title"/>
          </p:nvPr>
        </p:nvSpPr>
        <p:spPr/>
        <p:txBody>
          <a:bodyPr/>
          <a:lstStyle/>
          <a:p>
            <a:r>
              <a:rPr lang="en-US" dirty="0"/>
              <a:t>Increasing the size of the Result Array</a:t>
            </a:r>
          </a:p>
        </p:txBody>
      </p:sp>
      <p:sp>
        <p:nvSpPr>
          <p:cNvPr id="3" name="Content Placeholder 2">
            <a:extLst>
              <a:ext uri="{FF2B5EF4-FFF2-40B4-BE49-F238E27FC236}">
                <a16:creationId xmlns:a16="http://schemas.microsoft.com/office/drawing/2014/main" id="{0AD6EA4B-ACB8-D7D8-5615-7AB508030498}"/>
              </a:ext>
            </a:extLst>
          </p:cNvPr>
          <p:cNvSpPr>
            <a:spLocks noGrp="1"/>
          </p:cNvSpPr>
          <p:nvPr>
            <p:ph idx="1"/>
          </p:nvPr>
        </p:nvSpPr>
        <p:spPr>
          <a:xfrm>
            <a:off x="2341158" y="1395046"/>
            <a:ext cx="9850842" cy="5193323"/>
          </a:xfrm>
        </p:spPr>
        <p:txBody>
          <a:bodyPr>
            <a:normAutofit/>
          </a:bodyPr>
          <a:lstStyle/>
          <a:p>
            <a:pPr marL="0" indent="0">
              <a:buNone/>
            </a:pPr>
            <a:r>
              <a:rPr lang="en-US" sz="2000" dirty="0"/>
              <a:t>The following example doubles the size of the names array from an earlier example:</a:t>
            </a:r>
          </a:p>
          <a:p>
            <a:pPr marL="0" indent="0">
              <a:buNone/>
            </a:pPr>
            <a:r>
              <a:rPr lang="en-US" sz="2000" b="1" dirty="0"/>
              <a:t>    String [] </a:t>
            </a:r>
            <a:r>
              <a:rPr lang="en-US" sz="2000" b="1" dirty="0" err="1"/>
              <a:t>tmpVar</a:t>
            </a:r>
            <a:r>
              <a:rPr lang="en-US" sz="2000" b="1" dirty="0"/>
              <a:t> = new String [ 2 * </a:t>
            </a:r>
            <a:r>
              <a:rPr lang="en-US" sz="2000" b="1" dirty="0" err="1"/>
              <a:t>names.length</a:t>
            </a:r>
            <a:r>
              <a:rPr lang="en-US" sz="2000" b="1" dirty="0"/>
              <a:t> ];</a:t>
            </a:r>
          </a:p>
          <a:p>
            <a:pPr marL="0" indent="0">
              <a:buNone/>
            </a:pPr>
            <a:r>
              <a:rPr lang="en-US" sz="2000" b="1" dirty="0"/>
              <a:t>    </a:t>
            </a:r>
            <a:r>
              <a:rPr lang="en-US" sz="2000" b="1" dirty="0" err="1"/>
              <a:t>System.arraycopy</a:t>
            </a:r>
            <a:r>
              <a:rPr lang="en-US" sz="2000" b="1" dirty="0"/>
              <a:t>( names, 0, </a:t>
            </a:r>
            <a:r>
              <a:rPr lang="en-US" sz="2000" b="1" dirty="0" err="1"/>
              <a:t>tmpVar</a:t>
            </a:r>
            <a:r>
              <a:rPr lang="en-US" sz="2000" b="1" dirty="0"/>
              <a:t>, 0, </a:t>
            </a:r>
            <a:r>
              <a:rPr lang="en-US" sz="2000" b="1" dirty="0" err="1"/>
              <a:t>names.length</a:t>
            </a:r>
            <a:r>
              <a:rPr lang="en-US" sz="2000" b="1" dirty="0"/>
              <a:t> );</a:t>
            </a:r>
          </a:p>
          <a:p>
            <a:pPr marL="0" indent="0">
              <a:buNone/>
            </a:pPr>
            <a:r>
              <a:rPr lang="en-US" sz="2000" b="1" dirty="0"/>
              <a:t>    names = </a:t>
            </a:r>
            <a:r>
              <a:rPr lang="en-US" sz="2000" b="1" dirty="0" err="1"/>
              <a:t>tmpVar</a:t>
            </a:r>
            <a:r>
              <a:rPr lang="en-US" sz="2000" b="1" dirty="0"/>
              <a:t>; </a:t>
            </a:r>
          </a:p>
          <a:p>
            <a:pPr marL="0" indent="0">
              <a:buNone/>
            </a:pPr>
            <a:r>
              <a:rPr lang="en-US" sz="2000" dirty="0"/>
              <a:t>A new array, twice the size of names, is allocated and assigned to a temporary variable, </a:t>
            </a:r>
            <a:r>
              <a:rPr lang="en-US" sz="2000" dirty="0" err="1"/>
              <a:t>tmpVar</a:t>
            </a:r>
            <a:r>
              <a:rPr lang="en-US" sz="2000" dirty="0"/>
              <a:t>. </a:t>
            </a:r>
          </a:p>
          <a:p>
            <a:pPr marL="0" indent="0">
              <a:buNone/>
            </a:pPr>
            <a:r>
              <a:rPr lang="en-US" sz="2000" dirty="0"/>
              <a:t>The </a:t>
            </a:r>
            <a:r>
              <a:rPr lang="en-US" sz="2000" dirty="0" err="1"/>
              <a:t>arraycopy</a:t>
            </a:r>
            <a:r>
              <a:rPr lang="en-US" sz="2000" dirty="0"/>
              <a:t>() method is then used to copy the elements of names to the new array. </a:t>
            </a:r>
          </a:p>
          <a:p>
            <a:pPr marL="0" indent="0">
              <a:buNone/>
            </a:pPr>
            <a:r>
              <a:rPr lang="en-US" sz="2000" dirty="0"/>
              <a:t>Finally, the new array is assigned to names. </a:t>
            </a:r>
          </a:p>
          <a:p>
            <a:pPr marL="0" indent="0">
              <a:buNone/>
            </a:pPr>
            <a:r>
              <a:rPr lang="en-US" sz="2000" dirty="0"/>
              <a:t>If there are no remaining references to the old array object after names has been copied, it is garbage-collected on the next pass.</a:t>
            </a:r>
          </a:p>
        </p:txBody>
      </p:sp>
    </p:spTree>
    <p:extLst>
      <p:ext uri="{BB962C8B-B14F-4D97-AF65-F5344CB8AC3E}">
        <p14:creationId xmlns:p14="http://schemas.microsoft.com/office/powerpoint/2010/main" val="782345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B418F-672B-4AC3-07D8-F3AEE2C3F075}"/>
              </a:ext>
            </a:extLst>
          </p:cNvPr>
          <p:cNvSpPr>
            <a:spLocks noGrp="1"/>
          </p:cNvSpPr>
          <p:nvPr>
            <p:ph type="title"/>
          </p:nvPr>
        </p:nvSpPr>
        <p:spPr>
          <a:xfrm>
            <a:off x="2589212" y="143464"/>
            <a:ext cx="8911687" cy="1280890"/>
          </a:xfrm>
        </p:spPr>
        <p:txBody>
          <a:bodyPr/>
          <a:lstStyle/>
          <a:p>
            <a:pPr algn="ctr"/>
            <a:r>
              <a:rPr lang="en-US" b="1" dirty="0"/>
              <a:t>Another Way to do this</a:t>
            </a:r>
          </a:p>
        </p:txBody>
      </p:sp>
      <p:sp>
        <p:nvSpPr>
          <p:cNvPr id="3" name="Content Placeholder 2">
            <a:extLst>
              <a:ext uri="{FF2B5EF4-FFF2-40B4-BE49-F238E27FC236}">
                <a16:creationId xmlns:a16="http://schemas.microsoft.com/office/drawing/2014/main" id="{3B7A4CB4-296E-F033-7547-49D88FB5589F}"/>
              </a:ext>
            </a:extLst>
          </p:cNvPr>
          <p:cNvSpPr>
            <a:spLocks noGrp="1"/>
          </p:cNvSpPr>
          <p:nvPr>
            <p:ph idx="1"/>
          </p:nvPr>
        </p:nvSpPr>
        <p:spPr>
          <a:xfrm>
            <a:off x="2589212" y="773723"/>
            <a:ext cx="9368326" cy="5940813"/>
          </a:xfrm>
        </p:spPr>
        <p:txBody>
          <a:bodyPr>
            <a:normAutofit/>
          </a:bodyPr>
          <a:lstStyle/>
          <a:p>
            <a:pPr marL="0" indent="0">
              <a:buNone/>
            </a:pPr>
            <a:r>
              <a:rPr lang="en-US" sz="2000" dirty="0"/>
              <a:t>An easier way is to use the </a:t>
            </a:r>
            <a:r>
              <a:rPr lang="en-US" sz="2000" dirty="0" err="1"/>
              <a:t>java.util.Arrays</a:t>
            </a:r>
            <a:r>
              <a:rPr lang="en-US" sz="2000" dirty="0"/>
              <a:t>  </a:t>
            </a:r>
            <a:r>
              <a:rPr lang="en-US" sz="2000" dirty="0" err="1"/>
              <a:t>copyOf</a:t>
            </a:r>
            <a:r>
              <a:rPr lang="en-US" sz="2000" dirty="0"/>
              <a:t>() and </a:t>
            </a:r>
            <a:r>
              <a:rPr lang="en-US" sz="2000" dirty="0" err="1"/>
              <a:t>copyOfRange</a:t>
            </a:r>
            <a:r>
              <a:rPr lang="en-US" sz="2000" dirty="0"/>
              <a:t>() methods:</a:t>
            </a:r>
          </a:p>
          <a:p>
            <a:pPr marL="0" indent="0">
              <a:buNone/>
            </a:pPr>
            <a:r>
              <a:rPr lang="en-US" sz="2000" dirty="0"/>
              <a:t>       </a:t>
            </a:r>
            <a:r>
              <a:rPr lang="en-US" sz="2000" b="1" dirty="0"/>
              <a:t> byte [] bar = new byte[] { 1, 2, 3, 4, 5 };</a:t>
            </a:r>
          </a:p>
          <a:p>
            <a:pPr marL="0" indent="0">
              <a:buNone/>
            </a:pPr>
            <a:r>
              <a:rPr lang="en-US" sz="2000" b="1" dirty="0"/>
              <a:t>        byte [] </a:t>
            </a:r>
            <a:r>
              <a:rPr lang="en-US" sz="2000" b="1" dirty="0" err="1"/>
              <a:t>barCopy</a:t>
            </a:r>
            <a:r>
              <a:rPr lang="en-US" sz="2000" b="1" dirty="0"/>
              <a:t> = </a:t>
            </a:r>
            <a:r>
              <a:rPr lang="en-US" sz="2000" b="1" dirty="0" err="1"/>
              <a:t>Arrays.copyOf</a:t>
            </a:r>
            <a:r>
              <a:rPr lang="en-US" sz="2000" b="1" dirty="0"/>
              <a:t>( bar, </a:t>
            </a:r>
            <a:r>
              <a:rPr lang="en-US" sz="2000" b="1" dirty="0" err="1"/>
              <a:t>bar.length</a:t>
            </a:r>
            <a:r>
              <a:rPr lang="en-US" sz="2000" b="1" dirty="0"/>
              <a:t> );</a:t>
            </a:r>
          </a:p>
          <a:p>
            <a:pPr marL="0" indent="0">
              <a:buNone/>
            </a:pPr>
            <a:r>
              <a:rPr lang="en-US" sz="2000" dirty="0"/>
              <a:t>            // { 1, 2, 3, 4, 5 }</a:t>
            </a:r>
          </a:p>
          <a:p>
            <a:pPr marL="0" indent="0">
              <a:buNone/>
            </a:pPr>
            <a:r>
              <a:rPr lang="en-US" sz="2000" dirty="0"/>
              <a:t>        </a:t>
            </a:r>
            <a:r>
              <a:rPr lang="en-US" sz="2000" b="1" dirty="0"/>
              <a:t>byte [] expanded = </a:t>
            </a:r>
            <a:r>
              <a:rPr lang="en-US" sz="2000" b="1" dirty="0" err="1"/>
              <a:t>Arrays.copyOf</a:t>
            </a:r>
            <a:r>
              <a:rPr lang="en-US" sz="2000" b="1" dirty="0"/>
              <a:t>( bar, bar.length+2 );</a:t>
            </a:r>
          </a:p>
          <a:p>
            <a:pPr marL="0" indent="0">
              <a:buNone/>
            </a:pPr>
            <a:r>
              <a:rPr lang="en-US" sz="2000" dirty="0"/>
              <a:t>            // { 1, 2, 3, 4, 5, 0, 0 }</a:t>
            </a:r>
          </a:p>
          <a:p>
            <a:pPr marL="0" indent="0">
              <a:buNone/>
            </a:pPr>
            <a:r>
              <a:rPr lang="en-US" sz="2000" dirty="0"/>
              <a:t>        </a:t>
            </a:r>
            <a:r>
              <a:rPr lang="en-US" sz="2000" b="1" dirty="0"/>
              <a:t>byte [] </a:t>
            </a:r>
            <a:r>
              <a:rPr lang="en-US" sz="2000" b="1" dirty="0" err="1"/>
              <a:t>firstThree</a:t>
            </a:r>
            <a:r>
              <a:rPr lang="en-US" sz="2000" b="1" dirty="0"/>
              <a:t> = </a:t>
            </a:r>
            <a:r>
              <a:rPr lang="en-US" sz="2000" b="1" dirty="0" err="1"/>
              <a:t>Arrays.copyOfRange</a:t>
            </a:r>
            <a:r>
              <a:rPr lang="en-US" sz="2000" b="1" dirty="0"/>
              <a:t>( bar, 0, 3 );</a:t>
            </a:r>
          </a:p>
          <a:p>
            <a:pPr marL="0" indent="0">
              <a:buNone/>
            </a:pPr>
            <a:r>
              <a:rPr lang="en-US" sz="2000" dirty="0"/>
              <a:t>            // { 1, 2, 3 }</a:t>
            </a:r>
          </a:p>
          <a:p>
            <a:pPr marL="0" indent="0">
              <a:buNone/>
            </a:pPr>
            <a:r>
              <a:rPr lang="en-US" sz="2000" b="1" dirty="0"/>
              <a:t>        byte [] </a:t>
            </a:r>
            <a:r>
              <a:rPr lang="en-US" sz="2000" b="1" dirty="0" err="1"/>
              <a:t>lastThree</a:t>
            </a:r>
            <a:r>
              <a:rPr lang="en-US" sz="2000" b="1" dirty="0"/>
              <a:t> = </a:t>
            </a:r>
            <a:r>
              <a:rPr lang="en-US" sz="2000" b="1" dirty="0" err="1"/>
              <a:t>Arrays.copyOfRange</a:t>
            </a:r>
            <a:r>
              <a:rPr lang="en-US" sz="2000" b="1" dirty="0"/>
              <a:t>( bar, 2, </a:t>
            </a:r>
            <a:r>
              <a:rPr lang="en-US" sz="2000" b="1" dirty="0" err="1"/>
              <a:t>bar.length</a:t>
            </a:r>
            <a:r>
              <a:rPr lang="en-US" sz="2000" b="1" dirty="0"/>
              <a:t> );</a:t>
            </a:r>
          </a:p>
          <a:p>
            <a:pPr marL="0" indent="0">
              <a:buNone/>
            </a:pPr>
            <a:r>
              <a:rPr lang="en-US" sz="2000" dirty="0"/>
              <a:t>            // { 3, 4, 5 }</a:t>
            </a:r>
          </a:p>
          <a:p>
            <a:pPr marL="0" indent="0">
              <a:buNone/>
            </a:pPr>
            <a:r>
              <a:rPr lang="en-US" sz="2000" b="1" dirty="0"/>
              <a:t>        byte [] </a:t>
            </a:r>
            <a:r>
              <a:rPr lang="en-US" sz="2000" b="1" dirty="0" err="1"/>
              <a:t>lastThreePlusTwo</a:t>
            </a:r>
            <a:r>
              <a:rPr lang="en-US" sz="2000" b="1" dirty="0"/>
              <a:t> = </a:t>
            </a:r>
            <a:r>
              <a:rPr lang="en-US" sz="2000" b="1" dirty="0" err="1"/>
              <a:t>Arrays.copyOfRange</a:t>
            </a:r>
            <a:r>
              <a:rPr lang="en-US" sz="2000" b="1" dirty="0"/>
              <a:t>( bar, 2, bar.length+2 );</a:t>
            </a:r>
          </a:p>
          <a:p>
            <a:pPr marL="0" indent="0">
              <a:buNone/>
            </a:pPr>
            <a:r>
              <a:rPr lang="en-US" sz="2000" dirty="0"/>
              <a:t>            // { 3, 4, 5, 0, 0 } </a:t>
            </a:r>
          </a:p>
        </p:txBody>
      </p:sp>
    </p:spTree>
    <p:extLst>
      <p:ext uri="{BB962C8B-B14F-4D97-AF65-F5344CB8AC3E}">
        <p14:creationId xmlns:p14="http://schemas.microsoft.com/office/powerpoint/2010/main" val="2287874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73AC0-656C-83EC-051B-020EAEA1A5CC}"/>
              </a:ext>
            </a:extLst>
          </p:cNvPr>
          <p:cNvSpPr>
            <a:spLocks noGrp="1"/>
          </p:cNvSpPr>
          <p:nvPr>
            <p:ph type="title"/>
          </p:nvPr>
        </p:nvSpPr>
        <p:spPr/>
        <p:txBody>
          <a:bodyPr/>
          <a:lstStyle/>
          <a:p>
            <a:pPr algn="ctr"/>
            <a:r>
              <a:rPr lang="en-US" b="1" dirty="0"/>
              <a:t>What Happened?</a:t>
            </a:r>
          </a:p>
        </p:txBody>
      </p:sp>
      <p:sp>
        <p:nvSpPr>
          <p:cNvPr id="3" name="Content Placeholder 2">
            <a:extLst>
              <a:ext uri="{FF2B5EF4-FFF2-40B4-BE49-F238E27FC236}">
                <a16:creationId xmlns:a16="http://schemas.microsoft.com/office/drawing/2014/main" id="{105C3EF3-0AB2-EC93-7B86-A30E7A700D26}"/>
              </a:ext>
            </a:extLst>
          </p:cNvPr>
          <p:cNvSpPr>
            <a:spLocks noGrp="1"/>
          </p:cNvSpPr>
          <p:nvPr>
            <p:ph idx="1"/>
          </p:nvPr>
        </p:nvSpPr>
        <p:spPr>
          <a:xfrm>
            <a:off x="2592925" y="1905000"/>
            <a:ext cx="8915400" cy="3777622"/>
          </a:xfrm>
        </p:spPr>
        <p:txBody>
          <a:bodyPr>
            <a:normAutofit/>
          </a:bodyPr>
          <a:lstStyle/>
          <a:p>
            <a:pPr marL="0" indent="0">
              <a:buNone/>
            </a:pPr>
            <a:r>
              <a:rPr lang="en-US" sz="2400" dirty="0"/>
              <a:t>The </a:t>
            </a:r>
            <a:r>
              <a:rPr lang="en-US" sz="2400" dirty="0" err="1"/>
              <a:t>copyOf</a:t>
            </a:r>
            <a:r>
              <a:rPr lang="en-US" sz="2400" dirty="0"/>
              <a:t>() method takes the original array and a target length. </a:t>
            </a:r>
          </a:p>
          <a:p>
            <a:pPr marL="0" indent="0">
              <a:buNone/>
            </a:pPr>
            <a:r>
              <a:rPr lang="en-US" sz="2400" dirty="0"/>
              <a:t>If the target length is larger than the original array length, then the new array is padded (with zeros or nulls) to the desired length. </a:t>
            </a:r>
          </a:p>
          <a:p>
            <a:pPr marL="0" indent="0">
              <a:buNone/>
            </a:pPr>
            <a:r>
              <a:rPr lang="en-US" sz="2400" dirty="0"/>
              <a:t>The </a:t>
            </a:r>
            <a:r>
              <a:rPr lang="en-US" sz="2400" dirty="0" err="1"/>
              <a:t>copyOfRange</a:t>
            </a:r>
            <a:r>
              <a:rPr lang="en-US" sz="2400" dirty="0"/>
              <a:t>() takes a starting index (inclusive) and an ending index (exclusive) and a desired length, which will also be padded if necessary.</a:t>
            </a:r>
          </a:p>
        </p:txBody>
      </p:sp>
    </p:spTree>
    <p:extLst>
      <p:ext uri="{BB962C8B-B14F-4D97-AF65-F5344CB8AC3E}">
        <p14:creationId xmlns:p14="http://schemas.microsoft.com/office/powerpoint/2010/main" val="1238356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DED15-51BE-8D6E-ECC0-BB85D02F57D1}"/>
              </a:ext>
            </a:extLst>
          </p:cNvPr>
          <p:cNvSpPr>
            <a:spLocks noGrp="1"/>
          </p:cNvSpPr>
          <p:nvPr>
            <p:ph type="title"/>
          </p:nvPr>
        </p:nvSpPr>
        <p:spPr/>
        <p:txBody>
          <a:bodyPr/>
          <a:lstStyle/>
          <a:p>
            <a:pPr algn="ctr"/>
            <a:r>
              <a:rPr lang="en-US" b="1" dirty="0"/>
              <a:t>Anonymous Arrays</a:t>
            </a:r>
          </a:p>
        </p:txBody>
      </p:sp>
      <p:sp>
        <p:nvSpPr>
          <p:cNvPr id="3" name="Content Placeholder 2">
            <a:extLst>
              <a:ext uri="{FF2B5EF4-FFF2-40B4-BE49-F238E27FC236}">
                <a16:creationId xmlns:a16="http://schemas.microsoft.com/office/drawing/2014/main" id="{F46319CB-935A-550E-5A13-20F68BA390A3}"/>
              </a:ext>
            </a:extLst>
          </p:cNvPr>
          <p:cNvSpPr>
            <a:spLocks noGrp="1"/>
          </p:cNvSpPr>
          <p:nvPr>
            <p:ph idx="1"/>
          </p:nvPr>
        </p:nvSpPr>
        <p:spPr>
          <a:xfrm>
            <a:off x="2592925" y="1540189"/>
            <a:ext cx="8915400" cy="3777622"/>
          </a:xfrm>
        </p:spPr>
        <p:txBody>
          <a:bodyPr>
            <a:noAutofit/>
          </a:bodyPr>
          <a:lstStyle/>
          <a:p>
            <a:pPr marL="0" indent="0">
              <a:buNone/>
            </a:pPr>
            <a:r>
              <a:rPr lang="en-US" sz="2400" dirty="0"/>
              <a:t>Often it is convenient to create “throwaway” arrays, arrays that are used in one place and never referenced anywhere else. </a:t>
            </a:r>
          </a:p>
          <a:p>
            <a:pPr marL="0" indent="0">
              <a:buNone/>
            </a:pPr>
            <a:r>
              <a:rPr lang="en-US" sz="2400" dirty="0"/>
              <a:t>Such arrays don’t need a name because you never need to refer to them again in that context. </a:t>
            </a:r>
          </a:p>
          <a:p>
            <a:pPr marL="0" indent="0">
              <a:buNone/>
            </a:pPr>
            <a:r>
              <a:rPr lang="en-US" sz="2400" dirty="0"/>
              <a:t>For example, you may want to create a collection of objects to pass as an argument to some method. </a:t>
            </a:r>
          </a:p>
          <a:p>
            <a:pPr marL="0" indent="0">
              <a:buNone/>
            </a:pPr>
            <a:r>
              <a:rPr lang="en-US" sz="2400" dirty="0"/>
              <a:t>It’s easy enough to create a normal, named array, but if you don’t actually work with the array, you shouldn’t need to do this. </a:t>
            </a:r>
          </a:p>
          <a:p>
            <a:pPr marL="0" indent="0">
              <a:buNone/>
            </a:pPr>
            <a:r>
              <a:rPr lang="en-US" sz="2400" dirty="0"/>
              <a:t>Java makes it easy to create “anonymous” (i.e., unnamed) arrays.</a:t>
            </a:r>
          </a:p>
        </p:txBody>
      </p:sp>
    </p:spTree>
    <p:extLst>
      <p:ext uri="{BB962C8B-B14F-4D97-AF65-F5344CB8AC3E}">
        <p14:creationId xmlns:p14="http://schemas.microsoft.com/office/powerpoint/2010/main" val="3041427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669C6-5FD4-8562-CD0B-694E197E3522}"/>
              </a:ext>
            </a:extLst>
          </p:cNvPr>
          <p:cNvSpPr>
            <a:spLocks noGrp="1"/>
          </p:cNvSpPr>
          <p:nvPr>
            <p:ph type="title"/>
          </p:nvPr>
        </p:nvSpPr>
        <p:spPr/>
        <p:txBody>
          <a:bodyPr/>
          <a:lstStyle/>
          <a:p>
            <a:pPr algn="ctr"/>
            <a:r>
              <a:rPr lang="en-US" b="1" dirty="0"/>
              <a:t>Anonymous Pets</a:t>
            </a:r>
          </a:p>
        </p:txBody>
      </p:sp>
      <p:sp>
        <p:nvSpPr>
          <p:cNvPr id="3" name="Content Placeholder 2">
            <a:extLst>
              <a:ext uri="{FF2B5EF4-FFF2-40B4-BE49-F238E27FC236}">
                <a16:creationId xmlns:a16="http://schemas.microsoft.com/office/drawing/2014/main" id="{6703E57E-7531-1E2E-86BE-75EB18B40DDE}"/>
              </a:ext>
            </a:extLst>
          </p:cNvPr>
          <p:cNvSpPr>
            <a:spLocks noGrp="1"/>
          </p:cNvSpPr>
          <p:nvPr>
            <p:ph idx="1"/>
          </p:nvPr>
        </p:nvSpPr>
        <p:spPr>
          <a:xfrm>
            <a:off x="2589212" y="1540189"/>
            <a:ext cx="8915400" cy="3777622"/>
          </a:xfrm>
        </p:spPr>
        <p:txBody>
          <a:bodyPr>
            <a:noAutofit/>
          </a:bodyPr>
          <a:lstStyle/>
          <a:p>
            <a:pPr marL="0" indent="0">
              <a:buNone/>
            </a:pPr>
            <a:r>
              <a:rPr lang="en-US" sz="2400" dirty="0"/>
              <a:t>Let’s say you need to call a method named </a:t>
            </a:r>
            <a:r>
              <a:rPr lang="en-US" sz="2400" dirty="0" err="1"/>
              <a:t>setPets</a:t>
            </a:r>
            <a:r>
              <a:rPr lang="en-US" sz="2400" dirty="0"/>
              <a:t>(), which takes an array of Animal objects as arguments. Provided Cat and Dog are subclasses of Animal, here’s how to call </a:t>
            </a:r>
            <a:r>
              <a:rPr lang="en-US" sz="2400" dirty="0" err="1"/>
              <a:t>setPets</a:t>
            </a:r>
            <a:r>
              <a:rPr lang="en-US" sz="2400" dirty="0"/>
              <a:t>() using an anonymous array:</a:t>
            </a:r>
          </a:p>
          <a:p>
            <a:pPr marL="0" indent="0">
              <a:buNone/>
            </a:pPr>
            <a:endParaRPr lang="en-US" sz="2400" dirty="0"/>
          </a:p>
          <a:p>
            <a:pPr marL="0" indent="0">
              <a:buNone/>
            </a:pPr>
            <a:r>
              <a:rPr lang="en-US" sz="2400" dirty="0"/>
              <a:t>    </a:t>
            </a:r>
            <a:r>
              <a:rPr lang="en-US" sz="2400" b="1" dirty="0"/>
              <a:t>Dog pokey = new Dog ("gray");</a:t>
            </a:r>
          </a:p>
          <a:p>
            <a:pPr marL="0" indent="0">
              <a:buNone/>
            </a:pPr>
            <a:r>
              <a:rPr lang="en-US" sz="2400" b="1" dirty="0"/>
              <a:t>    Cat boojum = new Cat ("grey");</a:t>
            </a:r>
          </a:p>
          <a:p>
            <a:pPr marL="0" indent="0">
              <a:buNone/>
            </a:pPr>
            <a:r>
              <a:rPr lang="en-US" sz="2400" b="1" dirty="0"/>
              <a:t>    Cat </a:t>
            </a:r>
            <a:r>
              <a:rPr lang="en-US" sz="2400" b="1" dirty="0" err="1"/>
              <a:t>simon</a:t>
            </a:r>
            <a:r>
              <a:rPr lang="en-US" sz="2400" b="1" dirty="0"/>
              <a:t> = new Cat ("orange");</a:t>
            </a:r>
          </a:p>
          <a:p>
            <a:pPr marL="0" indent="0">
              <a:buNone/>
            </a:pPr>
            <a:endParaRPr lang="en-US" sz="2400" b="1" dirty="0"/>
          </a:p>
          <a:p>
            <a:pPr marL="0" indent="0">
              <a:buNone/>
            </a:pPr>
            <a:r>
              <a:rPr lang="en-US" sz="2400" b="1" dirty="0"/>
              <a:t>    </a:t>
            </a:r>
            <a:r>
              <a:rPr lang="en-US" sz="2400" b="1" dirty="0" err="1"/>
              <a:t>setPets</a:t>
            </a:r>
            <a:r>
              <a:rPr lang="en-US" sz="2400" b="1" dirty="0"/>
              <a:t> ( new Animal [] { pokey, boojum, </a:t>
            </a:r>
            <a:r>
              <a:rPr lang="en-US" sz="2400" b="1" dirty="0" err="1"/>
              <a:t>simon</a:t>
            </a:r>
            <a:r>
              <a:rPr lang="en-US" sz="2400" b="1" dirty="0"/>
              <a:t> });</a:t>
            </a:r>
          </a:p>
        </p:txBody>
      </p:sp>
    </p:spTree>
    <p:extLst>
      <p:ext uri="{BB962C8B-B14F-4D97-AF65-F5344CB8AC3E}">
        <p14:creationId xmlns:p14="http://schemas.microsoft.com/office/powerpoint/2010/main" val="2147963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5424E-9236-5E58-D23B-417D6C60595D}"/>
              </a:ext>
            </a:extLst>
          </p:cNvPr>
          <p:cNvSpPr>
            <a:spLocks noGrp="1"/>
          </p:cNvSpPr>
          <p:nvPr>
            <p:ph type="title"/>
          </p:nvPr>
        </p:nvSpPr>
        <p:spPr/>
        <p:txBody>
          <a:bodyPr/>
          <a:lstStyle/>
          <a:p>
            <a:pPr algn="ctr"/>
            <a:r>
              <a:rPr lang="en-US" dirty="0"/>
              <a:t>Explanation</a:t>
            </a:r>
          </a:p>
        </p:txBody>
      </p:sp>
      <p:sp>
        <p:nvSpPr>
          <p:cNvPr id="3" name="Content Placeholder 2">
            <a:extLst>
              <a:ext uri="{FF2B5EF4-FFF2-40B4-BE49-F238E27FC236}">
                <a16:creationId xmlns:a16="http://schemas.microsoft.com/office/drawing/2014/main" id="{7ACE7C20-93D6-6DA6-E109-7182C8D64EB8}"/>
              </a:ext>
            </a:extLst>
          </p:cNvPr>
          <p:cNvSpPr>
            <a:spLocks noGrp="1"/>
          </p:cNvSpPr>
          <p:nvPr>
            <p:ph idx="1"/>
          </p:nvPr>
        </p:nvSpPr>
        <p:spPr/>
        <p:txBody>
          <a:bodyPr>
            <a:normAutofit/>
          </a:bodyPr>
          <a:lstStyle/>
          <a:p>
            <a:pPr marL="0" indent="0">
              <a:buNone/>
            </a:pPr>
            <a:r>
              <a:rPr lang="en-US" sz="2400" dirty="0"/>
              <a:t>The syntax looks similar to the initialization of an array in a variable declaration. </a:t>
            </a:r>
          </a:p>
          <a:p>
            <a:pPr marL="0" indent="0">
              <a:buNone/>
            </a:pPr>
            <a:r>
              <a:rPr lang="en-US" sz="2400" dirty="0"/>
              <a:t>We implicitly define the size of the array and fill in its elements using the curly-brace notation. </a:t>
            </a:r>
          </a:p>
          <a:p>
            <a:pPr marL="0" indent="0">
              <a:buNone/>
            </a:pPr>
            <a:r>
              <a:rPr lang="en-US" sz="2400" dirty="0"/>
              <a:t>However, because this is not a variable declaration, we have to explicitly use the new operator and the array type to create the array object.</a:t>
            </a:r>
          </a:p>
        </p:txBody>
      </p:sp>
    </p:spTree>
    <p:extLst>
      <p:ext uri="{BB962C8B-B14F-4D97-AF65-F5344CB8AC3E}">
        <p14:creationId xmlns:p14="http://schemas.microsoft.com/office/powerpoint/2010/main" val="1220802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74DA-826D-B4FA-A28E-B157533D7743}"/>
              </a:ext>
            </a:extLst>
          </p:cNvPr>
          <p:cNvSpPr>
            <a:spLocks noGrp="1"/>
          </p:cNvSpPr>
          <p:nvPr>
            <p:ph type="title"/>
          </p:nvPr>
        </p:nvSpPr>
        <p:spPr/>
        <p:txBody>
          <a:bodyPr/>
          <a:lstStyle/>
          <a:p>
            <a:pPr algn="ctr"/>
            <a:r>
              <a:rPr lang="en-US" b="1" dirty="0" err="1"/>
              <a:t>MultiDimensional</a:t>
            </a:r>
            <a:r>
              <a:rPr lang="en-US" b="1" dirty="0"/>
              <a:t> Arrays</a:t>
            </a:r>
          </a:p>
        </p:txBody>
      </p:sp>
      <p:sp>
        <p:nvSpPr>
          <p:cNvPr id="3" name="Content Placeholder 2">
            <a:extLst>
              <a:ext uri="{FF2B5EF4-FFF2-40B4-BE49-F238E27FC236}">
                <a16:creationId xmlns:a16="http://schemas.microsoft.com/office/drawing/2014/main" id="{D764399F-241E-D0E5-2AC8-249E089CE828}"/>
              </a:ext>
            </a:extLst>
          </p:cNvPr>
          <p:cNvSpPr>
            <a:spLocks noGrp="1"/>
          </p:cNvSpPr>
          <p:nvPr>
            <p:ph idx="1"/>
          </p:nvPr>
        </p:nvSpPr>
        <p:spPr>
          <a:xfrm>
            <a:off x="2729889" y="1540188"/>
            <a:ext cx="8915400" cy="4485473"/>
          </a:xfrm>
        </p:spPr>
        <p:txBody>
          <a:bodyPr>
            <a:normAutofit/>
          </a:bodyPr>
          <a:lstStyle/>
          <a:p>
            <a:pPr marL="0" indent="0">
              <a:buNone/>
            </a:pPr>
            <a:r>
              <a:rPr lang="en-US" sz="2400" dirty="0"/>
              <a:t>Java supports multidimensional arrays in the form of arrays of array type objects. </a:t>
            </a:r>
          </a:p>
          <a:p>
            <a:pPr marL="0" indent="0">
              <a:buNone/>
            </a:pPr>
            <a:r>
              <a:rPr lang="en-US" sz="2400" dirty="0"/>
              <a:t>You create a multidimensional array with C-like syntax, using multiple bracket pairs, one for each dimension. </a:t>
            </a:r>
          </a:p>
          <a:p>
            <a:pPr marL="0" indent="0">
              <a:buNone/>
            </a:pPr>
            <a:r>
              <a:rPr lang="en-US" sz="2400" dirty="0"/>
              <a:t>You also use this syntax to access elements:</a:t>
            </a:r>
          </a:p>
          <a:p>
            <a:pPr marL="0" indent="0">
              <a:buNone/>
            </a:pPr>
            <a:r>
              <a:rPr lang="en-US" sz="2400" b="1" dirty="0"/>
              <a:t>    </a:t>
            </a:r>
            <a:r>
              <a:rPr lang="en-US" sz="2400" b="1" dirty="0" err="1"/>
              <a:t>ChessPiece</a:t>
            </a:r>
            <a:r>
              <a:rPr lang="en-US" sz="2400" b="1" dirty="0"/>
              <a:t> [][] </a:t>
            </a:r>
            <a:r>
              <a:rPr lang="en-US" sz="2400" b="1" dirty="0" err="1"/>
              <a:t>chessBoard</a:t>
            </a:r>
            <a:r>
              <a:rPr lang="en-US" sz="2400" b="1" dirty="0"/>
              <a:t>;</a:t>
            </a:r>
          </a:p>
          <a:p>
            <a:pPr marL="0" indent="0">
              <a:buNone/>
            </a:pPr>
            <a:r>
              <a:rPr lang="en-US" sz="2400" b="1" dirty="0"/>
              <a:t>    </a:t>
            </a:r>
            <a:r>
              <a:rPr lang="en-US" sz="2400" b="1" dirty="0" err="1"/>
              <a:t>chessBoard</a:t>
            </a:r>
            <a:r>
              <a:rPr lang="en-US" sz="2400" b="1" dirty="0"/>
              <a:t> = new </a:t>
            </a:r>
            <a:r>
              <a:rPr lang="en-US" sz="2400" b="1" dirty="0" err="1"/>
              <a:t>ChessPiece</a:t>
            </a:r>
            <a:r>
              <a:rPr lang="en-US" sz="2400" b="1" dirty="0"/>
              <a:t> [8][8];</a:t>
            </a:r>
          </a:p>
          <a:p>
            <a:pPr marL="0" indent="0">
              <a:buNone/>
            </a:pPr>
            <a:r>
              <a:rPr lang="en-US" sz="2400" b="1" dirty="0"/>
              <a:t>    </a:t>
            </a:r>
            <a:r>
              <a:rPr lang="en-US" sz="2400" b="1" dirty="0" err="1"/>
              <a:t>chessBoard</a:t>
            </a:r>
            <a:r>
              <a:rPr lang="en-US" sz="2400" b="1" dirty="0"/>
              <a:t>[0][0] = new </a:t>
            </a:r>
            <a:r>
              <a:rPr lang="en-US" sz="2400" b="1" dirty="0" err="1"/>
              <a:t>ChessPiece.Rook</a:t>
            </a:r>
            <a:r>
              <a:rPr lang="en-US" sz="2400" b="1" dirty="0"/>
              <a:t>;</a:t>
            </a:r>
          </a:p>
          <a:p>
            <a:pPr marL="0" indent="0">
              <a:buNone/>
            </a:pPr>
            <a:r>
              <a:rPr lang="en-US" sz="2400" b="1" dirty="0"/>
              <a:t>    </a:t>
            </a:r>
            <a:r>
              <a:rPr lang="en-US" sz="2400" b="1" dirty="0" err="1"/>
              <a:t>chessBoard</a:t>
            </a:r>
            <a:r>
              <a:rPr lang="en-US" sz="2400" b="1" dirty="0"/>
              <a:t>[1][0] = new </a:t>
            </a:r>
            <a:r>
              <a:rPr lang="en-US" sz="2400" b="1" dirty="0" err="1"/>
              <a:t>ChessPiece.Pawn</a:t>
            </a:r>
            <a:r>
              <a:rPr lang="en-US" sz="2400" b="1" dirty="0"/>
              <a:t>;</a:t>
            </a:r>
          </a:p>
        </p:txBody>
      </p:sp>
    </p:spTree>
    <p:extLst>
      <p:ext uri="{BB962C8B-B14F-4D97-AF65-F5344CB8AC3E}">
        <p14:creationId xmlns:p14="http://schemas.microsoft.com/office/powerpoint/2010/main" val="398218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A8B6B-911F-FD85-0D42-981D7D9853A3}"/>
              </a:ext>
            </a:extLst>
          </p:cNvPr>
          <p:cNvSpPr>
            <a:spLocks noGrp="1"/>
          </p:cNvSpPr>
          <p:nvPr>
            <p:ph type="title"/>
          </p:nvPr>
        </p:nvSpPr>
        <p:spPr/>
        <p:txBody>
          <a:bodyPr/>
          <a:lstStyle/>
          <a:p>
            <a:pPr algn="ctr"/>
            <a:r>
              <a:rPr lang="en-US" b="1" dirty="0"/>
              <a:t>Wait, what did we do?</a:t>
            </a:r>
          </a:p>
        </p:txBody>
      </p:sp>
      <p:sp>
        <p:nvSpPr>
          <p:cNvPr id="3" name="Content Placeholder 2">
            <a:extLst>
              <a:ext uri="{FF2B5EF4-FFF2-40B4-BE49-F238E27FC236}">
                <a16:creationId xmlns:a16="http://schemas.microsoft.com/office/drawing/2014/main" id="{BFA30CD8-93E0-6315-5BC8-09C52563A16E}"/>
              </a:ext>
            </a:extLst>
          </p:cNvPr>
          <p:cNvSpPr>
            <a:spLocks noGrp="1"/>
          </p:cNvSpPr>
          <p:nvPr>
            <p:ph idx="1"/>
          </p:nvPr>
        </p:nvSpPr>
        <p:spPr>
          <a:xfrm>
            <a:off x="2589212" y="1688122"/>
            <a:ext cx="8915400" cy="4545767"/>
          </a:xfrm>
        </p:spPr>
        <p:txBody>
          <a:bodyPr>
            <a:normAutofit/>
          </a:bodyPr>
          <a:lstStyle/>
          <a:p>
            <a:pPr marL="0" indent="0">
              <a:buNone/>
            </a:pPr>
            <a:r>
              <a:rPr lang="en-US" sz="2400" dirty="0"/>
              <a:t>Here, </a:t>
            </a:r>
            <a:r>
              <a:rPr lang="en-US" sz="2400" dirty="0" err="1"/>
              <a:t>chessBoard</a:t>
            </a:r>
            <a:r>
              <a:rPr lang="en-US" sz="2400" dirty="0"/>
              <a:t> is declared as a variable of type </a:t>
            </a:r>
            <a:r>
              <a:rPr lang="en-US" sz="2400" dirty="0" err="1"/>
              <a:t>ChessPiece</a:t>
            </a:r>
            <a:r>
              <a:rPr lang="en-US" sz="2400" dirty="0"/>
              <a:t>[][] (i.e., an array of </a:t>
            </a:r>
            <a:r>
              <a:rPr lang="en-US" sz="2400" dirty="0" err="1"/>
              <a:t>ChessPiece</a:t>
            </a:r>
            <a:r>
              <a:rPr lang="en-US" sz="2400" dirty="0"/>
              <a:t> arrays). </a:t>
            </a:r>
          </a:p>
          <a:p>
            <a:pPr marL="0" indent="0">
              <a:buNone/>
            </a:pPr>
            <a:r>
              <a:rPr lang="en-US" sz="2400" dirty="0"/>
              <a:t>This declaration implicitly creates the type </a:t>
            </a:r>
            <a:r>
              <a:rPr lang="en-US" sz="2400" dirty="0" err="1"/>
              <a:t>ChessPiece</a:t>
            </a:r>
            <a:r>
              <a:rPr lang="en-US" sz="2400" dirty="0"/>
              <a:t>[] as well. The example illustrates the special form of the new operator used to create a multidimensional array. </a:t>
            </a:r>
          </a:p>
          <a:p>
            <a:pPr marL="0" indent="0">
              <a:buNone/>
            </a:pPr>
            <a:r>
              <a:rPr lang="en-US" sz="2400" dirty="0"/>
              <a:t>It creates an array of </a:t>
            </a:r>
            <a:r>
              <a:rPr lang="en-US" sz="2400" dirty="0" err="1"/>
              <a:t>ChessPiece</a:t>
            </a:r>
            <a:r>
              <a:rPr lang="en-US" sz="2400" dirty="0"/>
              <a:t>[] objects and then, in turn, makes each element into an array of </a:t>
            </a:r>
            <a:r>
              <a:rPr lang="en-US" sz="2400" dirty="0" err="1"/>
              <a:t>ChessPiece</a:t>
            </a:r>
            <a:r>
              <a:rPr lang="en-US" sz="2400" dirty="0"/>
              <a:t> objects. </a:t>
            </a:r>
          </a:p>
          <a:p>
            <a:pPr marL="0" indent="0">
              <a:buNone/>
            </a:pPr>
            <a:r>
              <a:rPr lang="en-US" sz="2400" dirty="0"/>
              <a:t>We then index </a:t>
            </a:r>
            <a:r>
              <a:rPr lang="en-US" sz="2400" dirty="0" err="1"/>
              <a:t>chessBoard</a:t>
            </a:r>
            <a:r>
              <a:rPr lang="en-US" sz="2400" dirty="0"/>
              <a:t> to specify values for particular </a:t>
            </a:r>
            <a:r>
              <a:rPr lang="en-US" sz="2400" dirty="0" err="1"/>
              <a:t>ChessPiece</a:t>
            </a:r>
            <a:r>
              <a:rPr lang="en-US" sz="2400" dirty="0"/>
              <a:t> elements. </a:t>
            </a:r>
          </a:p>
          <a:p>
            <a:pPr marL="0" indent="0">
              <a:buNone/>
            </a:pPr>
            <a:endParaRPr lang="en-US" sz="2400" dirty="0"/>
          </a:p>
        </p:txBody>
      </p:sp>
    </p:spTree>
    <p:extLst>
      <p:ext uri="{BB962C8B-B14F-4D97-AF65-F5344CB8AC3E}">
        <p14:creationId xmlns:p14="http://schemas.microsoft.com/office/powerpoint/2010/main" val="76778401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TotalTime>
  <Words>2227</Words>
  <Application>Microsoft Office PowerPoint</Application>
  <PresentationFormat>Widescreen</PresentationFormat>
  <Paragraphs>161</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Century Gothic</vt:lpstr>
      <vt:lpstr>Wingdings 3</vt:lpstr>
      <vt:lpstr>Wisp</vt:lpstr>
      <vt:lpstr>Arrays</vt:lpstr>
      <vt:lpstr>Arrays</vt:lpstr>
      <vt:lpstr>Array Objects are different from Other Objects</vt:lpstr>
      <vt:lpstr>Array Types</vt:lpstr>
      <vt:lpstr>Creating the array type variable</vt:lpstr>
      <vt:lpstr>Array Creation and Initialization</vt:lpstr>
      <vt:lpstr>Array Elements</vt:lpstr>
      <vt:lpstr>In An Array of Objects</vt:lpstr>
      <vt:lpstr>A new Array is filled with null References</vt:lpstr>
      <vt:lpstr>Initializing Arrays</vt:lpstr>
      <vt:lpstr>Use the Braced Syntax for Objects, too</vt:lpstr>
      <vt:lpstr>Keeping this in mind:</vt:lpstr>
      <vt:lpstr>Using Arrays</vt:lpstr>
      <vt:lpstr>Array Access </vt:lpstr>
      <vt:lpstr>Remember the Enhance For Loop</vt:lpstr>
      <vt:lpstr>Array Index Out of Bounds</vt:lpstr>
      <vt:lpstr>Copying Arrays</vt:lpstr>
      <vt:lpstr>Increasing the size of the Result Array</vt:lpstr>
      <vt:lpstr>Another Way to do this</vt:lpstr>
      <vt:lpstr>What Happened?</vt:lpstr>
      <vt:lpstr>Anonymous Arrays</vt:lpstr>
      <vt:lpstr>Anonymous Pets</vt:lpstr>
      <vt:lpstr>Explanation</vt:lpstr>
      <vt:lpstr>MultiDimensional Arrays</vt:lpstr>
      <vt:lpstr>Wait, what did we 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Ivonne Nelson</dc:creator>
  <cp:lastModifiedBy>Ivonne Nelson</cp:lastModifiedBy>
  <cp:revision>1</cp:revision>
  <dcterms:created xsi:type="dcterms:W3CDTF">2023-01-03T22:01:25Z</dcterms:created>
  <dcterms:modified xsi:type="dcterms:W3CDTF">2023-01-03T22:02:47Z</dcterms:modified>
</cp:coreProperties>
</file>