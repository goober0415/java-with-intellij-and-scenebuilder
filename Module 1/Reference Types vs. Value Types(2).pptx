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sldIdLst>
    <p:sldId id="256" r:id="rId3"/>
    <p:sldId id="257" r:id="rId4"/>
    <p:sldId id="258" r:id="rId5"/>
    <p:sldId id="264" r:id="rId6"/>
    <p:sldId id="259" r:id="rId7"/>
    <p:sldId id="260" r:id="rId8"/>
    <p:sldId id="261"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320BE4-11B2-4D46-85D7-4E94C01DE419}"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3626931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320BE4-11B2-4D46-85D7-4E94C01DE419}"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3988493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20BE4-11B2-4D46-85D7-4E94C01DE419}"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4028478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320BE4-11B2-4D46-85D7-4E94C01DE419}"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3004619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320BE4-11B2-4D46-85D7-4E94C01DE419}" type="datetimeFigureOut">
              <a:rPr lang="en-US" smtClean="0"/>
              <a:t>6/27/2024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48002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320BE4-11B2-4D46-85D7-4E94C01DE419}" type="datetimeFigureOut">
              <a:rPr lang="en-US" smtClean="0"/>
              <a:t>6/27/2024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248746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320BE4-11B2-4D46-85D7-4E94C01DE419}" type="datetimeFigureOut">
              <a:rPr lang="en-US" smtClean="0"/>
              <a:t>6/27/2024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1574406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320BE4-11B2-4D46-85D7-4E94C01DE419}"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87566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320BE4-11B2-4D46-85D7-4E94C01DE419}"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873905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20BE4-11B2-4D46-85D7-4E94C01DE419}"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3591708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320BE4-11B2-4D46-85D7-4E94C01DE419}"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A83B7F-CBEB-48CB-AE9E-D88BD0A4FAD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18945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7320BE4-11B2-4D46-85D7-4E94C01DE419}"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1871334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7320BE4-11B2-4D46-85D7-4E94C01DE419}"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A83B7F-CBEB-48CB-AE9E-D88BD0A4FAD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92752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7320BE4-11B2-4D46-85D7-4E94C01DE419}"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2185463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320BE4-11B2-4D46-85D7-4E94C01DE419}"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4104605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320BE4-11B2-4D46-85D7-4E94C01DE419}"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A83B7F-CBEB-48CB-AE9E-D88BD0A4FAD4}" type="slidenum">
              <a:rPr lang="en-US" smtClean="0"/>
              <a:t>‹#›</a:t>
            </a:fld>
            <a:endParaRPr lang="en-US"/>
          </a:p>
        </p:txBody>
      </p:sp>
    </p:spTree>
    <p:extLst>
      <p:ext uri="{BB962C8B-B14F-4D97-AF65-F5344CB8AC3E}">
        <p14:creationId xmlns:p14="http://schemas.microsoft.com/office/powerpoint/2010/main" val="2439369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13098B-D78B-429D-8917-A8810D6E260A}"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2497063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3098B-D78B-429D-8917-A8810D6E260A}"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4080426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13098B-D78B-429D-8917-A8810D6E260A}"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3252545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13098B-D78B-429D-8917-A8810D6E260A}"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23254312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13098B-D78B-429D-8917-A8810D6E260A}" type="datetimeFigureOut">
              <a:rPr lang="en-US" smtClean="0"/>
              <a:t>6/27/2024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1306408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13098B-D78B-429D-8917-A8810D6E260A}" type="datetimeFigureOut">
              <a:rPr lang="en-US" smtClean="0"/>
              <a:t>6/27/2024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13314637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13098B-D78B-429D-8917-A8810D6E260A}" type="datetimeFigureOut">
              <a:rPr lang="en-US" smtClean="0"/>
              <a:t>6/27/2024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20594865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13098B-D78B-429D-8917-A8810D6E260A}"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30001687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13098B-D78B-429D-8917-A8810D6E260A}"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862875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13098B-D78B-429D-8917-A8810D6E260A}"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42880024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13098B-D78B-429D-8917-A8810D6E260A}"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0D26F22-F5AC-4C77-A004-700943897C91}"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918311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E13098B-D78B-429D-8917-A8810D6E260A}"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4014155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E13098B-D78B-429D-8917-A8810D6E260A}"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0D26F22-F5AC-4C77-A004-700943897C91}"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281071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E13098B-D78B-429D-8917-A8810D6E260A}"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4612290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3098B-D78B-429D-8917-A8810D6E260A}"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3963582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3098B-D78B-429D-8917-A8810D6E260A}"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0D26F22-F5AC-4C77-A004-700943897C91}" type="slidenum">
              <a:rPr lang="en-US" smtClean="0"/>
              <a:t>‹#›</a:t>
            </a:fld>
            <a:endParaRPr lang="en-US"/>
          </a:p>
        </p:txBody>
      </p:sp>
    </p:spTree>
    <p:extLst>
      <p:ext uri="{BB962C8B-B14F-4D97-AF65-F5344CB8AC3E}">
        <p14:creationId xmlns:p14="http://schemas.microsoft.com/office/powerpoint/2010/main" val="1318012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7320BE4-11B2-4D46-85D7-4E94C01DE419}" type="datetimeFigureOut">
              <a:rPr lang="en-US" smtClean="0"/>
              <a:t>6/27/2024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2A83B7F-CBEB-48CB-AE9E-D88BD0A4FAD4}" type="slidenum">
              <a:rPr lang="en-US" smtClean="0"/>
              <a:t>‹#›</a:t>
            </a:fld>
            <a:endParaRPr lang="en-US"/>
          </a:p>
        </p:txBody>
      </p:sp>
    </p:spTree>
    <p:extLst>
      <p:ext uri="{BB962C8B-B14F-4D97-AF65-F5344CB8AC3E}">
        <p14:creationId xmlns:p14="http://schemas.microsoft.com/office/powerpoint/2010/main" val="39229297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E13098B-D78B-429D-8917-A8810D6E260A}" type="datetimeFigureOut">
              <a:rPr lang="en-US" smtClean="0"/>
              <a:t>6/27/2024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0D26F22-F5AC-4C77-A004-700943897C91}" type="slidenum">
              <a:rPr lang="en-US" smtClean="0"/>
              <a:t>‹#›</a:t>
            </a:fld>
            <a:endParaRPr lang="en-US"/>
          </a:p>
        </p:txBody>
      </p:sp>
    </p:spTree>
    <p:extLst>
      <p:ext uri="{BB962C8B-B14F-4D97-AF65-F5344CB8AC3E}">
        <p14:creationId xmlns:p14="http://schemas.microsoft.com/office/powerpoint/2010/main" val="54556637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DE851-6057-0BDC-838F-1C396C07BA1C}"/>
              </a:ext>
            </a:extLst>
          </p:cNvPr>
          <p:cNvSpPr>
            <a:spLocks noGrp="1"/>
          </p:cNvSpPr>
          <p:nvPr>
            <p:ph type="ctrTitle"/>
          </p:nvPr>
        </p:nvSpPr>
        <p:spPr/>
        <p:txBody>
          <a:bodyPr/>
          <a:lstStyle/>
          <a:p>
            <a:pPr algn="ctr"/>
            <a:r>
              <a:rPr lang="en-US" dirty="0"/>
              <a:t>Reference Types vs. value Types</a:t>
            </a:r>
          </a:p>
        </p:txBody>
      </p:sp>
      <p:sp>
        <p:nvSpPr>
          <p:cNvPr id="3" name="Subtitle 2">
            <a:extLst>
              <a:ext uri="{FF2B5EF4-FFF2-40B4-BE49-F238E27FC236}">
                <a16:creationId xmlns:a16="http://schemas.microsoft.com/office/drawing/2014/main" id="{C1D1ECDE-BA52-E893-BE0A-D4BAFF75C4A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39410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9B74B-2CBE-618F-CEFB-D9827D996A2C}"/>
              </a:ext>
            </a:extLst>
          </p:cNvPr>
          <p:cNvSpPr>
            <a:spLocks noGrp="1"/>
          </p:cNvSpPr>
          <p:nvPr>
            <p:ph type="title"/>
          </p:nvPr>
        </p:nvSpPr>
        <p:spPr/>
        <p:txBody>
          <a:bodyPr/>
          <a:lstStyle/>
          <a:p>
            <a:pPr algn="ctr"/>
            <a:r>
              <a:rPr lang="en-US" b="1" dirty="0">
                <a:solidFill>
                  <a:schemeClr val="tx1"/>
                </a:solidFill>
              </a:rPr>
              <a:t>Value Types</a:t>
            </a:r>
          </a:p>
        </p:txBody>
      </p:sp>
      <p:sp>
        <p:nvSpPr>
          <p:cNvPr id="3" name="Content Placeholder 2">
            <a:extLst>
              <a:ext uri="{FF2B5EF4-FFF2-40B4-BE49-F238E27FC236}">
                <a16:creationId xmlns:a16="http://schemas.microsoft.com/office/drawing/2014/main" id="{4C0E5053-C03C-FBAA-03C7-8EAFA449E6C3}"/>
              </a:ext>
            </a:extLst>
          </p:cNvPr>
          <p:cNvSpPr>
            <a:spLocks noGrp="1"/>
          </p:cNvSpPr>
          <p:nvPr>
            <p:ph idx="1"/>
          </p:nvPr>
        </p:nvSpPr>
        <p:spPr>
          <a:xfrm>
            <a:off x="3216396" y="1905000"/>
            <a:ext cx="8288216" cy="4319547"/>
          </a:xfrm>
        </p:spPr>
        <p:txBody>
          <a:bodyPr>
            <a:normAutofit/>
          </a:bodyPr>
          <a:lstStyle/>
          <a:p>
            <a:pPr marL="0" indent="0">
              <a:buNone/>
            </a:pPr>
            <a:r>
              <a:rPr lang="en-US" sz="2400" dirty="0">
                <a:solidFill>
                  <a:schemeClr val="tx1"/>
                </a:solidFill>
              </a:rPr>
              <a:t>Value types are what we have been using in C++ I.</a:t>
            </a:r>
          </a:p>
          <a:p>
            <a:pPr marL="0" indent="0">
              <a:buNone/>
            </a:pPr>
            <a:r>
              <a:rPr lang="en-US" sz="2400" dirty="0">
                <a:solidFill>
                  <a:schemeClr val="tx1"/>
                </a:solidFill>
              </a:rPr>
              <a:t>When we pass a value type, we “pass by value.” </a:t>
            </a:r>
          </a:p>
          <a:p>
            <a:pPr marL="0" indent="0">
              <a:buNone/>
            </a:pPr>
            <a:r>
              <a:rPr lang="en-US" sz="2400" dirty="0">
                <a:solidFill>
                  <a:schemeClr val="tx1"/>
                </a:solidFill>
              </a:rPr>
              <a:t>OK, never mind pointers and references. Their contents are not passed by value.  But the addresses are. </a:t>
            </a:r>
          </a:p>
          <a:p>
            <a:pPr marL="0" indent="0">
              <a:buNone/>
            </a:pPr>
            <a:r>
              <a:rPr lang="en-US" sz="2400" dirty="0">
                <a:solidFill>
                  <a:schemeClr val="tx1"/>
                </a:solidFill>
              </a:rPr>
              <a:t>Value types hold the value they represent in their memory.</a:t>
            </a:r>
          </a:p>
          <a:p>
            <a:pPr marL="0" indent="0">
              <a:buNone/>
            </a:pPr>
            <a:r>
              <a:rPr lang="en-US" sz="2400" dirty="0">
                <a:solidFill>
                  <a:schemeClr val="tx1"/>
                </a:solidFill>
              </a:rPr>
              <a:t>Primitives (int, float, </a:t>
            </a:r>
            <a:r>
              <a:rPr lang="en-US" sz="2400" dirty="0" err="1">
                <a:solidFill>
                  <a:schemeClr val="tx1"/>
                </a:solidFill>
              </a:rPr>
              <a:t>etc</a:t>
            </a:r>
            <a:r>
              <a:rPr lang="en-US" sz="2400" dirty="0">
                <a:solidFill>
                  <a:schemeClr val="tx1"/>
                </a:solidFill>
              </a:rPr>
              <a:t>) are also passed by value.</a:t>
            </a:r>
          </a:p>
          <a:p>
            <a:pPr marL="0" indent="0">
              <a:buNone/>
            </a:pPr>
            <a:r>
              <a:rPr lang="en-US" sz="2400" dirty="0">
                <a:solidFill>
                  <a:schemeClr val="tx1"/>
                </a:solidFill>
              </a:rPr>
              <a:t>Pass by value simply means that the value of the variable is copied.</a:t>
            </a:r>
          </a:p>
          <a:p>
            <a:pPr marL="0" indent="0">
              <a:buNone/>
            </a:pPr>
            <a:endParaRPr lang="en-US" sz="2400" dirty="0">
              <a:solidFill>
                <a:schemeClr val="tx1"/>
              </a:solidFill>
            </a:endParaRPr>
          </a:p>
        </p:txBody>
      </p:sp>
    </p:spTree>
    <p:extLst>
      <p:ext uri="{BB962C8B-B14F-4D97-AF65-F5344CB8AC3E}">
        <p14:creationId xmlns:p14="http://schemas.microsoft.com/office/powerpoint/2010/main" val="925068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FCF5C-E7E9-0899-BF92-2D80A988E82D}"/>
              </a:ext>
            </a:extLst>
          </p:cNvPr>
          <p:cNvSpPr>
            <a:spLocks noGrp="1"/>
          </p:cNvSpPr>
          <p:nvPr>
            <p:ph type="title"/>
          </p:nvPr>
        </p:nvSpPr>
        <p:spPr/>
        <p:txBody>
          <a:bodyPr/>
          <a:lstStyle/>
          <a:p>
            <a:pPr algn="ctr"/>
            <a:r>
              <a:rPr lang="en-US" b="1" dirty="0"/>
              <a:t>Reference Types</a:t>
            </a:r>
          </a:p>
        </p:txBody>
      </p:sp>
      <p:sp>
        <p:nvSpPr>
          <p:cNvPr id="3" name="Content Placeholder 2">
            <a:extLst>
              <a:ext uri="{FF2B5EF4-FFF2-40B4-BE49-F238E27FC236}">
                <a16:creationId xmlns:a16="http://schemas.microsoft.com/office/drawing/2014/main" id="{60216D22-6EF7-7FE0-1D65-DE07772559E3}"/>
              </a:ext>
            </a:extLst>
          </p:cNvPr>
          <p:cNvSpPr>
            <a:spLocks noGrp="1"/>
          </p:cNvSpPr>
          <p:nvPr>
            <p:ph idx="1"/>
          </p:nvPr>
        </p:nvSpPr>
        <p:spPr>
          <a:xfrm>
            <a:off x="2800228" y="1540188"/>
            <a:ext cx="8915400" cy="4907499"/>
          </a:xfrm>
        </p:spPr>
        <p:txBody>
          <a:bodyPr>
            <a:normAutofit/>
          </a:bodyPr>
          <a:lstStyle/>
          <a:p>
            <a:pPr marL="0" indent="0">
              <a:buNone/>
            </a:pPr>
            <a:r>
              <a:rPr lang="en-US" sz="2400" dirty="0"/>
              <a:t>In an object-oriented language like Java, you create new, complex data types from simple primitives by creating a class.  </a:t>
            </a:r>
          </a:p>
          <a:p>
            <a:pPr marL="0" indent="0">
              <a:buNone/>
            </a:pPr>
            <a:r>
              <a:rPr lang="en-US" sz="2400" dirty="0"/>
              <a:t>Each class is a new Type.  Instances of the class are accessed by their reference variable, which gives us a name to access it.  </a:t>
            </a:r>
          </a:p>
          <a:p>
            <a:pPr marL="0" indent="0">
              <a:buNone/>
            </a:pPr>
            <a:r>
              <a:rPr lang="en-US" sz="2400" dirty="0"/>
              <a:t>The reference variable contains the address of the object and “points” to the location of the object on the heap. </a:t>
            </a:r>
          </a:p>
          <a:p>
            <a:pPr marL="0" indent="0">
              <a:buNone/>
            </a:pPr>
            <a:r>
              <a:rPr lang="en-US" sz="2400" dirty="0"/>
              <a:t>Therefore, when we pass a reference type, only the reference is copied, not the object it is pointing to.</a:t>
            </a:r>
          </a:p>
        </p:txBody>
      </p:sp>
    </p:spTree>
    <p:extLst>
      <p:ext uri="{BB962C8B-B14F-4D97-AF65-F5344CB8AC3E}">
        <p14:creationId xmlns:p14="http://schemas.microsoft.com/office/powerpoint/2010/main" val="167604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26AB-519E-A6A9-E47E-8BFE1777B76A}"/>
              </a:ext>
            </a:extLst>
          </p:cNvPr>
          <p:cNvSpPr>
            <a:spLocks noGrp="1"/>
          </p:cNvSpPr>
          <p:nvPr>
            <p:ph type="title"/>
          </p:nvPr>
        </p:nvSpPr>
        <p:spPr/>
        <p:txBody>
          <a:bodyPr/>
          <a:lstStyle/>
          <a:p>
            <a:pPr algn="ctr"/>
            <a:r>
              <a:rPr lang="en-US" b="1" dirty="0"/>
              <a:t>Object Initialization</a:t>
            </a:r>
          </a:p>
        </p:txBody>
      </p:sp>
      <p:sp>
        <p:nvSpPr>
          <p:cNvPr id="3" name="Content Placeholder 2">
            <a:extLst>
              <a:ext uri="{FF2B5EF4-FFF2-40B4-BE49-F238E27FC236}">
                <a16:creationId xmlns:a16="http://schemas.microsoft.com/office/drawing/2014/main" id="{90E70CC5-0B01-D8D7-CD80-C7156696BCA3}"/>
              </a:ext>
            </a:extLst>
          </p:cNvPr>
          <p:cNvSpPr>
            <a:spLocks noGrp="1"/>
          </p:cNvSpPr>
          <p:nvPr>
            <p:ph idx="1"/>
          </p:nvPr>
        </p:nvSpPr>
        <p:spPr>
          <a:xfrm>
            <a:off x="2592925" y="1667256"/>
            <a:ext cx="8915400" cy="3777622"/>
          </a:xfrm>
        </p:spPr>
        <p:txBody>
          <a:bodyPr>
            <a:normAutofit/>
          </a:bodyPr>
          <a:lstStyle/>
          <a:p>
            <a:pPr marL="0" indent="0">
              <a:buNone/>
            </a:pPr>
            <a:r>
              <a:rPr lang="en-US" sz="2400" dirty="0"/>
              <a:t>Reference types always point to objects (or null), and objects are always defined by classes. </a:t>
            </a:r>
          </a:p>
          <a:p>
            <a:pPr marL="0" indent="0">
              <a:buNone/>
            </a:pPr>
            <a:r>
              <a:rPr lang="en-US" sz="2400" dirty="0"/>
              <a:t>Similar to native types, instance or class variables that are not explicitly initialized when they are declared will be assigned the default value of </a:t>
            </a:r>
            <a:r>
              <a:rPr lang="en-US" sz="2400" b="1" dirty="0"/>
              <a:t>null</a:t>
            </a:r>
            <a:r>
              <a:rPr lang="en-US" sz="2400" dirty="0"/>
              <a:t>.</a:t>
            </a:r>
          </a:p>
          <a:p>
            <a:pPr marL="0" indent="0">
              <a:buNone/>
            </a:pPr>
            <a:r>
              <a:rPr lang="en-US" sz="2400" dirty="0"/>
              <a:t>Also, like native types, </a:t>
            </a:r>
            <a:r>
              <a:rPr lang="en-US" sz="2400" b="1" dirty="0"/>
              <a:t>local variables </a:t>
            </a:r>
            <a:r>
              <a:rPr lang="en-US" sz="2400" dirty="0"/>
              <a:t>that have a reference type are not initialized by default so you must set your own value before using them.</a:t>
            </a:r>
          </a:p>
        </p:txBody>
      </p:sp>
    </p:spTree>
    <p:extLst>
      <p:ext uri="{BB962C8B-B14F-4D97-AF65-F5344CB8AC3E}">
        <p14:creationId xmlns:p14="http://schemas.microsoft.com/office/powerpoint/2010/main" val="4288191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B4F37-B4C7-CD9C-7844-44F0A696A15A}"/>
              </a:ext>
            </a:extLst>
          </p:cNvPr>
          <p:cNvSpPr>
            <a:spLocks noGrp="1"/>
          </p:cNvSpPr>
          <p:nvPr>
            <p:ph type="title"/>
          </p:nvPr>
        </p:nvSpPr>
        <p:spPr>
          <a:xfrm>
            <a:off x="2032879" y="201583"/>
            <a:ext cx="8911687" cy="1280890"/>
          </a:xfrm>
        </p:spPr>
        <p:txBody>
          <a:bodyPr/>
          <a:lstStyle/>
          <a:p>
            <a:pPr algn="ctr"/>
            <a:r>
              <a:rPr lang="en-US" b="1" dirty="0"/>
              <a:t>Car class Example</a:t>
            </a:r>
          </a:p>
        </p:txBody>
      </p:sp>
      <p:sp>
        <p:nvSpPr>
          <p:cNvPr id="3" name="Content Placeholder 2">
            <a:extLst>
              <a:ext uri="{FF2B5EF4-FFF2-40B4-BE49-F238E27FC236}">
                <a16:creationId xmlns:a16="http://schemas.microsoft.com/office/drawing/2014/main" id="{307BACB3-0689-E967-BB44-DBA3EC1C002F}"/>
              </a:ext>
            </a:extLst>
          </p:cNvPr>
          <p:cNvSpPr>
            <a:spLocks noGrp="1"/>
          </p:cNvSpPr>
          <p:nvPr>
            <p:ph idx="1"/>
          </p:nvPr>
        </p:nvSpPr>
        <p:spPr>
          <a:xfrm>
            <a:off x="2163982" y="842028"/>
            <a:ext cx="7995139" cy="5671679"/>
          </a:xfrm>
        </p:spPr>
        <p:txBody>
          <a:bodyPr>
            <a:noAutofit/>
          </a:bodyPr>
          <a:lstStyle/>
          <a:p>
            <a:pPr marL="0" indent="0">
              <a:buNone/>
            </a:pPr>
            <a:r>
              <a:rPr lang="en-US" sz="2400" b="1" dirty="0"/>
              <a:t>public class Car {</a:t>
            </a:r>
          </a:p>
          <a:p>
            <a:pPr marL="0" indent="0">
              <a:buNone/>
            </a:pPr>
            <a:r>
              <a:rPr lang="en-US" sz="2400" b="1" dirty="0"/>
              <a:t>	private String make = “Toyota”;</a:t>
            </a:r>
          </a:p>
          <a:p>
            <a:pPr marL="457200" lvl="1" indent="0">
              <a:buNone/>
            </a:pPr>
            <a:r>
              <a:rPr lang="en-US" sz="2400" b="1" dirty="0"/>
              <a:t>private int year = 2014;</a:t>
            </a:r>
          </a:p>
          <a:p>
            <a:pPr marL="457200" lvl="1" indent="0">
              <a:buNone/>
            </a:pPr>
            <a:r>
              <a:rPr lang="en-US" sz="2400" b="1" dirty="0"/>
              <a:t>private String color = “silver”; </a:t>
            </a:r>
          </a:p>
          <a:p>
            <a:pPr marL="0" indent="0">
              <a:buNone/>
            </a:pPr>
            <a:r>
              <a:rPr lang="en-US" sz="2400" dirty="0"/>
              <a:t>} //plus methods for the class</a:t>
            </a:r>
          </a:p>
          <a:p>
            <a:pPr marL="0" indent="0">
              <a:buNone/>
            </a:pPr>
            <a:r>
              <a:rPr lang="en-US" sz="2400" dirty="0"/>
              <a:t>//create </a:t>
            </a:r>
            <a:r>
              <a:rPr lang="en-US" sz="2400" dirty="0" err="1"/>
              <a:t>johnCar</a:t>
            </a:r>
            <a:endParaRPr lang="en-US" sz="2400" dirty="0"/>
          </a:p>
          <a:p>
            <a:pPr marL="457200" lvl="1" indent="0">
              <a:buNone/>
            </a:pPr>
            <a:r>
              <a:rPr lang="en-US" sz="2400" b="1" dirty="0"/>
              <a:t>Car </a:t>
            </a:r>
            <a:r>
              <a:rPr lang="en-US" sz="2400" b="1" dirty="0" err="1"/>
              <a:t>johnCar</a:t>
            </a:r>
            <a:r>
              <a:rPr lang="en-US" sz="2400" b="1" dirty="0"/>
              <a:t> = new Car();</a:t>
            </a:r>
          </a:p>
          <a:p>
            <a:pPr marL="0" indent="0">
              <a:buNone/>
            </a:pPr>
            <a:r>
              <a:rPr lang="en-US" sz="2400" dirty="0"/>
              <a:t>//Now copy </a:t>
            </a:r>
            <a:r>
              <a:rPr lang="en-US" sz="2400" dirty="0" err="1"/>
              <a:t>johnCar</a:t>
            </a:r>
            <a:r>
              <a:rPr lang="en-US" sz="2400" dirty="0"/>
              <a:t> to </a:t>
            </a:r>
            <a:r>
              <a:rPr lang="en-US" sz="2400" dirty="0" err="1"/>
              <a:t>stacyCar</a:t>
            </a:r>
            <a:r>
              <a:rPr lang="en-US" sz="2400" dirty="0"/>
              <a:t>:</a:t>
            </a:r>
          </a:p>
          <a:p>
            <a:pPr marL="0" indent="0">
              <a:buNone/>
            </a:pPr>
            <a:r>
              <a:rPr lang="en-US" sz="2400" b="1" dirty="0"/>
              <a:t>      Car </a:t>
            </a:r>
            <a:r>
              <a:rPr lang="en-US" sz="2400" b="1" dirty="0" err="1"/>
              <a:t>stacyCar</a:t>
            </a:r>
            <a:r>
              <a:rPr lang="en-US" sz="2400" b="1" dirty="0"/>
              <a:t> = </a:t>
            </a:r>
            <a:r>
              <a:rPr lang="en-US" sz="2400" b="1" dirty="0" err="1"/>
              <a:t>johnCar</a:t>
            </a:r>
            <a:r>
              <a:rPr lang="en-US" sz="2400" b="1" dirty="0"/>
              <a:t>;</a:t>
            </a:r>
          </a:p>
          <a:p>
            <a:pPr marL="0" indent="0">
              <a:buNone/>
            </a:pPr>
            <a:r>
              <a:rPr lang="en-US" sz="2400" dirty="0"/>
              <a:t>//And paint </a:t>
            </a:r>
            <a:r>
              <a:rPr lang="en-US" sz="2400" dirty="0" err="1"/>
              <a:t>stacyCar</a:t>
            </a:r>
            <a:r>
              <a:rPr lang="en-US" sz="2400" dirty="0"/>
              <a:t> peach.</a:t>
            </a:r>
          </a:p>
          <a:p>
            <a:pPr marL="0" indent="0">
              <a:buNone/>
            </a:pPr>
            <a:r>
              <a:rPr lang="en-US" sz="2400" b="1" dirty="0"/>
              <a:t>      </a:t>
            </a:r>
            <a:r>
              <a:rPr lang="en-US" sz="2400" b="1" dirty="0" err="1"/>
              <a:t>stacyCar.setColor</a:t>
            </a:r>
            <a:r>
              <a:rPr lang="en-US" sz="2400" b="1" dirty="0"/>
              <a:t>(“Peach”);</a:t>
            </a:r>
          </a:p>
          <a:p>
            <a:pPr marL="0" indent="0">
              <a:buNone/>
            </a:pPr>
            <a:endParaRPr lang="en-US" sz="2400" dirty="0"/>
          </a:p>
        </p:txBody>
      </p:sp>
      <p:sp>
        <p:nvSpPr>
          <p:cNvPr id="4" name="TextBox 3">
            <a:extLst>
              <a:ext uri="{FF2B5EF4-FFF2-40B4-BE49-F238E27FC236}">
                <a16:creationId xmlns:a16="http://schemas.microsoft.com/office/drawing/2014/main" id="{71CBEFB2-5AF9-60BD-8614-3732346A63DB}"/>
              </a:ext>
            </a:extLst>
          </p:cNvPr>
          <p:cNvSpPr txBox="1"/>
          <p:nvPr/>
        </p:nvSpPr>
        <p:spPr>
          <a:xfrm>
            <a:off x="7597023" y="3429000"/>
            <a:ext cx="4297211" cy="3046988"/>
          </a:xfrm>
          <a:prstGeom prst="rect">
            <a:avLst/>
          </a:prstGeom>
          <a:noFill/>
          <a:ln>
            <a:solidFill>
              <a:schemeClr val="tx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Question 1:</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What color is </a:t>
            </a:r>
            <a:r>
              <a:rPr kumimoji="0" lang="en-US" sz="2400" b="0" i="0" u="none" strike="noStrike" kern="1200" cap="none" spc="0" normalizeH="0" baseline="0" noProof="0" dirty="0" err="1">
                <a:ln>
                  <a:noFill/>
                </a:ln>
                <a:solidFill>
                  <a:prstClr val="black"/>
                </a:solidFill>
                <a:effectLst/>
                <a:uLnTx/>
                <a:uFillTx/>
                <a:latin typeface="Arial" panose="020B0604020202020204"/>
                <a:ea typeface="+mn-ea"/>
                <a:cs typeface="+mn-cs"/>
              </a:rPr>
              <a:t>johnCar</a:t>
            </a: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Would it make a difference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Question 2: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Would it make a difference if we said this?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Car </a:t>
            </a:r>
            <a:r>
              <a:rPr kumimoji="0" lang="en-US" sz="2400" b="1" i="0" u="none" strike="noStrike" kern="1200" cap="none" spc="0" normalizeH="0" baseline="0" noProof="0" dirty="0" err="1">
                <a:ln>
                  <a:noFill/>
                </a:ln>
                <a:solidFill>
                  <a:prstClr val="black"/>
                </a:solidFill>
                <a:effectLst/>
                <a:uLnTx/>
                <a:uFillTx/>
                <a:latin typeface="Arial" panose="020B0604020202020204"/>
                <a:ea typeface="+mn-ea"/>
                <a:cs typeface="+mn-cs"/>
              </a:rPr>
              <a:t>stacyCar</a:t>
            </a: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 = new Car();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black"/>
                </a:solidFill>
                <a:effectLst/>
                <a:uLnTx/>
                <a:uFillTx/>
                <a:latin typeface="Arial" panose="020B0604020202020204"/>
                <a:ea typeface="+mn-ea"/>
                <a:cs typeface="+mn-cs"/>
              </a:rPr>
              <a:t>stacyCar</a:t>
            </a: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 = </a:t>
            </a:r>
            <a:r>
              <a:rPr kumimoji="0" lang="en-US" sz="2400" b="1" i="0" u="none" strike="noStrike" kern="1200" cap="none" spc="0" normalizeH="0" baseline="0" noProof="0" dirty="0" err="1">
                <a:ln>
                  <a:noFill/>
                </a:ln>
                <a:solidFill>
                  <a:prstClr val="black"/>
                </a:solidFill>
                <a:effectLst/>
                <a:uLnTx/>
                <a:uFillTx/>
                <a:latin typeface="Arial" panose="020B0604020202020204"/>
                <a:ea typeface="+mn-ea"/>
                <a:cs typeface="+mn-cs"/>
              </a:rPr>
              <a:t>johnCar</a:t>
            </a: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a:t>
            </a:r>
          </a:p>
        </p:txBody>
      </p:sp>
    </p:spTree>
    <p:extLst>
      <p:ext uri="{BB962C8B-B14F-4D97-AF65-F5344CB8AC3E}">
        <p14:creationId xmlns:p14="http://schemas.microsoft.com/office/powerpoint/2010/main" val="1354849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2EC0C-3637-4B72-07F7-0991D3861C95}"/>
              </a:ext>
            </a:extLst>
          </p:cNvPr>
          <p:cNvSpPr>
            <a:spLocks noGrp="1"/>
          </p:cNvSpPr>
          <p:nvPr>
            <p:ph type="title"/>
          </p:nvPr>
        </p:nvSpPr>
        <p:spPr>
          <a:xfrm>
            <a:off x="2616371" y="354479"/>
            <a:ext cx="8911687" cy="1280890"/>
          </a:xfrm>
        </p:spPr>
        <p:txBody>
          <a:bodyPr/>
          <a:lstStyle/>
          <a:p>
            <a:pPr algn="ctr"/>
            <a:r>
              <a:rPr lang="en-US" b="1" dirty="0"/>
              <a:t>Assigning a Reference</a:t>
            </a:r>
          </a:p>
        </p:txBody>
      </p:sp>
      <p:sp>
        <p:nvSpPr>
          <p:cNvPr id="3" name="Content Placeholder 2">
            <a:extLst>
              <a:ext uri="{FF2B5EF4-FFF2-40B4-BE49-F238E27FC236}">
                <a16:creationId xmlns:a16="http://schemas.microsoft.com/office/drawing/2014/main" id="{8F139B1E-8807-69A8-62AD-2EBCA05ACDC6}"/>
              </a:ext>
            </a:extLst>
          </p:cNvPr>
          <p:cNvSpPr>
            <a:spLocks noGrp="1"/>
          </p:cNvSpPr>
          <p:nvPr>
            <p:ph idx="1"/>
          </p:nvPr>
        </p:nvSpPr>
        <p:spPr>
          <a:xfrm>
            <a:off x="2729890" y="994924"/>
            <a:ext cx="8915400" cy="3777622"/>
          </a:xfrm>
        </p:spPr>
        <p:txBody>
          <a:bodyPr>
            <a:noAutofit/>
          </a:bodyPr>
          <a:lstStyle/>
          <a:p>
            <a:pPr marL="0" indent="0">
              <a:buNone/>
            </a:pPr>
            <a:r>
              <a:rPr lang="en-US" sz="2400" dirty="0"/>
              <a:t>The result of assigning one reference variable to another is that they then point to the same object.</a:t>
            </a:r>
          </a:p>
          <a:p>
            <a:pPr marL="0" indent="0">
              <a:buNone/>
            </a:pPr>
            <a:r>
              <a:rPr lang="en-US" sz="2400" dirty="0"/>
              <a:t>With both reference variables pointing to the same object, if the object is updated by one of the reference variables, then the other reference variable will see the change and both cars will be peach.</a:t>
            </a:r>
          </a:p>
          <a:p>
            <a:pPr marL="0" indent="0">
              <a:buNone/>
            </a:pPr>
            <a:endParaRPr lang="en-US" sz="2400" dirty="0"/>
          </a:p>
          <a:p>
            <a:pPr marL="0" indent="0">
              <a:buNone/>
            </a:pPr>
            <a:endParaRPr lang="en-US" sz="2400" dirty="0"/>
          </a:p>
        </p:txBody>
      </p:sp>
      <p:pic>
        <p:nvPicPr>
          <p:cNvPr id="5" name="Picture 4">
            <a:extLst>
              <a:ext uri="{FF2B5EF4-FFF2-40B4-BE49-F238E27FC236}">
                <a16:creationId xmlns:a16="http://schemas.microsoft.com/office/drawing/2014/main" id="{B5EA8D7F-A718-C9DB-8F05-CA66FE2CA139}"/>
              </a:ext>
            </a:extLst>
          </p:cNvPr>
          <p:cNvPicPr>
            <a:picLocks noChangeAspect="1"/>
          </p:cNvPicPr>
          <p:nvPr/>
        </p:nvPicPr>
        <p:blipFill>
          <a:blip r:embed="rId2"/>
          <a:stretch>
            <a:fillRect/>
          </a:stretch>
        </p:blipFill>
        <p:spPr>
          <a:xfrm>
            <a:off x="3636279" y="3780693"/>
            <a:ext cx="6537444" cy="2822175"/>
          </a:xfrm>
          <a:prstGeom prst="rect">
            <a:avLst/>
          </a:prstGeom>
          <a:ln>
            <a:solidFill>
              <a:schemeClr val="accent1"/>
            </a:solidFill>
          </a:ln>
        </p:spPr>
      </p:pic>
    </p:spTree>
    <p:extLst>
      <p:ext uri="{BB962C8B-B14F-4D97-AF65-F5344CB8AC3E}">
        <p14:creationId xmlns:p14="http://schemas.microsoft.com/office/powerpoint/2010/main" val="1594618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1113A-C8C5-6891-F514-7DD24F51A377}"/>
              </a:ext>
            </a:extLst>
          </p:cNvPr>
          <p:cNvSpPr>
            <a:spLocks noGrp="1"/>
          </p:cNvSpPr>
          <p:nvPr>
            <p:ph type="title"/>
          </p:nvPr>
        </p:nvSpPr>
        <p:spPr>
          <a:xfrm>
            <a:off x="1819202" y="360340"/>
            <a:ext cx="9892152" cy="1280890"/>
          </a:xfrm>
        </p:spPr>
        <p:txBody>
          <a:bodyPr/>
          <a:lstStyle/>
          <a:p>
            <a:pPr algn="ctr"/>
            <a:r>
              <a:rPr lang="en-US" b="1" dirty="0"/>
              <a:t>How to copy reference variables so their objects are independent of each other</a:t>
            </a:r>
          </a:p>
        </p:txBody>
      </p:sp>
      <p:sp>
        <p:nvSpPr>
          <p:cNvPr id="7" name="Content Placeholder 6">
            <a:extLst>
              <a:ext uri="{FF2B5EF4-FFF2-40B4-BE49-F238E27FC236}">
                <a16:creationId xmlns:a16="http://schemas.microsoft.com/office/drawing/2014/main" id="{508B8D85-57A9-A892-EC32-9A132939B1AB}"/>
              </a:ext>
            </a:extLst>
          </p:cNvPr>
          <p:cNvSpPr>
            <a:spLocks noGrp="1"/>
          </p:cNvSpPr>
          <p:nvPr>
            <p:ph idx="1"/>
          </p:nvPr>
        </p:nvSpPr>
        <p:spPr>
          <a:xfrm>
            <a:off x="2795954" y="1850780"/>
            <a:ext cx="8915400" cy="4454769"/>
          </a:xfrm>
        </p:spPr>
        <p:txBody>
          <a:bodyPr>
            <a:normAutofit/>
          </a:bodyPr>
          <a:lstStyle/>
          <a:p>
            <a:pPr marL="0" indent="0">
              <a:buNone/>
            </a:pPr>
            <a:r>
              <a:rPr lang="en-US" sz="2400" dirty="0"/>
              <a:t>Instantiate a new object for the second reference and then assign the two objects' instance variables one at a time.</a:t>
            </a:r>
          </a:p>
          <a:p>
            <a:pPr marL="0" indent="0">
              <a:buNone/>
            </a:pPr>
            <a:r>
              <a:rPr lang="en-US" sz="2400" b="1" dirty="0"/>
              <a:t>Car </a:t>
            </a:r>
            <a:r>
              <a:rPr lang="en-US" sz="2400" b="1" dirty="0" err="1"/>
              <a:t>johnCar</a:t>
            </a:r>
            <a:r>
              <a:rPr lang="en-US" sz="2400" b="1" dirty="0"/>
              <a:t> = </a:t>
            </a:r>
            <a:r>
              <a:rPr lang="en-US" sz="2400" b="1" dirty="0" err="1"/>
              <a:t>newCar</a:t>
            </a:r>
            <a:r>
              <a:rPr lang="en-US" sz="2400" b="1" dirty="0"/>
              <a:t>();</a:t>
            </a:r>
          </a:p>
          <a:p>
            <a:pPr marL="0" indent="0">
              <a:buNone/>
            </a:pPr>
            <a:r>
              <a:rPr lang="en-US" sz="2400" b="1" dirty="0"/>
              <a:t>Car </a:t>
            </a:r>
            <a:r>
              <a:rPr lang="en-US" sz="2400" b="1" dirty="0" err="1"/>
              <a:t>stacyCar</a:t>
            </a:r>
            <a:r>
              <a:rPr lang="en-US" sz="2400" b="1" dirty="0"/>
              <a:t> = </a:t>
            </a:r>
            <a:r>
              <a:rPr lang="en-US" sz="2400" b="1" dirty="0" err="1"/>
              <a:t>newCar</a:t>
            </a:r>
            <a:r>
              <a:rPr lang="en-US" sz="2400" b="1" dirty="0"/>
              <a:t>();  </a:t>
            </a:r>
            <a:r>
              <a:rPr lang="en-US" sz="2400" dirty="0"/>
              <a:t>//separate object</a:t>
            </a:r>
          </a:p>
          <a:p>
            <a:pPr marL="0" indent="0">
              <a:buNone/>
            </a:pPr>
            <a:r>
              <a:rPr lang="en-US" sz="2400" b="1" dirty="0" err="1"/>
              <a:t>stacyCar.setMake</a:t>
            </a:r>
            <a:r>
              <a:rPr lang="en-US" sz="2400" b="1" dirty="0"/>
              <a:t>(</a:t>
            </a:r>
            <a:r>
              <a:rPr lang="en-US" sz="2400" b="1" dirty="0" err="1"/>
              <a:t>johnCar.getMake</a:t>
            </a:r>
            <a:r>
              <a:rPr lang="en-US" sz="2400" b="1" dirty="0"/>
              <a:t>());</a:t>
            </a:r>
          </a:p>
          <a:p>
            <a:pPr marL="0" indent="0">
              <a:buNone/>
            </a:pPr>
            <a:r>
              <a:rPr lang="en-US" sz="2400" b="1" dirty="0" err="1"/>
              <a:t>stacyCar.setYear</a:t>
            </a:r>
            <a:r>
              <a:rPr lang="en-US" sz="2400" b="1" dirty="0"/>
              <a:t>(</a:t>
            </a:r>
            <a:r>
              <a:rPr lang="en-US" sz="2400" b="1" dirty="0" err="1"/>
              <a:t>johnCar,getYear</a:t>
            </a:r>
            <a:r>
              <a:rPr lang="en-US" sz="2400" b="1" dirty="0"/>
              <a:t>());</a:t>
            </a:r>
          </a:p>
          <a:p>
            <a:pPr marL="0" indent="0">
              <a:buNone/>
            </a:pPr>
            <a:r>
              <a:rPr lang="en-US" sz="2400" b="1" dirty="0" err="1"/>
              <a:t>stacyCar.setColor</a:t>
            </a:r>
            <a:r>
              <a:rPr lang="en-US" sz="2400" b="1" dirty="0"/>
              <a:t>(</a:t>
            </a:r>
            <a:r>
              <a:rPr lang="en-US" sz="2400" b="1" dirty="0" err="1"/>
              <a:t>johnCar.getColor</a:t>
            </a:r>
            <a:r>
              <a:rPr lang="en-US" sz="2400" b="1" dirty="0"/>
              <a:t>());</a:t>
            </a:r>
          </a:p>
          <a:p>
            <a:pPr marL="0" indent="0">
              <a:buNone/>
            </a:pPr>
            <a:r>
              <a:rPr lang="en-US" sz="2400" b="1" dirty="0" err="1"/>
              <a:t>stacyCar.setColor</a:t>
            </a:r>
            <a:r>
              <a:rPr lang="en-US" sz="2400" b="1" dirty="0"/>
              <a:t>(“peach”);</a:t>
            </a:r>
          </a:p>
          <a:p>
            <a:pPr marL="0" indent="0">
              <a:buNone/>
            </a:pPr>
            <a:endParaRPr lang="en-US" sz="2400" dirty="0"/>
          </a:p>
        </p:txBody>
      </p:sp>
    </p:spTree>
    <p:extLst>
      <p:ext uri="{BB962C8B-B14F-4D97-AF65-F5344CB8AC3E}">
        <p14:creationId xmlns:p14="http://schemas.microsoft.com/office/powerpoint/2010/main" val="201943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22340-3C26-F8F4-9D5D-3FE749989E9F}"/>
              </a:ext>
            </a:extLst>
          </p:cNvPr>
          <p:cNvSpPr>
            <a:spLocks noGrp="1"/>
          </p:cNvSpPr>
          <p:nvPr>
            <p:ph type="title"/>
          </p:nvPr>
        </p:nvSpPr>
        <p:spPr/>
        <p:txBody>
          <a:bodyPr>
            <a:normAutofit fontScale="90000"/>
          </a:bodyPr>
          <a:lstStyle/>
          <a:p>
            <a:r>
              <a:rPr lang="en-US" dirty="0"/>
              <a:t>The Result – </a:t>
            </a:r>
            <a:r>
              <a:rPr lang="en-US" dirty="0" err="1"/>
              <a:t>stacyCar</a:t>
            </a:r>
            <a:r>
              <a:rPr lang="en-US" dirty="0"/>
              <a:t> is a separate object and when the car is painted peach, </a:t>
            </a:r>
            <a:r>
              <a:rPr lang="en-US" dirty="0" err="1"/>
              <a:t>johnCar</a:t>
            </a:r>
            <a:r>
              <a:rPr lang="en-US" dirty="0"/>
              <a:t> remains silver.</a:t>
            </a:r>
          </a:p>
        </p:txBody>
      </p:sp>
      <p:pic>
        <p:nvPicPr>
          <p:cNvPr id="5" name="Content Placeholder 4">
            <a:extLst>
              <a:ext uri="{FF2B5EF4-FFF2-40B4-BE49-F238E27FC236}">
                <a16:creationId xmlns:a16="http://schemas.microsoft.com/office/drawing/2014/main" id="{CA650DFD-ABE3-B3D4-865C-BD4DCE397AE7}"/>
              </a:ext>
            </a:extLst>
          </p:cNvPr>
          <p:cNvPicPr>
            <a:picLocks noGrp="1" noChangeAspect="1"/>
          </p:cNvPicPr>
          <p:nvPr>
            <p:ph idx="1"/>
          </p:nvPr>
        </p:nvPicPr>
        <p:blipFill>
          <a:blip r:embed="rId2"/>
          <a:stretch>
            <a:fillRect/>
          </a:stretch>
        </p:blipFill>
        <p:spPr>
          <a:xfrm>
            <a:off x="3535798" y="2722031"/>
            <a:ext cx="5120403" cy="2929346"/>
          </a:xfrm>
        </p:spPr>
      </p:pic>
    </p:spTree>
    <p:extLst>
      <p:ext uri="{BB962C8B-B14F-4D97-AF65-F5344CB8AC3E}">
        <p14:creationId xmlns:p14="http://schemas.microsoft.com/office/powerpoint/2010/main" val="2086463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B2091-F71D-5C4A-2283-FA0CC19A0DC7}"/>
              </a:ext>
            </a:extLst>
          </p:cNvPr>
          <p:cNvSpPr>
            <a:spLocks noGrp="1"/>
          </p:cNvSpPr>
          <p:nvPr>
            <p:ph type="title"/>
          </p:nvPr>
        </p:nvSpPr>
        <p:spPr/>
        <p:txBody>
          <a:bodyPr/>
          <a:lstStyle/>
          <a:p>
            <a:pPr algn="ctr"/>
            <a:r>
              <a:rPr lang="en-US" b="1" dirty="0"/>
              <a:t>Passing References</a:t>
            </a:r>
          </a:p>
        </p:txBody>
      </p:sp>
      <p:sp>
        <p:nvSpPr>
          <p:cNvPr id="3" name="Content Placeholder 2">
            <a:extLst>
              <a:ext uri="{FF2B5EF4-FFF2-40B4-BE49-F238E27FC236}">
                <a16:creationId xmlns:a16="http://schemas.microsoft.com/office/drawing/2014/main" id="{177A4B60-DB54-738C-4F59-0E75DE0855E9}"/>
              </a:ext>
            </a:extLst>
          </p:cNvPr>
          <p:cNvSpPr>
            <a:spLocks noGrp="1"/>
          </p:cNvSpPr>
          <p:nvPr>
            <p:ph idx="1"/>
          </p:nvPr>
        </p:nvSpPr>
        <p:spPr>
          <a:xfrm>
            <a:off x="2765058" y="1406769"/>
            <a:ext cx="8915400" cy="3777622"/>
          </a:xfrm>
        </p:spPr>
        <p:txBody>
          <a:bodyPr>
            <a:noAutofit/>
          </a:bodyPr>
          <a:lstStyle/>
          <a:p>
            <a:pPr marL="0" indent="0">
              <a:buNone/>
            </a:pPr>
            <a:r>
              <a:rPr lang="en-US" sz="2400" dirty="0"/>
              <a:t>Object references are passed to methods in the same way as functions.</a:t>
            </a:r>
          </a:p>
          <a:p>
            <a:pPr marL="0" indent="0">
              <a:buNone/>
            </a:pPr>
            <a:r>
              <a:rPr lang="en-US" sz="2400" dirty="0"/>
              <a:t>In the original case, where </a:t>
            </a:r>
            <a:r>
              <a:rPr lang="en-US" sz="2400" dirty="0" err="1"/>
              <a:t>stacyCar</a:t>
            </a:r>
            <a:r>
              <a:rPr lang="en-US" sz="2400" dirty="0"/>
              <a:t> and </a:t>
            </a:r>
            <a:r>
              <a:rPr lang="en-US" sz="2400" dirty="0" err="1"/>
              <a:t>johnCar</a:t>
            </a:r>
            <a:r>
              <a:rPr lang="en-US" sz="2400" dirty="0"/>
              <a:t> refer to the same object, either one would serve as equivalent arguments:</a:t>
            </a:r>
          </a:p>
          <a:p>
            <a:pPr marL="0" indent="0">
              <a:buNone/>
            </a:pPr>
            <a:r>
              <a:rPr lang="en-US" sz="2400" b="1" dirty="0" err="1"/>
              <a:t>myMethod</a:t>
            </a:r>
            <a:r>
              <a:rPr lang="en-US" sz="2400" b="1" dirty="0"/>
              <a:t>(</a:t>
            </a:r>
            <a:r>
              <a:rPr lang="en-US" sz="2400" b="1" dirty="0" err="1"/>
              <a:t>stacyCar</a:t>
            </a:r>
            <a:r>
              <a:rPr lang="en-US" sz="2400" b="1" dirty="0"/>
              <a:t>);</a:t>
            </a:r>
          </a:p>
          <a:p>
            <a:pPr marL="0" indent="0">
              <a:buNone/>
            </a:pPr>
            <a:r>
              <a:rPr lang="en-US" sz="2400" dirty="0"/>
              <a:t>An important, but sometimes confusing, distinction to make at this point is that the reference itself is a value and that value is copied when it is assigned to a variable or passed in a method call.</a:t>
            </a:r>
          </a:p>
          <a:p>
            <a:pPr marL="0" indent="0">
              <a:buNone/>
            </a:pPr>
            <a:r>
              <a:rPr lang="en-US" sz="2400" dirty="0"/>
              <a:t>The method can alter the state of the </a:t>
            </a:r>
            <a:r>
              <a:rPr lang="en-US" sz="2400" dirty="0" err="1"/>
              <a:t>stacyCar</a:t>
            </a:r>
            <a:r>
              <a:rPr lang="en-US" sz="2400" dirty="0"/>
              <a:t> object through that reference (calling its methods or altering its variables).</a:t>
            </a:r>
          </a:p>
          <a:p>
            <a:pPr marL="0" indent="0">
              <a:buNone/>
            </a:pPr>
            <a:endParaRPr lang="en-US" sz="2400" dirty="0"/>
          </a:p>
        </p:txBody>
      </p:sp>
    </p:spTree>
    <p:extLst>
      <p:ext uri="{BB962C8B-B14F-4D97-AF65-F5344CB8AC3E}">
        <p14:creationId xmlns:p14="http://schemas.microsoft.com/office/powerpoint/2010/main" val="38468982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TotalTime>
  <Words>635</Words>
  <Application>Microsoft Office PowerPoint</Application>
  <PresentationFormat>Widescreen</PresentationFormat>
  <Paragraphs>54</Paragraphs>
  <Slides>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vt:i4>
      </vt:variant>
    </vt:vector>
  </HeadingPairs>
  <TitlesOfParts>
    <vt:vector size="14" baseType="lpstr">
      <vt:lpstr>Arial</vt:lpstr>
      <vt:lpstr>Century Gothic</vt:lpstr>
      <vt:lpstr>Wingdings 3</vt:lpstr>
      <vt:lpstr>Wisp</vt:lpstr>
      <vt:lpstr>1_Wisp</vt:lpstr>
      <vt:lpstr>Reference Types vs. value Types</vt:lpstr>
      <vt:lpstr>Value Types</vt:lpstr>
      <vt:lpstr>Reference Types</vt:lpstr>
      <vt:lpstr>Object Initialization</vt:lpstr>
      <vt:lpstr>Car class Example</vt:lpstr>
      <vt:lpstr>Assigning a Reference</vt:lpstr>
      <vt:lpstr>How to copy reference variables so their objects are independent of each other</vt:lpstr>
      <vt:lpstr>The Result – stacyCar is a separate object and when the car is painted peach, johnCar remains silver.</vt:lpstr>
      <vt:lpstr>Passing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NELSON, IVONNE</dc:creator>
  <cp:lastModifiedBy>NELSON, IVONNE</cp:lastModifiedBy>
  <cp:revision>1</cp:revision>
  <dcterms:created xsi:type="dcterms:W3CDTF">2024-06-27T16:54:11Z</dcterms:created>
  <dcterms:modified xsi:type="dcterms:W3CDTF">2024-06-27T16:58:16Z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2024-06-27T16:56:54Z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9b92d8c5-a459-406f-8b9d-291d644641c9</vt:lpwstr>
  </property>
  <property fmtid="{D5CDD505-2E9C-101B-9397-08002B2CF9AE}" pid="8" name="MSIP_Label_d8bb7484-22c2-4b98-9fb8-3ab13d821527_ContentBits">
    <vt:lpwstr>0</vt:lpwstr>
  </property>
</Properties>
</file>