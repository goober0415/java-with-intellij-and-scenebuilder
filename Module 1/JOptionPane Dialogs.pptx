
<file path=[Content_Types].xml><?xml version="1.0" encoding="utf-8"?>
<Types xmlns="http://schemas.openxmlformats.org/package/2006/content-types">
  <Default Extension="bin" ContentType="application/vnd.openxmlformats-officedocument.oleObject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2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4"/>
  </p:notesMasterIdLst>
  <p:sldIdLst>
    <p:sldId id="270" r:id="rId2"/>
    <p:sldId id="260" r:id="rId3"/>
    <p:sldId id="259" r:id="rId4"/>
    <p:sldId id="261" r:id="rId5"/>
    <p:sldId id="263" r:id="rId6"/>
    <p:sldId id="264" r:id="rId7"/>
    <p:sldId id="265" r:id="rId8"/>
    <p:sldId id="271" r:id="rId9"/>
    <p:sldId id="266" r:id="rId10"/>
    <p:sldId id="267" r:id="rId11"/>
    <p:sldId id="268" r:id="rId12"/>
    <p:sldId id="269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25" autoAdjust="0"/>
    <p:restoredTop sz="94660"/>
  </p:normalViewPr>
  <p:slideViewPr>
    <p:cSldViewPr snapToGrid="0">
      <p:cViewPr varScale="1">
        <p:scale>
          <a:sx n="107" d="100"/>
          <a:sy n="107" d="100"/>
        </p:scale>
        <p:origin x="666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0_3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2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0_3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2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D70970C2-65B0-4FB7-A886-E46354E86E32}" type="doc">
      <dgm:prSet loTypeId="urn:microsoft.com/office/officeart/2005/8/layout/vList2" loCatId="list" qsTypeId="urn:microsoft.com/office/officeart/2005/8/quickstyle/simple1" qsCatId="simple" csTypeId="urn:microsoft.com/office/officeart/2005/8/colors/accent0_3" csCatId="mainScheme"/>
      <dgm:spPr/>
      <dgm:t>
        <a:bodyPr/>
        <a:lstStyle/>
        <a:p>
          <a:endParaRPr lang="en-US"/>
        </a:p>
      </dgm:t>
    </dgm:pt>
    <dgm:pt modelId="{ED6E76CE-68F0-486D-AE5F-54F0E8EE71FE}">
      <dgm:prSet/>
      <dgm:spPr/>
      <dgm:t>
        <a:bodyPr/>
        <a:lstStyle/>
        <a:p>
          <a:r>
            <a:rPr lang="en-US" dirty="0"/>
            <a:t>A message dialog box simply displays a message to alert the user and waits for the user to click the OK button to close the dialog. </a:t>
          </a:r>
        </a:p>
      </dgm:t>
    </dgm:pt>
    <dgm:pt modelId="{34636804-3D47-43CE-A34F-22282E1B7BC8}" type="parTrans" cxnId="{A107109F-C022-404D-991C-A593A28127B0}">
      <dgm:prSet/>
      <dgm:spPr/>
      <dgm:t>
        <a:bodyPr/>
        <a:lstStyle/>
        <a:p>
          <a:endParaRPr lang="en-US"/>
        </a:p>
      </dgm:t>
    </dgm:pt>
    <dgm:pt modelId="{9D803AA1-0CD9-4A2C-8AAD-77954A568BC4}" type="sibTrans" cxnId="{A107109F-C022-404D-991C-A593A28127B0}">
      <dgm:prSet/>
      <dgm:spPr/>
      <dgm:t>
        <a:bodyPr/>
        <a:lstStyle/>
        <a:p>
          <a:endParaRPr lang="en-US"/>
        </a:p>
      </dgm:t>
    </dgm:pt>
    <dgm:pt modelId="{9726A9C7-7E26-47B8-A35B-5FD34DBB280E}" type="pres">
      <dgm:prSet presAssocID="{D70970C2-65B0-4FB7-A886-E46354E86E32}" presName="linear" presStyleCnt="0">
        <dgm:presLayoutVars>
          <dgm:animLvl val="lvl"/>
          <dgm:resizeHandles val="exact"/>
        </dgm:presLayoutVars>
      </dgm:prSet>
      <dgm:spPr/>
    </dgm:pt>
    <dgm:pt modelId="{16C17DEC-BE18-430B-848F-7FE86C887464}" type="pres">
      <dgm:prSet presAssocID="{ED6E76CE-68F0-486D-AE5F-54F0E8EE71FE}" presName="parentText" presStyleLbl="node1" presStyleIdx="0" presStyleCnt="1" custLinFactNeighborX="-459" custLinFactNeighborY="1235">
        <dgm:presLayoutVars>
          <dgm:chMax val="0"/>
          <dgm:bulletEnabled val="1"/>
        </dgm:presLayoutVars>
      </dgm:prSet>
      <dgm:spPr/>
    </dgm:pt>
  </dgm:ptLst>
  <dgm:cxnLst>
    <dgm:cxn modelId="{C06C2877-A0EF-46EE-A2F6-A004CF10E44B}" type="presOf" srcId="{D70970C2-65B0-4FB7-A886-E46354E86E32}" destId="{9726A9C7-7E26-47B8-A35B-5FD34DBB280E}" srcOrd="0" destOrd="0" presId="urn:microsoft.com/office/officeart/2005/8/layout/vList2"/>
    <dgm:cxn modelId="{A107109F-C022-404D-991C-A593A28127B0}" srcId="{D70970C2-65B0-4FB7-A886-E46354E86E32}" destId="{ED6E76CE-68F0-486D-AE5F-54F0E8EE71FE}" srcOrd="0" destOrd="0" parTransId="{34636804-3D47-43CE-A34F-22282E1B7BC8}" sibTransId="{9D803AA1-0CD9-4A2C-8AAD-77954A568BC4}"/>
    <dgm:cxn modelId="{CAF750C3-36BF-4784-8533-E3ABAFFCA5DD}" type="presOf" srcId="{ED6E76CE-68F0-486D-AE5F-54F0E8EE71FE}" destId="{16C17DEC-BE18-430B-848F-7FE86C887464}" srcOrd="0" destOrd="0" presId="urn:microsoft.com/office/officeart/2005/8/layout/vList2"/>
    <dgm:cxn modelId="{16DCD351-3C85-42BE-9398-B718CE6752EE}" type="presParOf" srcId="{9726A9C7-7E26-47B8-A35B-5FD34DBB280E}" destId="{16C17DEC-BE18-430B-848F-7FE86C887464}" srcOrd="0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3413A3D9-25E4-42A3-81FE-D0CF6B41A2B2}" type="doc">
      <dgm:prSet loTypeId="urn:microsoft.com/office/officeart/2005/8/layout/vList2" loCatId="list" qsTypeId="urn:microsoft.com/office/officeart/2005/8/quickstyle/simple1" qsCatId="simple" csTypeId="urn:microsoft.com/office/officeart/2005/8/colors/accent0_3" csCatId="mainScheme"/>
      <dgm:spPr/>
      <dgm:t>
        <a:bodyPr/>
        <a:lstStyle/>
        <a:p>
          <a:endParaRPr lang="en-US"/>
        </a:p>
      </dgm:t>
    </dgm:pt>
    <dgm:pt modelId="{E9F3BD49-2AB1-4FC4-AE5B-3508074E8415}">
      <dgm:prSet/>
      <dgm:spPr/>
      <dgm:t>
        <a:bodyPr/>
        <a:lstStyle/>
        <a:p>
          <a:pPr algn="ctr"/>
          <a:r>
            <a:rPr lang="en-US"/>
            <a:t>Message Types</a:t>
          </a:r>
        </a:p>
      </dgm:t>
    </dgm:pt>
    <dgm:pt modelId="{5E19899A-0568-44B4-8A61-5C2A44340D63}" type="parTrans" cxnId="{ACD97D8A-0586-4759-A112-DCE55D8753C7}">
      <dgm:prSet/>
      <dgm:spPr/>
      <dgm:t>
        <a:bodyPr/>
        <a:lstStyle/>
        <a:p>
          <a:endParaRPr lang="en-US"/>
        </a:p>
      </dgm:t>
    </dgm:pt>
    <dgm:pt modelId="{165EBD6B-6FDA-4D2D-AB74-7B9A0C42CCCC}" type="sibTrans" cxnId="{ACD97D8A-0586-4759-A112-DCE55D8753C7}">
      <dgm:prSet/>
      <dgm:spPr/>
      <dgm:t>
        <a:bodyPr/>
        <a:lstStyle/>
        <a:p>
          <a:endParaRPr lang="en-US"/>
        </a:p>
      </dgm:t>
    </dgm:pt>
    <dgm:pt modelId="{229874BC-AEAD-4E5C-BAF0-B2271349E764}" type="pres">
      <dgm:prSet presAssocID="{3413A3D9-25E4-42A3-81FE-D0CF6B41A2B2}" presName="linear" presStyleCnt="0">
        <dgm:presLayoutVars>
          <dgm:animLvl val="lvl"/>
          <dgm:resizeHandles val="exact"/>
        </dgm:presLayoutVars>
      </dgm:prSet>
      <dgm:spPr/>
    </dgm:pt>
    <dgm:pt modelId="{366A9590-CFC2-4E85-BF38-E5D093DB5F4F}" type="pres">
      <dgm:prSet presAssocID="{E9F3BD49-2AB1-4FC4-AE5B-3508074E8415}" presName="parentText" presStyleLbl="node1" presStyleIdx="0" presStyleCnt="1" custLinFactNeighborX="38413" custLinFactNeighborY="-23752">
        <dgm:presLayoutVars>
          <dgm:chMax val="0"/>
          <dgm:bulletEnabled val="1"/>
        </dgm:presLayoutVars>
      </dgm:prSet>
      <dgm:spPr/>
    </dgm:pt>
  </dgm:ptLst>
  <dgm:cxnLst>
    <dgm:cxn modelId="{7AB69F01-6E31-4CB3-B676-01B31E73E5E8}" type="presOf" srcId="{3413A3D9-25E4-42A3-81FE-D0CF6B41A2B2}" destId="{229874BC-AEAD-4E5C-BAF0-B2271349E764}" srcOrd="0" destOrd="0" presId="urn:microsoft.com/office/officeart/2005/8/layout/vList2"/>
    <dgm:cxn modelId="{ACD97D8A-0586-4759-A112-DCE55D8753C7}" srcId="{3413A3D9-25E4-42A3-81FE-D0CF6B41A2B2}" destId="{E9F3BD49-2AB1-4FC4-AE5B-3508074E8415}" srcOrd="0" destOrd="0" parTransId="{5E19899A-0568-44B4-8A61-5C2A44340D63}" sibTransId="{165EBD6B-6FDA-4D2D-AB74-7B9A0C42CCCC}"/>
    <dgm:cxn modelId="{B349E0DD-8393-42E8-A7A7-86C72688453A}" type="presOf" srcId="{E9F3BD49-2AB1-4FC4-AE5B-3508074E8415}" destId="{366A9590-CFC2-4E85-BF38-E5D093DB5F4F}" srcOrd="0" destOrd="0" presId="urn:microsoft.com/office/officeart/2005/8/layout/vList2"/>
    <dgm:cxn modelId="{AD16FC09-8B79-48C0-89B4-EE5648444A82}" type="presParOf" srcId="{229874BC-AEAD-4E5C-BAF0-B2271349E764}" destId="{366A9590-CFC2-4E85-BF38-E5D093DB5F4F}" srcOrd="0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6C17DEC-BE18-430B-848F-7FE86C887464}">
      <dsp:nvSpPr>
        <dsp:cNvPr id="0" name=""/>
        <dsp:cNvSpPr/>
      </dsp:nvSpPr>
      <dsp:spPr>
        <a:xfrm>
          <a:off x="0" y="67956"/>
          <a:ext cx="8305800" cy="1579500"/>
        </a:xfrm>
        <a:prstGeom prst="roundRect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0" tIns="114300" rIns="114300" bIns="114300" numCol="1" spcCol="1270" anchor="ctr" anchorCtr="0">
          <a:noAutofit/>
        </a:bodyPr>
        <a:lstStyle/>
        <a:p>
          <a:pPr marL="0" lvl="0" indent="0" algn="l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000" kern="1200" dirty="0"/>
            <a:t>A message dialog box simply displays a message to alert the user and waits for the user to click the OK button to close the dialog. </a:t>
          </a:r>
        </a:p>
      </dsp:txBody>
      <dsp:txXfrm>
        <a:off x="77105" y="145061"/>
        <a:ext cx="8151590" cy="1425290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66A9590-CFC2-4E85-BF38-E5D093DB5F4F}">
      <dsp:nvSpPr>
        <dsp:cNvPr id="0" name=""/>
        <dsp:cNvSpPr/>
      </dsp:nvSpPr>
      <dsp:spPr>
        <a:xfrm>
          <a:off x="0" y="0"/>
          <a:ext cx="4191000" cy="608400"/>
        </a:xfrm>
        <a:prstGeom prst="roundRect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/>
            <a:t>Message Types</a:t>
          </a:r>
        </a:p>
      </dsp:txBody>
      <dsp:txXfrm>
        <a:off x="29700" y="29700"/>
        <a:ext cx="4131600" cy="54900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AFE4DF6-E02B-4EED-A810-887FF32D8E0A}" type="datetimeFigureOut">
              <a:rPr lang="en-US" smtClean="0"/>
              <a:t>8/28/2024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7E39CCA-EAE4-452A-9F5B-B20159C6922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971301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9D5E581-E2A7-4B68-AFEE-E7B3761B4059}" type="slidenum">
              <a:rPr kumimoji="0" lang="en-US" alt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3590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3590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B98127E-482A-4BBB-9E70-D5220D731B4C}" type="slidenum">
              <a:rPr kumimoji="0" lang="en-US" alt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3795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3795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427DF6D-7DAE-4216-9B48-B4304EEE3400}" type="slidenum">
              <a:rPr kumimoji="0" lang="en-US" alt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4205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4205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03DB777-F208-4FD5-B1AA-915D92771DDC}" type="slidenum">
              <a:rPr kumimoji="0" lang="en-US" alt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</a:t>
            </a:fld>
            <a:endParaRPr kumimoji="0" lang="en-US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4409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4409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589213" y="2514600"/>
            <a:ext cx="8915399" cy="2262781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89213" y="4777379"/>
            <a:ext cx="8915399" cy="1126283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FC81C7-617B-4FE4-A32A-8882F8248D4E}" type="datetimeFigureOut">
              <a:rPr lang="en-US" smtClean="0"/>
              <a:t>8/28/2024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Freeform 6"/>
          <p:cNvSpPr/>
          <p:nvPr/>
        </p:nvSpPr>
        <p:spPr bwMode="auto">
          <a:xfrm>
            <a:off x="0" y="4323810"/>
            <a:ext cx="1744652" cy="778589"/>
          </a:xfrm>
          <a:custGeom>
            <a:avLst/>
            <a:gdLst/>
            <a:ahLst/>
            <a:cxnLst/>
            <a:rect l="0" t="0" r="r" b="b"/>
            <a:pathLst>
              <a:path w="372" h="166">
                <a:moveTo>
                  <a:pt x="287" y="166"/>
                </a:moveTo>
                <a:cubicBezTo>
                  <a:pt x="290" y="166"/>
                  <a:pt x="292" y="165"/>
                  <a:pt x="293" y="164"/>
                </a:cubicBezTo>
                <a:cubicBezTo>
                  <a:pt x="293" y="163"/>
                  <a:pt x="294" y="163"/>
                  <a:pt x="294" y="163"/>
                </a:cubicBezTo>
                <a:cubicBezTo>
                  <a:pt x="370" y="87"/>
                  <a:pt x="370" y="87"/>
                  <a:pt x="370" y="87"/>
                </a:cubicBezTo>
                <a:cubicBezTo>
                  <a:pt x="372" y="85"/>
                  <a:pt x="372" y="81"/>
                  <a:pt x="370" y="78"/>
                </a:cubicBezTo>
                <a:cubicBezTo>
                  <a:pt x="294" y="3"/>
                  <a:pt x="294" y="3"/>
                  <a:pt x="294" y="3"/>
                </a:cubicBezTo>
                <a:cubicBezTo>
                  <a:pt x="294" y="2"/>
                  <a:pt x="293" y="2"/>
                  <a:pt x="293" y="2"/>
                </a:cubicBezTo>
                <a:cubicBezTo>
                  <a:pt x="292" y="1"/>
                  <a:pt x="290" y="0"/>
                  <a:pt x="287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66"/>
                  <a:pt x="0" y="166"/>
                  <a:pt x="0" y="166"/>
                </a:cubicBezTo>
                <a:lnTo>
                  <a:pt x="287" y="16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4529540"/>
            <a:ext cx="779767" cy="365125"/>
          </a:xfrm>
        </p:spPr>
        <p:txBody>
          <a:bodyPr/>
          <a:lstStyle/>
          <a:p>
            <a:fld id="{EF8F5749-F558-4A96-89DC-E9CE49E6A6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593415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128089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89212" y="2133600"/>
            <a:ext cx="8915400" cy="377762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FC81C7-617B-4FE4-A32A-8882F8248D4E}" type="datetimeFigureOut">
              <a:rPr lang="en-US" smtClean="0"/>
              <a:t>8/28/2024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8F5749-F558-4A96-89DC-E9CE49E6A6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371107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2058750"/>
            <a:ext cx="8915399" cy="146880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3530129"/>
            <a:ext cx="8915399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FC81C7-617B-4FE4-A32A-8882F8248D4E}" type="datetimeFigureOut">
              <a:rPr lang="en-US" smtClean="0"/>
              <a:t>8/28/2024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EF8F5749-F558-4A96-89DC-E9CE49E6A6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96109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589212" y="2133600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190747" y="2126222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FC81C7-617B-4FE4-A32A-8882F8248D4E}" type="datetimeFigureOut">
              <a:rPr lang="en-US" smtClean="0"/>
              <a:t>8/28/2024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1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EF8F5749-F558-4A96-89DC-E9CE49E6A6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656476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39373" y="1972703"/>
            <a:ext cx="399273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589212" y="2548966"/>
            <a:ext cx="4342893" cy="335406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506629" y="1969475"/>
            <a:ext cx="399900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166957" y="2545738"/>
            <a:ext cx="4338674" cy="335406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FC81C7-617B-4FE4-A32A-8882F8248D4E}" type="datetimeFigureOut">
              <a:rPr lang="en-US" smtClean="0"/>
              <a:t>8/28/2024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2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EF8F5749-F558-4A96-89DC-E9CE49E6A6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259284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FC81C7-617B-4FE4-A32A-8882F8248D4E}" type="datetimeFigureOut">
              <a:rPr lang="en-US" smtClean="0"/>
              <a:t>8/28/2024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8F5749-F558-4A96-89DC-E9CE49E6A6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982335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FC81C7-617B-4FE4-A32A-8882F8248D4E}" type="datetimeFigureOut">
              <a:rPr lang="en-US" smtClean="0"/>
              <a:t>8/28/2024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8F5749-F558-4A96-89DC-E9CE49E6A6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593026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446088"/>
            <a:ext cx="3505199" cy="976312"/>
          </a:xfrm>
        </p:spPr>
        <p:txBody>
          <a:bodyPr anchor="b"/>
          <a:lstStyle>
            <a:lvl1pPr algn="l">
              <a:defRPr sz="20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323012" y="446088"/>
            <a:ext cx="5181600" cy="5414963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2" y="1598613"/>
            <a:ext cx="3505199" cy="426243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FC81C7-617B-4FE4-A32A-8882F8248D4E}" type="datetimeFigureOut">
              <a:rPr lang="en-US" smtClean="0"/>
              <a:t>8/28/2024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8F5749-F558-4A96-89DC-E9CE49E6A6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753341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4800600"/>
            <a:ext cx="8915400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589212" y="634965"/>
            <a:ext cx="8915400" cy="385497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367338"/>
            <a:ext cx="8915400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FC81C7-617B-4FE4-A32A-8882F8248D4E}" type="datetimeFigureOut">
              <a:rPr lang="en-US" smtClean="0"/>
              <a:t>8/28/2024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EF8F5749-F558-4A96-89DC-E9CE49E6A6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057086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09600"/>
            <a:ext cx="8915399" cy="311704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FC81C7-617B-4FE4-A32A-8882F8248D4E}" type="datetimeFigureOut">
              <a:rPr lang="en-US" smtClean="0"/>
              <a:t>8/28/2024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EF8F5749-F558-4A96-89DC-E9CE49E6A6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197530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3275012" y="3505200"/>
            <a:ext cx="753655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FC81C7-617B-4FE4-A32A-8882F8248D4E}" type="datetimeFigureOut">
              <a:rPr lang="en-US" smtClean="0"/>
              <a:t>8/28/2024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EF8F5749-F558-4A96-89DC-E9CE49E6A6CA}" type="slidenum">
              <a:rPr lang="en-US" smtClean="0"/>
              <a:t>‹#›</a:t>
            </a:fld>
            <a:endParaRPr lang="en-US"/>
          </a:p>
        </p:txBody>
      </p:sp>
      <p:sp>
        <p:nvSpPr>
          <p:cNvPr id="14" name="TextBox 13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52777306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2438400"/>
            <a:ext cx="8915400" cy="2724845"/>
          </a:xfrm>
        </p:spPr>
        <p:txBody>
          <a:bodyPr anchor="b">
            <a:normAutofit/>
          </a:bodyPr>
          <a:lstStyle>
            <a:lvl1pPr algn="l">
              <a:defRPr sz="4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FC81C7-617B-4FE4-A32A-8882F8248D4E}" type="datetimeFigureOut">
              <a:rPr lang="en-US" smtClean="0"/>
              <a:t>8/28/2024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EF8F5749-F558-4A96-89DC-E9CE49E6A6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952034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FC81C7-617B-4FE4-A32A-8882F8248D4E}" type="datetimeFigureOut">
              <a:rPr lang="en-US" smtClean="0"/>
              <a:t>8/28/2024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EF8F5749-F558-4A96-89DC-E9CE49E6A6CA}" type="slidenum">
              <a:rPr lang="en-US" smtClean="0"/>
              <a:t>‹#›</a:t>
            </a:fld>
            <a:endParaRPr lang="en-US"/>
          </a:p>
        </p:txBody>
      </p:sp>
      <p:sp>
        <p:nvSpPr>
          <p:cNvPr id="17" name="TextBox 16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16350265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27407"/>
            <a:ext cx="8915399" cy="2880020"/>
          </a:xfrm>
        </p:spPr>
        <p:txBody>
          <a:bodyPr anchor="ctr">
            <a:normAutofit/>
          </a:bodyPr>
          <a:lstStyle>
            <a:lvl1pPr algn="l">
              <a:defRPr sz="4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FC81C7-617B-4FE4-A32A-8882F8248D4E}" type="datetimeFigureOut">
              <a:rPr lang="en-US" smtClean="0"/>
              <a:t>8/28/2024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EF8F5749-F558-4A96-89DC-E9CE49E6A6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377664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FC81C7-617B-4FE4-A32A-8882F8248D4E}" type="datetimeFigureOut">
              <a:rPr lang="en-US" smtClean="0"/>
              <a:t>8/28/2024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8F5749-F558-4A96-89DC-E9CE49E6A6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311757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294812" y="627405"/>
            <a:ext cx="2207601" cy="5283817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589212" y="627405"/>
            <a:ext cx="6477000" cy="528381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FC81C7-617B-4FE4-A32A-8882F8248D4E}" type="datetimeFigureOut">
              <a:rPr lang="en-US" smtClean="0"/>
              <a:t>8/28/2024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8F5749-F558-4A96-89DC-E9CE49E6A6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920992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"/>
          <p:cNvGrpSpPr/>
          <p:nvPr/>
        </p:nvGrpSpPr>
        <p:grpSpPr>
          <a:xfrm>
            <a:off x="1" y="228600"/>
            <a:ext cx="2851516" cy="6638628"/>
            <a:chOff x="2487613" y="285750"/>
            <a:chExt cx="2428875" cy="5654676"/>
          </a:xfrm>
        </p:grpSpPr>
        <p:sp>
          <p:nvSpPr>
            <p:cNvPr id="24" name="Freeform 11"/>
            <p:cNvSpPr/>
            <p:nvPr/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5" name="Freeform 12"/>
            <p:cNvSpPr/>
            <p:nvPr/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6" name="Freeform 13"/>
            <p:cNvSpPr/>
            <p:nvPr/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7" name="Freeform 14"/>
            <p:cNvSpPr/>
            <p:nvPr/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8" name="Freeform 15"/>
            <p:cNvSpPr/>
            <p:nvPr/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9" name="Freeform 16"/>
            <p:cNvSpPr/>
            <p:nvPr/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0" name="Freeform 17"/>
            <p:cNvSpPr/>
            <p:nvPr/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1" name="Freeform 18"/>
            <p:cNvSpPr/>
            <p:nvPr/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2" name="Freeform 19"/>
            <p:cNvSpPr/>
            <p:nvPr/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3" name="Freeform 20"/>
            <p:cNvSpPr/>
            <p:nvPr/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4" name="Freeform 21"/>
            <p:cNvSpPr/>
            <p:nvPr/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5" name="Freeform 22"/>
            <p:cNvSpPr/>
            <p:nvPr/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</p:grpSp>
      <p:grpSp>
        <p:nvGrpSpPr>
          <p:cNvPr id="10" name="Group 9"/>
          <p:cNvGrpSpPr/>
          <p:nvPr/>
        </p:nvGrpSpPr>
        <p:grpSpPr>
          <a:xfrm>
            <a:off x="27221" y="-786"/>
            <a:ext cx="2356674" cy="6854039"/>
            <a:chOff x="6627813" y="194833"/>
            <a:chExt cx="1952625" cy="5678918"/>
          </a:xfrm>
        </p:grpSpPr>
        <p:sp>
          <p:nvSpPr>
            <p:cNvPr id="11" name="Freeform 27"/>
            <p:cNvSpPr/>
            <p:nvPr/>
          </p:nvSpPr>
          <p:spPr bwMode="auto">
            <a:xfrm>
              <a:off x="6627813" y="194833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2" name="Freeform 28"/>
            <p:cNvSpPr/>
            <p:nvPr/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3" name="Freeform 29"/>
            <p:cNvSpPr/>
            <p:nvPr/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4" name="Freeform 30"/>
            <p:cNvSpPr/>
            <p:nvPr/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5" name="Freeform 31"/>
            <p:cNvSpPr/>
            <p:nvPr/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6" name="Freeform 32"/>
            <p:cNvSpPr/>
            <p:nvPr/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7" name="Freeform 33"/>
            <p:cNvSpPr/>
            <p:nvPr/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8" name="Freeform 34"/>
            <p:cNvSpPr/>
            <p:nvPr/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9" name="Freeform 35"/>
            <p:cNvSpPr/>
            <p:nvPr/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0" name="Freeform 36"/>
            <p:cNvSpPr/>
            <p:nvPr/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1" name="Freeform 37"/>
            <p:cNvSpPr/>
            <p:nvPr/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2" name="Freeform 38"/>
            <p:cNvSpPr/>
            <p:nvPr/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</p:grpSp>
      <p:sp>
        <p:nvSpPr>
          <p:cNvPr id="7" name="Rectangle 6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92924" y="624110"/>
            <a:ext cx="8911687" cy="128089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2133600"/>
            <a:ext cx="8915400" cy="3886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2FC81C7-617B-4FE4-A32A-8882F8248D4E}" type="datetimeFigureOut">
              <a:rPr lang="en-US" smtClean="0"/>
              <a:t>8/28/2024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531812" y="787782"/>
            <a:ext cx="7797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rgbClr val="FEFFFF"/>
                </a:solidFill>
              </a:defRPr>
            </a:lvl1pPr>
          </a:lstStyle>
          <a:p>
            <a:fld id="{EF8F5749-F558-4A96-89DC-E9CE49E6A6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97331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.bin"/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2.xml"/><Relationship Id="rId5" Type="http://schemas.openxmlformats.org/officeDocument/2006/relationships/diagramQuickStyle" Target="../diagrams/quickStyle2.xml"/><Relationship Id="rId4" Type="http://schemas.openxmlformats.org/officeDocument/2006/relationships/diagramLayout" Target="../diagrams/layout2.xml"/><Relationship Id="rId9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oleObject" Target="../embeddings/oleObject3.bin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14C2A9-7AF1-AC7B-E5BB-2B930809607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ctr"/>
            <a:r>
              <a:rPr lang="en-US" b="1" dirty="0" err="1"/>
              <a:t>JOptionPane</a:t>
            </a:r>
            <a:r>
              <a:rPr lang="en-US" b="1" dirty="0"/>
              <a:t> Dialogs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E73F90A-991B-8057-9730-486A2B2B4F3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141213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23F2A5-EE03-5633-0D29-DABFEDEADF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/>
              <a:t>Message Dialogs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D8CFCB-0A73-55FF-0915-349807EBBE0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847120" y="1418492"/>
            <a:ext cx="8915400" cy="3777622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2400" dirty="0"/>
              <a:t>Swing provides a bare </a:t>
            </a:r>
            <a:r>
              <a:rPr lang="en-US" sz="2400" dirty="0" err="1"/>
              <a:t>JDialog</a:t>
            </a:r>
            <a:r>
              <a:rPr lang="en-US" sz="2400" dirty="0"/>
              <a:t> class that can be used to create custom dialog windows, but for typical dialog interactions with your users, the </a:t>
            </a:r>
            <a:r>
              <a:rPr lang="en-US" sz="2400" dirty="0" err="1"/>
              <a:t>JOptionPane</a:t>
            </a:r>
            <a:r>
              <a:rPr lang="en-US" sz="2400" dirty="0"/>
              <a:t> class has some really handy shortcuts.</a:t>
            </a:r>
          </a:p>
          <a:p>
            <a:pPr marL="0" indent="0">
              <a:buNone/>
            </a:pPr>
            <a:r>
              <a:rPr lang="en-US" sz="2400" dirty="0"/>
              <a:t>Perhaps the single most annoying pop up is the “something broke” dialog letting you know that the application is not working as expected.</a:t>
            </a:r>
          </a:p>
          <a:p>
            <a:pPr marL="0" indent="0">
              <a:buNone/>
            </a:pPr>
            <a:r>
              <a:rPr lang="en-US" sz="2400" dirty="0"/>
              <a:t>This pop up shows the user a brief message and an OK button that can be clicked to get rid of the dialog. </a:t>
            </a:r>
          </a:p>
          <a:p>
            <a:pPr marL="0" indent="0">
              <a:buNone/>
            </a:pPr>
            <a:r>
              <a:rPr lang="en-US" sz="2400" dirty="0"/>
              <a:t>The purpose of this dialog is to hold up operation of the program until the user acknowledges that they have seen the message. </a:t>
            </a:r>
          </a:p>
        </p:txBody>
      </p:sp>
    </p:spTree>
    <p:extLst>
      <p:ext uri="{BB962C8B-B14F-4D97-AF65-F5344CB8AC3E}">
        <p14:creationId xmlns:p14="http://schemas.microsoft.com/office/powerpoint/2010/main" val="34496487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8B7279-8876-4326-0A9F-CB6636F29F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 err="1"/>
              <a:t>JOptionPane</a:t>
            </a:r>
            <a:endParaRPr lang="en-US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1D90AB-7986-A321-BE00-36D83789CE7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979787" y="1774651"/>
            <a:ext cx="8915400" cy="377762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dirty="0"/>
              <a:t>A dialog box is a simple window with a message:</a:t>
            </a:r>
          </a:p>
          <a:p>
            <a:pPr marL="0" indent="0">
              <a:buNone/>
            </a:pPr>
            <a:r>
              <a:rPr lang="en-US" sz="2400" dirty="0"/>
              <a:t>To generate a simple output dialog box, call </a:t>
            </a:r>
            <a:r>
              <a:rPr lang="en-US" sz="2400" dirty="0" err="1"/>
              <a:t>JOptionPane's</a:t>
            </a:r>
            <a:r>
              <a:rPr lang="en-US" sz="2400" dirty="0"/>
              <a:t> </a:t>
            </a:r>
            <a:r>
              <a:rPr lang="en-US" sz="2400" dirty="0" err="1"/>
              <a:t>showMessageDialog</a:t>
            </a:r>
            <a:r>
              <a:rPr lang="en-US" sz="2400" dirty="0"/>
              <a:t> method:</a:t>
            </a:r>
          </a:p>
          <a:p>
            <a:pPr marL="0" indent="0">
              <a:buNone/>
            </a:pPr>
            <a:r>
              <a:rPr lang="en-US" sz="2400" dirty="0" err="1"/>
              <a:t>JOptionPane.showMessageDialog</a:t>
            </a:r>
            <a:r>
              <a:rPr lang="en-US" sz="2400" dirty="0"/>
              <a:t>(null, &lt;String message&gt;);</a:t>
            </a:r>
          </a:p>
          <a:p>
            <a:pPr marL="0" indent="0">
              <a:buNone/>
            </a:pPr>
            <a:r>
              <a:rPr lang="en-US" sz="2400" b="1" dirty="0" err="1"/>
              <a:t>JOptionPane.showMessageDialog</a:t>
            </a:r>
            <a:r>
              <a:rPr lang="en-US" sz="2400" b="1" dirty="0"/>
              <a:t>(null, "Click factorial button to perform calculation.");</a:t>
            </a:r>
          </a:p>
          <a:p>
            <a:pPr marL="0" indent="0">
              <a:buNone/>
            </a:pPr>
            <a:endParaRPr lang="en-US" sz="24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4494DFC-DF8B-D170-7624-19D5FD8DE7E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34184" y="4753628"/>
            <a:ext cx="4206605" cy="15972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1877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4A3362-7D1B-28C7-CA30-FC3D1D7462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JOptionPane</a:t>
            </a:r>
            <a:r>
              <a:rPr lang="en-US" dirty="0"/>
              <a:t> Presents 3 Dialog Types </a:t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1403E9-C4B6-591B-83D4-0441EF57A08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b="1" dirty="0"/>
              <a:t>Message Dialogs </a:t>
            </a:r>
            <a:r>
              <a:rPr lang="en-US" sz="2400" dirty="0"/>
              <a:t>– Display messages to the user only.</a:t>
            </a:r>
          </a:p>
          <a:p>
            <a:pPr marL="0" indent="0">
              <a:buNone/>
            </a:pPr>
            <a:r>
              <a:rPr lang="en-US" sz="2400" b="1" dirty="0"/>
              <a:t>Confirmation Dialogs </a:t>
            </a:r>
            <a:r>
              <a:rPr lang="en-US" sz="2400" dirty="0"/>
              <a:t>- asks a question and requires the user to respond with an appropriate button. </a:t>
            </a:r>
          </a:p>
          <a:p>
            <a:pPr marL="0" indent="0">
              <a:buNone/>
            </a:pPr>
            <a:r>
              <a:rPr lang="en-US" sz="2400" b="1" dirty="0"/>
              <a:t>Input Dialogs </a:t>
            </a:r>
            <a:r>
              <a:rPr lang="en-US" sz="2400" dirty="0"/>
              <a:t>- used to receive input from the user. The input will be in a String.</a:t>
            </a:r>
          </a:p>
          <a:p>
            <a:pPr marL="0" indent="0">
              <a:buNone/>
            </a:pPr>
            <a:r>
              <a:rPr lang="en-US" sz="2400" dirty="0"/>
              <a:t>The </a:t>
            </a:r>
            <a:r>
              <a:rPr lang="en-US" sz="2400" dirty="0" err="1"/>
              <a:t>JOptionPane</a:t>
            </a:r>
            <a:r>
              <a:rPr lang="en-US" sz="2400" dirty="0"/>
              <a:t> class is in the </a:t>
            </a:r>
            <a:r>
              <a:rPr lang="en-US" sz="2400" dirty="0" err="1"/>
              <a:t>javax.swing</a:t>
            </a:r>
            <a:r>
              <a:rPr lang="en-US" sz="2400" dirty="0"/>
              <a:t> package so import that package: import </a:t>
            </a:r>
            <a:r>
              <a:rPr lang="en-US" sz="2400" dirty="0" err="1"/>
              <a:t>java.swing</a:t>
            </a:r>
            <a:r>
              <a:rPr lang="en-US" sz="2400" dirty="0"/>
              <a:t>.*; or import </a:t>
            </a:r>
            <a:r>
              <a:rPr lang="en-US" sz="2400" dirty="0" err="1"/>
              <a:t>java.swing.JOptionPane</a:t>
            </a:r>
            <a:r>
              <a:rPr lang="en-US" sz="2400" dirty="0"/>
              <a:t>;</a:t>
            </a:r>
          </a:p>
          <a:p>
            <a:pPr marL="0" indent="0">
              <a:buNone/>
            </a:pP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380807282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Content Placeholder 2">
            <a:extLst>
              <a:ext uri="{FF2B5EF4-FFF2-40B4-BE49-F238E27FC236}">
                <a16:creationId xmlns:a16="http://schemas.microsoft.com/office/drawing/2014/main" id="{7737A4BB-75DD-4F61-B3E8-EC021DFB193C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2538046" y="115898"/>
          <a:ext cx="8305800" cy="16764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9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9144000" y="18288"/>
            <a:ext cx="1066800" cy="329184"/>
          </a:xfrm>
          <a:prstGeom prst="rect">
            <a:avLst/>
          </a:prstGeom>
        </p:spPr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0F34B6E-21F6-4867-A369-1105C4E35A21}" type="slidenum">
              <a:rPr kumimoji="0" lang="en-US" altLang="en-US" sz="2000" b="0" i="0" u="none" strike="noStrike" kern="1200" cap="none" spc="0" normalizeH="0" baseline="0" noProof="0">
                <a:ln>
                  <a:noFill/>
                </a:ln>
                <a:solidFill>
                  <a:srgbClr val="FEFFFF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altLang="en-US" sz="2000" b="0" i="0" u="none" strike="noStrike" kern="1200" cap="none" spc="0" normalizeH="0" baseline="0" noProof="0">
              <a:ln>
                <a:noFill/>
              </a:ln>
              <a:solidFill>
                <a:srgbClr val="FEFFFF"/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</p:txBody>
      </p:sp>
      <p:pic>
        <p:nvPicPr>
          <p:cNvPr id="634884" name="Picture 4"/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29400" y="4114800"/>
            <a:ext cx="3695700" cy="16827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634885" name="Rectangle 5"/>
          <p:cNvSpPr>
            <a:spLocks noChangeArrowheads="1"/>
          </p:cNvSpPr>
          <p:nvPr/>
        </p:nvSpPr>
        <p:spPr bwMode="auto">
          <a:xfrm>
            <a:off x="1699846" y="2979002"/>
            <a:ext cx="9144000" cy="113877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indent="45720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marL="0" marR="0" lvl="0" indent="4572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4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+mn-ea"/>
                <a:cs typeface="Times New Roman" pitchFamily="18" charset="0"/>
              </a:rPr>
              <a:t>JOptionPane.showMessageDialog</a:t>
            </a:r>
            <a:r>
              <a:rPr kumimoji="0" lang="en-US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+mn-ea"/>
                <a:cs typeface="Times New Roman" pitchFamily="18" charset="0"/>
              </a:rPr>
              <a:t>(null, “This is an error",</a:t>
            </a:r>
          </a:p>
          <a:p>
            <a:pPr marL="0" marR="0" lvl="0" indent="4572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+mn-ea"/>
                <a:cs typeface="Times New Roman" pitchFamily="18" charset="0"/>
              </a:rPr>
              <a:t>            “Error", </a:t>
            </a:r>
            <a:r>
              <a:rPr kumimoji="0" lang="en-US" altLang="en-US" sz="24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+mn-ea"/>
                <a:cs typeface="Times New Roman" pitchFamily="18" charset="0"/>
              </a:rPr>
              <a:t>JOptionPane.INFORMATION_MESSAGE</a:t>
            </a:r>
            <a:r>
              <a:rPr kumimoji="0" lang="en-US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+mn-ea"/>
                <a:cs typeface="Times New Roman" pitchFamily="18" charset="0"/>
              </a:rPr>
              <a:t>);</a:t>
            </a:r>
          </a:p>
          <a:p>
            <a:pPr marL="0" marR="0" lvl="0" indent="4572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itchFamily="18" charset="0"/>
              <a:ea typeface="+mn-ea"/>
              <a:cs typeface="+mn-cs"/>
            </a:endParaRPr>
          </a:p>
        </p:txBody>
      </p:sp>
      <p:sp>
        <p:nvSpPr>
          <p:cNvPr id="634886" name="Line 6"/>
          <p:cNvSpPr>
            <a:spLocks noChangeShapeType="1"/>
          </p:cNvSpPr>
          <p:nvPr/>
        </p:nvSpPr>
        <p:spPr bwMode="auto">
          <a:xfrm flipV="1">
            <a:off x="9756530" y="3228549"/>
            <a:ext cx="1087315" cy="18375"/>
          </a:xfrm>
          <a:prstGeom prst="line">
            <a:avLst/>
          </a:prstGeom>
          <a:noFill/>
          <a:ln w="12700">
            <a:solidFill>
              <a:srgbClr val="FF0000"/>
            </a:solidFill>
            <a:round/>
            <a:headEnd type="none" w="sm" len="sm"/>
            <a:tailEnd type="stealth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</p:txBody>
      </p:sp>
      <p:sp>
        <p:nvSpPr>
          <p:cNvPr id="634887" name="Line 7"/>
          <p:cNvSpPr>
            <a:spLocks noChangeShapeType="1"/>
          </p:cNvSpPr>
          <p:nvPr/>
        </p:nvSpPr>
        <p:spPr bwMode="auto">
          <a:xfrm>
            <a:off x="3411415" y="3718012"/>
            <a:ext cx="3217985" cy="531215"/>
          </a:xfrm>
          <a:prstGeom prst="line">
            <a:avLst/>
          </a:prstGeom>
          <a:noFill/>
          <a:ln w="12700">
            <a:solidFill>
              <a:srgbClr val="FF0000"/>
            </a:solidFill>
            <a:round/>
            <a:headEnd type="none" w="sm" len="sm"/>
            <a:tailEnd type="stealth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</p:txBody>
      </p:sp>
      <p:sp>
        <p:nvSpPr>
          <p:cNvPr id="634888" name="Line 8"/>
          <p:cNvSpPr>
            <a:spLocks noChangeShapeType="1"/>
          </p:cNvSpPr>
          <p:nvPr/>
        </p:nvSpPr>
        <p:spPr bwMode="auto">
          <a:xfrm flipH="1">
            <a:off x="7221414" y="3694954"/>
            <a:ext cx="679937" cy="959108"/>
          </a:xfrm>
          <a:prstGeom prst="line">
            <a:avLst/>
          </a:prstGeom>
          <a:noFill/>
          <a:ln w="12700">
            <a:solidFill>
              <a:srgbClr val="FF0000"/>
            </a:solidFill>
            <a:round/>
            <a:headEnd type="none" w="sm" len="sm"/>
            <a:tailEnd type="stealth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5718865" y="2016553"/>
            <a:ext cx="4491935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null means the dialog will be 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centered on the screen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8E7A1CAC-91F4-4F88-87BF-A5CC9BF6790D}"/>
              </a:ext>
            </a:extLst>
          </p:cNvPr>
          <p:cNvCxnSpPr>
            <a:cxnSpLocks/>
          </p:cNvCxnSpPr>
          <p:nvPr/>
        </p:nvCxnSpPr>
        <p:spPr>
          <a:xfrm flipH="1">
            <a:off x="6881446" y="2743200"/>
            <a:ext cx="1019905" cy="328605"/>
          </a:xfrm>
          <a:prstGeom prst="line">
            <a:avLst/>
          </a:prstGeom>
          <a:ln>
            <a:solidFill>
              <a:srgbClr val="FF0000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98AD5E18-5E6E-E41B-FF38-D831EC76D45E}"/>
              </a:ext>
            </a:extLst>
          </p:cNvPr>
          <p:cNvCxnSpPr/>
          <p:nvPr/>
        </p:nvCxnSpPr>
        <p:spPr>
          <a:xfrm flipH="1">
            <a:off x="8648700" y="3228549"/>
            <a:ext cx="2180493" cy="1682749"/>
          </a:xfrm>
          <a:prstGeom prst="line">
            <a:avLst/>
          </a:prstGeom>
          <a:ln>
            <a:solidFill>
              <a:srgbClr val="FF0000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2402205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Diagram 1">
            <a:extLst>
              <a:ext uri="{FF2B5EF4-FFF2-40B4-BE49-F238E27FC236}">
                <a16:creationId xmlns:a16="http://schemas.microsoft.com/office/drawing/2014/main" id="{1C131F6D-5516-4186-AC89-BE6040F1DF26}"/>
              </a:ext>
            </a:extLst>
          </p:cNvPr>
          <p:cNvGraphicFramePr/>
          <p:nvPr/>
        </p:nvGraphicFramePr>
        <p:xfrm>
          <a:off x="4000500" y="152400"/>
          <a:ext cx="4191000" cy="6096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636931" name="Rectangle 3"/>
          <p:cNvSpPr>
            <a:spLocks noGrp="1" noChangeArrowheads="1"/>
          </p:cNvSpPr>
          <p:nvPr>
            <p:ph idx="1"/>
          </p:nvPr>
        </p:nvSpPr>
        <p:spPr>
          <a:xfrm>
            <a:off x="1981200" y="1219200"/>
            <a:ext cx="9753600" cy="2286000"/>
          </a:xfrm>
        </p:spPr>
        <p:txBody>
          <a:bodyPr>
            <a:normAutofit/>
          </a:bodyPr>
          <a:lstStyle/>
          <a:p>
            <a:pPr marL="0" indent="0">
              <a:lnSpc>
                <a:spcPct val="90000"/>
              </a:lnSpc>
              <a:buNone/>
            </a:pPr>
            <a:r>
              <a:rPr lang="en-US" altLang="en-US" sz="2600" dirty="0"/>
              <a:t>The </a:t>
            </a:r>
            <a:r>
              <a:rPr lang="en-US" altLang="en-US" sz="2600" dirty="0" err="1"/>
              <a:t>messageType</a:t>
            </a:r>
            <a:r>
              <a:rPr lang="en-US" altLang="en-US" sz="2600" dirty="0"/>
              <a:t> is one of the following constants:</a:t>
            </a:r>
          </a:p>
          <a:p>
            <a:pPr marL="0" indent="0">
              <a:lnSpc>
                <a:spcPct val="90000"/>
              </a:lnSpc>
              <a:buNone/>
            </a:pPr>
            <a:endParaRPr lang="en-US" altLang="en-US" sz="2600" dirty="0"/>
          </a:p>
          <a:p>
            <a:pPr lvl="1">
              <a:lnSpc>
                <a:spcPct val="90000"/>
              </a:lnSpc>
              <a:buFontTx/>
              <a:buNone/>
            </a:pPr>
            <a:r>
              <a:rPr lang="en-US" altLang="en-US" sz="2000" b="1" dirty="0" err="1">
                <a:cs typeface="Times New Roman" pitchFamily="18" charset="0"/>
              </a:rPr>
              <a:t>JOptionPane.ERROR_MESSAGE</a:t>
            </a:r>
            <a:r>
              <a:rPr lang="en-US" altLang="en-US" sz="2000" b="1" dirty="0">
                <a:cs typeface="Times New Roman" pitchFamily="18" charset="0"/>
              </a:rPr>
              <a:t>  </a:t>
            </a:r>
            <a:r>
              <a:rPr lang="en-US" altLang="en-US" sz="2000" b="1" dirty="0" err="1">
                <a:cs typeface="Times New Roman" pitchFamily="18" charset="0"/>
              </a:rPr>
              <a:t>JOptionPane.INFORMATION_MESSAGE</a:t>
            </a:r>
            <a:r>
              <a:rPr lang="en-US" altLang="en-US" sz="2000" b="1" dirty="0">
                <a:cs typeface="Times New Roman" pitchFamily="18" charset="0"/>
              </a:rPr>
              <a:t> </a:t>
            </a:r>
          </a:p>
        </p:txBody>
      </p:sp>
      <p:graphicFrame>
        <p:nvGraphicFramePr>
          <p:cNvPr id="636932" name="Object 4"/>
          <p:cNvGraphicFramePr>
            <a:graphicFrameLocks noChangeAspect="1"/>
          </p:cNvGraphicFramePr>
          <p:nvPr/>
        </p:nvGraphicFramePr>
        <p:xfrm>
          <a:off x="3540369" y="2652196"/>
          <a:ext cx="6096000" cy="28019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Bitmap Image" r:id="rId8" imgW="4145639" imgH="1905165" progId="Paint.Picture">
                  <p:embed/>
                </p:oleObj>
              </mc:Choice>
              <mc:Fallback>
                <p:oleObj name="Bitmap Image" r:id="rId8" imgW="4145639" imgH="1905165" progId="Paint.Picture">
                  <p:embed/>
                  <p:pic>
                    <p:nvPicPr>
                      <p:cNvPr id="636932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40369" y="2652196"/>
                        <a:ext cx="6096000" cy="28019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2700">
                            <a:solidFill>
                              <a:schemeClr val="tx1"/>
                            </a:solidFill>
                            <a:miter lim="800000"/>
                            <a:headEnd type="none" w="sm" len="sm"/>
                            <a:tailEnd type="none" w="sm" len="sm"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B5A34124-9D11-CC7E-2038-8F240F976513}"/>
              </a:ext>
            </a:extLst>
          </p:cNvPr>
          <p:cNvSpPr txBox="1"/>
          <p:nvPr/>
        </p:nvSpPr>
        <p:spPr>
          <a:xfrm>
            <a:off x="2614246" y="5638800"/>
            <a:ext cx="8487508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JOptionPane.QUESTION_MESSAGE</a:t>
            </a: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   </a:t>
            </a:r>
            <a:r>
              <a:rPr kumimoji="0" lang="en-US" sz="18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JOptionPane.WARNING_MESSAGE</a:t>
            </a:r>
            <a:endParaRPr kumimoji="0" lang="en-US" sz="1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b="1" dirty="0">
              <a:solidFill>
                <a:prstClr val="black"/>
              </a:solidFill>
              <a:latin typeface="Century Gothic" panose="020B0502020202020204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There is also a PLAIN_MESSAGE  </a:t>
            </a:r>
          </a:p>
        </p:txBody>
      </p:sp>
    </p:spTree>
    <p:extLst>
      <p:ext uri="{BB962C8B-B14F-4D97-AF65-F5344CB8AC3E}">
        <p14:creationId xmlns:p14="http://schemas.microsoft.com/office/powerpoint/2010/main" val="410017888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9144000" y="18288"/>
            <a:ext cx="1066800" cy="329184"/>
          </a:xfrm>
          <a:prstGeom prst="rect">
            <a:avLst/>
          </a:prstGeom>
        </p:spPr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AA24B72-4490-4622-9956-9712CBED229E}" type="slidenum">
              <a:rPr kumimoji="0" lang="en-US" altLang="en-US" sz="2000" b="0" i="0" u="none" strike="noStrike" kern="1200" cap="none" spc="0" normalizeH="0" baseline="0" noProof="0">
                <a:ln>
                  <a:noFill/>
                </a:ln>
                <a:solidFill>
                  <a:srgbClr val="FEFFFF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altLang="en-US" sz="2000" b="0" i="0" u="none" strike="noStrike" kern="1200" cap="none" spc="0" normalizeH="0" baseline="0" noProof="0">
              <a:ln>
                <a:noFill/>
              </a:ln>
              <a:solidFill>
                <a:srgbClr val="FEFFFF"/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</p:txBody>
      </p:sp>
      <p:sp>
        <p:nvSpPr>
          <p:cNvPr id="641030" name="Rectangle 6"/>
          <p:cNvSpPr>
            <a:spLocks noChangeArrowheads="1"/>
          </p:cNvSpPr>
          <p:nvPr/>
        </p:nvSpPr>
        <p:spPr bwMode="auto">
          <a:xfrm>
            <a:off x="3352800" y="2943225"/>
            <a:ext cx="914400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</p:txBody>
      </p:sp>
      <p:graphicFrame>
        <p:nvGraphicFramePr>
          <p:cNvPr id="641029" name="Object 5"/>
          <p:cNvGraphicFramePr>
            <a:graphicFrameLocks noChangeAspect="1"/>
          </p:cNvGraphicFramePr>
          <p:nvPr/>
        </p:nvGraphicFramePr>
        <p:xfrm>
          <a:off x="2460258" y="3298070"/>
          <a:ext cx="8610600" cy="1525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3" imgW="5657143" imgH="1000000" progId="Paint.Picture">
                  <p:embed/>
                </p:oleObj>
              </mc:Choice>
              <mc:Fallback>
                <p:oleObj r:id="rId3" imgW="5657143" imgH="1000000" progId="Paint.Picture">
                  <p:embed/>
                  <p:pic>
                    <p:nvPicPr>
                      <p:cNvPr id="641029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60258" y="3298070"/>
                        <a:ext cx="8610600" cy="152558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E5AD1BED-AC0C-2DA7-F22B-90FCBB1858E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460258" y="1512277"/>
            <a:ext cx="8915400" cy="4642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dirty="0"/>
              <a:t>A confirmation dialog asks a question and requires the user to respond with an appropriate button. </a:t>
            </a:r>
          </a:p>
          <a:p>
            <a:pPr marL="0" indent="0">
              <a:buNone/>
            </a:pPr>
            <a:r>
              <a:rPr lang="en-US" sz="2400" dirty="0"/>
              <a:t>The confirmation dialog returns a value that corresponds to a selected button. </a:t>
            </a:r>
          </a:p>
          <a:p>
            <a:pPr marL="0" indent="0">
              <a:buNone/>
            </a:pPr>
            <a:endParaRPr lang="en-US" sz="24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173EA8C-D267-F19A-9CC6-E49FABFCFF79}"/>
              </a:ext>
            </a:extLst>
          </p:cNvPr>
          <p:cNvSpPr txBox="1"/>
          <p:nvPr/>
        </p:nvSpPr>
        <p:spPr>
          <a:xfrm>
            <a:off x="3962400" y="553135"/>
            <a:ext cx="487184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Confirmation Dialogs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4403B09-C179-59F5-3CDC-BFE6BFC4D217}"/>
              </a:ext>
            </a:extLst>
          </p:cNvPr>
          <p:cNvSpPr txBox="1"/>
          <p:nvPr/>
        </p:nvSpPr>
        <p:spPr>
          <a:xfrm>
            <a:off x="2097008" y="5136469"/>
            <a:ext cx="5952829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Return types for Confirmation Dialog 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  <a:sym typeface="Wingdings" panose="05000000000000000000" pitchFamily="2" charset="2"/>
              </a:rPr>
              <a:t>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46CA67C-6055-3377-0640-136784185AB7}"/>
              </a:ext>
            </a:extLst>
          </p:cNvPr>
          <p:cNvSpPr txBox="1"/>
          <p:nvPr/>
        </p:nvSpPr>
        <p:spPr>
          <a:xfrm>
            <a:off x="8389628" y="5098350"/>
            <a:ext cx="3642344" cy="1200329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JOptionPane.YES_OPTION</a:t>
            </a:r>
            <a:endParaRPr kumimoji="0" lang="en-US" sz="1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JOptionPane.NO_OPTION</a:t>
            </a:r>
            <a:endParaRPr kumimoji="0" lang="en-US" sz="1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JOptionPane.CANCEL_OPTION</a:t>
            </a:r>
            <a:endParaRPr kumimoji="0" lang="en-US" sz="1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JOptionPane.OK_OPTION</a:t>
            </a:r>
            <a:endParaRPr kumimoji="0" lang="en-US" sz="1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3092815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3A8525-7CA6-279C-DB90-B318EF5FA4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Option Types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44C3B2-8E78-F151-DEA7-5564B250087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/>
              <a:t>The Option Types are:</a:t>
            </a:r>
          </a:p>
          <a:p>
            <a:pPr lvl="1"/>
            <a:r>
              <a:rPr lang="en-US" sz="2400" dirty="0"/>
              <a:t>DEFAULT_OPTION</a:t>
            </a:r>
          </a:p>
          <a:p>
            <a:pPr lvl="1"/>
            <a:r>
              <a:rPr lang="en-US" sz="2400" dirty="0"/>
              <a:t>YES_NO_OPTION</a:t>
            </a:r>
          </a:p>
          <a:p>
            <a:pPr lvl="1"/>
            <a:r>
              <a:rPr lang="en-US" sz="2400" dirty="0"/>
              <a:t>YES_NO_CANCEL_OPTION</a:t>
            </a:r>
          </a:p>
          <a:p>
            <a:pPr lvl="1"/>
            <a:r>
              <a:rPr lang="en-US" sz="2400" dirty="0"/>
              <a:t>OK_CANCEL_OPTION</a:t>
            </a:r>
          </a:p>
        </p:txBody>
      </p:sp>
    </p:spTree>
    <p:extLst>
      <p:ext uri="{BB962C8B-B14F-4D97-AF65-F5344CB8AC3E}">
        <p14:creationId xmlns:p14="http://schemas.microsoft.com/office/powerpoint/2010/main" val="173413717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BCB9DC-9375-D21E-6B37-A487C56596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/>
              <a:t>Example of a Confirmation Dialog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5FA061-CA95-82CB-0421-8CAFC86B748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38300" y="1905000"/>
            <a:ext cx="8915400" cy="3777622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2400" b="1" dirty="0"/>
              <a:t>int response = </a:t>
            </a:r>
            <a:r>
              <a:rPr lang="en-US" sz="2400" b="1" dirty="0" err="1"/>
              <a:t>JOptionPane.showConfirmDialog</a:t>
            </a:r>
            <a:r>
              <a:rPr lang="en-US" sz="2400" b="1" dirty="0"/>
              <a:t>(null, "Do you want to continue?", "Confirm", </a:t>
            </a:r>
            <a:r>
              <a:rPr lang="en-US" sz="2400" b="1" dirty="0" err="1"/>
              <a:t>JOptionPane.YES_NO_OPTION</a:t>
            </a:r>
            <a:r>
              <a:rPr lang="en-US" sz="2400" b="1" dirty="0"/>
              <a:t>,   		 		</a:t>
            </a:r>
            <a:r>
              <a:rPr lang="en-US" sz="2400" b="1" dirty="0" err="1"/>
              <a:t>JOptionPane.QUESTION_MESSAGE</a:t>
            </a:r>
            <a:r>
              <a:rPr lang="en-US" sz="2400" b="1" dirty="0"/>
              <a:t>);</a:t>
            </a:r>
          </a:p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r>
              <a:rPr lang="en-US" sz="2400" dirty="0"/>
              <a:t> </a:t>
            </a:r>
            <a:r>
              <a:rPr lang="en-US" sz="2400" b="1" dirty="0"/>
              <a:t>if (response == </a:t>
            </a:r>
            <a:r>
              <a:rPr lang="en-US" sz="2400" b="1" dirty="0" err="1"/>
              <a:t>JOptionPane.NO_OPTION</a:t>
            </a:r>
            <a:r>
              <a:rPr lang="en-US" sz="2400" b="1" dirty="0"/>
              <a:t>) {</a:t>
            </a:r>
          </a:p>
          <a:p>
            <a:pPr marL="0" indent="0">
              <a:buNone/>
            </a:pPr>
            <a:r>
              <a:rPr lang="en-US" sz="2400" b="1" dirty="0"/>
              <a:t>      </a:t>
            </a:r>
            <a:r>
              <a:rPr lang="en-US" sz="2400" b="1" dirty="0" err="1"/>
              <a:t>System.out.println</a:t>
            </a:r>
            <a:r>
              <a:rPr lang="en-US" sz="2400" b="1" dirty="0"/>
              <a:t>("No button clicked");</a:t>
            </a:r>
          </a:p>
          <a:p>
            <a:pPr marL="0" indent="0">
              <a:buNone/>
            </a:pPr>
            <a:r>
              <a:rPr lang="en-US" sz="2400" b="1" dirty="0"/>
              <a:t>    } else if (response == </a:t>
            </a:r>
            <a:r>
              <a:rPr lang="en-US" sz="2400" b="1" dirty="0" err="1"/>
              <a:t>JOptionPane.YES_OPTION</a:t>
            </a:r>
            <a:r>
              <a:rPr lang="en-US" sz="2400" b="1" dirty="0"/>
              <a:t>) {</a:t>
            </a:r>
          </a:p>
          <a:p>
            <a:pPr marL="0" indent="0">
              <a:buNone/>
            </a:pPr>
            <a:r>
              <a:rPr lang="en-US" sz="2400" b="1" dirty="0"/>
              <a:t>      </a:t>
            </a:r>
            <a:r>
              <a:rPr lang="en-US" sz="2400" b="1" dirty="0" err="1"/>
              <a:t>System.out.println</a:t>
            </a:r>
            <a:r>
              <a:rPr lang="en-US" sz="2400" b="1" dirty="0"/>
              <a:t>("Yes button clicked");</a:t>
            </a:r>
          </a:p>
          <a:p>
            <a:pPr marL="0" indent="0">
              <a:buNone/>
            </a:pP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426951230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9144000" y="18288"/>
            <a:ext cx="1066800" cy="329184"/>
          </a:xfrm>
          <a:prstGeom prst="rect">
            <a:avLst/>
          </a:prstGeom>
        </p:spPr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69CC7AA-13E6-482C-A018-260C6723D1CC}" type="slidenum">
              <a:rPr kumimoji="0" lang="en-US" altLang="en-US" sz="2000" b="0" i="0" u="none" strike="noStrike" kern="1200" cap="none" spc="0" normalizeH="0" baseline="0" noProof="0">
                <a:ln>
                  <a:noFill/>
                </a:ln>
                <a:solidFill>
                  <a:srgbClr val="FEFFFF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</a:t>
            </a:fld>
            <a:endParaRPr kumimoji="0" lang="en-US" altLang="en-US" sz="2000" b="0" i="0" u="none" strike="noStrike" kern="1200" cap="none" spc="0" normalizeH="0" baseline="0" noProof="0">
              <a:ln>
                <a:noFill/>
              </a:ln>
              <a:solidFill>
                <a:srgbClr val="FEFFFF"/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</p:txBody>
      </p:sp>
      <p:pic>
        <p:nvPicPr>
          <p:cNvPr id="643076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53000" y="4371975"/>
            <a:ext cx="2514600" cy="1276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643077" name="Picture 5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72400" y="3733800"/>
            <a:ext cx="2571750" cy="2895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643078" name="Picture 6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40923" y="4371976"/>
            <a:ext cx="2590800" cy="11604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955A5F9-8686-924D-C6D3-3E260EEA125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03005" y="1235389"/>
            <a:ext cx="8915400" cy="377762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dirty="0"/>
              <a:t>An input dialog box is used to receive input from the user. </a:t>
            </a:r>
          </a:p>
          <a:p>
            <a:pPr marL="0" indent="0">
              <a:buNone/>
            </a:pPr>
            <a:r>
              <a:rPr lang="en-US" sz="2400" dirty="0"/>
              <a:t>The input can be entered from a text field or selected from a combo box or a list. </a:t>
            </a:r>
          </a:p>
          <a:p>
            <a:pPr marL="0" indent="0">
              <a:buNone/>
            </a:pPr>
            <a:r>
              <a:rPr lang="en-US" sz="2400" dirty="0"/>
              <a:t>Selectable values can be specified in an array, and a particular value can be designated as the initial selected value.</a:t>
            </a:r>
          </a:p>
          <a:p>
            <a:pPr marL="0" indent="0">
              <a:buNone/>
            </a:pPr>
            <a:endParaRPr lang="en-US" sz="24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CACF41A-CC24-07A6-FFDC-9920B4267259}"/>
              </a:ext>
            </a:extLst>
          </p:cNvPr>
          <p:cNvSpPr txBox="1"/>
          <p:nvPr/>
        </p:nvSpPr>
        <p:spPr>
          <a:xfrm>
            <a:off x="4953000" y="415916"/>
            <a:ext cx="308930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Input Dialogs</a:t>
            </a:r>
          </a:p>
        </p:txBody>
      </p:sp>
    </p:spTree>
    <p:extLst>
      <p:ext uri="{BB962C8B-B14F-4D97-AF65-F5344CB8AC3E}">
        <p14:creationId xmlns:p14="http://schemas.microsoft.com/office/powerpoint/2010/main" val="44819883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979" name="Rectangle 3"/>
          <p:cNvSpPr>
            <a:spLocks noGrp="1" noChangeArrowheads="1"/>
          </p:cNvSpPr>
          <p:nvPr>
            <p:ph idx="1"/>
          </p:nvPr>
        </p:nvSpPr>
        <p:spPr>
          <a:xfrm>
            <a:off x="2666999" y="894916"/>
            <a:ext cx="8686800" cy="5257800"/>
          </a:xfrm>
          <a:noFill/>
          <a:ln/>
        </p:spPr>
        <p:txBody>
          <a:bodyPr/>
          <a:lstStyle/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sz="2800" b="1" dirty="0"/>
              <a:t>String input =  </a:t>
            </a:r>
            <a:r>
              <a:rPr lang="de-DE" sz="2800" b="1" dirty="0"/>
              <a:t>JOptionPane.showInputDialog( </a:t>
            </a:r>
          </a:p>
          <a:p>
            <a:pPr marL="0" indent="0">
              <a:buNone/>
            </a:pPr>
            <a:r>
              <a:rPr lang="de-DE" sz="2800" b="1" dirty="0"/>
              <a:t>  "Enter an input");</a:t>
            </a:r>
            <a:endParaRPr lang="en-US" sz="2800" b="1" dirty="0"/>
          </a:p>
        </p:txBody>
      </p:sp>
      <p:sp>
        <p:nvSpPr>
          <p:cNvPr id="8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9144000" y="18288"/>
            <a:ext cx="1066800" cy="329184"/>
          </a:xfrm>
          <a:prstGeom prst="rect">
            <a:avLst/>
          </a:prstGeom>
        </p:spPr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7936FF8-2E3D-4B0F-96F2-6EE731D8954F}" type="slidenum">
              <a:rPr kumimoji="0" lang="en-US" sz="20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11</a:t>
            </a:fld>
            <a:endParaRPr kumimoji="0" lang="en-US" sz="20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</p:txBody>
      </p:sp>
      <p:pic>
        <p:nvPicPr>
          <p:cNvPr id="254985" name="Picture 9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65751" y="3429001"/>
            <a:ext cx="4264025" cy="1825625"/>
          </a:xfrm>
          <a:prstGeom prst="rect">
            <a:avLst/>
          </a:prstGeom>
          <a:solidFill>
            <a:schemeClr val="tx1"/>
          </a:solidFill>
        </p:spPr>
      </p:pic>
      <p:sp>
        <p:nvSpPr>
          <p:cNvPr id="254993" name="Rectangle 17"/>
          <p:cNvSpPr>
            <a:spLocks noChangeArrowheads="1"/>
          </p:cNvSpPr>
          <p:nvPr/>
        </p:nvSpPr>
        <p:spPr bwMode="auto">
          <a:xfrm>
            <a:off x="3481389" y="3227388"/>
            <a:ext cx="731837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 marL="0" marR="0" lvl="0" indent="0" algn="l" defTabSz="4572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ourier New" pitchFamily="49" charset="0"/>
                <a:ea typeface="+mn-ea"/>
                <a:cs typeface="Courier New" pitchFamily="49" charset="0"/>
              </a:rPr>
              <a:t>   </a:t>
            </a: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</p:txBody>
      </p:sp>
      <p:sp>
        <p:nvSpPr>
          <p:cNvPr id="254981" name="Line 5"/>
          <p:cNvSpPr>
            <a:spLocks noChangeShapeType="1"/>
          </p:cNvSpPr>
          <p:nvPr/>
        </p:nvSpPr>
        <p:spPr bwMode="auto">
          <a:xfrm>
            <a:off x="4065588" y="2239108"/>
            <a:ext cx="2698627" cy="1723291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 type="none" w="sm" len="sm"/>
            <a:tailEnd type="stealth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algn="l" defTabSz="4572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A6EB2F9-99DD-4AA6-4DF2-D3CAED11B4E5}"/>
              </a:ext>
            </a:extLst>
          </p:cNvPr>
          <p:cNvSpPr txBox="1"/>
          <p:nvPr/>
        </p:nvSpPr>
        <p:spPr>
          <a:xfrm>
            <a:off x="1981200" y="325734"/>
            <a:ext cx="913904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Getting Input from a simple Input Dialog</a:t>
            </a:r>
          </a:p>
        </p:txBody>
      </p:sp>
    </p:spTree>
    <p:extLst>
      <p:ext uri="{BB962C8B-B14F-4D97-AF65-F5344CB8AC3E}">
        <p14:creationId xmlns:p14="http://schemas.microsoft.com/office/powerpoint/2010/main" val="515823993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49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5498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5498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4981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859" name="Rectangle 3"/>
          <p:cNvSpPr>
            <a:spLocks noGrp="1" noChangeArrowheads="1"/>
          </p:cNvSpPr>
          <p:nvPr>
            <p:ph idx="1"/>
          </p:nvPr>
        </p:nvSpPr>
        <p:spPr>
          <a:xfrm>
            <a:off x="1928446" y="1600200"/>
            <a:ext cx="8686800" cy="5257800"/>
          </a:xfrm>
          <a:noFill/>
          <a:ln/>
        </p:spPr>
        <p:txBody>
          <a:bodyPr/>
          <a:lstStyle/>
          <a:p>
            <a:pPr marL="0" indent="0">
              <a:buNone/>
            </a:pPr>
            <a:r>
              <a:rPr lang="en-US" sz="2900" b="1" dirty="0">
                <a:cs typeface="Times New Roman" pitchFamily="18" charset="0"/>
              </a:rPr>
              <a:t>String </a:t>
            </a:r>
            <a:r>
              <a:rPr lang="en-US" sz="2900" b="1" dirty="0" err="1">
                <a:cs typeface="Times New Roman" pitchFamily="18" charset="0"/>
              </a:rPr>
              <a:t>string</a:t>
            </a:r>
            <a:r>
              <a:rPr lang="en-US" sz="2900" b="1" dirty="0">
                <a:cs typeface="Times New Roman" pitchFamily="18" charset="0"/>
              </a:rPr>
              <a:t> = </a:t>
            </a:r>
            <a:r>
              <a:rPr lang="en-US" sz="2900" b="1" dirty="0" err="1">
                <a:cs typeface="Times New Roman" pitchFamily="18" charset="0"/>
              </a:rPr>
              <a:t>JOptionPane.showInputDialog</a:t>
            </a:r>
            <a:r>
              <a:rPr lang="en-US" sz="2900" b="1" dirty="0">
                <a:cs typeface="Times New Roman" pitchFamily="18" charset="0"/>
              </a:rPr>
              <a:t>(</a:t>
            </a:r>
          </a:p>
          <a:p>
            <a:pPr marL="0" indent="0">
              <a:buNone/>
            </a:pPr>
            <a:r>
              <a:rPr lang="en-US" sz="2900" b="1" dirty="0">
                <a:cs typeface="Times New Roman" pitchFamily="18" charset="0"/>
              </a:rPr>
              <a:t>   null, “Prompting Message”,  “Dialog Title”,    </a:t>
            </a:r>
          </a:p>
          <a:p>
            <a:pPr marL="0" indent="0">
              <a:buNone/>
            </a:pPr>
            <a:r>
              <a:rPr lang="en-US" sz="2900" b="1" dirty="0">
                <a:cs typeface="Times New Roman" pitchFamily="18" charset="0"/>
              </a:rPr>
              <a:t>   </a:t>
            </a:r>
            <a:r>
              <a:rPr lang="en-US" sz="2900" b="1" dirty="0" err="1">
                <a:cs typeface="Times New Roman" pitchFamily="18" charset="0"/>
              </a:rPr>
              <a:t>JOptionPane.QUESTION_MESSAGE</a:t>
            </a:r>
            <a:r>
              <a:rPr lang="en-US" sz="2900" b="1" dirty="0">
                <a:cs typeface="Times New Roman" pitchFamily="18" charset="0"/>
              </a:rPr>
              <a:t>);</a:t>
            </a:r>
          </a:p>
        </p:txBody>
      </p:sp>
      <p:sp>
        <p:nvSpPr>
          <p:cNvPr id="8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9144000" y="18288"/>
            <a:ext cx="1066800" cy="329184"/>
          </a:xfrm>
          <a:prstGeom prst="rect">
            <a:avLst/>
          </a:prstGeom>
        </p:spPr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3C36036-575A-4AAD-8B49-DD38FA537970}" type="slidenum">
              <a:rPr kumimoji="0" lang="en-US" sz="20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12</a:t>
            </a:fld>
            <a:endParaRPr kumimoji="0" lang="en-US" sz="20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</p:txBody>
      </p:sp>
      <p:graphicFrame>
        <p:nvGraphicFramePr>
          <p:cNvPr id="121860" name="Object 4"/>
          <p:cNvGraphicFramePr>
            <a:graphicFrameLocks noChangeAspect="1"/>
          </p:cNvGraphicFramePr>
          <p:nvPr/>
        </p:nvGraphicFramePr>
        <p:xfrm>
          <a:off x="4343400" y="3810000"/>
          <a:ext cx="6096000" cy="2895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Bitmap Image" r:id="rId2" imgW="3952381" imgH="1876190" progId="Paint.Picture">
                  <p:embed/>
                </p:oleObj>
              </mc:Choice>
              <mc:Fallback>
                <p:oleObj name="Bitmap Image" r:id="rId2" imgW="3952381" imgH="1876190" progId="Paint.Picture">
                  <p:embed/>
                  <p:pic>
                    <p:nvPicPr>
                      <p:cNvPr id="12186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343400" y="3810000"/>
                        <a:ext cx="6096000" cy="2895600"/>
                      </a:xfrm>
                      <a:prstGeom prst="rect">
                        <a:avLst/>
                      </a:prstGeom>
                      <a:noFill/>
                      <a:ln>
                        <a:solidFill>
                          <a:schemeClr val="tx1"/>
                        </a:solidFill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0DA4A40C-1B7E-430F-495B-ABDD19A9B5ED}"/>
              </a:ext>
            </a:extLst>
          </p:cNvPr>
          <p:cNvSpPr txBox="1"/>
          <p:nvPr/>
        </p:nvSpPr>
        <p:spPr>
          <a:xfrm>
            <a:off x="3346938" y="600027"/>
            <a:ext cx="609012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Not So Simple Input Dialog</a:t>
            </a:r>
          </a:p>
        </p:txBody>
      </p:sp>
    </p:spTree>
    <p:extLst>
      <p:ext uri="{BB962C8B-B14F-4D97-AF65-F5344CB8AC3E}">
        <p14:creationId xmlns:p14="http://schemas.microsoft.com/office/powerpoint/2010/main" val="878562187"/>
      </p:ext>
    </p:extLst>
  </p:cSld>
  <p:clrMapOvr>
    <a:masterClrMapping/>
  </p:clrMapOvr>
  <p:transition/>
</p:sld>
</file>

<file path=ppt/theme/theme1.xml><?xml version="1.0" encoding="utf-8"?>
<a:theme xmlns:a="http://schemas.openxmlformats.org/drawingml/2006/main" name="Wisp">
  <a:themeElements>
    <a:clrScheme name="Wisp">
      <a:dk1>
        <a:sysClr val="windowText" lastClr="000000"/>
      </a:dk1>
      <a:lt1>
        <a:sysClr val="window" lastClr="FFFFFF"/>
      </a:lt1>
      <a:dk2>
        <a:srgbClr val="766F54"/>
      </a:dk2>
      <a:lt2>
        <a:srgbClr val="E3EACF"/>
      </a:lt2>
      <a:accent1>
        <a:srgbClr val="A53010"/>
      </a:accent1>
      <a:accent2>
        <a:srgbClr val="DE7E18"/>
      </a:accent2>
      <a:accent3>
        <a:srgbClr val="9F8351"/>
      </a:accent3>
      <a:accent4>
        <a:srgbClr val="728653"/>
      </a:accent4>
      <a:accent5>
        <a:srgbClr val="92AA4C"/>
      </a:accent5>
      <a:accent6>
        <a:srgbClr val="6AAC91"/>
      </a:accent6>
      <a:hlink>
        <a:srgbClr val="FB4A18"/>
      </a:hlink>
      <a:folHlink>
        <a:srgbClr val="FB9318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isp">
      <a:fillStyleLst>
        <a:solidFill>
          <a:schemeClr val="phClr"/>
        </a:solidFill>
        <a:solidFill>
          <a:schemeClr val="phClr">
            <a:tint val="70000"/>
            <a:lumMod val="104000"/>
          </a:schemeClr>
        </a:soli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8000"/>
                <a:lumMod val="9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2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satMod val="92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isp" id="{7CB32D59-10C0-40DD-B7BD-2E94284A981C}" vid="{24B1A44C-C006-48B2-A4D7-E5549B3D8CD4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</TotalTime>
  <Words>630</Words>
  <Application>Microsoft Office PowerPoint</Application>
  <PresentationFormat>Widescreen</PresentationFormat>
  <Paragraphs>71</Paragraphs>
  <Slides>12</Slides>
  <Notes>4</Notes>
  <HiddenSlides>0</HiddenSlides>
  <MMClips>0</MMClips>
  <ScaleCrop>false</ScaleCrop>
  <HeadingPairs>
    <vt:vector size="8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2</vt:i4>
      </vt:variant>
      <vt:variant>
        <vt:lpstr>Slide Titles</vt:lpstr>
      </vt:variant>
      <vt:variant>
        <vt:i4>12</vt:i4>
      </vt:variant>
    </vt:vector>
  </HeadingPairs>
  <TitlesOfParts>
    <vt:vector size="21" baseType="lpstr">
      <vt:lpstr>Arial</vt:lpstr>
      <vt:lpstr>Calibri</vt:lpstr>
      <vt:lpstr>Century Gothic</vt:lpstr>
      <vt:lpstr>Courier New</vt:lpstr>
      <vt:lpstr>Times New Roman</vt:lpstr>
      <vt:lpstr>Wingdings 3</vt:lpstr>
      <vt:lpstr>Wisp</vt:lpstr>
      <vt:lpstr>Bitmap Image</vt:lpstr>
      <vt:lpstr>Paintbrush Picture</vt:lpstr>
      <vt:lpstr>JOptionPane Dialogs</vt:lpstr>
      <vt:lpstr>Message Dialogs</vt:lpstr>
      <vt:lpstr>JOptionPane</vt:lpstr>
      <vt:lpstr>JOptionPane Presents 3 Dialog Types  </vt:lpstr>
      <vt:lpstr>PowerPoint Presentation</vt:lpstr>
      <vt:lpstr>PowerPoint Presentation</vt:lpstr>
      <vt:lpstr>PowerPoint Presentation</vt:lpstr>
      <vt:lpstr>Option Types</vt:lpstr>
      <vt:lpstr>Example of a Confirmation Dialog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JOptionPane Dialogs</dc:title>
  <dc:creator>Ivonne Nelson</dc:creator>
  <cp:lastModifiedBy>NELSON, IVONNE</cp:lastModifiedBy>
  <cp:revision>4</cp:revision>
  <dcterms:created xsi:type="dcterms:W3CDTF">2023-01-03T21:56:19Z</dcterms:created>
  <dcterms:modified xsi:type="dcterms:W3CDTF">2024-08-28T13:44:49Z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d8bb7484-22c2-4b98-9fb8-3ab13d821527_Enabled">
    <vt:lpwstr>true</vt:lpwstr>
  </property>
  <property fmtid="{D5CDD505-2E9C-101B-9397-08002B2CF9AE}" pid="3" name="MSIP_Label_d8bb7484-22c2-4b98-9fb8-3ab13d821527_SetDate">
    <vt:lpwstr>2024-06-10T19:51:43Z</vt:lpwstr>
  </property>
  <property fmtid="{D5CDD505-2E9C-101B-9397-08002B2CF9AE}" pid="4" name="MSIP_Label_d8bb7484-22c2-4b98-9fb8-3ab13d821527_Method">
    <vt:lpwstr>Standard</vt:lpwstr>
  </property>
  <property fmtid="{D5CDD505-2E9C-101B-9397-08002B2CF9AE}" pid="5" name="MSIP_Label_d8bb7484-22c2-4b98-9fb8-3ab13d821527_Name">
    <vt:lpwstr>defa4170-0d19-0005-0004-bc88714345d2</vt:lpwstr>
  </property>
  <property fmtid="{D5CDD505-2E9C-101B-9397-08002B2CF9AE}" pid="6" name="MSIP_Label_d8bb7484-22c2-4b98-9fb8-3ab13d821527_SiteId">
    <vt:lpwstr>f50e076b-86a5-45f3-87b0-3f4d0ec5e94e</vt:lpwstr>
  </property>
  <property fmtid="{D5CDD505-2E9C-101B-9397-08002B2CF9AE}" pid="7" name="MSIP_Label_d8bb7484-22c2-4b98-9fb8-3ab13d821527_ActionId">
    <vt:lpwstr>456d3db5-a260-4a17-8b42-fc29cc13b42e</vt:lpwstr>
  </property>
  <property fmtid="{D5CDD505-2E9C-101B-9397-08002B2CF9AE}" pid="8" name="MSIP_Label_d8bb7484-22c2-4b98-9fb8-3ab13d821527_ContentBits">
    <vt:lpwstr>0</vt:lpwstr>
  </property>
</Properties>
</file>