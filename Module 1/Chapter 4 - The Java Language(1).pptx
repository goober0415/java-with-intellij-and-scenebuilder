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5" r:id="rId2"/>
  </p:sldMasterIdLst>
  <p:notesMasterIdLst>
    <p:notesMasterId r:id="rId20"/>
  </p:notesMasterIdLst>
  <p:sldIdLst>
    <p:sldId id="269" r:id="rId3"/>
    <p:sldId id="308" r:id="rId4"/>
    <p:sldId id="266" r:id="rId5"/>
    <p:sldId id="268" r:id="rId6"/>
    <p:sldId id="257" r:id="rId7"/>
    <p:sldId id="258" r:id="rId8"/>
    <p:sldId id="264" r:id="rId9"/>
    <p:sldId id="309" r:id="rId10"/>
    <p:sldId id="310" r:id="rId11"/>
    <p:sldId id="312" r:id="rId12"/>
    <p:sldId id="311" r:id="rId13"/>
    <p:sldId id="314" r:id="rId14"/>
    <p:sldId id="316" r:id="rId15"/>
    <p:sldId id="317" r:id="rId16"/>
    <p:sldId id="318" r:id="rId17"/>
    <p:sldId id="319" r:id="rId18"/>
    <p:sldId id="32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B231BB-58F3-422A-908E-90B001178022}" v="18" dt="2022-12-20T21:38:38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E0A9B-0EA2-495C-8BA9-BCBA3279E4A3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BC156-962C-404E-962F-C8764E65C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72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BC156-962C-404E-962F-C8764E65C6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40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3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0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3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4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6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1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19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46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2492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43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486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01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36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81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805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066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398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0961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479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4841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629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3988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8820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4300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48709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457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63682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0973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6000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03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3098B-D78B-429D-8917-A8810D6E260A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0D26F22-F5AC-4C77-A004-700943897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21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12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CD54-7E95-9359-C16E-DD239E976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080621"/>
            <a:ext cx="8915399" cy="2262781"/>
          </a:xfrm>
        </p:spPr>
        <p:txBody>
          <a:bodyPr/>
          <a:lstStyle/>
          <a:p>
            <a:pPr algn="ctr"/>
            <a:r>
              <a:rPr lang="en-US" b="1" dirty="0"/>
              <a:t>The Java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C506D-D958-FBC0-16B0-A65C81531F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Value </a:t>
            </a:r>
            <a:r>
              <a:rPr lang="en-US" sz="2800" b="1"/>
              <a:t>Types, Reference </a:t>
            </a:r>
            <a:r>
              <a:rPr lang="en-US" sz="2800" b="1" dirty="0"/>
              <a:t>Types and Arrays</a:t>
            </a:r>
          </a:p>
        </p:txBody>
      </p:sp>
    </p:spTree>
    <p:extLst>
      <p:ext uri="{BB962C8B-B14F-4D97-AF65-F5344CB8AC3E}">
        <p14:creationId xmlns:p14="http://schemas.microsoft.com/office/powerpoint/2010/main" val="242489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3E55-2A54-F97B-250B-234FFF880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Creating Objects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92544-05BB-B160-863C-7360C1D9B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9889" y="1371600"/>
            <a:ext cx="8915400" cy="5064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When we created objects in C++ I, we were creating an </a:t>
            </a:r>
            <a:r>
              <a:rPr lang="en-US" sz="2400" dirty="0" err="1"/>
              <a:t>ifstream</a:t>
            </a:r>
            <a:r>
              <a:rPr lang="en-US" sz="2400" dirty="0"/>
              <a:t> object called input on the stack.</a:t>
            </a:r>
          </a:p>
          <a:p>
            <a:pPr marL="0" indent="0">
              <a:buNone/>
            </a:pPr>
            <a:r>
              <a:rPr lang="en-US" sz="2400" b="1" dirty="0" err="1"/>
              <a:t>ifstream</a:t>
            </a:r>
            <a:r>
              <a:rPr lang="en-US" sz="2400" b="1" dirty="0"/>
              <a:t> input;</a:t>
            </a:r>
          </a:p>
          <a:p>
            <a:pPr marL="0" indent="0">
              <a:buNone/>
            </a:pPr>
            <a:r>
              <a:rPr lang="en-US" sz="2400" dirty="0"/>
              <a:t>In Java, we create a File object on the heap.  file is the reference to the object:</a:t>
            </a:r>
          </a:p>
          <a:p>
            <a:pPr marL="0" indent="0">
              <a:buNone/>
            </a:pPr>
            <a:r>
              <a:rPr lang="en-US" sz="2400" b="1" dirty="0"/>
              <a:t>File </a:t>
            </a:r>
            <a:r>
              <a:rPr lang="en-US" sz="2400" b="1" dirty="0" err="1"/>
              <a:t>file</a:t>
            </a:r>
            <a:r>
              <a:rPr lang="en-US" sz="2400" b="1" dirty="0"/>
              <a:t>  = new File(“Date.txt”);</a:t>
            </a:r>
          </a:p>
          <a:p>
            <a:pPr marL="0" indent="0">
              <a:buNone/>
            </a:pPr>
            <a:r>
              <a:rPr lang="en-US" sz="2400" dirty="0"/>
              <a:t>file contains the address of the object created by the new operator and the constructor,  File(“Date.txt”);</a:t>
            </a:r>
          </a:p>
          <a:p>
            <a:pPr marL="0" indent="0">
              <a:buNone/>
            </a:pPr>
            <a:r>
              <a:rPr lang="en-US" sz="2400" dirty="0"/>
              <a:t>The object reference, file, is similar to a pointer in C++.</a:t>
            </a:r>
          </a:p>
          <a:p>
            <a:pPr marL="0" indent="0">
              <a:buNone/>
            </a:pPr>
            <a:r>
              <a:rPr lang="en-US" sz="2400" dirty="0"/>
              <a:t>Java has Garbage collection.  In C++, the programmer is responsible for memory management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44634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83BFF-6370-5D8D-3DFF-D4B55CEA1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663" y="624110"/>
            <a:ext cx="9845260" cy="1280890"/>
          </a:xfrm>
        </p:spPr>
        <p:txBody>
          <a:bodyPr/>
          <a:lstStyle/>
          <a:p>
            <a:r>
              <a:rPr lang="en-US" b="1" dirty="0"/>
              <a:t>Use the object to access the class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AA52B-E44E-ED38-91EA-6B18AB856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6644" y="190500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Date class is a utility class that represents the current time. Here we create a new instance of Date with the new operator and call its </a:t>
            </a:r>
            <a:r>
              <a:rPr lang="en-US" sz="2400" dirty="0" err="1"/>
              <a:t>getHours</a:t>
            </a:r>
            <a:r>
              <a:rPr lang="en-US" sz="2400" dirty="0"/>
              <a:t>() method to retrieve the current hour as an integer value. </a:t>
            </a:r>
          </a:p>
          <a:p>
            <a:pPr marL="0" indent="0">
              <a:buNone/>
            </a:pPr>
            <a:r>
              <a:rPr lang="en-US" sz="2400" dirty="0"/>
              <a:t>The Date object reference lives long enough to service the method call and is then cut loose and garbage-collected at some point in the future.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b="1" dirty="0"/>
              <a:t>int hours = new Date().</a:t>
            </a:r>
            <a:r>
              <a:rPr lang="en-US" sz="2400" b="1" dirty="0" err="1"/>
              <a:t>getHours</a:t>
            </a:r>
            <a:r>
              <a:rPr lang="en-US" sz="2400" b="1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435174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7098-1A93-3FC2-177A-DD938B63C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7078" y="1636719"/>
            <a:ext cx="10281138" cy="1468800"/>
          </a:xfrm>
        </p:spPr>
        <p:txBody>
          <a:bodyPr/>
          <a:lstStyle/>
          <a:p>
            <a:pPr algn="ctr"/>
            <a:r>
              <a:rPr lang="en-US" dirty="0"/>
              <a:t>Reference Types </a:t>
            </a:r>
            <a:r>
              <a:rPr lang="en-US" dirty="0" err="1"/>
              <a:t>vs.Value</a:t>
            </a:r>
            <a:r>
              <a:rPr lang="en-US" dirty="0"/>
              <a:t>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614AA-3215-641E-519F-5972BA8F8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8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9B74B-2CBE-618F-CEFB-D9827D99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Value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E5053-C03C-FBAA-03C7-8EAFA449E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6396" y="1905000"/>
            <a:ext cx="8288216" cy="4319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Value types are what we have been using in C++ I.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When we pass a value type, we “pass by value.”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OK, never mind pointers and references. Their contents are not passed by value.  But the addresses are.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Value types hold the value they represent in their memory.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Primitives (int, float, </a:t>
            </a:r>
            <a:r>
              <a:rPr lang="en-US" sz="2400" dirty="0" err="1">
                <a:solidFill>
                  <a:schemeClr val="tx1"/>
                </a:solidFill>
              </a:rPr>
              <a:t>etc</a:t>
            </a:r>
            <a:r>
              <a:rPr lang="en-US" sz="2400" dirty="0">
                <a:solidFill>
                  <a:schemeClr val="tx1"/>
                </a:solidFill>
              </a:rPr>
              <a:t>) are also passed by value.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Pass by value simply means that the value of the variable is copied.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06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CF5C-E7E9-0899-BF92-2D80A988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16D22-6EF7-7FE0-1D65-DE0777255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0228" y="1540188"/>
            <a:ext cx="8915400" cy="4907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In an object-oriented language like Java, you create new, complex data types from simple primitives by creating a class.  </a:t>
            </a:r>
          </a:p>
          <a:p>
            <a:pPr marL="0" indent="0">
              <a:buNone/>
            </a:pPr>
            <a:r>
              <a:rPr lang="en-US" sz="2400" dirty="0"/>
              <a:t>Each class is a new Type.  Instances of the class are accessed by their reference variable, which gives us a name to access it.  </a:t>
            </a:r>
          </a:p>
          <a:p>
            <a:pPr marL="0" indent="0">
              <a:buNone/>
            </a:pPr>
            <a:r>
              <a:rPr lang="en-US" sz="2400" dirty="0"/>
              <a:t>The reference variable contains the address of the object and “points” to the location of the object on the heap. </a:t>
            </a:r>
          </a:p>
          <a:p>
            <a:pPr marL="0" indent="0">
              <a:buNone/>
            </a:pPr>
            <a:r>
              <a:rPr lang="en-US" sz="2400" dirty="0"/>
              <a:t>Therefore, when we pass a reference type, only the reference is copied, not the object it is pointing to.</a:t>
            </a:r>
          </a:p>
        </p:txBody>
      </p:sp>
    </p:spTree>
    <p:extLst>
      <p:ext uri="{BB962C8B-B14F-4D97-AF65-F5344CB8AC3E}">
        <p14:creationId xmlns:p14="http://schemas.microsoft.com/office/powerpoint/2010/main" val="167604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26AB-519E-A6A9-E47E-8BFE1777B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70CC5-0B01-D8D7-CD80-C7156696B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667256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Reference types always point to objects (or null), and objects are always defined by classes. </a:t>
            </a:r>
          </a:p>
          <a:p>
            <a:pPr marL="0" indent="0">
              <a:buNone/>
            </a:pPr>
            <a:r>
              <a:rPr lang="en-US" sz="2400" dirty="0"/>
              <a:t>Similar to native types, instance or class variables that are not explicitly initialized when they are declared will be assigned the default value of </a:t>
            </a:r>
            <a:r>
              <a:rPr lang="en-US" sz="2400" b="1" dirty="0"/>
              <a:t>null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Also, like native types, </a:t>
            </a:r>
            <a:r>
              <a:rPr lang="en-US" sz="2400" b="1" dirty="0"/>
              <a:t>local variables </a:t>
            </a:r>
            <a:r>
              <a:rPr lang="en-US" sz="2400" dirty="0"/>
              <a:t>that have a reference type are not initialized by default so you must set your own value before using them.</a:t>
            </a:r>
          </a:p>
        </p:txBody>
      </p:sp>
    </p:spTree>
    <p:extLst>
      <p:ext uri="{BB962C8B-B14F-4D97-AF65-F5344CB8AC3E}">
        <p14:creationId xmlns:p14="http://schemas.microsoft.com/office/powerpoint/2010/main" val="4288191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B6887-872C-99D6-DC33-56EB3A49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Arrays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1D1B8-BFCD-6E28-07DA-481BA19B6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55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ADA0-9D92-37F3-9FD1-2A6986712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Simple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064D5-0196-9FDC-929E-320DE24A2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Simple arrays are used similarly to built-in arrays in C++.</a:t>
            </a:r>
          </a:p>
          <a:p>
            <a:pPr marL="0" indent="0">
              <a:buNone/>
            </a:pPr>
            <a:r>
              <a:rPr lang="en-US" sz="2400" dirty="0"/>
              <a:t>The difference is that in Java, the arrays are object and are created using the new operator:</a:t>
            </a:r>
          </a:p>
          <a:p>
            <a:pPr marL="0" indent="0">
              <a:buNone/>
            </a:pPr>
            <a:r>
              <a:rPr lang="en-US" sz="2400" b="1" dirty="0"/>
              <a:t>	int[ ] </a:t>
            </a:r>
            <a:r>
              <a:rPr lang="en-US" sz="2400" b="1" dirty="0" err="1"/>
              <a:t>monthDays</a:t>
            </a:r>
            <a:r>
              <a:rPr lang="en-US" sz="2400" b="1" dirty="0"/>
              <a:t> = new int[12];</a:t>
            </a:r>
          </a:p>
          <a:p>
            <a:pPr marL="0" indent="0">
              <a:buNone/>
            </a:pPr>
            <a:r>
              <a:rPr lang="en-US" sz="2400" dirty="0"/>
              <a:t>Once created, the array elements are accessed using their index as we have done before</a:t>
            </a:r>
            <a:r>
              <a:rPr lang="en-US" sz="2400" b="1" dirty="0"/>
              <a:t>: </a:t>
            </a:r>
          </a:p>
          <a:p>
            <a:pPr marL="0" indent="0">
              <a:buNone/>
            </a:pPr>
            <a:r>
              <a:rPr lang="en-US" sz="2400" b="1" dirty="0"/>
              <a:t>	 </a:t>
            </a:r>
            <a:r>
              <a:rPr lang="en-US" sz="2400" b="1" dirty="0" err="1"/>
              <a:t>monthDays</a:t>
            </a:r>
            <a:r>
              <a:rPr lang="en-US" sz="2400" b="1" dirty="0"/>
              <a:t>[1] = 28;  </a:t>
            </a:r>
            <a:r>
              <a:rPr lang="en-US" sz="2400" dirty="0"/>
              <a:t>//This is for February, since arrays are 								zero-indexed as usual.</a:t>
            </a:r>
          </a:p>
        </p:txBody>
      </p:sp>
    </p:spTree>
    <p:extLst>
      <p:ext uri="{BB962C8B-B14F-4D97-AF65-F5344CB8AC3E}">
        <p14:creationId xmlns:p14="http://schemas.microsoft.com/office/powerpoint/2010/main" val="389790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FAB02-4445-4FA0-28ED-81B2BAD8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Multi-Dimensional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F4C0D-4017-CFE7-C095-E874AF5B97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Two-dimensional array:</a:t>
            </a:r>
          </a:p>
          <a:p>
            <a:pPr marL="0" indent="0">
              <a:buNone/>
            </a:pPr>
            <a:r>
              <a:rPr lang="en-US" sz="2400" b="1" dirty="0"/>
              <a:t>int[ ][ ] </a:t>
            </a:r>
            <a:r>
              <a:rPr lang="en-US" sz="2400" b="1" dirty="0" err="1"/>
              <a:t>twoD</a:t>
            </a:r>
            <a:r>
              <a:rPr lang="en-US" sz="2400" b="1" dirty="0"/>
              <a:t> = new int[4][5];</a:t>
            </a:r>
          </a:p>
          <a:p>
            <a:pPr marL="0" indent="0">
              <a:buNone/>
            </a:pPr>
            <a:r>
              <a:rPr lang="en-US" sz="2400" dirty="0"/>
              <a:t>Internally, th.is matrix is implemented as an array of arrays of int. </a:t>
            </a:r>
          </a:p>
          <a:p>
            <a:pPr marL="0" indent="0">
              <a:buNone/>
            </a:pPr>
            <a:r>
              <a:rPr lang="en-US" sz="2400" dirty="0"/>
              <a:t>There will be 4 rows and 5 columns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9C3E2-17C9-E8FC-64B8-044D9DB3BA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Conceptual Display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6FE7DF-F4CB-B658-B240-29F707C98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018" y="2704902"/>
            <a:ext cx="3553321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93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13BA-ECB7-CF8F-580D-15411A11B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Specifying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B28C8-0921-0D61-36B6-09F9DFF3F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When you allocate memory for a multidimensional array, you need only specify the memory for the first (leftmost) dimension.</a:t>
            </a:r>
          </a:p>
          <a:p>
            <a:pPr marL="0" indent="0">
              <a:buNone/>
            </a:pPr>
            <a:r>
              <a:rPr lang="en-US" sz="2400" dirty="0"/>
              <a:t> You can allocate the remaining dimensions separately.</a:t>
            </a:r>
          </a:p>
          <a:p>
            <a:pPr marL="0" indent="0">
              <a:buNone/>
            </a:pPr>
            <a:r>
              <a:rPr lang="en-US" sz="2400" dirty="0"/>
              <a:t>Since multidimensional arrays are actually arrays of arrays, the length of each array is under your control. So they do not need to be square.</a:t>
            </a:r>
          </a:p>
        </p:txBody>
      </p:sp>
    </p:spTree>
    <p:extLst>
      <p:ext uri="{BB962C8B-B14F-4D97-AF65-F5344CB8AC3E}">
        <p14:creationId xmlns:p14="http://schemas.microsoft.com/office/powerpoint/2010/main" val="3896853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A618-A9C8-EEA7-79BF-1BEE5E307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Uneven Two-Dimensional Array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6F886-F7C1-CE77-1301-3F07FE522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7334" y="1227721"/>
            <a:ext cx="4313864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array looks like this: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7482D-7C60-4EB7-5394-02983B60D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865" y="1660689"/>
            <a:ext cx="3410426" cy="26768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2DC3F7-DDAD-9761-84B4-0952B474EB6F}"/>
              </a:ext>
            </a:extLst>
          </p:cNvPr>
          <p:cNvSpPr txBox="1"/>
          <p:nvPr/>
        </p:nvSpPr>
        <p:spPr>
          <a:xfrm>
            <a:off x="7156865" y="4454792"/>
            <a:ext cx="430919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Program output looks like this:</a:t>
            </a:r>
          </a:p>
          <a:p>
            <a:r>
              <a:rPr lang="en-US" sz="2400" dirty="0"/>
              <a:t>0</a:t>
            </a:r>
          </a:p>
          <a:p>
            <a:pPr marL="457200" indent="-457200">
              <a:buAutoNum type="arabicPlain"/>
            </a:pPr>
            <a:r>
              <a:rPr lang="en-US" sz="2400" dirty="0"/>
              <a:t>2</a:t>
            </a:r>
          </a:p>
          <a:p>
            <a:pPr marL="457200" indent="-457200">
              <a:buAutoNum type="arabicPlain" startAt="3"/>
            </a:pPr>
            <a:r>
              <a:rPr lang="en-US" sz="2400" dirty="0"/>
              <a:t>4   5 </a:t>
            </a:r>
          </a:p>
          <a:p>
            <a:r>
              <a:rPr lang="en-US" sz="2400" dirty="0"/>
              <a:t>6   7   8   9</a:t>
            </a:r>
          </a:p>
          <a:p>
            <a:pPr marL="457200" indent="-457200">
              <a:buAutoNum type="arabicPlain"/>
            </a:pPr>
            <a:endParaRPr lang="en-US" sz="24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04A7402-CEC1-1876-7C96-4D3A0AE720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502481" y="1905000"/>
            <a:ext cx="5441440" cy="4675523"/>
          </a:xfrm>
          <a:noFill/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136069-5B2F-3B98-AB53-BB3BD6A14517}"/>
              </a:ext>
            </a:extLst>
          </p:cNvPr>
          <p:cNvSpPr txBox="1"/>
          <p:nvPr/>
        </p:nvSpPr>
        <p:spPr>
          <a:xfrm>
            <a:off x="1822325" y="1259916"/>
            <a:ext cx="41056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Create and Display the array</a:t>
            </a:r>
          </a:p>
        </p:txBody>
      </p:sp>
    </p:spTree>
    <p:extLst>
      <p:ext uri="{BB962C8B-B14F-4D97-AF65-F5344CB8AC3E}">
        <p14:creationId xmlns:p14="http://schemas.microsoft.com/office/powerpoint/2010/main" val="810830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A65D-A366-4960-154F-DC411E700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Arrays of Objects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BC94C-FBA8-F833-0575-F07BBB4DE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2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DBE7-33BB-45CC-B7C7-734E8C981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39" y="289574"/>
            <a:ext cx="8911687" cy="1280890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Declaring Arrays of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42A6F-1D0D-40DB-B1E5-20B0F96ED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303" y="1347075"/>
            <a:ext cx="9914709" cy="3581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we create an array of objects, it might look like this: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	Auto[] cars = new Auto[3];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left side  declares the array.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No memory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allocated for the array yet.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right side instantiates the array and allocates memory. 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 array type is a primitive type, the array element values are defaulted to 0, 0.0, or false, depending on which type is used.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862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F05D-0F60-6621-4B7A-8F5F9D3D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If the Array Elements are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E554A-EBCC-CA83-F235-266A8AA1C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 array type is a class, the  elements of the array are only references and they are initialized with null. 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are currently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NULL POINTERS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 we must initialize them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before we use them.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628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E508-60D4-4A5B-BA43-BB246590B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881" y="357410"/>
            <a:ext cx="8911687" cy="128089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Initializing an Array of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AB425-0AF5-4704-8388-D224606C6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1733" y="895349"/>
            <a:ext cx="8831766" cy="580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can initialize the array at the time of declaration if we know what goes into the array: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public class Car  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private String make;  // car's make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private int year;     // car's manufacturing year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private String color; // car's primary color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spcBef>
                <a:spcPts val="200"/>
              </a:spcBef>
              <a:buNone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Car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sportsCar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= new Car(“Corvette”, 2024, “Red”);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Car[ ] cars = 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new Car(“Lambo”, 2023, “Silver”),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new Car(),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sportsCar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};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299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CFD18-2DD4-47D1-B15A-F66907643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851" y="468086"/>
            <a:ext cx="9601200" cy="1485900"/>
          </a:xfrm>
        </p:spPr>
        <p:txBody>
          <a:bodyPr/>
          <a:lstStyle/>
          <a:p>
            <a:pPr algn="ctr"/>
            <a:r>
              <a:rPr lang="en-US" b="1" dirty="0"/>
              <a:t>Filling an Array of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8BAD5-3E3A-4B0D-B6DE-8A939B3DF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2512" y="1645601"/>
            <a:ext cx="9074756" cy="5002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In order to get an actual Auto object into the array, we must instantiate one and then assign it:</a:t>
            </a:r>
          </a:p>
          <a:p>
            <a:pPr marL="987552" lvl="2" indent="0">
              <a:buNone/>
            </a:pPr>
            <a:r>
              <a:rPr lang="en-US" sz="3200" b="1" dirty="0"/>
              <a:t>Car </a:t>
            </a:r>
            <a:r>
              <a:rPr lang="en-US" sz="3200" b="1" dirty="0" err="1"/>
              <a:t>sportsCar</a:t>
            </a:r>
            <a:r>
              <a:rPr lang="en-US" sz="3200" b="1" dirty="0"/>
              <a:t> = new Car(“Ferrari”, 2022, “Blue”);</a:t>
            </a:r>
          </a:p>
          <a:p>
            <a:pPr marL="987552" lvl="2" indent="0">
              <a:buNone/>
            </a:pPr>
            <a:r>
              <a:rPr lang="en-US" sz="3200" b="1" dirty="0"/>
              <a:t>cars[0] = </a:t>
            </a:r>
            <a:r>
              <a:rPr lang="en-US" sz="3200" b="1" dirty="0" err="1"/>
              <a:t>sportsCar</a:t>
            </a:r>
            <a:r>
              <a:rPr lang="en-US" sz="3200" b="1" dirty="0"/>
              <a:t>;</a:t>
            </a:r>
          </a:p>
          <a:p>
            <a:pPr marL="0" indent="0">
              <a:buNone/>
            </a:pPr>
            <a:r>
              <a:rPr lang="en-US" sz="3200" dirty="0"/>
              <a:t>Or we can assign anonymous objects:</a:t>
            </a:r>
          </a:p>
          <a:p>
            <a:pPr marL="987552" lvl="2" indent="0">
              <a:buNone/>
            </a:pPr>
            <a:r>
              <a:rPr lang="en-US" sz="3200" b="1" dirty="0"/>
              <a:t>cars[1] = new Car();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1802408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310</TotalTime>
  <Words>982</Words>
  <Application>Microsoft Office PowerPoint</Application>
  <PresentationFormat>Widescreen</PresentationFormat>
  <Paragraphs>88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Wingdings 3</vt:lpstr>
      <vt:lpstr>Wisp</vt:lpstr>
      <vt:lpstr>1_Wisp</vt:lpstr>
      <vt:lpstr>The Java Language</vt:lpstr>
      <vt:lpstr>Creating Objects in Java</vt:lpstr>
      <vt:lpstr>Use the object to access the class methods</vt:lpstr>
      <vt:lpstr>Reference Types vs.Value Types</vt:lpstr>
      <vt:lpstr>Value Types</vt:lpstr>
      <vt:lpstr>Reference Types</vt:lpstr>
      <vt:lpstr>Object Initialization</vt:lpstr>
      <vt:lpstr>Arrays</vt:lpstr>
      <vt:lpstr>Simple Arrays</vt:lpstr>
      <vt:lpstr>Multi-Dimensional Arrays</vt:lpstr>
      <vt:lpstr>Specifying Dimensions</vt:lpstr>
      <vt:lpstr>Uneven Two-Dimensional Array</vt:lpstr>
      <vt:lpstr>Arrays of Objects</vt:lpstr>
      <vt:lpstr>Declaring Arrays of Objects</vt:lpstr>
      <vt:lpstr>If the Array Elements are Objects</vt:lpstr>
      <vt:lpstr>Initializing an Array of Objects</vt:lpstr>
      <vt:lpstr>Filling an Array of Objects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Java –  What have you heard?</dc:title>
  <dc:creator>Ivonne Nelson</dc:creator>
  <cp:lastModifiedBy>NELSON, IVONNE</cp:lastModifiedBy>
  <cp:revision>12</cp:revision>
  <dcterms:created xsi:type="dcterms:W3CDTF">2022-11-26T21:48:35Z</dcterms:created>
  <dcterms:modified xsi:type="dcterms:W3CDTF">2024-12-31T22:58:00Z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2024-06-10T14:25:35Z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7339b17e-116f-4164-b800-f9476e3262c9</vt:lpwstr>
  </property>
  <property fmtid="{D5CDD505-2E9C-101B-9397-08002B2CF9AE}" pid="8" name="MSIP_Label_d8bb7484-22c2-4b98-9fb8-3ab13d821527_ContentBits">
    <vt:lpwstr>0</vt:lpwstr>
  </property>
</Properties>
</file>