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256" r:id="rId3"/>
    <p:sldId id="342" r:id="rId4"/>
    <p:sldId id="355" r:id="rId5"/>
    <p:sldId id="318" r:id="rId6"/>
    <p:sldId id="330" r:id="rId7"/>
    <p:sldId id="328" r:id="rId8"/>
    <p:sldId id="329" r:id="rId9"/>
    <p:sldId id="345" r:id="rId10"/>
    <p:sldId id="344" r:id="rId11"/>
    <p:sldId id="356" r:id="rId12"/>
    <p:sldId id="334" r:id="rId13"/>
    <p:sldId id="332" r:id="rId14"/>
    <p:sldId id="350" r:id="rId15"/>
    <p:sldId id="35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6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4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6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0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6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7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3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1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3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75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0807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14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3088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34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8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18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580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856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796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336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19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7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139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395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4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048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98977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418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0203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410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181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969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4" y="341313"/>
            <a:ext cx="9438216" cy="7540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16000" y="1524000"/>
            <a:ext cx="53594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524000"/>
            <a:ext cx="5361517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69FB70-1601-4C33-856B-83E09B3FF04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7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5C03E-7785-422A-805D-0593047FAB8E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794353F-506F-4EF7-95B8-86FA1B9B7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0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3098B-D78B-429D-8917-A8810D6E260A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149-A83D-8503-B49E-DC50EE1D6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Modern Java Switch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86DEB-C215-731A-D734-A7D57C80F9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2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8912-359F-C1B5-1F06-9F51FAEC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Java Switch Statement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0CBF6-AD23-CA73-C9AD-AA5F1F400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7228" y="1639824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We can't compare all the types of objects and primitives in the switch statement. A switch works only with four primitives and their wrappers as well as with the </a:t>
            </a:r>
            <a:r>
              <a:rPr lang="en-US" sz="2400" dirty="0" err="1"/>
              <a:t>enum</a:t>
            </a:r>
            <a:r>
              <a:rPr lang="en-US" sz="2400" dirty="0"/>
              <a:t> type and the String class: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   byte and Byte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   short and Short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   int and Integer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   char and Character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   </a:t>
            </a:r>
            <a:r>
              <a:rPr lang="en-US" sz="2400" dirty="0" err="1"/>
              <a:t>enum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   String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74498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BB25-26F2-85D3-C4CF-4458AD2D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Multiple Case Labels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246A5-6A77-1A21-C38A-97ABAF4CC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71650"/>
            <a:ext cx="89154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Rather than forcing the </a:t>
            </a:r>
            <a:r>
              <a:rPr lang="en-US" sz="2000" dirty="0" err="1"/>
              <a:t>fallthrough</a:t>
            </a:r>
            <a:r>
              <a:rPr lang="en-US" sz="2000" dirty="0"/>
              <a:t> semantics of switch statements, Java 12 will allow you to list multiple case labels on the same line.</a:t>
            </a:r>
          </a:p>
          <a:p>
            <a:pPr marL="0" indent="0">
              <a:buNone/>
            </a:pPr>
            <a:r>
              <a:rPr lang="en-US" sz="2000" dirty="0"/>
              <a:t>This has been done to make code both easier to read and easier to understand.</a:t>
            </a:r>
          </a:p>
          <a:p>
            <a:pPr marL="0" indent="0">
              <a:buNone/>
            </a:pPr>
            <a:r>
              <a:rPr lang="en-US" sz="2000" b="1" dirty="0"/>
              <a:t>switch (x) {</a:t>
            </a:r>
          </a:p>
          <a:p>
            <a:pPr marL="0" indent="0">
              <a:buNone/>
            </a:pPr>
            <a:r>
              <a:rPr lang="en-US" sz="2000" b="1" dirty="0"/>
              <a:t>	case 1, 2, 4: </a:t>
            </a:r>
            <a:r>
              <a:rPr lang="en-US" sz="2000" b="1" dirty="0" err="1"/>
              <a:t>System.out.println</a:t>
            </a:r>
            <a:r>
              <a:rPr lang="en-US" sz="2000" b="1" dirty="0"/>
              <a:t>("Foo");</a:t>
            </a:r>
          </a:p>
          <a:p>
            <a:pPr marL="0" indent="0">
              <a:buNone/>
            </a:pPr>
            <a:r>
              <a:rPr lang="en-US" sz="2000" b="1" dirty="0"/>
              <a:t>	break;</a:t>
            </a:r>
          </a:p>
          <a:p>
            <a:pPr marL="0" indent="0">
              <a:buNone/>
            </a:pPr>
            <a:r>
              <a:rPr lang="en-US" sz="2000" b="1" dirty="0"/>
              <a:t>	default: </a:t>
            </a:r>
            <a:r>
              <a:rPr lang="en-US" sz="2000" b="1" dirty="0" err="1"/>
              <a:t>System.out.println</a:t>
            </a:r>
            <a:r>
              <a:rPr lang="en-US" sz="2000" b="1" dirty="0"/>
              <a:t>("Bar");</a:t>
            </a:r>
          </a:p>
          <a:p>
            <a:pPr marL="0" indent="0">
              <a:buNone/>
            </a:pPr>
            <a:r>
              <a:rPr lang="en-US" sz="2000" b="1" dirty="0"/>
              <a:t>	break;</a:t>
            </a:r>
          </a:p>
          <a:p>
            <a:pPr marL="0" indent="0">
              <a:buNone/>
            </a:pPr>
            <a:r>
              <a:rPr lang="en-US" sz="2000" b="1" dirty="0"/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323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4035-2C6D-22C1-D4D0-B200A6C94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13798"/>
            <a:ext cx="10551844" cy="1280890"/>
          </a:xfrm>
        </p:spPr>
        <p:txBody>
          <a:bodyPr/>
          <a:lstStyle/>
          <a:p>
            <a:pPr algn="ctr"/>
            <a:r>
              <a:rPr lang="en-US" b="1" dirty="0"/>
              <a:t>Switch Statements are improved for Java 17!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35AB3-01B9-0A8C-02A4-0A3198981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694688"/>
            <a:ext cx="9901492" cy="50352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Here is the “Old Switch” in Java.</a:t>
            </a:r>
          </a:p>
          <a:p>
            <a:pPr marL="0" indent="0">
              <a:buNone/>
            </a:pPr>
            <a:r>
              <a:rPr lang="en-US" sz="2400" dirty="0"/>
              <a:t>int num;</a:t>
            </a:r>
          </a:p>
          <a:p>
            <a:pPr marL="0" indent="0">
              <a:buNone/>
            </a:pPr>
            <a:r>
              <a:rPr lang="en-US" sz="2400" dirty="0"/>
              <a:t>//ask for a number, giving the use a choice</a:t>
            </a:r>
          </a:p>
          <a:p>
            <a:pPr marL="0" indent="0">
              <a:buNone/>
            </a:pPr>
            <a:r>
              <a:rPr lang="en-US" sz="2400" dirty="0"/>
              <a:t>switch (num) {            </a:t>
            </a:r>
          </a:p>
          <a:p>
            <a:pPr marL="0" indent="0">
              <a:buNone/>
            </a:pPr>
            <a:r>
              <a:rPr lang="en-US" sz="2400" dirty="0"/>
              <a:t>case “1”:   </a:t>
            </a:r>
            <a:r>
              <a:rPr lang="en-US" sz="2400" dirty="0" err="1"/>
              <a:t>System.out.println</a:t>
            </a:r>
            <a:r>
              <a:rPr lang="en-US" sz="2400" dirty="0"/>
              <a:t>(“You chose 1.”) </a:t>
            </a:r>
          </a:p>
          <a:p>
            <a:pPr marL="400050" lvl="1" indent="0">
              <a:buNone/>
            </a:pPr>
            <a:r>
              <a:rPr lang="en-US" sz="2400" dirty="0"/>
              <a:t>break;  </a:t>
            </a:r>
          </a:p>
          <a:p>
            <a:pPr marL="0" indent="0">
              <a:buNone/>
            </a:pPr>
            <a:r>
              <a:rPr lang="en-US" sz="2400" dirty="0"/>
              <a:t>case “2”:      </a:t>
            </a:r>
            <a:r>
              <a:rPr lang="en-US" sz="2400" dirty="0" err="1"/>
              <a:t>System.out.println</a:t>
            </a:r>
            <a:r>
              <a:rPr lang="en-US" sz="2400" dirty="0"/>
              <a:t>(“You chose 2.”)          </a:t>
            </a:r>
          </a:p>
          <a:p>
            <a:pPr marL="400050" lvl="1" indent="0">
              <a:buNone/>
            </a:pPr>
            <a:r>
              <a:rPr lang="en-US" sz="2400" dirty="0"/>
              <a:t>break;   </a:t>
            </a:r>
          </a:p>
          <a:p>
            <a:pPr marL="0" indent="0">
              <a:buNone/>
            </a:pPr>
            <a:r>
              <a:rPr lang="en-US" sz="2400" dirty="0"/>
              <a:t>default:	</a:t>
            </a:r>
            <a:r>
              <a:rPr lang="en-US" sz="2400" dirty="0" err="1"/>
              <a:t>System.out.println</a:t>
            </a:r>
            <a:r>
              <a:rPr lang="en-US" sz="2400" dirty="0"/>
              <a:t>(“That’s not one of our numbers.”)</a:t>
            </a:r>
          </a:p>
          <a:p>
            <a:pPr marL="0" indent="0">
              <a:buNone/>
            </a:pPr>
            <a:r>
              <a:rPr lang="en-US" sz="2400" dirty="0"/>
              <a:t>}         </a:t>
            </a:r>
          </a:p>
        </p:txBody>
      </p:sp>
    </p:spTree>
    <p:extLst>
      <p:ext uri="{BB962C8B-B14F-4D97-AF65-F5344CB8AC3E}">
        <p14:creationId xmlns:p14="http://schemas.microsoft.com/office/powerpoint/2010/main" val="106364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E6D8-F7BD-1C34-07E5-0D0EBC3D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364" y="550958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The Statement Form of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D114C-2F6F-93D7-0C27-B9C35B39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804" y="1412396"/>
            <a:ext cx="6711824" cy="50524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switch (</a:t>
            </a:r>
            <a:r>
              <a:rPr lang="en-US" sz="2400" b="1" dirty="0" err="1"/>
              <a:t>seasonCode</a:t>
            </a:r>
            <a:r>
              <a:rPr lang="en-US" sz="2400" b="1" dirty="0"/>
              <a:t>) { </a:t>
            </a:r>
            <a:r>
              <a:rPr lang="en-US" sz="2400" dirty="0"/>
              <a:t>// switch statement</a:t>
            </a:r>
          </a:p>
          <a:p>
            <a:pPr marL="0" indent="0">
              <a:buNone/>
            </a:pPr>
            <a:r>
              <a:rPr lang="en-US" sz="2400" b="1" dirty="0"/>
              <a:t>    case 0 -&gt; </a:t>
            </a:r>
            <a:r>
              <a:rPr lang="en-US" sz="2400" b="1" dirty="0" err="1"/>
              <a:t>seasonName</a:t>
            </a:r>
            <a:r>
              <a:rPr lang="en-US" sz="2400" b="1" dirty="0"/>
              <a:t> = "Spring";</a:t>
            </a:r>
          </a:p>
          <a:p>
            <a:pPr marL="0" indent="0">
              <a:buNone/>
            </a:pPr>
            <a:r>
              <a:rPr lang="en-US" sz="2400" b="1" dirty="0"/>
              <a:t>    case 1 -&gt; </a:t>
            </a:r>
            <a:r>
              <a:rPr lang="en-US" sz="2400" b="1" dirty="0" err="1"/>
              <a:t>seasonName</a:t>
            </a:r>
            <a:r>
              <a:rPr lang="en-US" sz="2400" b="1" dirty="0"/>
              <a:t> = "Summer";</a:t>
            </a:r>
          </a:p>
          <a:p>
            <a:pPr marL="0" indent="0">
              <a:buNone/>
            </a:pPr>
            <a:r>
              <a:rPr lang="en-US" sz="2400" b="1" dirty="0"/>
              <a:t>    case 2 -&gt; </a:t>
            </a:r>
            <a:r>
              <a:rPr lang="en-US" sz="2400" b="1" dirty="0" err="1"/>
              <a:t>seasonName</a:t>
            </a:r>
            <a:r>
              <a:rPr lang="en-US" sz="2400" b="1" dirty="0"/>
              <a:t> = "Fall";</a:t>
            </a:r>
          </a:p>
          <a:p>
            <a:pPr marL="0" indent="0">
              <a:buNone/>
            </a:pPr>
            <a:r>
              <a:rPr lang="en-US" sz="2400" b="1" dirty="0"/>
              <a:t>    case 3 -&gt; </a:t>
            </a:r>
            <a:r>
              <a:rPr lang="en-US" sz="2400" b="1" dirty="0" err="1"/>
              <a:t>seasonName</a:t>
            </a:r>
            <a:r>
              <a:rPr lang="en-US" sz="2400" b="1" dirty="0"/>
              <a:t> = "Winter";</a:t>
            </a:r>
          </a:p>
          <a:p>
            <a:pPr marL="0" indent="0">
              <a:buNone/>
            </a:pPr>
            <a:r>
              <a:rPr lang="en-US" sz="2400" b="1" dirty="0"/>
              <a:t>    default -&gt; {</a:t>
            </a:r>
          </a:p>
          <a:p>
            <a:pPr marL="0" indent="0">
              <a:buNone/>
            </a:pPr>
            <a:r>
              <a:rPr lang="en-US" sz="2400" b="1" dirty="0"/>
              <a:t>   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("???");</a:t>
            </a:r>
          </a:p>
          <a:p>
            <a:pPr marL="0" indent="0">
              <a:buNone/>
            </a:pPr>
            <a:r>
              <a:rPr lang="en-US" sz="2400" b="1" dirty="0"/>
              <a:t>        </a:t>
            </a:r>
            <a:r>
              <a:rPr lang="en-US" sz="2400" b="1" dirty="0" err="1"/>
              <a:t>seasonName</a:t>
            </a:r>
            <a:r>
              <a:rPr lang="en-US" sz="2400" b="1" dirty="0"/>
              <a:t> = "";</a:t>
            </a:r>
          </a:p>
          <a:p>
            <a:pPr marL="0" indent="0">
              <a:buNone/>
            </a:pPr>
            <a:r>
              <a:rPr lang="en-US" sz="2400" b="1" dirty="0"/>
              <a:t>    }</a:t>
            </a:r>
          </a:p>
          <a:p>
            <a:pPr marL="0" indent="0">
              <a:buNone/>
            </a:pPr>
            <a:r>
              <a:rPr lang="en-US" sz="2400" b="1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1D825-5C04-C9A2-FB0E-FDDBFCA48B91}"/>
              </a:ext>
            </a:extLst>
          </p:cNvPr>
          <p:cNvSpPr txBox="1"/>
          <p:nvPr/>
        </p:nvSpPr>
        <p:spPr>
          <a:xfrm>
            <a:off x="8861091" y="2274838"/>
            <a:ext cx="2712960" cy="230832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There's no break keyword!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switch expression doesn't fall through cases.</a:t>
            </a:r>
          </a:p>
        </p:txBody>
      </p:sp>
    </p:spTree>
    <p:extLst>
      <p:ext uri="{BB962C8B-B14F-4D97-AF65-F5344CB8AC3E}">
        <p14:creationId xmlns:p14="http://schemas.microsoft.com/office/powerpoint/2010/main" val="3564623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842E-6951-7FD6-40A7-4B12A5FE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Expression form of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AB956-BCA1-C642-0971-68EA5FCCB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8504" y="1509490"/>
            <a:ext cx="8915400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 switch expression compares an operand against multiple alternatives, producing a value for each case:</a:t>
            </a:r>
          </a:p>
          <a:p>
            <a:pPr marL="0" indent="0">
              <a:buNone/>
            </a:pPr>
            <a:r>
              <a:rPr lang="en-US" sz="2000" b="1" dirty="0"/>
              <a:t>String </a:t>
            </a:r>
            <a:r>
              <a:rPr lang="en-US" sz="2000" b="1" dirty="0" err="1"/>
              <a:t>seasonName</a:t>
            </a:r>
            <a:r>
              <a:rPr lang="en-US" sz="2000" b="1" dirty="0"/>
              <a:t> = switch (</a:t>
            </a:r>
            <a:r>
              <a:rPr lang="en-US" sz="2000" b="1" dirty="0" err="1"/>
              <a:t>seasonCode</a:t>
            </a:r>
            <a:r>
              <a:rPr lang="en-US" sz="2000" b="1" dirty="0"/>
              <a:t>) {</a:t>
            </a:r>
            <a:r>
              <a:rPr lang="en-US" sz="2000" dirty="0"/>
              <a:t> // switch expression</a:t>
            </a:r>
          </a:p>
          <a:p>
            <a:pPr marL="0" indent="0">
              <a:buNone/>
            </a:pPr>
            <a:r>
              <a:rPr lang="en-US" sz="2000" b="1" dirty="0"/>
              <a:t>    case 0 -&gt; "Spring";</a:t>
            </a:r>
          </a:p>
          <a:p>
            <a:pPr marL="0" indent="0">
              <a:buNone/>
            </a:pPr>
            <a:r>
              <a:rPr lang="en-US" sz="2000" b="1" dirty="0"/>
              <a:t>    case 1 -&gt; "Summer";</a:t>
            </a:r>
          </a:p>
          <a:p>
            <a:pPr marL="0" indent="0">
              <a:buNone/>
            </a:pPr>
            <a:r>
              <a:rPr lang="en-US" sz="2000" b="1" dirty="0"/>
              <a:t>    case 2 -&gt; "Fall";</a:t>
            </a:r>
          </a:p>
          <a:p>
            <a:pPr marL="0" indent="0">
              <a:buNone/>
            </a:pPr>
            <a:r>
              <a:rPr lang="en-US" sz="2000" b="1" dirty="0"/>
              <a:t>    case 3 -&gt; "Winter";</a:t>
            </a:r>
          </a:p>
          <a:p>
            <a:pPr marL="0" indent="0">
              <a:buNone/>
            </a:pPr>
            <a:r>
              <a:rPr lang="en-US" sz="2000" b="1" dirty="0"/>
              <a:t>    default -&gt; {</a:t>
            </a:r>
          </a:p>
          <a:p>
            <a:pPr marL="0" indent="0">
              <a:buNone/>
            </a:pPr>
            <a:r>
              <a:rPr lang="en-US" sz="2000" b="1" dirty="0"/>
              <a:t>        </a:t>
            </a:r>
            <a:r>
              <a:rPr lang="en-US" sz="2000" b="1" dirty="0" err="1"/>
              <a:t>System.out.println</a:t>
            </a:r>
            <a:r>
              <a:rPr lang="en-US" sz="2000" b="1" dirty="0"/>
              <a:t>("???");</a:t>
            </a:r>
          </a:p>
          <a:p>
            <a:pPr marL="0" indent="0">
              <a:buNone/>
            </a:pPr>
            <a:r>
              <a:rPr lang="en-US" sz="2000" b="1" dirty="0"/>
              <a:t>        yield "";</a:t>
            </a:r>
          </a:p>
          <a:p>
            <a:pPr marL="0" indent="0">
              <a:buNone/>
            </a:pPr>
            <a:r>
              <a:rPr lang="en-US" sz="2000" b="1" dirty="0"/>
              <a:t>    }</a:t>
            </a:r>
          </a:p>
          <a:p>
            <a:pPr marL="0" indent="0">
              <a:buNone/>
            </a:pPr>
            <a:r>
              <a:rPr lang="en-US" sz="2000" b="1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6966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CE81A-AC5C-E19B-659C-9B7D3681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Notice it’s an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DF84-35C2-E7AD-8194-188D85B1C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044" y="1620363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Note that this switch is an expression—it has a value, namely one of the five strings "Spring", "Summer", "Fall", "Winter", and "". </a:t>
            </a:r>
          </a:p>
          <a:p>
            <a:pPr marL="0" indent="0">
              <a:buNone/>
            </a:pPr>
            <a:r>
              <a:rPr lang="en-US" sz="2400" dirty="0"/>
              <a:t>The value of the switch expression is assigned to the </a:t>
            </a:r>
            <a:r>
              <a:rPr lang="en-US" sz="2400" dirty="0" err="1"/>
              <a:t>seasonName</a:t>
            </a:r>
            <a:r>
              <a:rPr lang="en-US" sz="2400" dirty="0"/>
              <a:t> variable.</a:t>
            </a:r>
          </a:p>
          <a:p>
            <a:pPr marL="0" indent="0">
              <a:buNone/>
            </a:pPr>
            <a:r>
              <a:rPr lang="en-US" sz="2400" dirty="0"/>
              <a:t>Most often, a case is simply followed by an expression.</a:t>
            </a:r>
          </a:p>
          <a:p>
            <a:pPr marL="0" indent="0">
              <a:buNone/>
            </a:pPr>
            <a:r>
              <a:rPr lang="en-US" sz="2400" dirty="0"/>
              <a:t> However, you can do additional work in a brace-enclosed block, as is done in the default case of the example. </a:t>
            </a:r>
          </a:p>
          <a:p>
            <a:pPr marL="0" indent="0">
              <a:buNone/>
            </a:pPr>
            <a:r>
              <a:rPr lang="en-US" sz="2400" dirty="0"/>
              <a:t>Then you need a yield statement inside the block to produce the value.</a:t>
            </a:r>
          </a:p>
        </p:txBody>
      </p:sp>
    </p:spTree>
    <p:extLst>
      <p:ext uri="{BB962C8B-B14F-4D97-AF65-F5344CB8AC3E}">
        <p14:creationId xmlns:p14="http://schemas.microsoft.com/office/powerpoint/2010/main" val="2097648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4B43C-143D-C965-5DF5-C279CF1F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675" y="395510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The yield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E38A-0A84-DEE9-B0B9-8ED354546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1430" y="1450108"/>
            <a:ext cx="8915400" cy="5329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Going a bit further, there's a possibility to obtain fine-grain control over what's happening on the right side of the expression by using code blocks.</a:t>
            </a:r>
          </a:p>
          <a:p>
            <a:pPr marL="0" indent="0">
              <a:buNone/>
            </a:pPr>
            <a:r>
              <a:rPr lang="en-US" dirty="0"/>
              <a:t>In such a case, we need to use the keyword yield:</a:t>
            </a:r>
          </a:p>
          <a:p>
            <a:pPr marL="0" indent="0">
              <a:buNone/>
            </a:pPr>
            <a:r>
              <a:rPr lang="en-US" b="1" dirty="0"/>
              <a:t>var result = switch (month) {</a:t>
            </a:r>
          </a:p>
          <a:p>
            <a:pPr marL="0" indent="0">
              <a:buNone/>
            </a:pPr>
            <a:r>
              <a:rPr lang="en-US" b="1" dirty="0"/>
              <a:t>    case JANUARY, JUNE, JULY -&gt; 3;</a:t>
            </a:r>
          </a:p>
          <a:p>
            <a:pPr marL="0" indent="0">
              <a:buNone/>
            </a:pPr>
            <a:r>
              <a:rPr lang="en-US" b="1" dirty="0"/>
              <a:t>    case FEBRUARY, SEPTEMBER, OCTOBER, NOVEMBER, DECEMBER -&gt; 1;</a:t>
            </a:r>
          </a:p>
          <a:p>
            <a:pPr marL="0" indent="0">
              <a:buNone/>
            </a:pPr>
            <a:r>
              <a:rPr lang="en-US" b="1" dirty="0"/>
              <a:t>    case MARCH, MAY, APRIL, AUGUST -&gt; {</a:t>
            </a:r>
          </a:p>
          <a:p>
            <a:pPr marL="0" indent="0">
              <a:buNone/>
            </a:pPr>
            <a:r>
              <a:rPr lang="en-US" b="1" dirty="0"/>
              <a:t>        int </a:t>
            </a:r>
            <a:r>
              <a:rPr lang="en-US" b="1" dirty="0" err="1"/>
              <a:t>monthLength</a:t>
            </a:r>
            <a:r>
              <a:rPr lang="en-US" b="1" dirty="0"/>
              <a:t> = </a:t>
            </a:r>
            <a:r>
              <a:rPr lang="en-US" b="1" dirty="0" err="1"/>
              <a:t>month.toString</a:t>
            </a:r>
            <a:r>
              <a:rPr lang="en-US" b="1" dirty="0"/>
              <a:t>().length();</a:t>
            </a:r>
          </a:p>
          <a:p>
            <a:pPr marL="0" indent="0">
              <a:buNone/>
            </a:pPr>
            <a:r>
              <a:rPr lang="en-US" b="1" dirty="0"/>
              <a:t>        yield </a:t>
            </a:r>
            <a:r>
              <a:rPr lang="en-US" b="1" dirty="0" err="1"/>
              <a:t>monthLength</a:t>
            </a:r>
            <a:r>
              <a:rPr lang="en-US" b="1" dirty="0"/>
              <a:t> * 4;</a:t>
            </a:r>
          </a:p>
          <a:p>
            <a:pPr marL="0" indent="0">
              <a:buNone/>
            </a:pPr>
            <a:r>
              <a:rPr lang="en-US" b="1" dirty="0"/>
              <a:t>    }</a:t>
            </a:r>
          </a:p>
          <a:p>
            <a:pPr marL="0" indent="0">
              <a:buNone/>
            </a:pPr>
            <a:r>
              <a:rPr lang="en-US" b="1" dirty="0"/>
              <a:t>    default -&gt; 0;</a:t>
            </a:r>
          </a:p>
          <a:p>
            <a:pPr marL="0" indent="0">
              <a:buNone/>
            </a:pPr>
            <a:r>
              <a:rPr lang="en-US" b="1" dirty="0"/>
              <a:t>};</a:t>
            </a:r>
          </a:p>
          <a:p>
            <a:pPr marL="0" indent="0">
              <a:buNone/>
            </a:pPr>
            <a:r>
              <a:rPr lang="en-US" dirty="0"/>
              <a:t>Generally, if case has a block, we need to explicitly return the value using the </a:t>
            </a:r>
            <a:r>
              <a:rPr lang="en-US" i="1" dirty="0"/>
              <a:t>yield</a:t>
            </a:r>
            <a:r>
              <a:rPr lang="en-US" dirty="0"/>
              <a:t> keyword. Also, with yield, no break is required.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485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0F25-7A94-2689-E67B-749F68C1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Multiple Cases for One Value using </a:t>
            </a:r>
            <a:r>
              <a:rPr lang="en-US" b="1" dirty="0" err="1"/>
              <a:t>enum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000DB-938D-C029-3CF4-4C9F21BA4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8232" y="1905000"/>
            <a:ext cx="3137332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Sending in a value such as </a:t>
            </a:r>
            <a:r>
              <a:rPr lang="en-US" sz="2400" dirty="0" err="1"/>
              <a:t>Month.JUNE</a:t>
            </a:r>
            <a:r>
              <a:rPr lang="en-US" sz="2400" dirty="0"/>
              <a:t> would set result to 3.</a:t>
            </a:r>
          </a:p>
          <a:p>
            <a:pPr marL="0" indent="0">
              <a:buNone/>
            </a:pPr>
            <a:r>
              <a:rPr lang="en-US" sz="2400" dirty="0"/>
              <a:t>We can now have comma-delimited criteria.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77D9E-F354-7D4B-F4AF-CE0904B5F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2" y="1924879"/>
            <a:ext cx="6567053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var result = switch(month) {</a:t>
            </a:r>
          </a:p>
          <a:p>
            <a:pPr marL="0" indent="0">
              <a:buNone/>
            </a:pPr>
            <a:r>
              <a:rPr lang="en-US" sz="2400" b="1" dirty="0"/>
              <a:t>    case JANUARY, JUNE, JULY -&gt; 3;</a:t>
            </a:r>
          </a:p>
          <a:p>
            <a:pPr marL="0" indent="0">
              <a:buNone/>
            </a:pPr>
            <a:r>
              <a:rPr lang="en-US" sz="2400" b="1" dirty="0"/>
              <a:t>    case FEBRUARY, SEPTEMBER, 	OCTOBER, 	NOVEMBER, DECEMBER -&gt; 	1;</a:t>
            </a:r>
          </a:p>
          <a:p>
            <a:pPr marL="0" indent="0">
              <a:buNone/>
            </a:pPr>
            <a:r>
              <a:rPr lang="en-US" sz="2400" b="1" dirty="0"/>
              <a:t>    case MARCH, MAY, APRIL, AUGUST -&gt; 2;</a:t>
            </a:r>
          </a:p>
          <a:p>
            <a:pPr marL="0" indent="0">
              <a:buNone/>
            </a:pPr>
            <a:r>
              <a:rPr lang="en-US" sz="2400" b="1" dirty="0"/>
              <a:t>    default -&gt; 0; </a:t>
            </a:r>
          </a:p>
          <a:p>
            <a:pPr marL="0" indent="0">
              <a:buNone/>
            </a:pPr>
            <a:r>
              <a:rPr lang="en-US" sz="2400" b="1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25415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DCB2-E70C-41DE-D7E4-C202E1BC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Switch Statements vs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E18EB-7A84-0F9E-E9FF-4D819DB89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4100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Switch Statement</a:t>
            </a:r>
          </a:p>
          <a:p>
            <a:pPr marL="0" indent="0">
              <a:buNone/>
            </a:pPr>
            <a:r>
              <a:rPr lang="en-US" b="1" dirty="0"/>
              <a:t>switch (x) {</a:t>
            </a:r>
          </a:p>
          <a:p>
            <a:pPr marL="0" indent="0">
              <a:buNone/>
            </a:pPr>
            <a:r>
              <a:rPr lang="en-US" b="1" dirty="0"/>
              <a:t>	case 1, 2, 4 -&gt; </a:t>
            </a:r>
            <a:r>
              <a:rPr lang="en-US" b="1" dirty="0" err="1"/>
              <a:t>System.out.println</a:t>
            </a:r>
            <a:r>
              <a:rPr lang="en-US" b="1" dirty="0"/>
              <a:t>("Foo");</a:t>
            </a:r>
          </a:p>
          <a:p>
            <a:pPr marL="0" indent="0">
              <a:buNone/>
            </a:pPr>
            <a:r>
              <a:rPr lang="en-US" b="1" dirty="0"/>
              <a:t>	case 5, 6 -&gt; </a:t>
            </a:r>
            <a:r>
              <a:rPr lang="en-US" b="1" dirty="0" err="1"/>
              <a:t>System.out.println</a:t>
            </a:r>
            <a:r>
              <a:rPr lang="en-US" b="1" dirty="0"/>
              <a:t>("Bar");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dirty="0"/>
              <a:t>It is possible to return from inside a switch statement, but we're not allowed to do so from within a switch expression.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EFDF0-517B-BFAC-A799-798D2DCE4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4407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Switch Expression</a:t>
            </a:r>
          </a:p>
          <a:p>
            <a:pPr marL="0" indent="0">
              <a:buNone/>
            </a:pPr>
            <a:r>
              <a:rPr lang="en-US" b="1" dirty="0"/>
              <a:t>String </a:t>
            </a:r>
            <a:r>
              <a:rPr lang="en-US" b="1" dirty="0" err="1"/>
              <a:t>ans</a:t>
            </a:r>
            <a:r>
              <a:rPr lang="en-US" b="1" dirty="0"/>
              <a:t> = switch(x) {</a:t>
            </a:r>
          </a:p>
          <a:p>
            <a:pPr marL="457200" lvl="1" indent="0">
              <a:buNone/>
            </a:pPr>
            <a:r>
              <a:rPr lang="en-US" b="1" dirty="0"/>
              <a:t>case 1, 2, 4 -&gt; “Foo”;</a:t>
            </a:r>
          </a:p>
          <a:p>
            <a:pPr marL="457200" lvl="1" indent="0">
              <a:buNone/>
            </a:pPr>
            <a:r>
              <a:rPr lang="en-US" b="1" dirty="0"/>
              <a:t>case 5,6 -&gt; “Bar”;</a:t>
            </a:r>
          </a:p>
          <a:p>
            <a:pPr marL="457200" lvl="1" indent="0">
              <a:buNone/>
            </a:pPr>
            <a:r>
              <a:rPr lang="en-US" b="1" dirty="0"/>
              <a:t>default -&gt; “</a:t>
            </a:r>
            <a:r>
              <a:rPr lang="en-US" b="1" dirty="0" err="1"/>
              <a:t>Qux</a:t>
            </a:r>
            <a:r>
              <a:rPr lang="en-US" b="1" dirty="0"/>
              <a:t>”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b="1" dirty="0" err="1"/>
              <a:t>System.out.println</a:t>
            </a:r>
            <a:r>
              <a:rPr lang="en-US" b="1" dirty="0"/>
              <a:t>(</a:t>
            </a:r>
            <a:r>
              <a:rPr lang="en-US" b="1" dirty="0" err="1"/>
              <a:t>ans</a:t>
            </a: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dirty="0"/>
              <a:t>When using switch statements, it doesn't really matter if all cases are covered. For switch expressions though, the compiler insists that all possible cases are covered</a:t>
            </a:r>
          </a:p>
        </p:txBody>
      </p:sp>
    </p:spTree>
    <p:extLst>
      <p:ext uri="{BB962C8B-B14F-4D97-AF65-F5344CB8AC3E}">
        <p14:creationId xmlns:p14="http://schemas.microsoft.com/office/powerpoint/2010/main" val="324139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AE09-4E30-5CA2-C2B7-E2BE5613A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Notes and Cautions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ECE77-4BCA-433F-0F08-86C636848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switch expression on an integer or String always has a default case since it must yield a value, no matter what the operand value is.</a:t>
            </a:r>
          </a:p>
          <a:p>
            <a:pPr marL="0" indent="0">
              <a:buNone/>
            </a:pPr>
            <a:r>
              <a:rPr lang="en-US" sz="2400" dirty="0"/>
              <a:t>However, a case can throw an exception, as shown in the preceding example.  That works.</a:t>
            </a:r>
          </a:p>
          <a:p>
            <a:pPr marL="0" indent="0">
              <a:buNone/>
            </a:pPr>
            <a:r>
              <a:rPr lang="en-US" sz="2400" dirty="0"/>
              <a:t>If the operand value of a switch is null, a </a:t>
            </a:r>
            <a:r>
              <a:rPr lang="en-US" sz="2400" dirty="0" err="1"/>
              <a:t>NullPointerException</a:t>
            </a:r>
            <a:r>
              <a:rPr lang="en-US" sz="2400" dirty="0"/>
              <a:t> is thrown. This can happen when the operand type is String or an enumeration.</a:t>
            </a:r>
          </a:p>
        </p:txBody>
      </p:sp>
    </p:spTree>
    <p:extLst>
      <p:ext uri="{BB962C8B-B14F-4D97-AF65-F5344CB8AC3E}">
        <p14:creationId xmlns:p14="http://schemas.microsoft.com/office/powerpoint/2010/main" val="3021401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2ECD-03A2-4B29-84C7-153A1388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72417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Fall Through Version of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B1138-92AF-9FAE-0449-9D26DC221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4720" y="1159047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Each case is followed by a colon, not a -&gt;</a:t>
            </a:r>
          </a:p>
          <a:p>
            <a:pPr marL="0" indent="0">
              <a:buNone/>
            </a:pPr>
            <a:r>
              <a:rPr lang="en-US" sz="2400" b="1" dirty="0"/>
              <a:t>int </a:t>
            </a:r>
            <a:r>
              <a:rPr lang="en-US" sz="2400" b="1" dirty="0" err="1"/>
              <a:t>numLetters</a:t>
            </a:r>
            <a:r>
              <a:rPr lang="en-US" sz="2400" b="1" dirty="0"/>
              <a:t> = switch (</a:t>
            </a:r>
            <a:r>
              <a:rPr lang="en-US" sz="2400" b="1" dirty="0" err="1"/>
              <a:t>seasonName</a:t>
            </a:r>
            <a:r>
              <a:rPr lang="en-US" sz="2400" b="1" dirty="0"/>
              <a:t>) { </a:t>
            </a:r>
            <a:r>
              <a:rPr lang="en-US" sz="2400" dirty="0"/>
              <a:t>// switch expression  	</a:t>
            </a:r>
            <a:r>
              <a:rPr lang="en-US" sz="2400" b="1" dirty="0"/>
              <a:t>case "Spring":</a:t>
            </a:r>
          </a:p>
          <a:p>
            <a:pPr marL="0" indent="0">
              <a:buNone/>
            </a:pPr>
            <a:r>
              <a:rPr lang="en-US" sz="2400" b="1" dirty="0"/>
              <a:t>   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("spring time!");</a:t>
            </a:r>
          </a:p>
          <a:p>
            <a:pPr marL="0" indent="0">
              <a:buNone/>
            </a:pPr>
            <a:r>
              <a:rPr lang="en-US" sz="2400" b="1" dirty="0"/>
              <a:t>     case "Summer", "Winter":</a:t>
            </a:r>
          </a:p>
          <a:p>
            <a:pPr marL="0" indent="0">
              <a:buNone/>
            </a:pPr>
            <a:r>
              <a:rPr lang="en-US" sz="2400" b="1" dirty="0"/>
              <a:t>        yield 6;</a:t>
            </a:r>
          </a:p>
          <a:p>
            <a:pPr marL="0" indent="0">
              <a:buNone/>
            </a:pPr>
            <a:r>
              <a:rPr lang="en-US" sz="2400" b="1" dirty="0"/>
              <a:t>     case "Fall":</a:t>
            </a:r>
          </a:p>
          <a:p>
            <a:pPr marL="0" indent="0">
              <a:buNone/>
            </a:pPr>
            <a:r>
              <a:rPr lang="en-US" sz="2400" b="1" dirty="0"/>
              <a:t>        yield 4;</a:t>
            </a:r>
          </a:p>
          <a:p>
            <a:pPr marL="0" indent="0">
              <a:buNone/>
            </a:pPr>
            <a:r>
              <a:rPr lang="en-US" sz="2400" b="1" dirty="0"/>
              <a:t>    default:</a:t>
            </a:r>
          </a:p>
          <a:p>
            <a:pPr marL="0" indent="0">
              <a:buNone/>
            </a:pPr>
            <a:r>
              <a:rPr lang="en-US" sz="2400" b="1" dirty="0"/>
              <a:t>        throw new </a:t>
            </a:r>
            <a:r>
              <a:rPr lang="en-US" sz="2400" b="1" dirty="0" err="1"/>
              <a:t>IllegalArgumentException</a:t>
            </a:r>
            <a:r>
              <a:rPr lang="en-US" sz="2400" b="1" dirty="0"/>
              <a:t>();</a:t>
            </a:r>
          </a:p>
          <a:p>
            <a:pPr marL="0" indent="0">
              <a:buNone/>
            </a:pPr>
            <a:r>
              <a:rPr lang="en-US" sz="2400" b="1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66187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38B3-6835-6BA8-B498-B463CE044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81000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Pattern matching with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28F9-9B67-BE65-F4B7-D069778AC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021445"/>
            <a:ext cx="8915400" cy="5114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static double </a:t>
            </a:r>
            <a:r>
              <a:rPr lang="en-US" sz="2000" b="1" dirty="0" err="1"/>
              <a:t>getDoubleUsingIf</a:t>
            </a:r>
            <a:r>
              <a:rPr lang="en-US" sz="2000" b="1" dirty="0"/>
              <a:t>(Object o) {</a:t>
            </a:r>
          </a:p>
          <a:p>
            <a:pPr marL="0" indent="0">
              <a:buNone/>
            </a:pPr>
            <a:r>
              <a:rPr lang="en-US" sz="2000" b="1" dirty="0"/>
              <a:t>    double result;</a:t>
            </a:r>
          </a:p>
          <a:p>
            <a:pPr marL="0" indent="0">
              <a:buNone/>
            </a:pPr>
            <a:r>
              <a:rPr lang="en-US" sz="2000" b="1" dirty="0"/>
              <a:t>    if (o </a:t>
            </a:r>
            <a:r>
              <a:rPr lang="en-US" sz="2000" b="1" dirty="0" err="1"/>
              <a:t>instanceof</a:t>
            </a:r>
            <a:r>
              <a:rPr lang="en-US" sz="2000" b="1" dirty="0"/>
              <a:t> Integer) {</a:t>
            </a:r>
          </a:p>
          <a:p>
            <a:pPr marL="0" indent="0">
              <a:buNone/>
            </a:pPr>
            <a:r>
              <a:rPr lang="en-US" sz="2000" b="1" dirty="0"/>
              <a:t>        result = ((Integer) o).</a:t>
            </a:r>
            <a:r>
              <a:rPr lang="en-US" sz="2000" b="1" dirty="0" err="1"/>
              <a:t>doubleValue</a:t>
            </a:r>
            <a:r>
              <a:rPr lang="en-US" sz="2000" b="1" dirty="0"/>
              <a:t>();</a:t>
            </a:r>
          </a:p>
          <a:p>
            <a:pPr marL="0" indent="0">
              <a:buNone/>
            </a:pPr>
            <a:r>
              <a:rPr lang="en-US" sz="2000" b="1" dirty="0"/>
              <a:t>    } else if (o </a:t>
            </a:r>
            <a:r>
              <a:rPr lang="en-US" sz="2000" b="1" dirty="0" err="1"/>
              <a:t>instanceof</a:t>
            </a:r>
            <a:r>
              <a:rPr lang="en-US" sz="2000" b="1" dirty="0"/>
              <a:t> Float) {</a:t>
            </a:r>
          </a:p>
          <a:p>
            <a:pPr marL="0" indent="0">
              <a:buNone/>
            </a:pPr>
            <a:r>
              <a:rPr lang="en-US" sz="2000" b="1" dirty="0"/>
              <a:t>        result = ((Float) o).</a:t>
            </a:r>
            <a:r>
              <a:rPr lang="en-US" sz="2000" b="1" dirty="0" err="1"/>
              <a:t>doubleValue</a:t>
            </a:r>
            <a:r>
              <a:rPr lang="en-US" sz="2000" b="1" dirty="0"/>
              <a:t>();</a:t>
            </a:r>
          </a:p>
          <a:p>
            <a:pPr marL="0" indent="0">
              <a:buNone/>
            </a:pPr>
            <a:r>
              <a:rPr lang="en-US" sz="2000" b="1" dirty="0"/>
              <a:t>    } else if (o </a:t>
            </a:r>
            <a:r>
              <a:rPr lang="en-US" sz="2000" b="1" dirty="0" err="1"/>
              <a:t>instanceof</a:t>
            </a:r>
            <a:r>
              <a:rPr lang="en-US" sz="2000" b="1" dirty="0"/>
              <a:t> String) {</a:t>
            </a:r>
          </a:p>
          <a:p>
            <a:pPr marL="0" indent="0">
              <a:buNone/>
            </a:pPr>
            <a:r>
              <a:rPr lang="en-US" sz="2000" b="1" dirty="0"/>
              <a:t>        result = </a:t>
            </a:r>
            <a:r>
              <a:rPr lang="en-US" sz="2000" b="1" dirty="0" err="1"/>
              <a:t>Double.parseDouble</a:t>
            </a:r>
            <a:r>
              <a:rPr lang="en-US" sz="2000" b="1" dirty="0"/>
              <a:t>(((String) o));</a:t>
            </a:r>
          </a:p>
          <a:p>
            <a:pPr marL="0" indent="0">
              <a:buNone/>
            </a:pPr>
            <a:r>
              <a:rPr lang="en-US" sz="2000" b="1" dirty="0"/>
              <a:t>    } else {</a:t>
            </a:r>
          </a:p>
          <a:p>
            <a:pPr marL="0" indent="0">
              <a:buNone/>
            </a:pPr>
            <a:r>
              <a:rPr lang="en-US" sz="2000" b="1" dirty="0"/>
              <a:t>        result = 0d;</a:t>
            </a:r>
          </a:p>
          <a:p>
            <a:pPr marL="0" indent="0">
              <a:buNone/>
            </a:pPr>
            <a:r>
              <a:rPr lang="en-US" sz="2000" b="1" dirty="0"/>
              <a:t>    }</a:t>
            </a:r>
          </a:p>
          <a:p>
            <a:pPr marL="0" indent="0">
              <a:buNone/>
            </a:pPr>
            <a:r>
              <a:rPr lang="en-US" sz="2000" b="1" dirty="0"/>
              <a:t>    return result;</a:t>
            </a:r>
          </a:p>
          <a:p>
            <a:pPr marL="0" indent="0">
              <a:buNone/>
            </a:pPr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3456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14A4-EA67-A7AF-439A-E217BE2F5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Use Arrow Format with switch</a:t>
            </a:r>
            <a:br>
              <a:rPr lang="en-US" b="1" dirty="0"/>
            </a:br>
            <a:r>
              <a:rPr lang="en-US" b="1" dirty="0"/>
              <a:t>and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1694F-5C40-6B2A-0BB9-9451CCE4B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114550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static double </a:t>
            </a:r>
            <a:r>
              <a:rPr lang="en-US" sz="2400" b="1" dirty="0" err="1"/>
              <a:t>getDoubleUsingSwitch</a:t>
            </a:r>
            <a:r>
              <a:rPr lang="en-US" sz="2400" b="1" dirty="0"/>
              <a:t>(Object o) {</a:t>
            </a:r>
          </a:p>
          <a:p>
            <a:pPr marL="0" indent="0">
              <a:buNone/>
            </a:pPr>
            <a:r>
              <a:rPr lang="en-US" sz="2400" b="1" dirty="0"/>
              <a:t>    return switch (o) {</a:t>
            </a:r>
          </a:p>
          <a:p>
            <a:pPr marL="0" indent="0">
              <a:buNone/>
            </a:pPr>
            <a:r>
              <a:rPr lang="en-US" sz="2400" b="1" dirty="0"/>
              <a:t>        case Integer </a:t>
            </a:r>
            <a:r>
              <a:rPr lang="en-US" sz="2400" b="1" dirty="0" err="1"/>
              <a:t>i</a:t>
            </a:r>
            <a:r>
              <a:rPr lang="en-US" sz="2400" b="1" dirty="0"/>
              <a:t> -&gt; </a:t>
            </a:r>
            <a:r>
              <a:rPr lang="en-US" sz="2400" b="1" dirty="0" err="1"/>
              <a:t>i.doubleValue</a:t>
            </a:r>
            <a:r>
              <a:rPr lang="en-US" sz="2400" b="1" dirty="0"/>
              <a:t>();</a:t>
            </a:r>
          </a:p>
          <a:p>
            <a:pPr marL="0" indent="0">
              <a:buNone/>
            </a:pPr>
            <a:r>
              <a:rPr lang="en-US" sz="2400" b="1" dirty="0"/>
              <a:t>        case Float f -&gt; </a:t>
            </a:r>
            <a:r>
              <a:rPr lang="en-US" sz="2400" b="1" dirty="0" err="1"/>
              <a:t>f.doubleValue</a:t>
            </a:r>
            <a:r>
              <a:rPr lang="en-US" sz="2400" b="1" dirty="0"/>
              <a:t>();</a:t>
            </a:r>
          </a:p>
          <a:p>
            <a:pPr marL="0" indent="0">
              <a:buNone/>
            </a:pPr>
            <a:r>
              <a:rPr lang="en-US" sz="2400" b="1" dirty="0"/>
              <a:t>        case String s -&gt; </a:t>
            </a:r>
            <a:r>
              <a:rPr lang="en-US" sz="2400" b="1" dirty="0" err="1"/>
              <a:t>Double.parseDouble</a:t>
            </a:r>
            <a:r>
              <a:rPr lang="en-US" sz="2400" b="1" dirty="0"/>
              <a:t>(s);</a:t>
            </a:r>
          </a:p>
          <a:p>
            <a:pPr marL="0" indent="0">
              <a:buNone/>
            </a:pPr>
            <a:r>
              <a:rPr lang="en-US" sz="2400" b="1" dirty="0"/>
              <a:t>        default -&gt; 0d;</a:t>
            </a:r>
          </a:p>
          <a:p>
            <a:pPr marL="0" indent="0">
              <a:buNone/>
            </a:pPr>
            <a:r>
              <a:rPr lang="en-US" sz="2400" b="1" dirty="0"/>
              <a:t>    };</a:t>
            </a:r>
          </a:p>
          <a:p>
            <a:pPr marL="0" indent="0">
              <a:buNone/>
            </a:pPr>
            <a:r>
              <a:rPr lang="en-US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424270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1152</Words>
  <Application>Microsoft Office PowerPoint</Application>
  <PresentationFormat>Widescreen</PresentationFormat>
  <Paragraphs>136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Century Gothic</vt:lpstr>
      <vt:lpstr>Courier New</vt:lpstr>
      <vt:lpstr>Wingdings 3</vt:lpstr>
      <vt:lpstr>Wisp</vt:lpstr>
      <vt:lpstr>1_Wisp</vt:lpstr>
      <vt:lpstr>Modern Java Switch Statements</vt:lpstr>
      <vt:lpstr>Java Switch Statement Data Types</vt:lpstr>
      <vt:lpstr>Multiple Case Labels </vt:lpstr>
      <vt:lpstr>Switch Statements are improved for Java 17!</vt:lpstr>
      <vt:lpstr>The Statement Form of Switch</vt:lpstr>
      <vt:lpstr>The Expression form of Switch</vt:lpstr>
      <vt:lpstr>Notice it’s an Expression</vt:lpstr>
      <vt:lpstr>The yield Keyword</vt:lpstr>
      <vt:lpstr>Multiple Cases for One Value using enum</vt:lpstr>
      <vt:lpstr>Switch Statements vs Expressions</vt:lpstr>
      <vt:lpstr>Notes and Cautions</vt:lpstr>
      <vt:lpstr>Fall Through Version of Switch</vt:lpstr>
      <vt:lpstr>Pattern matching with switch</vt:lpstr>
      <vt:lpstr>Use Arrow Format with switch and 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NELSON, IVONNE</dc:creator>
  <cp:lastModifiedBy>NELSON, IVONNE</cp:lastModifiedBy>
  <cp:revision>2</cp:revision>
  <dcterms:created xsi:type="dcterms:W3CDTF">2024-12-30T17:58:04Z</dcterms:created>
  <dcterms:modified xsi:type="dcterms:W3CDTF">2024-12-30T18:01:16Z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2024-12-30T17:59:24Z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f9e2dfea-da1b-4d85-b97d-c0650e5d50ec</vt:lpwstr>
  </property>
  <property fmtid="{D5CDD505-2E9C-101B-9397-08002B2CF9AE}" pid="8" name="MSIP_Label_d8bb7484-22c2-4b98-9fb8-3ab13d821527_ContentBits">
    <vt:lpwstr>0</vt:lpwstr>
  </property>
</Properties>
</file>