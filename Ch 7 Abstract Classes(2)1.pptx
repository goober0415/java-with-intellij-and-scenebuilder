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4" r:id="rId3"/>
    <p:sldId id="257" r:id="rId4"/>
    <p:sldId id="265" r:id="rId5"/>
    <p:sldId id="260" r:id="rId6"/>
    <p:sldId id="261" r:id="rId7"/>
    <p:sldId id="258" r:id="rId8"/>
    <p:sldId id="259" r:id="rId9"/>
    <p:sldId id="262" r:id="rId10"/>
    <p:sldId id="266" r:id="rId11"/>
    <p:sldId id="263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392D1-82A7-4F07-A575-BFC62DBCDAF1}" type="datetimeFigureOut">
              <a:rPr lang="en-US" smtClean="0"/>
              <a:t>5/30/2024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7B038B7E-FEAE-47CE-AF47-B4C018C0A5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002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392D1-82A7-4F07-A575-BFC62DBCDAF1}" type="datetimeFigureOut">
              <a:rPr lang="en-US" smtClean="0"/>
              <a:t>5/30/2024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38B7E-FEAE-47CE-AF47-B4C018C0A5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2475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392D1-82A7-4F07-A575-BFC62DBCDAF1}" type="datetimeFigureOut">
              <a:rPr lang="en-US" smtClean="0"/>
              <a:t>5/30/2024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7B038B7E-FEAE-47CE-AF47-B4C018C0A5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2844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392D1-82A7-4F07-A575-BFC62DBCDAF1}" type="datetimeFigureOut">
              <a:rPr lang="en-US" smtClean="0"/>
              <a:t>5/30/2024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7B038B7E-FEAE-47CE-AF47-B4C018C0A5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934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392D1-82A7-4F07-A575-BFC62DBCDAF1}" type="datetimeFigureOut">
              <a:rPr lang="en-US" smtClean="0"/>
              <a:t>5/30/2024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7B038B7E-FEAE-47CE-AF47-B4C018C0A5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923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392D1-82A7-4F07-A575-BFC62DBCDAF1}" type="datetimeFigureOut">
              <a:rPr lang="en-US" smtClean="0"/>
              <a:t>5/30/2024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38B7E-FEAE-47CE-AF47-B4C018C0A5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587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392D1-82A7-4F07-A575-BFC62DBCDAF1}" type="datetimeFigureOut">
              <a:rPr lang="en-US" smtClean="0"/>
              <a:t>5/30/2024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38B7E-FEAE-47CE-AF47-B4C018C0A5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0389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392D1-82A7-4F07-A575-BFC62DBCDAF1}" type="datetimeFigureOut">
              <a:rPr lang="en-US" smtClean="0"/>
              <a:t>5/30/2024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38B7E-FEAE-47CE-AF47-B4C018C0A5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9229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392D1-82A7-4F07-A575-BFC62DBCDAF1}" type="datetimeFigureOut">
              <a:rPr lang="en-US" smtClean="0"/>
              <a:t>5/30/2024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B038B7E-FEAE-47CE-AF47-B4C018C0A5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686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392D1-82A7-4F07-A575-BFC62DBCDAF1}" type="datetimeFigureOut">
              <a:rPr lang="en-US" smtClean="0"/>
              <a:t>5/30/2024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7B038B7E-FEAE-47CE-AF47-B4C018C0A5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433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392D1-82A7-4F07-A575-BFC62DBCDAF1}" type="datetimeFigureOut">
              <a:rPr lang="en-US" smtClean="0"/>
              <a:t>5/30/2024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7B038B7E-FEAE-47CE-AF47-B4C018C0A545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2489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392D1-82A7-4F07-A575-BFC62DBCDAF1}" type="datetimeFigureOut">
              <a:rPr lang="en-US" smtClean="0"/>
              <a:t>5/30/2024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B038B7E-FEAE-47CE-AF47-B4C018C0A5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4144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392D1-82A7-4F07-A575-BFC62DBCDAF1}" type="datetimeFigureOut">
              <a:rPr lang="en-US" smtClean="0"/>
              <a:t>5/30/2024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B038B7E-FEAE-47CE-AF47-B4C018C0A545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319502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392D1-82A7-4F07-A575-BFC62DBCDAF1}" type="datetimeFigureOut">
              <a:rPr lang="en-US" smtClean="0"/>
              <a:t>5/30/2024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B038B7E-FEAE-47CE-AF47-B4C018C0A5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8557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392D1-82A7-4F07-A575-BFC62DBCDAF1}" type="datetimeFigureOut">
              <a:rPr lang="en-US" smtClean="0"/>
              <a:t>5/30/2024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38B7E-FEAE-47CE-AF47-B4C018C0A5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3719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392D1-82A7-4F07-A575-BFC62DBCDAF1}" type="datetimeFigureOut">
              <a:rPr lang="en-US" smtClean="0"/>
              <a:t>5/30/2024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38B7E-FEAE-47CE-AF47-B4C018C0A5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5366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E392D1-82A7-4F07-A575-BFC62DBCDAF1}" type="datetimeFigureOut">
              <a:rPr lang="en-US" smtClean="0"/>
              <a:t>5/30/2024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7B038B7E-FEAE-47CE-AF47-B4C018C0A5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64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15777-AD65-4A41-EC86-66BEE8FBDA0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Abstract Methods and Classes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8E921F-C815-450E-BAEE-14890DA7EC1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2525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56588-07DA-1735-B74B-89B015D1E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Using Abstract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9A07A6-AA57-DFE1-E55A-B93182D601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65437" y="1752600"/>
            <a:ext cx="8915400" cy="37776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There are situations in which you will want to define a superclass that declares the structure of a given abstraction without providing a complete implementation of every method.</a:t>
            </a:r>
          </a:p>
          <a:p>
            <a:pPr marL="0" indent="0">
              <a:buNone/>
            </a:pPr>
            <a:r>
              <a:rPr lang="en-US" sz="2400" dirty="0"/>
              <a:t> The superclass will only define a generalized form that will be shared by all of its subclasses, leaving it to each subclass to fill in the details. </a:t>
            </a:r>
          </a:p>
          <a:p>
            <a:pPr marL="0" indent="0">
              <a:buNone/>
            </a:pPr>
            <a:r>
              <a:rPr lang="en-US" sz="2400" dirty="0"/>
              <a:t>One way this situation can occur is when a superclass is unable to create a meaningful implementation for a method.</a:t>
            </a:r>
          </a:p>
        </p:txBody>
      </p:sp>
    </p:spTree>
    <p:extLst>
      <p:ext uri="{BB962C8B-B14F-4D97-AF65-F5344CB8AC3E}">
        <p14:creationId xmlns:p14="http://schemas.microsoft.com/office/powerpoint/2010/main" val="5267483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9F00A-874C-9403-5459-3EA373F11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What is Abstract?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3E399A-4552-343A-D0FD-1E047A93A5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813560"/>
            <a:ext cx="8915400" cy="42031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An abstract method is a method that is defined without implementation.  For example:</a:t>
            </a:r>
          </a:p>
          <a:p>
            <a:pPr marL="0" indent="0">
              <a:buNone/>
            </a:pPr>
            <a:r>
              <a:rPr lang="en-US" sz="2400" dirty="0"/>
              <a:t>	</a:t>
            </a:r>
            <a:r>
              <a:rPr lang="en-US" sz="2400" b="1" dirty="0"/>
              <a:t>   public double  </a:t>
            </a:r>
            <a:r>
              <a:rPr lang="en-US" sz="2400" b="1" dirty="0" err="1"/>
              <a:t>getArea</a:t>
            </a:r>
            <a:r>
              <a:rPr lang="en-US" sz="2400" b="1" dirty="0"/>
              <a:t>();</a:t>
            </a:r>
          </a:p>
          <a:p>
            <a:pPr marL="0" indent="0">
              <a:buNone/>
            </a:pPr>
            <a:r>
              <a:rPr lang="en-US" sz="2400" dirty="0"/>
              <a:t>Any class that contains one or more abstract method </a:t>
            </a:r>
            <a:r>
              <a:rPr lang="en-US" sz="2400" b="1" dirty="0"/>
              <a:t>must</a:t>
            </a:r>
            <a:r>
              <a:rPr lang="en-US" sz="2400" dirty="0"/>
              <a:t> be  an abstract class.</a:t>
            </a:r>
          </a:p>
          <a:p>
            <a:pPr marL="0" indent="0">
              <a:buNone/>
            </a:pPr>
            <a:r>
              <a:rPr lang="en-US" sz="2400" dirty="0"/>
              <a:t>The abstract method implementation will be </a:t>
            </a:r>
            <a:r>
              <a:rPr lang="en-US" sz="2400" dirty="0" err="1"/>
              <a:t>overidden</a:t>
            </a:r>
            <a:r>
              <a:rPr lang="en-US" sz="2400" dirty="0"/>
              <a:t> (defined) in the subclasses of the abstract class.</a:t>
            </a:r>
          </a:p>
          <a:p>
            <a:pPr marL="0" indent="0">
              <a:buNone/>
            </a:pPr>
            <a:r>
              <a:rPr lang="en-US" sz="2400" dirty="0"/>
              <a:t>An abstract class is declared using the abstract keyword in its class header: </a:t>
            </a:r>
            <a:r>
              <a:rPr lang="en-US" sz="2400" dirty="0" err="1"/>
              <a:t>accessmodifier</a:t>
            </a:r>
            <a:r>
              <a:rPr lang="en-US" sz="2400" dirty="0"/>
              <a:t>  abstract  class  </a:t>
            </a:r>
            <a:r>
              <a:rPr lang="en-US" sz="2400" dirty="0" err="1"/>
              <a:t>Classname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6805980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7F18C-1DB8-0C34-8E3F-7872A4243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Example of an Abstract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F31006-2A1B-E92B-9068-D345ADF2F5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17837" y="1352549"/>
            <a:ext cx="8915400" cy="538162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public abstract class </a:t>
            </a:r>
            <a:r>
              <a:rPr lang="en-US" sz="2400" dirty="0" err="1"/>
              <a:t>GeometricObject</a:t>
            </a:r>
            <a:r>
              <a:rPr lang="en-US" sz="2400" dirty="0"/>
              <a:t> {</a:t>
            </a:r>
          </a:p>
          <a:p>
            <a:pPr marL="457200" lvl="1" indent="0">
              <a:buNone/>
            </a:pPr>
            <a:r>
              <a:rPr lang="en-US" sz="2400" dirty="0"/>
              <a:t>double dim1;</a:t>
            </a:r>
          </a:p>
          <a:p>
            <a:pPr marL="457200" lvl="1" indent="0">
              <a:buNone/>
            </a:pPr>
            <a:r>
              <a:rPr lang="en-US" sz="2400" dirty="0"/>
              <a:t>double dim2;</a:t>
            </a:r>
          </a:p>
          <a:p>
            <a:pPr marL="457200" lvl="1" indent="0">
              <a:buNone/>
            </a:pPr>
            <a:r>
              <a:rPr lang="en-US" sz="2400" dirty="0" err="1"/>
              <a:t>GeometricObject</a:t>
            </a:r>
            <a:r>
              <a:rPr lang="en-US" sz="2400" dirty="0"/>
              <a:t>(double a, double b) {</a:t>
            </a:r>
          </a:p>
          <a:p>
            <a:pPr marL="914400" lvl="2" indent="0">
              <a:buNone/>
            </a:pPr>
            <a:r>
              <a:rPr lang="en-US" sz="2400" dirty="0"/>
              <a:t>dim1 = a;</a:t>
            </a:r>
          </a:p>
          <a:p>
            <a:pPr marL="914400" lvl="2" indent="0">
              <a:buNone/>
            </a:pPr>
            <a:r>
              <a:rPr lang="en-US" sz="2400" dirty="0"/>
              <a:t>dim2 = b;</a:t>
            </a:r>
          </a:p>
          <a:p>
            <a:pPr marL="457200" lvl="1" indent="0">
              <a:buNone/>
            </a:pPr>
            <a:r>
              <a:rPr lang="en-US" sz="2400" dirty="0"/>
              <a:t>}</a:t>
            </a:r>
          </a:p>
          <a:p>
            <a:pPr marL="457200" lvl="1" indent="0">
              <a:buNone/>
            </a:pPr>
            <a:r>
              <a:rPr lang="en-US" sz="2400" dirty="0"/>
              <a:t>abstract double </a:t>
            </a:r>
            <a:r>
              <a:rPr lang="en-US" sz="2400" dirty="0" err="1"/>
              <a:t>getArea</a:t>
            </a:r>
            <a:r>
              <a:rPr lang="en-US" sz="2400" dirty="0"/>
              <a:t>();  //This method is unimplemented and therefore abstract</a:t>
            </a:r>
          </a:p>
          <a:p>
            <a:pPr marL="0" indent="0">
              <a:buNone/>
            </a:pPr>
            <a:r>
              <a:rPr lang="en-US" sz="2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265266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07C71-C6A8-6E88-C907-6A2344313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6273" y="624110"/>
            <a:ext cx="9701784" cy="1280890"/>
          </a:xfrm>
        </p:spPr>
        <p:txBody>
          <a:bodyPr/>
          <a:lstStyle/>
          <a:p>
            <a:pPr algn="ctr"/>
            <a:r>
              <a:rPr lang="en-US" b="1" dirty="0"/>
              <a:t>Abstract class without an Abstract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7DED09-92B0-1BAF-1983-ED388E38C0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It is possible to define an abstract class that contains no abstract methods. </a:t>
            </a:r>
          </a:p>
          <a:p>
            <a:pPr marL="0" indent="0">
              <a:buNone/>
            </a:pPr>
            <a:r>
              <a:rPr lang="en-US" sz="2400" dirty="0"/>
              <a:t>In this case, you cannot create instances of the class using the new operator. </a:t>
            </a:r>
          </a:p>
          <a:p>
            <a:pPr marL="0" indent="0">
              <a:buNone/>
            </a:pPr>
            <a:r>
              <a:rPr lang="en-US" sz="2400" dirty="0"/>
              <a:t>This class is used as a base class for defining a new subclasses. 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5203014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A55FD-A17F-AC9C-BDF4-4665036FF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A subclass of a Concrete class may be 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DA4A1-F31F-BA50-55ED-260F1AA7EB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For example, the Object class is concrete, but its subclasses, such as </a:t>
            </a:r>
            <a:r>
              <a:rPr lang="en-US" sz="2400" dirty="0" err="1"/>
              <a:t>GeometricObject</a:t>
            </a:r>
            <a:r>
              <a:rPr lang="en-US" sz="2400" dirty="0"/>
              <a:t>, may be abstract.</a:t>
            </a:r>
          </a:p>
          <a:p>
            <a:pPr marL="0" indent="0">
              <a:buNone/>
            </a:pPr>
            <a:r>
              <a:rPr lang="en-US" sz="2400" dirty="0"/>
              <a:t>A subclass can override a method from its superclass to define it abstract. </a:t>
            </a:r>
          </a:p>
          <a:p>
            <a:pPr marL="0" indent="0">
              <a:buNone/>
            </a:pPr>
            <a:r>
              <a:rPr lang="en-US" sz="2400" dirty="0"/>
              <a:t>Or a subclass may add an abstract method to itself.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4037723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5A4C3-625A-2950-3B92-548934C7A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Abstract classes are usually Extended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9BDE8F-6918-FBBD-901B-E1EB7CBB12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51137" y="1540189"/>
            <a:ext cx="8915400" cy="37776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The subclasses are expected to implement the abstract methods so the subclass can be instantiated. </a:t>
            </a:r>
          </a:p>
          <a:p>
            <a:pPr marL="0" indent="0">
              <a:buNone/>
            </a:pPr>
            <a:r>
              <a:rPr lang="en-US" sz="2400" dirty="0"/>
              <a:t>If the subclass does not implement any abstract method, the subclass must be declared abstract as well.</a:t>
            </a:r>
          </a:p>
          <a:p>
            <a:pPr marL="0" indent="0">
              <a:buNone/>
            </a:pPr>
            <a:r>
              <a:rPr lang="en-US" sz="2400" dirty="0"/>
              <a:t>In other words, in a non-abstract subclass extended from an abstract class, all the abstract methods must be implemented, even if they are not used in the subclass. 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9654219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E5F5-897D-DF72-A696-84C699F5F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Constructors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81C1C7-F562-BC33-817E-ADCAFAF48E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An abstract class cannot be instantiated using the new operator, but you can still define its constructors, which are defined as </a:t>
            </a:r>
            <a:r>
              <a:rPr lang="en-US" sz="2400" b="1" dirty="0"/>
              <a:t>protected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r>
              <a:rPr lang="en-US" sz="2400" dirty="0"/>
              <a:t>They are only invoked in the constructors of its subclasses. 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603594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F7AFB-A509-BBC3-5928-DB5F36677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Abstract classes can be a Type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E589A-D382-86C1-BB2E-BC01AA561A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You cannot create an instance from an abstract class using the new operator, but an abstract class can be used as a data type. </a:t>
            </a:r>
          </a:p>
          <a:p>
            <a:pPr marL="0" indent="0">
              <a:buNone/>
            </a:pPr>
            <a:r>
              <a:rPr lang="en-US" sz="2400" dirty="0"/>
              <a:t>If the </a:t>
            </a:r>
            <a:r>
              <a:rPr lang="en-US" sz="2400" dirty="0" err="1"/>
              <a:t>GeometricObject</a:t>
            </a:r>
            <a:r>
              <a:rPr lang="en-US" sz="2400" dirty="0"/>
              <a:t> class is abstract, then these statements are valid:</a:t>
            </a:r>
          </a:p>
          <a:p>
            <a:pPr marL="0" indent="0">
              <a:buNone/>
            </a:pPr>
            <a:r>
              <a:rPr lang="en-US" sz="2400" b="1" dirty="0"/>
              <a:t>Geometric Object triangle; </a:t>
            </a:r>
            <a:r>
              <a:rPr lang="en-US" sz="2400" dirty="0"/>
              <a:t> //will have to be instantiated with a subclass</a:t>
            </a:r>
            <a:r>
              <a:rPr lang="en-US" sz="2400" b="1" dirty="0"/>
              <a:t> </a:t>
            </a:r>
          </a:p>
          <a:p>
            <a:pPr marL="0" indent="0">
              <a:buNone/>
            </a:pPr>
            <a:r>
              <a:rPr lang="en-US" sz="2400" b="1" dirty="0" err="1"/>
              <a:t>GeometricObject</a:t>
            </a:r>
            <a:r>
              <a:rPr lang="en-US" sz="2400" b="1" dirty="0"/>
              <a:t>[] geo = new  </a:t>
            </a:r>
            <a:r>
              <a:rPr lang="en-US" sz="2400" b="1" dirty="0" err="1"/>
              <a:t>GeometricObject</a:t>
            </a:r>
            <a:r>
              <a:rPr lang="en-US" sz="2400" b="1" dirty="0"/>
              <a:t>[10];  </a:t>
            </a:r>
            <a:r>
              <a:rPr lang="en-US" sz="2400" dirty="0"/>
              <a:t>//The array is instantiated, but not any </a:t>
            </a:r>
            <a:r>
              <a:rPr lang="en-US" sz="2400" dirty="0" err="1"/>
              <a:t>GeometricObjects</a:t>
            </a:r>
            <a:r>
              <a:rPr lang="en-US" sz="2400" dirty="0"/>
              <a:t>.  They are still references of the </a:t>
            </a:r>
            <a:r>
              <a:rPr lang="en-US" sz="2400" dirty="0" err="1"/>
              <a:t>GeometricObject</a:t>
            </a:r>
            <a:r>
              <a:rPr lang="en-US" sz="2400" dirty="0"/>
              <a:t> type.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1340481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57D22-1D98-6CB5-01F4-2F8300CA5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When an Abstract Class Implements an Interface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8F220D-4A1C-516F-8D39-446A26459C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42481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 class that implements an interface must implement all of the interface's methods. It is possible, however, to define a class that does not implement all of the interface's methods, provided that the class is declared to be abstract. For example,</a:t>
            </a:r>
          </a:p>
          <a:p>
            <a:pPr marL="0" indent="0">
              <a:buNone/>
            </a:pPr>
            <a:r>
              <a:rPr lang="en-US" dirty="0"/>
              <a:t>Given Interface Y, which has multiple methods.</a:t>
            </a:r>
          </a:p>
          <a:p>
            <a:pPr marL="0" indent="0">
              <a:buNone/>
            </a:pPr>
            <a:r>
              <a:rPr lang="en-US" b="1" dirty="0"/>
              <a:t>abstract class X implements Y }</a:t>
            </a:r>
          </a:p>
          <a:p>
            <a:pPr marL="457200" lvl="1" indent="0">
              <a:buNone/>
            </a:pPr>
            <a:r>
              <a:rPr lang="en-US" dirty="0"/>
              <a:t>//implements all but one method of Y</a:t>
            </a:r>
          </a:p>
          <a:p>
            <a:pPr marL="0" indent="0">
              <a:buNone/>
            </a:pPr>
            <a:r>
              <a:rPr lang="en-US" b="1" dirty="0"/>
              <a:t>}</a:t>
            </a:r>
          </a:p>
          <a:p>
            <a:pPr marL="0" indent="0">
              <a:buNone/>
            </a:pPr>
            <a:r>
              <a:rPr lang="en-US" b="1" dirty="0"/>
              <a:t>class XX extends X {</a:t>
            </a:r>
          </a:p>
          <a:p>
            <a:pPr marL="457200" lvl="1" indent="0">
              <a:buNone/>
            </a:pPr>
            <a:r>
              <a:rPr lang="en-US" dirty="0"/>
              <a:t>//implements the remaining method in Y</a:t>
            </a:r>
          </a:p>
          <a:p>
            <a:pPr marL="0" indent="0">
              <a:buNone/>
            </a:pPr>
            <a:r>
              <a:rPr lang="en-US" b="1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2180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23D1F-4D15-3972-E67C-B567D4A8B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Why Use Abstract Classes?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188014-41B5-63BF-B343-6BF1848440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98940" y="1685544"/>
            <a:ext cx="8915400" cy="377762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Abstract classes are designed to be subclassed.  </a:t>
            </a:r>
          </a:p>
          <a:p>
            <a:pPr marL="0" indent="0">
              <a:buNone/>
            </a:pPr>
            <a:r>
              <a:rPr lang="en-US" sz="2400" dirty="0"/>
              <a:t>They are used to provide some common functionality across a set of related classes.</a:t>
            </a:r>
          </a:p>
          <a:p>
            <a:pPr marL="0" indent="0">
              <a:buNone/>
            </a:pPr>
            <a:r>
              <a:rPr lang="en-US" sz="2400" dirty="0"/>
              <a:t>They allow us to share code among several closely related classes.</a:t>
            </a:r>
          </a:p>
          <a:p>
            <a:pPr marL="0" indent="0">
              <a:buNone/>
            </a:pPr>
            <a:r>
              <a:rPr lang="en-US" sz="2400" dirty="0"/>
              <a:t>They allow us to declare non-static or non-final fields, that is instance fields. </a:t>
            </a:r>
          </a:p>
          <a:p>
            <a:pPr marL="0" indent="0">
              <a:buNone/>
            </a:pPr>
            <a:r>
              <a:rPr lang="en-US" sz="2400" dirty="0"/>
              <a:t>This allows us to define instance methods that access and modify the state of the object to which they belong.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593047286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13</TotalTime>
  <Words>678</Words>
  <Application>Microsoft Office PowerPoint</Application>
  <PresentationFormat>Widescreen</PresentationFormat>
  <Paragraphs>56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Wingdings 3</vt:lpstr>
      <vt:lpstr>Wisp</vt:lpstr>
      <vt:lpstr>Abstract Methods and Classes</vt:lpstr>
      <vt:lpstr>Using Abstract Classes</vt:lpstr>
      <vt:lpstr>What is Abstract?</vt:lpstr>
      <vt:lpstr>Example of an Abstract Class</vt:lpstr>
      <vt:lpstr>Abstract class without an Abstract Method</vt:lpstr>
      <vt:lpstr>A subclass of a Concrete class may be Abstract</vt:lpstr>
      <vt:lpstr>Abstract classes are usually Extended</vt:lpstr>
      <vt:lpstr>Constructors</vt:lpstr>
      <vt:lpstr>Abstract classes can be a Type</vt:lpstr>
      <vt:lpstr>When an Abstract Class Implements an Interface</vt:lpstr>
      <vt:lpstr>Why Use Abstract Classes?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Abstract Methods and Classes</dc:title>
  <dc:creator>Ivonne Nelson</dc:creator>
  <cp:lastModifiedBy>NELSON, IVONNE</cp:lastModifiedBy>
  <cp:revision>3</cp:revision>
  <dcterms:created xsi:type="dcterms:W3CDTF">2022-12-23T22:37:49Z</dcterms:created>
  <dcterms:modified xsi:type="dcterms:W3CDTF">2024-05-30T15:37:17Z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8bb7484-22c2-4b98-9fb8-3ab13d821527_Enabled">
    <vt:lpwstr>true</vt:lpwstr>
  </property>
  <property fmtid="{D5CDD505-2E9C-101B-9397-08002B2CF9AE}" pid="3" name="MSIP_Label_d8bb7484-22c2-4b98-9fb8-3ab13d821527_SetDate">
    <vt:lpwstr>2024-05-30T15:37:17Z</vt:lpwstr>
  </property>
  <property fmtid="{D5CDD505-2E9C-101B-9397-08002B2CF9AE}" pid="4" name="MSIP_Label_d8bb7484-22c2-4b98-9fb8-3ab13d821527_Method">
    <vt:lpwstr>Standard</vt:lpwstr>
  </property>
  <property fmtid="{D5CDD505-2E9C-101B-9397-08002B2CF9AE}" pid="5" name="MSIP_Label_d8bb7484-22c2-4b98-9fb8-3ab13d821527_Name">
    <vt:lpwstr>defa4170-0d19-0005-0004-bc88714345d2</vt:lpwstr>
  </property>
  <property fmtid="{D5CDD505-2E9C-101B-9397-08002B2CF9AE}" pid="6" name="MSIP_Label_d8bb7484-22c2-4b98-9fb8-3ab13d821527_SiteId">
    <vt:lpwstr>f50e076b-86a5-45f3-87b0-3f4d0ec5e94e</vt:lpwstr>
  </property>
  <property fmtid="{D5CDD505-2E9C-101B-9397-08002B2CF9AE}" pid="7" name="MSIP_Label_d8bb7484-22c2-4b98-9fb8-3ab13d821527_ActionId">
    <vt:lpwstr>e87e617a-09b6-4663-880c-b112d3f4eb19</vt:lpwstr>
  </property>
  <property fmtid="{D5CDD505-2E9C-101B-9397-08002B2CF9AE}" pid="8" name="MSIP_Label_d8bb7484-22c2-4b98-9fb8-3ab13d821527_ContentBits">
    <vt:lpwstr>0</vt:lpwstr>
  </property>
</Properties>
</file>