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57" r:id="rId3"/>
    <p:sldId id="259" r:id="rId4"/>
    <p:sldId id="258" r:id="rId5"/>
    <p:sldId id="355" r:id="rId6"/>
    <p:sldId id="356" r:id="rId7"/>
    <p:sldId id="357" r:id="rId8"/>
    <p:sldId id="358" r:id="rId9"/>
    <p:sldId id="261" r:id="rId10"/>
    <p:sldId id="262" r:id="rId11"/>
    <p:sldId id="263" r:id="rId12"/>
    <p:sldId id="264" r:id="rId13"/>
    <p:sldId id="265" r:id="rId14"/>
    <p:sldId id="267" r:id="rId15"/>
    <p:sldId id="270" r:id="rId16"/>
    <p:sldId id="323" r:id="rId17"/>
    <p:sldId id="324" r:id="rId18"/>
    <p:sldId id="325" r:id="rId19"/>
    <p:sldId id="326" r:id="rId20"/>
    <p:sldId id="327" r:id="rId21"/>
    <p:sldId id="328" r:id="rId22"/>
    <p:sldId id="329" r:id="rId23"/>
    <p:sldId id="268" r:id="rId24"/>
    <p:sldId id="315" r:id="rId25"/>
    <p:sldId id="316" r:id="rId26"/>
    <p:sldId id="320" r:id="rId27"/>
    <p:sldId id="317" r:id="rId28"/>
    <p:sldId id="318" r:id="rId29"/>
    <p:sldId id="319" r:id="rId30"/>
    <p:sldId id="321"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5" r:id="rId46"/>
    <p:sldId id="346" r:id="rId47"/>
    <p:sldId id="347" r:id="rId48"/>
    <p:sldId id="348" r:id="rId49"/>
    <p:sldId id="359" r:id="rId50"/>
    <p:sldId id="360" r:id="rId51"/>
    <p:sldId id="349" r:id="rId52"/>
    <p:sldId id="350" r:id="rId53"/>
    <p:sldId id="351" r:id="rId54"/>
    <p:sldId id="352" r:id="rId55"/>
    <p:sldId id="353" r:id="rId56"/>
    <p:sldId id="354"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62" autoAdjust="0"/>
  </p:normalViewPr>
  <p:slideViewPr>
    <p:cSldViewPr snapToGrid="0">
      <p:cViewPr varScale="1">
        <p:scale>
          <a:sx n="100" d="100"/>
          <a:sy n="100" d="100"/>
        </p:scale>
        <p:origin x="156" y="7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59735E-2D31-4468-A676-4BCB13520373}"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46C93055-F302-496E-978B-93987D72EB10}">
      <dgm:prSet/>
      <dgm:spPr/>
      <dgm:t>
        <a:bodyPr/>
        <a:lstStyle/>
        <a:p>
          <a:pPr algn="ctr"/>
          <a:r>
            <a:rPr lang="en-US" dirty="0"/>
            <a:t>Class Hierarchy for Exception Classes</a:t>
          </a:r>
        </a:p>
      </dgm:t>
    </dgm:pt>
    <dgm:pt modelId="{26ABCCE7-A3C6-4C3E-BC4B-302BD4C5C626}" type="parTrans" cxnId="{031F1B76-226B-4417-8E69-164022319468}">
      <dgm:prSet/>
      <dgm:spPr/>
      <dgm:t>
        <a:bodyPr/>
        <a:lstStyle/>
        <a:p>
          <a:endParaRPr lang="en-US"/>
        </a:p>
      </dgm:t>
    </dgm:pt>
    <dgm:pt modelId="{751320C8-14B0-400F-859D-22956BA3D8FB}" type="sibTrans" cxnId="{031F1B76-226B-4417-8E69-164022319468}">
      <dgm:prSet/>
      <dgm:spPr/>
      <dgm:t>
        <a:bodyPr/>
        <a:lstStyle/>
        <a:p>
          <a:endParaRPr lang="en-US"/>
        </a:p>
      </dgm:t>
    </dgm:pt>
    <dgm:pt modelId="{20BEC4BB-64F9-4E45-AFA6-40FF5203998C}" type="pres">
      <dgm:prSet presAssocID="{AF59735E-2D31-4468-A676-4BCB13520373}" presName="linear" presStyleCnt="0">
        <dgm:presLayoutVars>
          <dgm:animLvl val="lvl"/>
          <dgm:resizeHandles val="exact"/>
        </dgm:presLayoutVars>
      </dgm:prSet>
      <dgm:spPr/>
    </dgm:pt>
    <dgm:pt modelId="{614884BB-5DB2-443F-958A-B59E793AC208}" type="pres">
      <dgm:prSet presAssocID="{46C93055-F302-496E-978B-93987D72EB10}" presName="parentText" presStyleLbl="node1" presStyleIdx="0" presStyleCnt="1" custLinFactNeighborX="19800" custLinFactNeighborY="794">
        <dgm:presLayoutVars>
          <dgm:chMax val="0"/>
          <dgm:bulletEnabled val="1"/>
        </dgm:presLayoutVars>
      </dgm:prSet>
      <dgm:spPr/>
    </dgm:pt>
  </dgm:ptLst>
  <dgm:cxnLst>
    <dgm:cxn modelId="{2A7C3116-F3F8-4BF2-B385-BEB7A040C862}" type="presOf" srcId="{AF59735E-2D31-4468-A676-4BCB13520373}" destId="{20BEC4BB-64F9-4E45-AFA6-40FF5203998C}" srcOrd="0" destOrd="0" presId="urn:microsoft.com/office/officeart/2005/8/layout/vList2"/>
    <dgm:cxn modelId="{A55E714C-2DCE-43A5-9EBC-16B302E5B7BF}" type="presOf" srcId="{46C93055-F302-496E-978B-93987D72EB10}" destId="{614884BB-5DB2-443F-958A-B59E793AC208}" srcOrd="0" destOrd="0" presId="urn:microsoft.com/office/officeart/2005/8/layout/vList2"/>
    <dgm:cxn modelId="{031F1B76-226B-4417-8E69-164022319468}" srcId="{AF59735E-2D31-4468-A676-4BCB13520373}" destId="{46C93055-F302-496E-978B-93987D72EB10}" srcOrd="0" destOrd="0" parTransId="{26ABCCE7-A3C6-4C3E-BC4B-302BD4C5C626}" sibTransId="{751320C8-14B0-400F-859D-22956BA3D8FB}"/>
    <dgm:cxn modelId="{494C9547-3F22-406B-8350-3469E4A08CE2}" type="presParOf" srcId="{20BEC4BB-64F9-4E45-AFA6-40FF5203998C}" destId="{614884BB-5DB2-443F-958A-B59E793AC20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4884BB-5DB2-443F-958A-B59E793AC208}">
      <dsp:nvSpPr>
        <dsp:cNvPr id="0" name=""/>
        <dsp:cNvSpPr/>
      </dsp:nvSpPr>
      <dsp:spPr>
        <a:xfrm>
          <a:off x="0" y="16046"/>
          <a:ext cx="6276077" cy="561599"/>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Class Hierarchy for Exception Classes</a:t>
          </a:r>
        </a:p>
      </dsp:txBody>
      <dsp:txXfrm>
        <a:off x="27415" y="43461"/>
        <a:ext cx="6221247" cy="5067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443901-A420-4027-AD30-ADE0CCE64CD4}" type="datetimeFigureOut">
              <a:rPr lang="en-US" smtClean="0"/>
              <a:t>6/28/2024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F963B-216E-4CFE-9B69-D032F4C4D916}" type="slidenum">
              <a:rPr lang="en-US" smtClean="0"/>
              <a:t>‹#›</a:t>
            </a:fld>
            <a:endParaRPr lang="en-US"/>
          </a:p>
        </p:txBody>
      </p:sp>
    </p:spTree>
    <p:extLst>
      <p:ext uri="{BB962C8B-B14F-4D97-AF65-F5344CB8AC3E}">
        <p14:creationId xmlns:p14="http://schemas.microsoft.com/office/powerpoint/2010/main" val="1532479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0F963B-216E-4CFE-9B69-D032F4C4D916}" type="slidenum">
              <a:rPr lang="en-US" smtClean="0"/>
              <a:t>46</a:t>
            </a:fld>
            <a:endParaRPr lang="en-US"/>
          </a:p>
        </p:txBody>
      </p:sp>
    </p:spTree>
    <p:extLst>
      <p:ext uri="{BB962C8B-B14F-4D97-AF65-F5344CB8AC3E}">
        <p14:creationId xmlns:p14="http://schemas.microsoft.com/office/powerpoint/2010/main" val="1515327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067294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4253104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18753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408132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2C7FA9-4948-4D2D-9727-DA1CBA8D8355}" type="datetimeFigureOut">
              <a:rPr lang="en-US" smtClean="0"/>
              <a:t>6/28/2024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06020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2C7FA9-4948-4D2D-9727-DA1CBA8D8355}" type="datetimeFigureOut">
              <a:rPr lang="en-US" smtClean="0"/>
              <a:t>6/28/2024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4228662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2C7FA9-4948-4D2D-9727-DA1CBA8D8355}" type="datetimeFigureOut">
              <a:rPr lang="en-US" smtClean="0"/>
              <a:t>6/28/2024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3958553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711892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709477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294354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EAE99C4-918A-4227-94BC-794A8B5982C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21504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880904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EAE99C4-918A-4227-94BC-794A8B5982C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4993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2C7FA9-4948-4D2D-9727-DA1CBA8D8355}"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609765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951437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2C7FA9-4948-4D2D-9727-DA1CBA8D8355}"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EAE99C4-918A-4227-94BC-794A8B5982CF}" type="slidenum">
              <a:rPr lang="en-US" smtClean="0"/>
              <a:t>‹#›</a:t>
            </a:fld>
            <a:endParaRPr lang="en-US"/>
          </a:p>
        </p:txBody>
      </p:sp>
    </p:spTree>
    <p:extLst>
      <p:ext uri="{BB962C8B-B14F-4D97-AF65-F5344CB8AC3E}">
        <p14:creationId xmlns:p14="http://schemas.microsoft.com/office/powerpoint/2010/main" val="1637643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02C7FA9-4948-4D2D-9727-DA1CBA8D8355}" type="datetimeFigureOut">
              <a:rPr lang="en-US" smtClean="0"/>
              <a:t>6/28/2024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EAE99C4-918A-4227-94BC-794A8B5982CF}" type="slidenum">
              <a:rPr lang="en-US" smtClean="0"/>
              <a:t>‹#›</a:t>
            </a:fld>
            <a:endParaRPr lang="en-US"/>
          </a:p>
        </p:txBody>
      </p:sp>
    </p:spTree>
    <p:extLst>
      <p:ext uri="{BB962C8B-B14F-4D97-AF65-F5344CB8AC3E}">
        <p14:creationId xmlns:p14="http://schemas.microsoft.com/office/powerpoint/2010/main" val="18666846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C518F-C84C-B5B0-BC40-242484FAEA4D}"/>
              </a:ext>
            </a:extLst>
          </p:cNvPr>
          <p:cNvSpPr>
            <a:spLocks noGrp="1"/>
          </p:cNvSpPr>
          <p:nvPr>
            <p:ph type="ctrTitle"/>
          </p:nvPr>
        </p:nvSpPr>
        <p:spPr/>
        <p:txBody>
          <a:bodyPr/>
          <a:lstStyle/>
          <a:p>
            <a:pPr algn="ctr"/>
            <a:r>
              <a:rPr lang="en-US" b="1" dirty="0"/>
              <a:t>Exception Handling</a:t>
            </a:r>
          </a:p>
        </p:txBody>
      </p:sp>
      <p:sp>
        <p:nvSpPr>
          <p:cNvPr id="3" name="Subtitle 2">
            <a:extLst>
              <a:ext uri="{FF2B5EF4-FFF2-40B4-BE49-F238E27FC236}">
                <a16:creationId xmlns:a16="http://schemas.microsoft.com/office/drawing/2014/main" id="{A4DE0C05-1115-C557-0127-56B606911B4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04098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94CA-3390-A37A-A889-4CF37084F3DB}"/>
              </a:ext>
            </a:extLst>
          </p:cNvPr>
          <p:cNvSpPr>
            <a:spLocks noGrp="1"/>
          </p:cNvSpPr>
          <p:nvPr>
            <p:ph type="title"/>
          </p:nvPr>
        </p:nvSpPr>
        <p:spPr>
          <a:xfrm>
            <a:off x="2592925" y="377925"/>
            <a:ext cx="8911687" cy="1280890"/>
          </a:xfrm>
        </p:spPr>
        <p:txBody>
          <a:bodyPr/>
          <a:lstStyle/>
          <a:p>
            <a:pPr algn="ctr"/>
            <a:r>
              <a:rPr lang="en-US" b="1" dirty="0"/>
              <a:t>Java Error Handling</a:t>
            </a:r>
          </a:p>
        </p:txBody>
      </p:sp>
      <p:sp>
        <p:nvSpPr>
          <p:cNvPr id="3" name="Content Placeholder 2">
            <a:extLst>
              <a:ext uri="{FF2B5EF4-FFF2-40B4-BE49-F238E27FC236}">
                <a16:creationId xmlns:a16="http://schemas.microsoft.com/office/drawing/2014/main" id="{C591C5AD-9CA4-7BEE-44A8-C3338F043F00}"/>
              </a:ext>
            </a:extLst>
          </p:cNvPr>
          <p:cNvSpPr>
            <a:spLocks noGrp="1"/>
          </p:cNvSpPr>
          <p:nvPr>
            <p:ph idx="1"/>
          </p:nvPr>
        </p:nvSpPr>
        <p:spPr>
          <a:xfrm>
            <a:off x="2987796" y="1264555"/>
            <a:ext cx="8915400" cy="3777622"/>
          </a:xfrm>
        </p:spPr>
        <p:txBody>
          <a:bodyPr>
            <a:noAutofit/>
          </a:bodyPr>
          <a:lstStyle/>
          <a:p>
            <a:pPr marL="0" indent="0">
              <a:buNone/>
            </a:pPr>
            <a:r>
              <a:rPr lang="en-US" sz="2400" dirty="0"/>
              <a:t>Java has its roots in embedded systems—software that runs inside specialized devices, such as handheld computers, cellular phones, and fancy toasters that we might consider part of the internet of things (IoT) these days. </a:t>
            </a:r>
          </a:p>
          <a:p>
            <a:pPr marL="0" indent="0">
              <a:buNone/>
            </a:pPr>
            <a:r>
              <a:rPr lang="en-US" sz="2400" dirty="0"/>
              <a:t>In those kinds of applications, it’s especially important that software errors be handled robustly. </a:t>
            </a:r>
          </a:p>
          <a:p>
            <a:pPr marL="0" indent="0">
              <a:buNone/>
            </a:pPr>
            <a:r>
              <a:rPr lang="en-US" sz="2400" dirty="0"/>
              <a:t>Most users would agree that it’s unacceptable for their phone to simply crash or for their toast (and perhaps their house) to burn because their software failed. </a:t>
            </a:r>
          </a:p>
          <a:p>
            <a:pPr marL="0" indent="0">
              <a:buNone/>
            </a:pPr>
            <a:r>
              <a:rPr lang="en-US" sz="2400" dirty="0"/>
              <a:t>Given that we can’t eliminate the possibility of software errors, it’s a step in the right direction to recognize and deal with anticipated application-level errors methodically.</a:t>
            </a:r>
          </a:p>
        </p:txBody>
      </p:sp>
    </p:spTree>
    <p:extLst>
      <p:ext uri="{BB962C8B-B14F-4D97-AF65-F5344CB8AC3E}">
        <p14:creationId xmlns:p14="http://schemas.microsoft.com/office/powerpoint/2010/main" val="153739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70C6-7398-96FC-599C-377452D27707}"/>
              </a:ext>
            </a:extLst>
          </p:cNvPr>
          <p:cNvSpPr>
            <a:spLocks noGrp="1"/>
          </p:cNvSpPr>
          <p:nvPr>
            <p:ph type="title"/>
          </p:nvPr>
        </p:nvSpPr>
        <p:spPr/>
        <p:txBody>
          <a:bodyPr/>
          <a:lstStyle/>
          <a:p>
            <a:pPr algn="ctr"/>
            <a:r>
              <a:rPr lang="en-US" b="1" dirty="0"/>
              <a:t>Programmer’s Responsibility</a:t>
            </a:r>
          </a:p>
        </p:txBody>
      </p:sp>
      <p:sp>
        <p:nvSpPr>
          <p:cNvPr id="3" name="Content Placeholder 2">
            <a:extLst>
              <a:ext uri="{FF2B5EF4-FFF2-40B4-BE49-F238E27FC236}">
                <a16:creationId xmlns:a16="http://schemas.microsoft.com/office/drawing/2014/main" id="{3C713028-7A2C-ECC2-DE79-C8A771A5B804}"/>
              </a:ext>
            </a:extLst>
          </p:cNvPr>
          <p:cNvSpPr>
            <a:spLocks noGrp="1"/>
          </p:cNvSpPr>
          <p:nvPr>
            <p:ph idx="1"/>
          </p:nvPr>
        </p:nvSpPr>
        <p:spPr>
          <a:xfrm>
            <a:off x="2718166" y="1540189"/>
            <a:ext cx="8915400" cy="3777622"/>
          </a:xfrm>
        </p:spPr>
        <p:txBody>
          <a:bodyPr>
            <a:noAutofit/>
          </a:bodyPr>
          <a:lstStyle/>
          <a:p>
            <a:pPr marL="0" indent="0">
              <a:buNone/>
            </a:pPr>
            <a:r>
              <a:rPr lang="en-US" sz="2400" dirty="0"/>
              <a:t>As the programmer, you must know what constitutes a bad result and what it means.</a:t>
            </a:r>
          </a:p>
          <a:p>
            <a:pPr marL="0" indent="0">
              <a:buNone/>
            </a:pPr>
            <a:r>
              <a:rPr lang="en-US" sz="2400" dirty="0"/>
              <a:t>We’ll consider how Java tackles the problem of, well, problems. We’ll go over the notion of exceptions to look at how and why they occur as well as how and where to handle them. </a:t>
            </a:r>
          </a:p>
          <a:p>
            <a:pPr marL="0" indent="0">
              <a:buNone/>
            </a:pPr>
            <a:r>
              <a:rPr lang="en-US" sz="2400" dirty="0"/>
              <a:t>We’ll also be looking at errors and assertions. Errors represent more serious problems that often cannot be fixed at runtime but can still be logged for debugging. </a:t>
            </a:r>
          </a:p>
          <a:p>
            <a:pPr marL="0" indent="0">
              <a:buNone/>
            </a:pPr>
            <a:r>
              <a:rPr lang="en-US" sz="2400" dirty="0"/>
              <a:t>Assertions are a popular way of inoculating your code against exceptions or errors by verifying that safe conditions exist ahead of time.</a:t>
            </a:r>
          </a:p>
        </p:txBody>
      </p:sp>
    </p:spTree>
    <p:extLst>
      <p:ext uri="{BB962C8B-B14F-4D97-AF65-F5344CB8AC3E}">
        <p14:creationId xmlns:p14="http://schemas.microsoft.com/office/powerpoint/2010/main" val="3454608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3334-4168-9127-270D-E151A53E9701}"/>
              </a:ext>
            </a:extLst>
          </p:cNvPr>
          <p:cNvSpPr>
            <a:spLocks noGrp="1"/>
          </p:cNvSpPr>
          <p:nvPr>
            <p:ph type="title"/>
          </p:nvPr>
        </p:nvSpPr>
        <p:spPr>
          <a:xfrm>
            <a:off x="2557756" y="436541"/>
            <a:ext cx="8911687" cy="1280890"/>
          </a:xfrm>
        </p:spPr>
        <p:txBody>
          <a:bodyPr/>
          <a:lstStyle/>
          <a:p>
            <a:pPr algn="ctr"/>
            <a:r>
              <a:rPr lang="en-US" b="1" dirty="0"/>
              <a:t>Exceptions</a:t>
            </a:r>
          </a:p>
        </p:txBody>
      </p:sp>
      <p:sp>
        <p:nvSpPr>
          <p:cNvPr id="3" name="Content Placeholder 2">
            <a:extLst>
              <a:ext uri="{FF2B5EF4-FFF2-40B4-BE49-F238E27FC236}">
                <a16:creationId xmlns:a16="http://schemas.microsoft.com/office/drawing/2014/main" id="{0931F55F-06A3-8F72-436B-03BCA71C9335}"/>
              </a:ext>
            </a:extLst>
          </p:cNvPr>
          <p:cNvSpPr>
            <a:spLocks noGrp="1"/>
          </p:cNvSpPr>
          <p:nvPr>
            <p:ph idx="1"/>
          </p:nvPr>
        </p:nvSpPr>
        <p:spPr>
          <a:xfrm>
            <a:off x="2800227" y="1264555"/>
            <a:ext cx="8915400" cy="5439508"/>
          </a:xfrm>
        </p:spPr>
        <p:txBody>
          <a:bodyPr>
            <a:noAutofit/>
          </a:bodyPr>
          <a:lstStyle/>
          <a:p>
            <a:pPr marL="0" indent="0">
              <a:buNone/>
            </a:pPr>
            <a:r>
              <a:rPr lang="en-US" sz="2400" dirty="0"/>
              <a:t>An exception indicates an unusual condition or an error condition in a code at run time. </a:t>
            </a:r>
          </a:p>
          <a:p>
            <a:pPr marL="0" indent="0">
              <a:buNone/>
            </a:pPr>
            <a:r>
              <a:rPr lang="en-US" sz="2400" dirty="0"/>
              <a:t>Program control becomes unconditionally transferred or “thrown” to a specially designated section of code where that condition is caught and handled.</a:t>
            </a:r>
          </a:p>
          <a:p>
            <a:pPr marL="0" indent="0">
              <a:buNone/>
            </a:pPr>
            <a:r>
              <a:rPr lang="en-US" sz="2400" dirty="0"/>
              <a:t> In this way, error handling is independent of the normal flow of the program. </a:t>
            </a:r>
          </a:p>
          <a:p>
            <a:pPr marL="0" indent="0">
              <a:buNone/>
            </a:pPr>
            <a:r>
              <a:rPr lang="en-US" sz="2400" dirty="0"/>
              <a:t>We don’t need special return values for all of our methods; errors are handled by a separate mechanism. </a:t>
            </a:r>
          </a:p>
          <a:p>
            <a:pPr marL="0" indent="0">
              <a:buNone/>
            </a:pPr>
            <a:r>
              <a:rPr lang="en-US" sz="2400" dirty="0"/>
              <a:t>Control can be passed a long distance from a deeply nested routine and handled in a single location when that is desirable, or an error can be handled immediately at its source. </a:t>
            </a:r>
          </a:p>
        </p:txBody>
      </p:sp>
    </p:spTree>
    <p:extLst>
      <p:ext uri="{BB962C8B-B14F-4D97-AF65-F5344CB8AC3E}">
        <p14:creationId xmlns:p14="http://schemas.microsoft.com/office/powerpoint/2010/main" val="342817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4C3BD-D697-4DA4-3141-126FBBCCDAF8}"/>
              </a:ext>
            </a:extLst>
          </p:cNvPr>
          <p:cNvSpPr>
            <a:spLocks noGrp="1"/>
          </p:cNvSpPr>
          <p:nvPr>
            <p:ph type="title"/>
          </p:nvPr>
        </p:nvSpPr>
        <p:spPr/>
        <p:txBody>
          <a:bodyPr/>
          <a:lstStyle/>
          <a:p>
            <a:pPr algn="ctr"/>
            <a:r>
              <a:rPr lang="en-US" b="1" dirty="0"/>
              <a:t>Exception-Handling Fundamentals</a:t>
            </a:r>
          </a:p>
        </p:txBody>
      </p:sp>
      <p:sp>
        <p:nvSpPr>
          <p:cNvPr id="3" name="Content Placeholder 2">
            <a:extLst>
              <a:ext uri="{FF2B5EF4-FFF2-40B4-BE49-F238E27FC236}">
                <a16:creationId xmlns:a16="http://schemas.microsoft.com/office/drawing/2014/main" id="{69C7FF9E-B0D7-49EE-4B6E-DDDD2032F444}"/>
              </a:ext>
            </a:extLst>
          </p:cNvPr>
          <p:cNvSpPr>
            <a:spLocks noGrp="1"/>
          </p:cNvSpPr>
          <p:nvPr>
            <p:ph idx="1"/>
          </p:nvPr>
        </p:nvSpPr>
        <p:spPr>
          <a:xfrm>
            <a:off x="2707224" y="1340164"/>
            <a:ext cx="9389525" cy="3777622"/>
          </a:xfrm>
        </p:spPr>
        <p:txBody>
          <a:bodyPr>
            <a:noAutofit/>
          </a:bodyPr>
          <a:lstStyle/>
          <a:p>
            <a:pPr marL="0" indent="0">
              <a:buNone/>
            </a:pPr>
            <a:r>
              <a:rPr lang="en-US" sz="2400" dirty="0"/>
              <a:t>A Java exception is an object that describes an exceptional (that is, error) condition that has occurred in a piece of code. </a:t>
            </a:r>
          </a:p>
          <a:p>
            <a:pPr marL="0" indent="0">
              <a:buNone/>
            </a:pPr>
            <a:r>
              <a:rPr lang="en-US" sz="2400" dirty="0"/>
              <a:t>When an exceptional condition arises, an object representing that exception is created and thrown in the method that caused the error. </a:t>
            </a:r>
          </a:p>
          <a:p>
            <a:pPr marL="0" indent="0">
              <a:buNone/>
            </a:pPr>
            <a:r>
              <a:rPr lang="en-US" sz="2400" dirty="0"/>
              <a:t>That method may choose to handle the exception itself, or pass it on. Either way, at some point, the exception is caught and processed. </a:t>
            </a:r>
          </a:p>
          <a:p>
            <a:pPr marL="0" indent="0">
              <a:buNone/>
            </a:pPr>
            <a:r>
              <a:rPr lang="en-US" sz="2400" dirty="0"/>
              <a:t>Exceptions can be generated by the Java run-time system, or they can be manually generated by your code (for testing) .</a:t>
            </a:r>
          </a:p>
          <a:p>
            <a:pPr marL="0" indent="0">
              <a:buNone/>
            </a:pPr>
            <a:r>
              <a:rPr lang="en-US" sz="2400" dirty="0"/>
              <a:t> Exceptions thrown by Java relate to fundamental errors that violate the rules of the Java language or the constraints of the Java execution environment. </a:t>
            </a:r>
          </a:p>
        </p:txBody>
      </p:sp>
    </p:spTree>
    <p:extLst>
      <p:ext uri="{BB962C8B-B14F-4D97-AF65-F5344CB8AC3E}">
        <p14:creationId xmlns:p14="http://schemas.microsoft.com/office/powerpoint/2010/main" val="1318761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BD42A-410B-0AFC-F604-0E0F17B02026}"/>
              </a:ext>
            </a:extLst>
          </p:cNvPr>
          <p:cNvSpPr>
            <a:spLocks noGrp="1"/>
          </p:cNvSpPr>
          <p:nvPr>
            <p:ph type="title"/>
          </p:nvPr>
        </p:nvSpPr>
        <p:spPr>
          <a:xfrm>
            <a:off x="2573875" y="90710"/>
            <a:ext cx="8911687" cy="1280890"/>
          </a:xfrm>
        </p:spPr>
        <p:txBody>
          <a:bodyPr/>
          <a:lstStyle/>
          <a:p>
            <a:pPr algn="ctr"/>
            <a:r>
              <a:rPr lang="en-US" b="1" dirty="0"/>
              <a:t>Key Words in Java Exception Handling</a:t>
            </a:r>
          </a:p>
        </p:txBody>
      </p:sp>
      <p:sp>
        <p:nvSpPr>
          <p:cNvPr id="3" name="Content Placeholder 2">
            <a:extLst>
              <a:ext uri="{FF2B5EF4-FFF2-40B4-BE49-F238E27FC236}">
                <a16:creationId xmlns:a16="http://schemas.microsoft.com/office/drawing/2014/main" id="{AAAE2207-703D-8E18-8319-0C50150826D0}"/>
              </a:ext>
            </a:extLst>
          </p:cNvPr>
          <p:cNvSpPr>
            <a:spLocks noGrp="1"/>
          </p:cNvSpPr>
          <p:nvPr>
            <p:ph idx="1"/>
          </p:nvPr>
        </p:nvSpPr>
        <p:spPr>
          <a:xfrm>
            <a:off x="2379661" y="1283014"/>
            <a:ext cx="9536113" cy="3777622"/>
          </a:xfrm>
        </p:spPr>
        <p:txBody>
          <a:bodyPr>
            <a:noAutofit/>
          </a:bodyPr>
          <a:lstStyle/>
          <a:p>
            <a:pPr marL="0" indent="0">
              <a:buNone/>
            </a:pPr>
            <a:r>
              <a:rPr lang="en-US" sz="2400" dirty="0"/>
              <a:t>Java exception handling is managed via five keywords: try, catch, throw, throws, and finally. Briefly, here is how they work. </a:t>
            </a:r>
          </a:p>
          <a:p>
            <a:pPr marL="0" indent="0">
              <a:buNone/>
            </a:pPr>
            <a:r>
              <a:rPr lang="en-US" sz="2400" dirty="0"/>
              <a:t>Program statements that you want to monitor for exceptions are contained within a try block. If an exception occurs within the try block, it is thrown. </a:t>
            </a:r>
          </a:p>
          <a:p>
            <a:pPr marL="0" indent="0">
              <a:buNone/>
            </a:pPr>
            <a:r>
              <a:rPr lang="en-US" sz="2400" dirty="0"/>
              <a:t>Your code can catch this exception (using catch) and handle it in some rational manner. System-generated exceptions are automatically thrown by the Java run-time system. To manually throw an exception, use the keyword throw. </a:t>
            </a:r>
          </a:p>
          <a:p>
            <a:pPr marL="0" indent="0">
              <a:buNone/>
            </a:pPr>
            <a:r>
              <a:rPr lang="en-US" sz="2400" dirty="0"/>
              <a:t>Any exception that is thrown out of a method must be specified as such by a throws clause. </a:t>
            </a:r>
          </a:p>
          <a:p>
            <a:pPr marL="0" indent="0">
              <a:buNone/>
            </a:pPr>
            <a:r>
              <a:rPr lang="en-US" sz="2400" dirty="0"/>
              <a:t>Any code that absolutely must be executed after a try block completes is put in a finally block.</a:t>
            </a:r>
          </a:p>
        </p:txBody>
      </p:sp>
    </p:spTree>
    <p:extLst>
      <p:ext uri="{BB962C8B-B14F-4D97-AF65-F5344CB8AC3E}">
        <p14:creationId xmlns:p14="http://schemas.microsoft.com/office/powerpoint/2010/main" val="3490246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76B19-0E75-800C-54D2-8D861E3E2DDF}"/>
              </a:ext>
            </a:extLst>
          </p:cNvPr>
          <p:cNvSpPr>
            <a:spLocks noGrp="1"/>
          </p:cNvSpPr>
          <p:nvPr>
            <p:ph type="title"/>
          </p:nvPr>
        </p:nvSpPr>
        <p:spPr/>
        <p:txBody>
          <a:bodyPr/>
          <a:lstStyle/>
          <a:p>
            <a:pPr algn="ctr"/>
            <a:r>
              <a:rPr lang="en-US" b="1" dirty="0"/>
              <a:t>Errors and Exceptions are Throwable</a:t>
            </a:r>
          </a:p>
        </p:txBody>
      </p:sp>
      <p:sp>
        <p:nvSpPr>
          <p:cNvPr id="3" name="Content Placeholder 2">
            <a:extLst>
              <a:ext uri="{FF2B5EF4-FFF2-40B4-BE49-F238E27FC236}">
                <a16:creationId xmlns:a16="http://schemas.microsoft.com/office/drawing/2014/main" id="{AB37BA3C-B6A9-6784-4ECC-8FCC8888F8AC}"/>
              </a:ext>
            </a:extLst>
          </p:cNvPr>
          <p:cNvSpPr>
            <a:spLocks noGrp="1"/>
          </p:cNvSpPr>
          <p:nvPr>
            <p:ph idx="1"/>
          </p:nvPr>
        </p:nvSpPr>
        <p:spPr>
          <a:xfrm>
            <a:off x="2703512" y="1676400"/>
            <a:ext cx="8915400" cy="3777622"/>
          </a:xfrm>
        </p:spPr>
        <p:txBody>
          <a:bodyPr>
            <a:normAutofit/>
          </a:bodyPr>
          <a:lstStyle/>
          <a:p>
            <a:pPr marL="0" indent="0">
              <a:buNone/>
            </a:pPr>
            <a:r>
              <a:rPr lang="en-US" sz="2400" dirty="0"/>
              <a:t>All exception and error types are subclasses of the built-in class throwable.</a:t>
            </a:r>
          </a:p>
          <a:p>
            <a:pPr marL="0" indent="0">
              <a:buNone/>
            </a:pPr>
            <a:endParaRPr lang="en-US" sz="2400" dirty="0"/>
          </a:p>
        </p:txBody>
      </p:sp>
      <p:pic>
        <p:nvPicPr>
          <p:cNvPr id="5" name="Picture 4">
            <a:extLst>
              <a:ext uri="{FF2B5EF4-FFF2-40B4-BE49-F238E27FC236}">
                <a16:creationId xmlns:a16="http://schemas.microsoft.com/office/drawing/2014/main" id="{7A68CC3A-B104-F423-4B29-B9573307E63B}"/>
              </a:ext>
            </a:extLst>
          </p:cNvPr>
          <p:cNvPicPr>
            <a:picLocks noChangeAspect="1"/>
          </p:cNvPicPr>
          <p:nvPr/>
        </p:nvPicPr>
        <p:blipFill>
          <a:blip r:embed="rId2"/>
          <a:stretch>
            <a:fillRect/>
          </a:stretch>
        </p:blipFill>
        <p:spPr>
          <a:xfrm>
            <a:off x="4434766" y="2244263"/>
            <a:ext cx="6447420" cy="3989627"/>
          </a:xfrm>
          <a:prstGeom prst="rect">
            <a:avLst/>
          </a:prstGeom>
        </p:spPr>
      </p:pic>
    </p:spTree>
    <p:extLst>
      <p:ext uri="{BB962C8B-B14F-4D97-AF65-F5344CB8AC3E}">
        <p14:creationId xmlns:p14="http://schemas.microsoft.com/office/powerpoint/2010/main" val="251578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BA3C7-6EC7-ED64-D0FB-96FF62791DF0}"/>
              </a:ext>
            </a:extLst>
          </p:cNvPr>
          <p:cNvSpPr>
            <a:spLocks noGrp="1"/>
          </p:cNvSpPr>
          <p:nvPr>
            <p:ph type="title"/>
          </p:nvPr>
        </p:nvSpPr>
        <p:spPr/>
        <p:txBody>
          <a:bodyPr/>
          <a:lstStyle/>
          <a:p>
            <a:pPr algn="ctr"/>
            <a:r>
              <a:rPr lang="en-US" b="1" dirty="0"/>
              <a:t>Uncaught Exceptions</a:t>
            </a:r>
          </a:p>
        </p:txBody>
      </p:sp>
      <p:sp>
        <p:nvSpPr>
          <p:cNvPr id="3" name="Content Placeholder 2">
            <a:extLst>
              <a:ext uri="{FF2B5EF4-FFF2-40B4-BE49-F238E27FC236}">
                <a16:creationId xmlns:a16="http://schemas.microsoft.com/office/drawing/2014/main" id="{E5DC37A6-83EE-7FD1-8AE8-28D6B3AD3920}"/>
              </a:ext>
            </a:extLst>
          </p:cNvPr>
          <p:cNvSpPr>
            <a:spLocks noGrp="1"/>
          </p:cNvSpPr>
          <p:nvPr>
            <p:ph idx="1"/>
          </p:nvPr>
        </p:nvSpPr>
        <p:spPr>
          <a:xfrm>
            <a:off x="2589211" y="1540189"/>
            <a:ext cx="8915400" cy="3777622"/>
          </a:xfrm>
        </p:spPr>
        <p:txBody>
          <a:bodyPr/>
          <a:lstStyle/>
          <a:p>
            <a:pPr marL="0" indent="0">
              <a:buNone/>
            </a:pPr>
            <a:r>
              <a:rPr lang="en-US" dirty="0"/>
              <a:t>Before you learn how to handle exceptions in your program, it is useful to see what happens when you don’t handle them. This small program includes an expression that intentionally causes a divide-by-zero error:</a:t>
            </a:r>
          </a:p>
          <a:p>
            <a:pPr marL="0" indent="0">
              <a:buNone/>
            </a:pPr>
            <a:endParaRPr lang="en-US" dirty="0"/>
          </a:p>
        </p:txBody>
      </p:sp>
      <p:pic>
        <p:nvPicPr>
          <p:cNvPr id="5" name="Picture 4">
            <a:extLst>
              <a:ext uri="{FF2B5EF4-FFF2-40B4-BE49-F238E27FC236}">
                <a16:creationId xmlns:a16="http://schemas.microsoft.com/office/drawing/2014/main" id="{0D5744AE-BF6A-139F-67AD-189CAA46CB90}"/>
              </a:ext>
            </a:extLst>
          </p:cNvPr>
          <p:cNvPicPr>
            <a:picLocks noChangeAspect="1"/>
          </p:cNvPicPr>
          <p:nvPr/>
        </p:nvPicPr>
        <p:blipFill>
          <a:blip r:embed="rId2"/>
          <a:stretch>
            <a:fillRect/>
          </a:stretch>
        </p:blipFill>
        <p:spPr>
          <a:xfrm>
            <a:off x="4427288" y="2643078"/>
            <a:ext cx="5525271" cy="1571844"/>
          </a:xfrm>
          <a:prstGeom prst="rect">
            <a:avLst/>
          </a:prstGeom>
        </p:spPr>
      </p:pic>
      <p:sp>
        <p:nvSpPr>
          <p:cNvPr id="7" name="TextBox 6">
            <a:extLst>
              <a:ext uri="{FF2B5EF4-FFF2-40B4-BE49-F238E27FC236}">
                <a16:creationId xmlns:a16="http://schemas.microsoft.com/office/drawing/2014/main" id="{22D66904-D805-5EC3-E781-F020F1BE08BF}"/>
              </a:ext>
            </a:extLst>
          </p:cNvPr>
          <p:cNvSpPr txBox="1"/>
          <p:nvPr/>
        </p:nvSpPr>
        <p:spPr>
          <a:xfrm>
            <a:off x="2875236" y="4352835"/>
            <a:ext cx="8629373" cy="1477328"/>
          </a:xfrm>
          <a:prstGeom prst="rect">
            <a:avLst/>
          </a:prstGeom>
          <a:noFill/>
        </p:spPr>
        <p:txBody>
          <a:bodyPr wrap="square">
            <a:spAutoFit/>
          </a:bodyPr>
          <a:lstStyle/>
          <a:p>
            <a:r>
              <a:rPr lang="en-US" dirty="0"/>
              <a:t>Notice how the class name, Exc0; the method name, main; the filename, Exc0.java; and the line number, 4, are all included in the simple stack trace. Also, notice that the type of exception thrown is a subclass of Exception called </a:t>
            </a:r>
            <a:r>
              <a:rPr lang="en-US" dirty="0" err="1"/>
              <a:t>ArithmeticException</a:t>
            </a:r>
            <a:r>
              <a:rPr lang="en-US" dirty="0"/>
              <a:t>, which more specifically describes what type of error happened. </a:t>
            </a:r>
          </a:p>
          <a:p>
            <a:endParaRPr lang="en-US" dirty="0"/>
          </a:p>
        </p:txBody>
      </p:sp>
      <p:pic>
        <p:nvPicPr>
          <p:cNvPr id="11" name="Picture 10">
            <a:extLst>
              <a:ext uri="{FF2B5EF4-FFF2-40B4-BE49-F238E27FC236}">
                <a16:creationId xmlns:a16="http://schemas.microsoft.com/office/drawing/2014/main" id="{F4A8A8C8-CC7E-8973-4FE0-BF0C71AA6FCF}"/>
              </a:ext>
            </a:extLst>
          </p:cNvPr>
          <p:cNvPicPr>
            <a:picLocks noChangeAspect="1"/>
          </p:cNvPicPr>
          <p:nvPr/>
        </p:nvPicPr>
        <p:blipFill>
          <a:blip r:embed="rId3"/>
          <a:stretch>
            <a:fillRect/>
          </a:stretch>
        </p:blipFill>
        <p:spPr>
          <a:xfrm>
            <a:off x="4427288" y="5712941"/>
            <a:ext cx="5189945" cy="823075"/>
          </a:xfrm>
          <a:prstGeom prst="rect">
            <a:avLst/>
          </a:prstGeom>
        </p:spPr>
      </p:pic>
    </p:spTree>
    <p:extLst>
      <p:ext uri="{BB962C8B-B14F-4D97-AF65-F5344CB8AC3E}">
        <p14:creationId xmlns:p14="http://schemas.microsoft.com/office/powerpoint/2010/main" val="2881231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217DC-389C-2D27-B991-310250B05B4E}"/>
              </a:ext>
            </a:extLst>
          </p:cNvPr>
          <p:cNvSpPr>
            <a:spLocks noGrp="1"/>
          </p:cNvSpPr>
          <p:nvPr>
            <p:ph type="title"/>
          </p:nvPr>
        </p:nvSpPr>
        <p:spPr>
          <a:xfrm>
            <a:off x="2431000" y="369273"/>
            <a:ext cx="8911687" cy="1280890"/>
          </a:xfrm>
        </p:spPr>
        <p:txBody>
          <a:bodyPr/>
          <a:lstStyle/>
          <a:p>
            <a:pPr algn="ctr"/>
            <a:r>
              <a:rPr lang="en-US" b="1" dirty="0"/>
              <a:t>Exceptions Classes</a:t>
            </a:r>
          </a:p>
        </p:txBody>
      </p:sp>
      <p:sp>
        <p:nvSpPr>
          <p:cNvPr id="3" name="Content Placeholder 2">
            <a:extLst>
              <a:ext uri="{FF2B5EF4-FFF2-40B4-BE49-F238E27FC236}">
                <a16:creationId xmlns:a16="http://schemas.microsoft.com/office/drawing/2014/main" id="{9023FB46-B1C9-D7A0-6E80-B107F7A18C50}"/>
              </a:ext>
            </a:extLst>
          </p:cNvPr>
          <p:cNvSpPr>
            <a:spLocks noGrp="1"/>
          </p:cNvSpPr>
          <p:nvPr>
            <p:ph idx="1"/>
          </p:nvPr>
        </p:nvSpPr>
        <p:spPr>
          <a:xfrm>
            <a:off x="2214072" y="1430215"/>
            <a:ext cx="9977927" cy="3777622"/>
          </a:xfrm>
        </p:spPr>
        <p:txBody>
          <a:bodyPr>
            <a:noAutofit/>
          </a:bodyPr>
          <a:lstStyle/>
          <a:p>
            <a:pPr marL="0" indent="0">
              <a:buNone/>
            </a:pPr>
            <a:r>
              <a:rPr lang="en-US" sz="2400" dirty="0"/>
              <a:t>Exceptions are represented by instances of the class </a:t>
            </a:r>
            <a:r>
              <a:rPr lang="en-US" sz="2400" dirty="0" err="1"/>
              <a:t>java.lang.Exception</a:t>
            </a:r>
            <a:r>
              <a:rPr lang="en-US" sz="2400" dirty="0"/>
              <a:t> and its subclasses. </a:t>
            </a:r>
          </a:p>
          <a:p>
            <a:pPr marL="0" indent="0">
              <a:buNone/>
            </a:pPr>
            <a:r>
              <a:rPr lang="en-US" sz="2400" dirty="0"/>
              <a:t>Subclasses of Exception can hold specialized information (and possibly behavior) for different kinds of exceptional conditions. </a:t>
            </a:r>
          </a:p>
          <a:p>
            <a:pPr marL="0" indent="0">
              <a:buNone/>
            </a:pPr>
            <a:r>
              <a:rPr lang="en-US" sz="2400" dirty="0"/>
              <a:t>However, more often they are simply “logical” subclasses that serve only to identify a new exception type.</a:t>
            </a:r>
          </a:p>
          <a:p>
            <a:pPr marL="0" indent="0">
              <a:buNone/>
            </a:pPr>
            <a:r>
              <a:rPr lang="en-US" sz="2400" dirty="0"/>
              <a:t>Most other packages define their own exception types, which usually are subclasses of Exception itself or of its important subclass </a:t>
            </a:r>
            <a:r>
              <a:rPr lang="en-US" sz="2400" dirty="0" err="1"/>
              <a:t>RuntimeException</a:t>
            </a:r>
            <a:r>
              <a:rPr lang="en-US" sz="2400" dirty="0"/>
              <a:t>. </a:t>
            </a:r>
          </a:p>
          <a:p>
            <a:pPr marL="0" indent="0">
              <a:buNone/>
            </a:pPr>
            <a:r>
              <a:rPr lang="en-US" sz="2400" dirty="0" err="1"/>
              <a:t>IOExceptions</a:t>
            </a:r>
            <a:r>
              <a:rPr lang="en-US" sz="2400" dirty="0"/>
              <a:t> are the package java.io. Network exceptions belong to the java.net package.</a:t>
            </a:r>
          </a:p>
          <a:p>
            <a:pPr marL="0" indent="0">
              <a:buNone/>
            </a:pPr>
            <a:r>
              <a:rPr lang="en-US" sz="2400" dirty="0"/>
              <a:t>See the list of Exceptions provided by Java </a:t>
            </a:r>
            <a:r>
              <a:rPr lang="en-US" sz="2400" dirty="0">
                <a:sym typeface="Wingdings" panose="05000000000000000000" pitchFamily="2" charset="2"/>
              </a:rPr>
              <a:t></a:t>
            </a:r>
            <a:endParaRPr lang="en-US" sz="2400" dirty="0"/>
          </a:p>
        </p:txBody>
      </p:sp>
    </p:spTree>
    <p:extLst>
      <p:ext uri="{BB962C8B-B14F-4D97-AF65-F5344CB8AC3E}">
        <p14:creationId xmlns:p14="http://schemas.microsoft.com/office/powerpoint/2010/main" val="250800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7395B-A46F-C1CF-55BE-270AF807EE9A}"/>
              </a:ext>
            </a:extLst>
          </p:cNvPr>
          <p:cNvPicPr>
            <a:picLocks noChangeAspect="1"/>
          </p:cNvPicPr>
          <p:nvPr/>
        </p:nvPicPr>
        <p:blipFill>
          <a:blip r:embed="rId2"/>
          <a:stretch>
            <a:fillRect/>
          </a:stretch>
        </p:blipFill>
        <p:spPr>
          <a:xfrm>
            <a:off x="2838913" y="161469"/>
            <a:ext cx="9116697" cy="6535062"/>
          </a:xfrm>
          <a:prstGeom prst="rect">
            <a:avLst/>
          </a:prstGeom>
        </p:spPr>
      </p:pic>
    </p:spTree>
    <p:extLst>
      <p:ext uri="{BB962C8B-B14F-4D97-AF65-F5344CB8AC3E}">
        <p14:creationId xmlns:p14="http://schemas.microsoft.com/office/powerpoint/2010/main" val="854311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BA99-B09C-D4B5-B35C-6DDEE1034AB0}"/>
              </a:ext>
            </a:extLst>
          </p:cNvPr>
          <p:cNvSpPr>
            <a:spLocks noGrp="1"/>
          </p:cNvSpPr>
          <p:nvPr>
            <p:ph type="title"/>
          </p:nvPr>
        </p:nvSpPr>
        <p:spPr>
          <a:xfrm>
            <a:off x="2628094" y="307587"/>
            <a:ext cx="8911687" cy="1280890"/>
          </a:xfrm>
        </p:spPr>
        <p:txBody>
          <a:bodyPr/>
          <a:lstStyle/>
          <a:p>
            <a:pPr algn="ctr"/>
            <a:r>
              <a:rPr lang="en-US" b="1" dirty="0"/>
              <a:t>The Exception Object</a:t>
            </a:r>
          </a:p>
        </p:txBody>
      </p:sp>
      <p:sp>
        <p:nvSpPr>
          <p:cNvPr id="3" name="Content Placeholder 2">
            <a:extLst>
              <a:ext uri="{FF2B5EF4-FFF2-40B4-BE49-F238E27FC236}">
                <a16:creationId xmlns:a16="http://schemas.microsoft.com/office/drawing/2014/main" id="{5104A33B-D697-B31D-F3B2-B1DB0CE12CD4}"/>
              </a:ext>
            </a:extLst>
          </p:cNvPr>
          <p:cNvSpPr>
            <a:spLocks noGrp="1"/>
          </p:cNvSpPr>
          <p:nvPr>
            <p:ph idx="1"/>
          </p:nvPr>
        </p:nvSpPr>
        <p:spPr>
          <a:xfrm>
            <a:off x="2944617" y="1264555"/>
            <a:ext cx="8915400" cy="3777622"/>
          </a:xfrm>
        </p:spPr>
        <p:txBody>
          <a:bodyPr>
            <a:noAutofit/>
          </a:bodyPr>
          <a:lstStyle/>
          <a:p>
            <a:pPr marL="0" indent="0">
              <a:buNone/>
            </a:pPr>
            <a:r>
              <a:rPr lang="en-US" sz="2400" dirty="0"/>
              <a:t>An Exception object is created by the code at the point where the error condition arises.</a:t>
            </a:r>
          </a:p>
          <a:p>
            <a:pPr marL="0" indent="0">
              <a:buNone/>
            </a:pPr>
            <a:r>
              <a:rPr lang="en-US" sz="2400" dirty="0"/>
              <a:t> It can be designed to hold any information that is necessary to describe the exceptional condition and also includes a full stack trace for debugging. </a:t>
            </a:r>
          </a:p>
          <a:p>
            <a:pPr marL="0" indent="0">
              <a:buNone/>
            </a:pPr>
            <a:r>
              <a:rPr lang="en-US" sz="2400" dirty="0"/>
              <a:t>A stack trace is the (occasionally unwieldy) list of all the methods called and the order in which they were called up to the point where the exception was thrown.</a:t>
            </a:r>
          </a:p>
          <a:p>
            <a:pPr marL="0" indent="0">
              <a:buNone/>
            </a:pPr>
            <a:r>
              <a:rPr lang="en-US" sz="2400" dirty="0"/>
              <a:t>The Exception object is passed as an argument to the handling block of code, along with the flow of control. </a:t>
            </a:r>
          </a:p>
          <a:p>
            <a:pPr marL="0" indent="0">
              <a:buNone/>
            </a:pPr>
            <a:r>
              <a:rPr lang="en-US" sz="2400" dirty="0"/>
              <a:t>This is where the terms throw and catch come from: the Exception object is thrown from one point in the code and caught by the other, where execution resumes.</a:t>
            </a:r>
          </a:p>
        </p:txBody>
      </p:sp>
    </p:spTree>
    <p:extLst>
      <p:ext uri="{BB962C8B-B14F-4D97-AF65-F5344CB8AC3E}">
        <p14:creationId xmlns:p14="http://schemas.microsoft.com/office/powerpoint/2010/main" val="2221578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FAA1-A4E3-1B4F-81F8-DD4E212AD49D}"/>
              </a:ext>
            </a:extLst>
          </p:cNvPr>
          <p:cNvSpPr>
            <a:spLocks noGrp="1"/>
          </p:cNvSpPr>
          <p:nvPr>
            <p:ph type="title"/>
          </p:nvPr>
        </p:nvSpPr>
        <p:spPr/>
        <p:txBody>
          <a:bodyPr/>
          <a:lstStyle/>
          <a:p>
            <a:pPr algn="ctr"/>
            <a:r>
              <a:rPr lang="en-US" b="1" dirty="0"/>
              <a:t>Java Error Objects</a:t>
            </a:r>
          </a:p>
        </p:txBody>
      </p:sp>
      <p:sp>
        <p:nvSpPr>
          <p:cNvPr id="3" name="Content Placeholder 2">
            <a:extLst>
              <a:ext uri="{FF2B5EF4-FFF2-40B4-BE49-F238E27FC236}">
                <a16:creationId xmlns:a16="http://schemas.microsoft.com/office/drawing/2014/main" id="{09F1E22B-8072-8FA2-61B5-2B2C72841CB4}"/>
              </a:ext>
            </a:extLst>
          </p:cNvPr>
          <p:cNvSpPr>
            <a:spLocks noGrp="1"/>
          </p:cNvSpPr>
          <p:nvPr>
            <p:ph idx="1"/>
          </p:nvPr>
        </p:nvSpPr>
        <p:spPr>
          <a:xfrm>
            <a:off x="3046412" y="1540189"/>
            <a:ext cx="8915400" cy="3777622"/>
          </a:xfrm>
        </p:spPr>
        <p:txBody>
          <a:bodyPr>
            <a:noAutofit/>
          </a:bodyPr>
          <a:lstStyle/>
          <a:p>
            <a:pPr marL="0" indent="0">
              <a:buNone/>
            </a:pPr>
            <a:r>
              <a:rPr lang="en-US" sz="2400" dirty="0"/>
              <a:t>The Java API also defines the </a:t>
            </a:r>
            <a:r>
              <a:rPr lang="en-US" sz="2400" dirty="0" err="1"/>
              <a:t>java.lang.Error</a:t>
            </a:r>
            <a:r>
              <a:rPr lang="en-US" sz="2400" dirty="0"/>
              <a:t> class for unrecoverable errors.</a:t>
            </a:r>
          </a:p>
          <a:p>
            <a:pPr marL="0" indent="0">
              <a:buNone/>
            </a:pPr>
            <a:r>
              <a:rPr lang="en-US" sz="2400" dirty="0"/>
              <a:t>The subclasses of Error in the </a:t>
            </a:r>
            <a:r>
              <a:rPr lang="en-US" sz="2400" dirty="0" err="1"/>
              <a:t>java.lang</a:t>
            </a:r>
            <a:r>
              <a:rPr lang="en-US" sz="2400" dirty="0"/>
              <a:t> package are shown in the next slide.</a:t>
            </a:r>
          </a:p>
          <a:p>
            <a:pPr marL="0" indent="0">
              <a:buNone/>
            </a:pPr>
            <a:r>
              <a:rPr lang="en-US" sz="2400" dirty="0"/>
              <a:t> A few other packages define their own subclasses of Error, but subclasses of Error are much less common (and less useful) than subclasses of Exception. </a:t>
            </a:r>
          </a:p>
          <a:p>
            <a:pPr marL="0" indent="0">
              <a:buNone/>
            </a:pPr>
            <a:r>
              <a:rPr lang="en-US" sz="2400" dirty="0"/>
              <a:t>You generally needn’t worry about these errors in your code (i.e., you do not have to catch them); they are intended to indicate fatal problems or virtual machine errors. An error of this kind usually causes the Java interpreter to display a message and exit. </a:t>
            </a:r>
          </a:p>
        </p:txBody>
      </p:sp>
    </p:spTree>
    <p:extLst>
      <p:ext uri="{BB962C8B-B14F-4D97-AF65-F5344CB8AC3E}">
        <p14:creationId xmlns:p14="http://schemas.microsoft.com/office/powerpoint/2010/main" val="3036783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13A998-A725-B461-40B5-99E7C3B2377E}"/>
              </a:ext>
            </a:extLst>
          </p:cNvPr>
          <p:cNvPicPr>
            <a:picLocks noChangeAspect="1"/>
          </p:cNvPicPr>
          <p:nvPr/>
        </p:nvPicPr>
        <p:blipFill>
          <a:blip r:embed="rId2"/>
          <a:stretch>
            <a:fillRect/>
          </a:stretch>
        </p:blipFill>
        <p:spPr>
          <a:xfrm>
            <a:off x="2788344" y="194811"/>
            <a:ext cx="9288171" cy="6468378"/>
          </a:xfrm>
          <a:prstGeom prst="rect">
            <a:avLst/>
          </a:prstGeom>
        </p:spPr>
      </p:pic>
    </p:spTree>
    <p:extLst>
      <p:ext uri="{BB962C8B-B14F-4D97-AF65-F5344CB8AC3E}">
        <p14:creationId xmlns:p14="http://schemas.microsoft.com/office/powerpoint/2010/main" val="70353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C3F4-5611-A68F-312A-F69C8C2B6ADD}"/>
              </a:ext>
            </a:extLst>
          </p:cNvPr>
          <p:cNvSpPr>
            <a:spLocks noGrp="1"/>
          </p:cNvSpPr>
          <p:nvPr>
            <p:ph type="title"/>
          </p:nvPr>
        </p:nvSpPr>
        <p:spPr/>
        <p:txBody>
          <a:bodyPr/>
          <a:lstStyle/>
          <a:p>
            <a:pPr algn="ctr"/>
            <a:r>
              <a:rPr lang="en-US" b="1" dirty="0"/>
              <a:t>Exception Handling</a:t>
            </a:r>
          </a:p>
        </p:txBody>
      </p:sp>
      <p:sp>
        <p:nvSpPr>
          <p:cNvPr id="3" name="Content Placeholder 2">
            <a:extLst>
              <a:ext uri="{FF2B5EF4-FFF2-40B4-BE49-F238E27FC236}">
                <a16:creationId xmlns:a16="http://schemas.microsoft.com/office/drawing/2014/main" id="{0031BDDF-D305-E9AD-8CC4-E5E5F819CBCD}"/>
              </a:ext>
            </a:extLst>
          </p:cNvPr>
          <p:cNvSpPr>
            <a:spLocks noGrp="1"/>
          </p:cNvSpPr>
          <p:nvPr>
            <p:ph idx="1"/>
          </p:nvPr>
        </p:nvSpPr>
        <p:spPr/>
        <p:txBody>
          <a:bodyPr>
            <a:normAutofit/>
          </a:bodyPr>
          <a:lstStyle/>
          <a:p>
            <a:pPr lvl="0">
              <a:buFontTx/>
              <a:buNone/>
            </a:pPr>
            <a:r>
              <a:rPr lang="en-US" sz="2400" dirty="0"/>
              <a:t>We can recover from the Exception and continue running the program.  This is called exception handling.</a:t>
            </a:r>
          </a:p>
          <a:p>
            <a:pPr lvl="0">
              <a:buFontTx/>
              <a:buNone/>
            </a:pPr>
            <a:r>
              <a:rPr lang="en-US" sz="2400" dirty="0"/>
              <a:t>Java provides have two tools:</a:t>
            </a:r>
          </a:p>
          <a:p>
            <a:pPr lvl="1">
              <a:buFontTx/>
              <a:buNone/>
            </a:pPr>
            <a:r>
              <a:rPr lang="en-US" sz="2400" dirty="0"/>
              <a:t>Exception classes</a:t>
            </a:r>
          </a:p>
          <a:p>
            <a:pPr lvl="1">
              <a:buFontTx/>
              <a:buNone/>
            </a:pPr>
            <a:r>
              <a:rPr lang="en-US" sz="2400" dirty="0"/>
              <a:t>try-catch and finally blocks</a:t>
            </a:r>
          </a:p>
          <a:p>
            <a:pPr lvl="1">
              <a:buFontTx/>
              <a:buNone/>
            </a:pPr>
            <a:endParaRPr lang="en-US" sz="2400" dirty="0"/>
          </a:p>
        </p:txBody>
      </p:sp>
    </p:spTree>
    <p:extLst>
      <p:ext uri="{BB962C8B-B14F-4D97-AF65-F5344CB8AC3E}">
        <p14:creationId xmlns:p14="http://schemas.microsoft.com/office/powerpoint/2010/main" val="1102830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F509-61FA-66B4-502A-8C33E3161A6D}"/>
              </a:ext>
            </a:extLst>
          </p:cNvPr>
          <p:cNvSpPr>
            <a:spLocks noGrp="1"/>
          </p:cNvSpPr>
          <p:nvPr>
            <p:ph type="title"/>
          </p:nvPr>
        </p:nvSpPr>
        <p:spPr>
          <a:xfrm>
            <a:off x="2534310" y="248972"/>
            <a:ext cx="8911687" cy="1280890"/>
          </a:xfrm>
        </p:spPr>
        <p:txBody>
          <a:bodyPr/>
          <a:lstStyle/>
          <a:p>
            <a:pPr algn="ctr"/>
            <a:r>
              <a:rPr lang="en-US" b="1" dirty="0"/>
              <a:t>try/catch blocks</a:t>
            </a:r>
          </a:p>
        </p:txBody>
      </p:sp>
      <p:sp>
        <p:nvSpPr>
          <p:cNvPr id="3" name="Content Placeholder 2">
            <a:extLst>
              <a:ext uri="{FF2B5EF4-FFF2-40B4-BE49-F238E27FC236}">
                <a16:creationId xmlns:a16="http://schemas.microsoft.com/office/drawing/2014/main" id="{3DAF1FA9-F390-0D41-B3C8-3E60DFB9C2E3}"/>
              </a:ext>
            </a:extLst>
          </p:cNvPr>
          <p:cNvSpPr>
            <a:spLocks noGrp="1"/>
          </p:cNvSpPr>
          <p:nvPr>
            <p:ph idx="1"/>
          </p:nvPr>
        </p:nvSpPr>
        <p:spPr>
          <a:xfrm>
            <a:off x="6457293" y="1195754"/>
            <a:ext cx="5490673" cy="5355312"/>
          </a:xfrm>
          <a:ln w="15875">
            <a:solidFill>
              <a:schemeClr val="tx1"/>
            </a:solidFill>
          </a:ln>
        </p:spPr>
        <p:txBody>
          <a:bodyPr>
            <a:noAutofit/>
          </a:bodyPr>
          <a:lstStyle/>
          <a:p>
            <a:pPr marL="0" indent="0">
              <a:buNone/>
            </a:pPr>
            <a:r>
              <a:rPr lang="en-US" sz="2400" b="1" dirty="0"/>
              <a:t> try {</a:t>
            </a:r>
          </a:p>
          <a:p>
            <a:pPr marL="0" indent="0">
              <a:buNone/>
            </a:pPr>
            <a:r>
              <a:rPr lang="en-US" sz="2400" b="1" dirty="0"/>
              <a:t>        </a:t>
            </a:r>
            <a:r>
              <a:rPr lang="en-US" sz="2400" b="1" dirty="0" err="1"/>
              <a:t>readFromFile</a:t>
            </a:r>
            <a:r>
              <a:rPr lang="en-US" sz="2400" b="1" dirty="0"/>
              <a:t>("foo");</a:t>
            </a:r>
          </a:p>
          <a:p>
            <a:pPr marL="0" indent="0">
              <a:buNone/>
            </a:pPr>
            <a:r>
              <a:rPr lang="en-US" sz="2400" b="1" dirty="0"/>
              <a:t>        ...</a:t>
            </a:r>
          </a:p>
          <a:p>
            <a:pPr marL="0" indent="0">
              <a:buNone/>
            </a:pPr>
            <a:r>
              <a:rPr lang="en-US" sz="2400" b="1" dirty="0"/>
              <a:t>    }</a:t>
            </a:r>
          </a:p>
          <a:p>
            <a:pPr marL="0" indent="0">
              <a:buNone/>
            </a:pPr>
            <a:r>
              <a:rPr lang="en-US" sz="2400" b="1" dirty="0"/>
              <a:t>    catch ( Exception e ) {</a:t>
            </a:r>
          </a:p>
          <a:p>
            <a:pPr marL="0" indent="0">
              <a:buNone/>
            </a:pPr>
            <a:r>
              <a:rPr lang="en-US" sz="2400" b="1" dirty="0"/>
              <a:t>        // Handle error</a:t>
            </a:r>
          </a:p>
          <a:p>
            <a:pPr marL="0" indent="0">
              <a:buNone/>
            </a:pPr>
            <a:r>
              <a:rPr lang="en-US" sz="2400" b="1" dirty="0"/>
              <a:t>        </a:t>
            </a:r>
            <a:r>
              <a:rPr lang="en-US" sz="2400" b="1" dirty="0" err="1"/>
              <a:t>System.out.println</a:t>
            </a:r>
            <a:r>
              <a:rPr lang="en-US" sz="2400" b="1" dirty="0"/>
              <a:t>( "Exception while reading file: " + e );</a:t>
            </a:r>
          </a:p>
          <a:p>
            <a:pPr marL="0" indent="0">
              <a:buNone/>
            </a:pPr>
            <a:r>
              <a:rPr lang="en-US" sz="2400" b="1" dirty="0"/>
              <a:t>        ...</a:t>
            </a:r>
          </a:p>
          <a:p>
            <a:pPr marL="0" indent="0">
              <a:buNone/>
            </a:pPr>
            <a:r>
              <a:rPr lang="en-US" sz="2400" b="1" dirty="0"/>
              <a:t>    }</a:t>
            </a:r>
          </a:p>
        </p:txBody>
      </p:sp>
      <p:sp>
        <p:nvSpPr>
          <p:cNvPr id="4" name="TextBox 3">
            <a:extLst>
              <a:ext uri="{FF2B5EF4-FFF2-40B4-BE49-F238E27FC236}">
                <a16:creationId xmlns:a16="http://schemas.microsoft.com/office/drawing/2014/main" id="{45E0356A-D711-8FE0-0DEE-542D2E454084}"/>
              </a:ext>
            </a:extLst>
          </p:cNvPr>
          <p:cNvSpPr txBox="1"/>
          <p:nvPr/>
        </p:nvSpPr>
        <p:spPr>
          <a:xfrm>
            <a:off x="2438400" y="1230923"/>
            <a:ext cx="3751385" cy="5324535"/>
          </a:xfrm>
          <a:prstGeom prst="rect">
            <a:avLst/>
          </a:prstGeom>
          <a:noFill/>
          <a:ln w="15875">
            <a:solidFill>
              <a:schemeClr val="tx1"/>
            </a:solidFill>
          </a:ln>
        </p:spPr>
        <p:txBody>
          <a:bodyPr wrap="square" rtlCol="0">
            <a:spAutoFit/>
          </a:bodyPr>
          <a:lstStyle/>
          <a:p>
            <a:r>
              <a:rPr lang="en-US" sz="2000" dirty="0"/>
              <a:t>Exceptions that occur within the body of the try portion of the statement are directed to the catch clause for possible handling. </a:t>
            </a:r>
          </a:p>
          <a:p>
            <a:endParaRPr lang="en-US" sz="2000" dirty="0"/>
          </a:p>
          <a:p>
            <a:r>
              <a:rPr lang="en-US" sz="2000" dirty="0"/>
              <a:t>The catch clause acts like a method; it specifies as an argument the type of exception it wants to handle and if it’s invoked, it receives the Exception object as an argument.</a:t>
            </a:r>
          </a:p>
          <a:p>
            <a:endParaRPr lang="en-US" sz="2000" dirty="0"/>
          </a:p>
          <a:p>
            <a:r>
              <a:rPr lang="en-US" sz="2000" dirty="0"/>
              <a:t>Here, we receive the object in the variable e and print it along with a message.</a:t>
            </a:r>
          </a:p>
        </p:txBody>
      </p:sp>
    </p:spTree>
    <p:extLst>
      <p:ext uri="{BB962C8B-B14F-4D97-AF65-F5344CB8AC3E}">
        <p14:creationId xmlns:p14="http://schemas.microsoft.com/office/powerpoint/2010/main" val="167033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C153-E6AD-2EBA-B81B-4DB3F65E0B62}"/>
              </a:ext>
            </a:extLst>
          </p:cNvPr>
          <p:cNvSpPr>
            <a:spLocks noGrp="1"/>
          </p:cNvSpPr>
          <p:nvPr>
            <p:ph type="title"/>
          </p:nvPr>
        </p:nvSpPr>
        <p:spPr>
          <a:xfrm>
            <a:off x="2568119" y="282364"/>
            <a:ext cx="8911687" cy="1280890"/>
          </a:xfrm>
        </p:spPr>
        <p:txBody>
          <a:bodyPr/>
          <a:lstStyle/>
          <a:p>
            <a:r>
              <a:rPr lang="en-US" b="1" dirty="0"/>
              <a:t>Methods can throw Multiple Exceptions</a:t>
            </a:r>
          </a:p>
        </p:txBody>
      </p:sp>
      <p:sp>
        <p:nvSpPr>
          <p:cNvPr id="3" name="Content Placeholder 2">
            <a:extLst>
              <a:ext uri="{FF2B5EF4-FFF2-40B4-BE49-F238E27FC236}">
                <a16:creationId xmlns:a16="http://schemas.microsoft.com/office/drawing/2014/main" id="{5D34C023-EF44-47B6-94E0-3256CAF75141}"/>
              </a:ext>
            </a:extLst>
          </p:cNvPr>
          <p:cNvSpPr>
            <a:spLocks noGrp="1"/>
          </p:cNvSpPr>
          <p:nvPr>
            <p:ph sz="half" idx="1"/>
          </p:nvPr>
        </p:nvSpPr>
        <p:spPr>
          <a:xfrm>
            <a:off x="2568119" y="1061355"/>
            <a:ext cx="4576446" cy="5598063"/>
          </a:xfrm>
          <a:ln w="15875">
            <a:solidFill>
              <a:schemeClr val="tx1"/>
            </a:solidFill>
          </a:ln>
        </p:spPr>
        <p:txBody>
          <a:bodyPr>
            <a:noAutofit/>
          </a:bodyPr>
          <a:lstStyle/>
          <a:p>
            <a:pPr marL="0" indent="0">
              <a:buNone/>
            </a:pPr>
            <a:r>
              <a:rPr lang="en-US" dirty="0"/>
              <a:t>In that case, we need multiple catch clauses that specify the different type of Exceptions.</a:t>
            </a:r>
          </a:p>
          <a:p>
            <a:pPr marL="0" indent="0">
              <a:buNone/>
            </a:pPr>
            <a:r>
              <a:rPr lang="en-US" dirty="0"/>
              <a:t>The catch clauses are evaluated in order, and the first assignable match is taken. </a:t>
            </a:r>
          </a:p>
          <a:p>
            <a:pPr marL="0" indent="0">
              <a:buNone/>
            </a:pPr>
            <a:r>
              <a:rPr lang="en-US" dirty="0"/>
              <a:t>At most, one catch clause is executed, which means that the exceptions should be listed from most to least specific. </a:t>
            </a:r>
          </a:p>
          <a:p>
            <a:pPr marL="0" indent="0">
              <a:buNone/>
            </a:pPr>
            <a:r>
              <a:rPr lang="en-US" dirty="0"/>
              <a:t>We anticipate that </a:t>
            </a:r>
            <a:r>
              <a:rPr lang="en-US" dirty="0" err="1"/>
              <a:t>readFromFile</a:t>
            </a:r>
            <a:r>
              <a:rPr lang="en-US" dirty="0"/>
              <a:t>() can throw two different kinds of exceptions:</a:t>
            </a:r>
          </a:p>
          <a:p>
            <a:pPr marL="0" indent="0">
              <a:buNone/>
            </a:pPr>
            <a:r>
              <a:rPr lang="en-US" dirty="0" err="1"/>
              <a:t>FileNotFoundException</a:t>
            </a:r>
            <a:r>
              <a:rPr lang="en-US" dirty="0"/>
              <a:t> </a:t>
            </a:r>
          </a:p>
          <a:p>
            <a:pPr marL="0" indent="0">
              <a:buNone/>
            </a:pPr>
            <a:r>
              <a:rPr lang="en-US" dirty="0" err="1"/>
              <a:t>IOException</a:t>
            </a:r>
            <a:endParaRPr lang="en-US" dirty="0"/>
          </a:p>
          <a:p>
            <a:pPr marL="0" indent="0">
              <a:buNone/>
            </a:pPr>
            <a:r>
              <a:rPr lang="en-US" dirty="0"/>
              <a:t>We catch the parent Exception at the end  in case we missed anything.  It will catch all other Exceptions.</a:t>
            </a:r>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F9243140-5D37-D6FC-53B4-1B8E20CF5FC7}"/>
              </a:ext>
            </a:extLst>
          </p:cNvPr>
          <p:cNvSpPr>
            <a:spLocks noGrp="1"/>
          </p:cNvSpPr>
          <p:nvPr>
            <p:ph sz="half" idx="2"/>
          </p:nvPr>
        </p:nvSpPr>
        <p:spPr>
          <a:xfrm>
            <a:off x="7662669" y="1033645"/>
            <a:ext cx="4313864" cy="5625773"/>
          </a:xfrm>
          <a:ln w="15875">
            <a:solidFill>
              <a:schemeClr val="tx1"/>
            </a:solidFill>
          </a:ln>
        </p:spPr>
        <p:txBody>
          <a:bodyPr>
            <a:noAutofit/>
          </a:bodyPr>
          <a:lstStyle/>
          <a:p>
            <a:pPr marL="0" indent="0">
              <a:buNone/>
            </a:pPr>
            <a:r>
              <a:rPr lang="en-US" b="1" dirty="0"/>
              <a:t>try {</a:t>
            </a:r>
          </a:p>
          <a:p>
            <a:pPr marL="0" indent="0">
              <a:buNone/>
            </a:pPr>
            <a:r>
              <a:rPr lang="en-US" b="1" dirty="0"/>
              <a:t>        </a:t>
            </a:r>
            <a:r>
              <a:rPr lang="en-US" b="1" dirty="0" err="1"/>
              <a:t>readFromFile</a:t>
            </a:r>
            <a:r>
              <a:rPr lang="en-US" b="1" dirty="0"/>
              <a:t>("foo");</a:t>
            </a:r>
          </a:p>
          <a:p>
            <a:pPr marL="0" indent="0">
              <a:buNone/>
            </a:pPr>
            <a:r>
              <a:rPr lang="en-US" b="1" dirty="0"/>
              <a:t>        ...</a:t>
            </a:r>
          </a:p>
          <a:p>
            <a:pPr marL="0" indent="0">
              <a:buNone/>
            </a:pPr>
            <a:r>
              <a:rPr lang="en-US" b="1" dirty="0"/>
              <a:t>    }</a:t>
            </a:r>
          </a:p>
          <a:p>
            <a:pPr marL="0" indent="0">
              <a:buNone/>
            </a:pPr>
            <a:r>
              <a:rPr lang="en-US" b="1" dirty="0"/>
              <a:t>    catch ( </a:t>
            </a:r>
            <a:r>
              <a:rPr lang="en-US" b="1" dirty="0" err="1"/>
              <a:t>FileNotFoundException</a:t>
            </a:r>
            <a:r>
              <a:rPr lang="en-US" b="1" dirty="0"/>
              <a:t> e ) {</a:t>
            </a:r>
          </a:p>
          <a:p>
            <a:pPr marL="0" indent="0">
              <a:buNone/>
            </a:pPr>
            <a:r>
              <a:rPr lang="en-US" b="1" dirty="0"/>
              <a:t>    </a:t>
            </a:r>
            <a:r>
              <a:rPr lang="en-US" dirty="0"/>
              <a:t>    // Handle file not found</a:t>
            </a:r>
            <a:r>
              <a:rPr lang="en-US" b="1" dirty="0"/>
              <a:t>        </a:t>
            </a:r>
          </a:p>
          <a:p>
            <a:pPr marL="0" indent="0">
              <a:buNone/>
            </a:pPr>
            <a:r>
              <a:rPr lang="en-US" b="1" dirty="0"/>
              <a:t>    }</a:t>
            </a:r>
          </a:p>
          <a:p>
            <a:pPr marL="0" indent="0">
              <a:buNone/>
            </a:pPr>
            <a:r>
              <a:rPr lang="en-US" b="1" dirty="0"/>
              <a:t>    catch ( </a:t>
            </a:r>
            <a:r>
              <a:rPr lang="en-US" b="1" dirty="0" err="1"/>
              <a:t>IOException</a:t>
            </a:r>
            <a:r>
              <a:rPr lang="en-US" b="1" dirty="0"/>
              <a:t> e ) {</a:t>
            </a:r>
          </a:p>
          <a:p>
            <a:pPr marL="0" indent="0">
              <a:buNone/>
            </a:pPr>
            <a:r>
              <a:rPr lang="en-US" dirty="0"/>
              <a:t>        // Handle read error</a:t>
            </a:r>
            <a:r>
              <a:rPr lang="en-US" b="1" dirty="0"/>
              <a:t>        </a:t>
            </a:r>
          </a:p>
          <a:p>
            <a:pPr marL="0" indent="0">
              <a:buNone/>
            </a:pPr>
            <a:r>
              <a:rPr lang="en-US" b="1" dirty="0"/>
              <a:t>    }</a:t>
            </a:r>
          </a:p>
          <a:p>
            <a:pPr marL="0" indent="0">
              <a:buNone/>
            </a:pPr>
            <a:r>
              <a:rPr lang="en-US" b="1" dirty="0"/>
              <a:t>    catch ( Exception e ) {</a:t>
            </a:r>
          </a:p>
          <a:p>
            <a:pPr marL="0" indent="0">
              <a:buNone/>
            </a:pPr>
            <a:r>
              <a:rPr lang="en-US" b="1" dirty="0"/>
              <a:t>        // Handle all other errors        </a:t>
            </a:r>
          </a:p>
          <a:p>
            <a:pPr marL="0" indent="0">
              <a:buNone/>
            </a:pPr>
            <a:r>
              <a:rPr lang="en-US" b="1" dirty="0"/>
              <a:t>    }</a:t>
            </a:r>
          </a:p>
        </p:txBody>
      </p:sp>
    </p:spTree>
    <p:extLst>
      <p:ext uri="{BB962C8B-B14F-4D97-AF65-F5344CB8AC3E}">
        <p14:creationId xmlns:p14="http://schemas.microsoft.com/office/powerpoint/2010/main" val="1473324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8685-79E4-C485-2860-9826C3025F39}"/>
              </a:ext>
            </a:extLst>
          </p:cNvPr>
          <p:cNvSpPr>
            <a:spLocks noGrp="1"/>
          </p:cNvSpPr>
          <p:nvPr>
            <p:ph type="title"/>
          </p:nvPr>
        </p:nvSpPr>
        <p:spPr/>
        <p:txBody>
          <a:bodyPr/>
          <a:lstStyle/>
          <a:p>
            <a:pPr algn="ctr"/>
            <a:r>
              <a:rPr lang="en-US" b="1" dirty="0"/>
              <a:t>Catching the Exception up the Line</a:t>
            </a:r>
          </a:p>
        </p:txBody>
      </p:sp>
      <p:sp>
        <p:nvSpPr>
          <p:cNvPr id="3" name="Content Placeholder 2">
            <a:extLst>
              <a:ext uri="{FF2B5EF4-FFF2-40B4-BE49-F238E27FC236}">
                <a16:creationId xmlns:a16="http://schemas.microsoft.com/office/drawing/2014/main" id="{642FAD28-206D-4449-3588-BBF6F2B5EEC8}"/>
              </a:ext>
            </a:extLst>
          </p:cNvPr>
          <p:cNvSpPr>
            <a:spLocks noGrp="1"/>
          </p:cNvSpPr>
          <p:nvPr>
            <p:ph idx="1"/>
          </p:nvPr>
        </p:nvSpPr>
        <p:spPr/>
        <p:txBody>
          <a:bodyPr>
            <a:normAutofit/>
          </a:bodyPr>
          <a:lstStyle/>
          <a:p>
            <a:pPr marL="0" indent="0">
              <a:buNone/>
            </a:pPr>
            <a:r>
              <a:rPr lang="en-US" sz="2400" dirty="0"/>
              <a:t> If we don’t immediately  catch the Exception, it pops up from the method in which it originated and is thrown from that method up to its caller.  </a:t>
            </a:r>
          </a:p>
          <a:p>
            <a:pPr marL="0" indent="0">
              <a:buNone/>
            </a:pPr>
            <a:r>
              <a:rPr lang="en-US" sz="2400" dirty="0"/>
              <a:t>If it is not caught there, the exception continues propagating up the call stack, until it is caught or it pops out of the program and crashes it.</a:t>
            </a:r>
          </a:p>
          <a:p>
            <a:pPr marL="0" indent="0">
              <a:buNone/>
            </a:pPr>
            <a:r>
              <a:rPr lang="en-US" sz="2400" dirty="0"/>
              <a:t>It is perfectly fine to catch the exception in a method up the line.  It may be that is a more convenient method to handle it.</a:t>
            </a:r>
          </a:p>
        </p:txBody>
      </p:sp>
    </p:spTree>
    <p:extLst>
      <p:ext uri="{BB962C8B-B14F-4D97-AF65-F5344CB8AC3E}">
        <p14:creationId xmlns:p14="http://schemas.microsoft.com/office/powerpoint/2010/main" val="110256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F88D-F906-D13D-75D6-C0DA2A9B7E19}"/>
              </a:ext>
            </a:extLst>
          </p:cNvPr>
          <p:cNvSpPr>
            <a:spLocks noGrp="1"/>
          </p:cNvSpPr>
          <p:nvPr>
            <p:ph type="title"/>
          </p:nvPr>
        </p:nvSpPr>
        <p:spPr/>
        <p:txBody>
          <a:bodyPr/>
          <a:lstStyle/>
          <a:p>
            <a:pPr algn="ctr"/>
            <a:r>
              <a:rPr lang="en-US" b="1" dirty="0"/>
              <a:t>Example: The </a:t>
            </a:r>
            <a:r>
              <a:rPr lang="en-US" b="1" dirty="0" err="1"/>
              <a:t>GetContent</a:t>
            </a:r>
            <a:r>
              <a:rPr lang="en-US" b="1" dirty="0"/>
              <a:t> Method</a:t>
            </a:r>
          </a:p>
        </p:txBody>
      </p:sp>
      <p:pic>
        <p:nvPicPr>
          <p:cNvPr id="5" name="Content Placeholder 4">
            <a:extLst>
              <a:ext uri="{FF2B5EF4-FFF2-40B4-BE49-F238E27FC236}">
                <a16:creationId xmlns:a16="http://schemas.microsoft.com/office/drawing/2014/main" id="{BAF08DEF-99F0-3493-29C1-88B928AFF859}"/>
              </a:ext>
            </a:extLst>
          </p:cNvPr>
          <p:cNvPicPr>
            <a:picLocks noGrp="1" noChangeAspect="1"/>
          </p:cNvPicPr>
          <p:nvPr>
            <p:ph idx="1"/>
          </p:nvPr>
        </p:nvPicPr>
        <p:blipFill>
          <a:blip r:embed="rId2"/>
          <a:stretch>
            <a:fillRect/>
          </a:stretch>
        </p:blipFill>
        <p:spPr>
          <a:xfrm>
            <a:off x="1179513" y="1458267"/>
            <a:ext cx="10812860" cy="3494734"/>
          </a:xfrm>
        </p:spPr>
      </p:pic>
      <p:sp>
        <p:nvSpPr>
          <p:cNvPr id="9" name="TextBox 8">
            <a:extLst>
              <a:ext uri="{FF2B5EF4-FFF2-40B4-BE49-F238E27FC236}">
                <a16:creationId xmlns:a16="http://schemas.microsoft.com/office/drawing/2014/main" id="{DB9A687D-D66F-0740-085B-0C7FDA40DF19}"/>
              </a:ext>
            </a:extLst>
          </p:cNvPr>
          <p:cNvSpPr txBox="1"/>
          <p:nvPr/>
        </p:nvSpPr>
        <p:spPr>
          <a:xfrm>
            <a:off x="1911927" y="5403273"/>
            <a:ext cx="9592685" cy="923330"/>
          </a:xfrm>
          <a:prstGeom prst="rect">
            <a:avLst/>
          </a:prstGeom>
          <a:noFill/>
          <a:ln w="15875">
            <a:solidFill>
              <a:schemeClr val="tx1"/>
            </a:solidFill>
          </a:ln>
        </p:spPr>
        <p:txBody>
          <a:bodyPr wrap="square" rtlCol="0">
            <a:spAutoFit/>
          </a:bodyPr>
          <a:lstStyle/>
          <a:p>
            <a:r>
              <a:rPr lang="en-US" dirty="0"/>
              <a:t>The second call to write throws an </a:t>
            </a:r>
            <a:r>
              <a:rPr lang="en-US" dirty="0" err="1"/>
              <a:t>IOException</a:t>
            </a:r>
            <a:r>
              <a:rPr lang="en-US" dirty="0"/>
              <a:t>.  There is no try/catch in </a:t>
            </a:r>
            <a:r>
              <a:rPr lang="en-US" dirty="0" err="1"/>
              <a:t>sendRequest</a:t>
            </a:r>
            <a:r>
              <a:rPr lang="en-US" dirty="0"/>
              <a:t>, so it is thrown back to </a:t>
            </a:r>
            <a:r>
              <a:rPr lang="en-US" dirty="0" err="1"/>
              <a:t>openConnection</a:t>
            </a:r>
            <a:r>
              <a:rPr lang="en-US" dirty="0"/>
              <a:t>, which does not have a catch either. Finally, it is caught by the try in </a:t>
            </a:r>
            <a:r>
              <a:rPr lang="en-US" dirty="0" err="1"/>
              <a:t>getContent</a:t>
            </a:r>
            <a:r>
              <a:rPr lang="en-US" dirty="0"/>
              <a:t> and is handled by  its catch.</a:t>
            </a:r>
          </a:p>
        </p:txBody>
      </p:sp>
    </p:spTree>
    <p:extLst>
      <p:ext uri="{BB962C8B-B14F-4D97-AF65-F5344CB8AC3E}">
        <p14:creationId xmlns:p14="http://schemas.microsoft.com/office/powerpoint/2010/main" val="38434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15A0-4E3C-303B-5D34-37124EA47A97}"/>
              </a:ext>
            </a:extLst>
          </p:cNvPr>
          <p:cNvSpPr>
            <a:spLocks noGrp="1"/>
          </p:cNvSpPr>
          <p:nvPr>
            <p:ph type="title"/>
          </p:nvPr>
        </p:nvSpPr>
        <p:spPr/>
        <p:txBody>
          <a:bodyPr/>
          <a:lstStyle/>
          <a:p>
            <a:pPr algn="ctr"/>
            <a:r>
              <a:rPr lang="en-US" b="1" dirty="0"/>
              <a:t>Stack Traces</a:t>
            </a:r>
          </a:p>
        </p:txBody>
      </p:sp>
      <p:sp>
        <p:nvSpPr>
          <p:cNvPr id="3" name="Content Placeholder 2">
            <a:extLst>
              <a:ext uri="{FF2B5EF4-FFF2-40B4-BE49-F238E27FC236}">
                <a16:creationId xmlns:a16="http://schemas.microsoft.com/office/drawing/2014/main" id="{412EE66E-DD39-BB67-0F57-DE71EE7BEDD4}"/>
              </a:ext>
            </a:extLst>
          </p:cNvPr>
          <p:cNvSpPr>
            <a:spLocks noGrp="1"/>
          </p:cNvSpPr>
          <p:nvPr>
            <p:ph idx="1"/>
          </p:nvPr>
        </p:nvSpPr>
        <p:spPr>
          <a:xfrm>
            <a:off x="2701179" y="1443135"/>
            <a:ext cx="8915400" cy="3777622"/>
          </a:xfrm>
        </p:spPr>
        <p:txBody>
          <a:bodyPr>
            <a:noAutofit/>
          </a:bodyPr>
          <a:lstStyle/>
          <a:p>
            <a:pPr marL="0" indent="0">
              <a:buNone/>
            </a:pPr>
            <a:r>
              <a:rPr lang="en-US" sz="2400" dirty="0"/>
              <a:t>Because an exception can bubble up quite a distance before it is caught and handled, we may need a way to determine exactly where it was thrown. </a:t>
            </a:r>
          </a:p>
          <a:p>
            <a:pPr marL="0" indent="0">
              <a:buNone/>
            </a:pPr>
            <a:r>
              <a:rPr lang="en-US" sz="2400" dirty="0"/>
              <a:t>It’s also very important to know the context of how the point of the exception was reached; that is, which methods called which methods to get to that point. </a:t>
            </a:r>
          </a:p>
          <a:p>
            <a:pPr marL="0" indent="0">
              <a:buNone/>
            </a:pPr>
            <a:r>
              <a:rPr lang="en-US" sz="2400" dirty="0"/>
              <a:t>For these kinds of debugging and logging purposes, all exceptions can dump a stack trace that lists their method of origin and all the nested method calls it took to arrive there. </a:t>
            </a:r>
          </a:p>
          <a:p>
            <a:pPr marL="0" indent="0">
              <a:buNone/>
            </a:pPr>
            <a:r>
              <a:rPr lang="en-US" sz="2400" dirty="0"/>
              <a:t>Most commonly, the user sees a stack trace when it is printed using the </a:t>
            </a:r>
            <a:r>
              <a:rPr lang="en-US" sz="2400" dirty="0" err="1"/>
              <a:t>printStackTrace</a:t>
            </a:r>
            <a:r>
              <a:rPr lang="en-US" sz="2400" dirty="0"/>
              <a:t>() method.</a:t>
            </a:r>
          </a:p>
        </p:txBody>
      </p:sp>
    </p:spTree>
    <p:extLst>
      <p:ext uri="{BB962C8B-B14F-4D97-AF65-F5344CB8AC3E}">
        <p14:creationId xmlns:p14="http://schemas.microsoft.com/office/powerpoint/2010/main" val="2844812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155C-C72F-0B95-D014-FF5DCB23C21A}"/>
              </a:ext>
            </a:extLst>
          </p:cNvPr>
          <p:cNvSpPr>
            <a:spLocks noGrp="1"/>
          </p:cNvSpPr>
          <p:nvPr>
            <p:ph type="title"/>
          </p:nvPr>
        </p:nvSpPr>
        <p:spPr>
          <a:xfrm>
            <a:off x="2546272" y="316200"/>
            <a:ext cx="8911687" cy="1280890"/>
          </a:xfrm>
        </p:spPr>
        <p:txBody>
          <a:bodyPr/>
          <a:lstStyle/>
          <a:p>
            <a:pPr algn="ctr"/>
            <a:r>
              <a:rPr lang="en-US" b="1" dirty="0"/>
              <a:t>Getting the </a:t>
            </a:r>
            <a:r>
              <a:rPr lang="en-US" b="1" dirty="0" err="1"/>
              <a:t>StackTrace</a:t>
            </a:r>
            <a:endParaRPr lang="en-US" b="1" dirty="0"/>
          </a:p>
        </p:txBody>
      </p:sp>
      <p:sp>
        <p:nvSpPr>
          <p:cNvPr id="3" name="Content Placeholder 2">
            <a:extLst>
              <a:ext uri="{FF2B5EF4-FFF2-40B4-BE49-F238E27FC236}">
                <a16:creationId xmlns:a16="http://schemas.microsoft.com/office/drawing/2014/main" id="{C999AD7A-733E-E1E3-64DC-95FBC3589B1C}"/>
              </a:ext>
            </a:extLst>
          </p:cNvPr>
          <p:cNvSpPr>
            <a:spLocks noGrp="1"/>
          </p:cNvSpPr>
          <p:nvPr>
            <p:ph idx="1"/>
          </p:nvPr>
        </p:nvSpPr>
        <p:spPr>
          <a:xfrm>
            <a:off x="2785155" y="1368490"/>
            <a:ext cx="8915400" cy="5312228"/>
          </a:xfrm>
        </p:spPr>
        <p:txBody>
          <a:bodyPr>
            <a:noAutofit/>
          </a:bodyPr>
          <a:lstStyle/>
          <a:p>
            <a:pPr marL="0" indent="0">
              <a:buNone/>
            </a:pPr>
            <a:r>
              <a:rPr lang="en-US" sz="2000" b="1" dirty="0"/>
              <a:t>try {</a:t>
            </a:r>
          </a:p>
          <a:p>
            <a:pPr marL="0" indent="0">
              <a:buNone/>
            </a:pPr>
            <a:r>
              <a:rPr lang="en-US" sz="2000" b="1" dirty="0"/>
              <a:t>        // complex, deeply nested task</a:t>
            </a:r>
          </a:p>
          <a:p>
            <a:pPr marL="0" indent="0">
              <a:buNone/>
            </a:pPr>
            <a:r>
              <a:rPr lang="en-US" sz="2000" b="1" dirty="0"/>
              <a:t>    } catch ( Exception e ) {</a:t>
            </a:r>
          </a:p>
          <a:p>
            <a:pPr marL="0" indent="0">
              <a:buNone/>
            </a:pPr>
            <a:r>
              <a:rPr lang="en-US" sz="2000" b="1" dirty="0"/>
              <a:t>        // dump information about exactly where the exception occurred</a:t>
            </a:r>
          </a:p>
          <a:p>
            <a:pPr marL="0" indent="0">
              <a:buNone/>
            </a:pPr>
            <a:r>
              <a:rPr lang="en-US" sz="2000" b="1" dirty="0"/>
              <a:t>        </a:t>
            </a:r>
            <a:r>
              <a:rPr lang="en-US" sz="2000" b="1" dirty="0" err="1"/>
              <a:t>e.printStackTrace</a:t>
            </a:r>
            <a:r>
              <a:rPr lang="en-US" sz="2000" b="1" dirty="0"/>
              <a:t>( </a:t>
            </a:r>
            <a:r>
              <a:rPr lang="en-US" sz="2000" b="1" dirty="0" err="1"/>
              <a:t>System.err</a:t>
            </a:r>
            <a:r>
              <a:rPr lang="en-US" sz="2000" b="1" dirty="0"/>
              <a:t> );        </a:t>
            </a:r>
          </a:p>
          <a:p>
            <a:pPr marL="0" indent="0">
              <a:buNone/>
            </a:pPr>
            <a:r>
              <a:rPr lang="en-US" sz="2000" b="1" dirty="0"/>
              <a:t>    }</a:t>
            </a:r>
          </a:p>
          <a:p>
            <a:pPr marL="0" indent="0">
              <a:buNone/>
            </a:pPr>
            <a:r>
              <a:rPr lang="en-US" sz="2000" dirty="0"/>
              <a:t>For example, the stack trace for an exception might look like this:</a:t>
            </a:r>
          </a:p>
          <a:p>
            <a:pPr marL="0" indent="0">
              <a:buNone/>
            </a:pPr>
            <a:r>
              <a:rPr lang="en-US" sz="2000" dirty="0" err="1"/>
              <a:t>java.io.FileNotFoundException</a:t>
            </a:r>
            <a:r>
              <a:rPr lang="en-US" sz="2000" dirty="0"/>
              <a:t>: myfile.xml</a:t>
            </a:r>
          </a:p>
          <a:p>
            <a:pPr marL="0" indent="0">
              <a:buNone/>
            </a:pPr>
            <a:r>
              <a:rPr lang="en-US" sz="2000" dirty="0"/>
              <a:t>          at </a:t>
            </a:r>
            <a:r>
              <a:rPr lang="en-US" sz="2000" dirty="0" err="1"/>
              <a:t>java.io.FileInputStream</a:t>
            </a:r>
            <a:r>
              <a:rPr lang="en-US" sz="2000" dirty="0"/>
              <a:t>.&lt;</a:t>
            </a:r>
            <a:r>
              <a:rPr lang="en-US" sz="2000" dirty="0" err="1"/>
              <a:t>init</a:t>
            </a:r>
            <a:r>
              <a:rPr lang="en-US" sz="2000" dirty="0"/>
              <a:t>&gt;(FileInputStream.java)</a:t>
            </a:r>
          </a:p>
          <a:p>
            <a:pPr marL="0" indent="0">
              <a:buNone/>
            </a:pPr>
            <a:r>
              <a:rPr lang="en-US" sz="2000" dirty="0"/>
              <a:t>          at </a:t>
            </a:r>
            <a:r>
              <a:rPr lang="en-US" sz="2000" dirty="0" err="1"/>
              <a:t>java.io.FileInputStream</a:t>
            </a:r>
            <a:r>
              <a:rPr lang="en-US" sz="2000" dirty="0"/>
              <a:t>.&lt;</a:t>
            </a:r>
            <a:r>
              <a:rPr lang="en-US" sz="2000" dirty="0" err="1"/>
              <a:t>init</a:t>
            </a:r>
            <a:r>
              <a:rPr lang="en-US" sz="2000" dirty="0"/>
              <a:t>&gt;(FileInputStream.java)</a:t>
            </a:r>
          </a:p>
          <a:p>
            <a:pPr marL="0" indent="0">
              <a:buNone/>
            </a:pPr>
            <a:r>
              <a:rPr lang="en-US" sz="2000" dirty="0"/>
              <a:t>          at </a:t>
            </a:r>
            <a:r>
              <a:rPr lang="en-US" sz="2000" dirty="0" err="1"/>
              <a:t>MyApplication.loadFile</a:t>
            </a:r>
            <a:r>
              <a:rPr lang="en-US" sz="2000" dirty="0"/>
              <a:t>(MyApplication.java:137)</a:t>
            </a:r>
          </a:p>
          <a:p>
            <a:pPr marL="0" indent="0">
              <a:buNone/>
            </a:pPr>
            <a:r>
              <a:rPr lang="en-US" sz="2000" dirty="0"/>
              <a:t>          at </a:t>
            </a:r>
            <a:r>
              <a:rPr lang="en-US" sz="2000" dirty="0" err="1"/>
              <a:t>MyApplication.main</a:t>
            </a:r>
            <a:r>
              <a:rPr lang="en-US" sz="2000" dirty="0"/>
              <a:t>(MyApplication.java:5)</a:t>
            </a:r>
          </a:p>
        </p:txBody>
      </p:sp>
    </p:spTree>
    <p:extLst>
      <p:ext uri="{BB962C8B-B14F-4D97-AF65-F5344CB8AC3E}">
        <p14:creationId xmlns:p14="http://schemas.microsoft.com/office/powerpoint/2010/main" val="301990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FED7C-CA22-1424-B823-191131E17442}"/>
              </a:ext>
            </a:extLst>
          </p:cNvPr>
          <p:cNvSpPr>
            <a:spLocks noGrp="1"/>
          </p:cNvSpPr>
          <p:nvPr>
            <p:ph type="title"/>
          </p:nvPr>
        </p:nvSpPr>
        <p:spPr/>
        <p:txBody>
          <a:bodyPr/>
          <a:lstStyle/>
          <a:p>
            <a:pPr algn="ctr"/>
            <a:r>
              <a:rPr lang="en-US" b="1" dirty="0"/>
              <a:t>How the Read the Trace</a:t>
            </a:r>
          </a:p>
        </p:txBody>
      </p:sp>
      <p:sp>
        <p:nvSpPr>
          <p:cNvPr id="3" name="Content Placeholder 2">
            <a:extLst>
              <a:ext uri="{FF2B5EF4-FFF2-40B4-BE49-F238E27FC236}">
                <a16:creationId xmlns:a16="http://schemas.microsoft.com/office/drawing/2014/main" id="{801EAE93-3C2D-2B73-D67D-F4934B0B1069}"/>
              </a:ext>
            </a:extLst>
          </p:cNvPr>
          <p:cNvSpPr>
            <a:spLocks noGrp="1"/>
          </p:cNvSpPr>
          <p:nvPr>
            <p:ph idx="1"/>
          </p:nvPr>
        </p:nvSpPr>
        <p:spPr>
          <a:xfrm>
            <a:off x="2915783" y="1726164"/>
            <a:ext cx="8915400" cy="5010538"/>
          </a:xfrm>
        </p:spPr>
        <p:txBody>
          <a:bodyPr>
            <a:noAutofit/>
          </a:bodyPr>
          <a:lstStyle/>
          <a:p>
            <a:pPr marL="0" indent="0">
              <a:buNone/>
            </a:pPr>
            <a:r>
              <a:rPr lang="en-US" sz="2000" dirty="0"/>
              <a:t>This stack trace indicates that the main() method of the class </a:t>
            </a:r>
            <a:r>
              <a:rPr lang="en-US" sz="2000" dirty="0" err="1"/>
              <a:t>MyApplication</a:t>
            </a:r>
            <a:r>
              <a:rPr lang="en-US" sz="2000" dirty="0"/>
              <a:t> called the method </a:t>
            </a:r>
            <a:r>
              <a:rPr lang="en-US" sz="2000" dirty="0" err="1"/>
              <a:t>loadFile</a:t>
            </a:r>
            <a:r>
              <a:rPr lang="en-US" sz="2000" dirty="0"/>
              <a:t>(). </a:t>
            </a:r>
          </a:p>
          <a:p>
            <a:pPr marL="0" indent="0">
              <a:buNone/>
            </a:pPr>
            <a:r>
              <a:rPr lang="en-US" sz="2000" dirty="0"/>
              <a:t>The </a:t>
            </a:r>
            <a:r>
              <a:rPr lang="en-US" sz="2000" dirty="0" err="1"/>
              <a:t>loadFile</a:t>
            </a:r>
            <a:r>
              <a:rPr lang="en-US" sz="2000" dirty="0"/>
              <a:t>() method then tried to construct a </a:t>
            </a:r>
            <a:r>
              <a:rPr lang="en-US" sz="2000" dirty="0" err="1"/>
              <a:t>FileInputStream</a:t>
            </a:r>
            <a:r>
              <a:rPr lang="en-US" sz="2000" dirty="0"/>
              <a:t>, which threw the </a:t>
            </a:r>
            <a:r>
              <a:rPr lang="en-US" sz="2000" dirty="0" err="1"/>
              <a:t>FileNotFoundException</a:t>
            </a:r>
            <a:r>
              <a:rPr lang="en-US" sz="2000" dirty="0"/>
              <a:t>. </a:t>
            </a:r>
          </a:p>
          <a:p>
            <a:pPr marL="0" indent="0">
              <a:buNone/>
            </a:pPr>
            <a:r>
              <a:rPr lang="en-US" sz="2000" dirty="0"/>
              <a:t>Note that once the stack trace reaches Java system classes (like </a:t>
            </a:r>
            <a:r>
              <a:rPr lang="en-US" sz="2000" dirty="0" err="1"/>
              <a:t>FileInputStream</a:t>
            </a:r>
            <a:r>
              <a:rPr lang="en-US" sz="2000" dirty="0"/>
              <a:t>), the line numbers may be lost. </a:t>
            </a:r>
          </a:p>
          <a:p>
            <a:pPr marL="0" indent="0">
              <a:buNone/>
            </a:pPr>
            <a:r>
              <a:rPr lang="en-US" sz="2000" dirty="0"/>
              <a:t>This can also happen when the code is optimized by some virtual machines. </a:t>
            </a:r>
          </a:p>
          <a:p>
            <a:pPr marL="0" indent="0">
              <a:buNone/>
            </a:pPr>
            <a:r>
              <a:rPr lang="en-US" sz="2000" dirty="0"/>
              <a:t>Usually, there is a way to disable the optimization temporarily to find the exact line numbers. </a:t>
            </a:r>
          </a:p>
          <a:p>
            <a:pPr marL="0" indent="0">
              <a:buNone/>
            </a:pPr>
            <a:r>
              <a:rPr lang="en-US" sz="2000" dirty="0"/>
              <a:t>However, in tricky situations, changing the timing of the application can affect the problem you’re trying to debug, and other debugging techniques may be required.</a:t>
            </a:r>
          </a:p>
        </p:txBody>
      </p:sp>
    </p:spTree>
    <p:extLst>
      <p:ext uri="{BB962C8B-B14F-4D97-AF65-F5344CB8AC3E}">
        <p14:creationId xmlns:p14="http://schemas.microsoft.com/office/powerpoint/2010/main" val="1815108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3F7F8-323B-8B14-8B83-AD051BE0B894}"/>
              </a:ext>
            </a:extLst>
          </p:cNvPr>
          <p:cNvSpPr>
            <a:spLocks noGrp="1"/>
          </p:cNvSpPr>
          <p:nvPr>
            <p:ph type="title"/>
          </p:nvPr>
        </p:nvSpPr>
        <p:spPr/>
        <p:txBody>
          <a:bodyPr/>
          <a:lstStyle/>
          <a:p>
            <a:pPr algn="ctr"/>
            <a:r>
              <a:rPr lang="en-US" b="1" dirty="0"/>
              <a:t>More on Using the </a:t>
            </a:r>
            <a:r>
              <a:rPr lang="en-US" b="1" dirty="0" err="1"/>
              <a:t>StackTrace</a:t>
            </a:r>
            <a:endParaRPr lang="en-US" b="1" dirty="0"/>
          </a:p>
        </p:txBody>
      </p:sp>
      <p:sp>
        <p:nvSpPr>
          <p:cNvPr id="3" name="Content Placeholder 2">
            <a:extLst>
              <a:ext uri="{FF2B5EF4-FFF2-40B4-BE49-F238E27FC236}">
                <a16:creationId xmlns:a16="http://schemas.microsoft.com/office/drawing/2014/main" id="{12164A37-88EA-E6C9-0304-445041284549}"/>
              </a:ext>
            </a:extLst>
          </p:cNvPr>
          <p:cNvSpPr>
            <a:spLocks noGrp="1"/>
          </p:cNvSpPr>
          <p:nvPr>
            <p:ph idx="1"/>
          </p:nvPr>
        </p:nvSpPr>
        <p:spPr>
          <a:xfrm>
            <a:off x="2785155" y="1353576"/>
            <a:ext cx="8915400" cy="5196513"/>
          </a:xfrm>
        </p:spPr>
        <p:txBody>
          <a:bodyPr>
            <a:noAutofit/>
          </a:bodyPr>
          <a:lstStyle/>
          <a:p>
            <a:pPr marL="0" indent="0">
              <a:buNone/>
            </a:pPr>
            <a:r>
              <a:rPr lang="en-US" sz="2400" dirty="0"/>
              <a:t>Methods on the exception allow you to retrieve the stack trace information programmatically as well by using the Throwable </a:t>
            </a:r>
            <a:r>
              <a:rPr lang="en-US" sz="2400" dirty="0" err="1"/>
              <a:t>getStackTrace</a:t>
            </a:r>
            <a:r>
              <a:rPr lang="en-US" sz="2400" dirty="0"/>
              <a:t>() method. </a:t>
            </a:r>
          </a:p>
          <a:p>
            <a:pPr marL="0" indent="0">
              <a:buNone/>
            </a:pPr>
            <a:r>
              <a:rPr lang="en-US" sz="2400" dirty="0"/>
              <a:t>This method returns an array of </a:t>
            </a:r>
            <a:r>
              <a:rPr lang="en-US" sz="2400" dirty="0" err="1"/>
              <a:t>StackTraceElement</a:t>
            </a:r>
            <a:r>
              <a:rPr lang="en-US" sz="2400" dirty="0"/>
              <a:t> objects, each of which represents a method call on the stack. </a:t>
            </a:r>
          </a:p>
          <a:p>
            <a:pPr marL="0" indent="0">
              <a:buNone/>
            </a:pPr>
            <a:r>
              <a:rPr lang="en-US" sz="2400" dirty="0"/>
              <a:t>You can ask a </a:t>
            </a:r>
            <a:r>
              <a:rPr lang="en-US" sz="2400" dirty="0" err="1"/>
              <a:t>StackTraceElement</a:t>
            </a:r>
            <a:r>
              <a:rPr lang="en-US" sz="2400" dirty="0"/>
              <a:t> for details about that method’s location using the methods </a:t>
            </a:r>
            <a:r>
              <a:rPr lang="en-US" sz="2400" dirty="0" err="1"/>
              <a:t>getFileName</a:t>
            </a:r>
            <a:r>
              <a:rPr lang="en-US" sz="2400" dirty="0"/>
              <a:t>(), </a:t>
            </a:r>
            <a:r>
              <a:rPr lang="en-US" sz="2400" dirty="0" err="1"/>
              <a:t>getClassName</a:t>
            </a:r>
            <a:r>
              <a:rPr lang="en-US" sz="2400" dirty="0"/>
              <a:t>(), </a:t>
            </a:r>
            <a:r>
              <a:rPr lang="en-US" sz="2400" dirty="0" err="1"/>
              <a:t>getMethodName</a:t>
            </a:r>
            <a:r>
              <a:rPr lang="en-US" sz="2400" dirty="0"/>
              <a:t>(), and </a:t>
            </a:r>
            <a:r>
              <a:rPr lang="en-US" sz="2400" dirty="0" err="1"/>
              <a:t>getLineNumber</a:t>
            </a:r>
            <a:r>
              <a:rPr lang="en-US" sz="2400" dirty="0"/>
              <a:t>(). </a:t>
            </a:r>
          </a:p>
          <a:p>
            <a:pPr marL="0" indent="0">
              <a:buNone/>
            </a:pPr>
            <a:r>
              <a:rPr lang="en-US" sz="2400" dirty="0"/>
              <a:t>Element zero of the array is the top of the stack, the final line of code that caused the exception; subsequent elements step back one method call each until the original main() method is reached.</a:t>
            </a:r>
          </a:p>
        </p:txBody>
      </p:sp>
    </p:spTree>
    <p:extLst>
      <p:ext uri="{BB962C8B-B14F-4D97-AF65-F5344CB8AC3E}">
        <p14:creationId xmlns:p14="http://schemas.microsoft.com/office/powerpoint/2010/main" val="80746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E087-1A55-5667-ECB8-AF49C52A8830}"/>
              </a:ext>
            </a:extLst>
          </p:cNvPr>
          <p:cNvSpPr>
            <a:spLocks noGrp="1"/>
          </p:cNvSpPr>
          <p:nvPr>
            <p:ph type="title"/>
          </p:nvPr>
        </p:nvSpPr>
        <p:spPr>
          <a:xfrm>
            <a:off x="2422957" y="336716"/>
            <a:ext cx="8911687" cy="1280890"/>
          </a:xfrm>
        </p:spPr>
        <p:txBody>
          <a:bodyPr/>
          <a:lstStyle/>
          <a:p>
            <a:pPr algn="ctr"/>
            <a:r>
              <a:rPr lang="en-US" b="1" dirty="0"/>
              <a:t>Checked and Unchecked Exceptions</a:t>
            </a:r>
          </a:p>
        </p:txBody>
      </p:sp>
      <p:sp>
        <p:nvSpPr>
          <p:cNvPr id="3" name="Content Placeholder 2">
            <a:extLst>
              <a:ext uri="{FF2B5EF4-FFF2-40B4-BE49-F238E27FC236}">
                <a16:creationId xmlns:a16="http://schemas.microsoft.com/office/drawing/2014/main" id="{8CAD4C22-B398-86F6-C2B3-74628606D298}"/>
              </a:ext>
            </a:extLst>
          </p:cNvPr>
          <p:cNvSpPr>
            <a:spLocks noGrp="1"/>
          </p:cNvSpPr>
          <p:nvPr>
            <p:ph idx="1"/>
          </p:nvPr>
        </p:nvSpPr>
        <p:spPr>
          <a:xfrm>
            <a:off x="2589212" y="1242646"/>
            <a:ext cx="8915400" cy="5443904"/>
          </a:xfrm>
        </p:spPr>
        <p:txBody>
          <a:bodyPr>
            <a:noAutofit/>
          </a:bodyPr>
          <a:lstStyle/>
          <a:p>
            <a:pPr marL="0" indent="0">
              <a:buNone/>
            </a:pPr>
            <a:r>
              <a:rPr lang="en-US" sz="2400" dirty="0"/>
              <a:t>Java forces us to be explicit about our error handling, but it’s not necessary to require that every conceivable type of error be handled explicitly in every situation. </a:t>
            </a:r>
          </a:p>
          <a:p>
            <a:pPr marL="0" indent="0">
              <a:buNone/>
            </a:pPr>
            <a:r>
              <a:rPr lang="en-US" sz="2400" dirty="0"/>
              <a:t>Java exceptions are therefore divided into two categories: </a:t>
            </a:r>
            <a:r>
              <a:rPr lang="en-US" sz="2400" b="1" dirty="0"/>
              <a:t>checked and unchecked. </a:t>
            </a:r>
          </a:p>
          <a:p>
            <a:pPr marL="0" indent="0">
              <a:buNone/>
            </a:pPr>
            <a:r>
              <a:rPr lang="en-US" sz="2400" dirty="0"/>
              <a:t>Most application-level exceptions are checked, which means that any method that throws one must declare that it can throw that type of exception in a special throws clause in its method declaration. </a:t>
            </a:r>
          </a:p>
          <a:p>
            <a:pPr marL="0" indent="0">
              <a:buNone/>
            </a:pPr>
            <a:r>
              <a:rPr lang="en-US" sz="2400" dirty="0"/>
              <a:t>Methods </a:t>
            </a:r>
            <a:r>
              <a:rPr lang="en-US" sz="2400" b="1" dirty="0"/>
              <a:t>have to declare the checked exceptions </a:t>
            </a:r>
            <a:r>
              <a:rPr lang="en-US" sz="2400" dirty="0"/>
              <a:t>they can throw or allow to be thrown.</a:t>
            </a:r>
          </a:p>
          <a:p>
            <a:pPr marL="0" indent="0">
              <a:buNone/>
            </a:pPr>
            <a:r>
              <a:rPr lang="en-US" sz="2400" dirty="0"/>
              <a:t>In addition, you </a:t>
            </a:r>
            <a:r>
              <a:rPr lang="en-US" sz="2400" b="1" dirty="0"/>
              <a:t>must</a:t>
            </a:r>
            <a:r>
              <a:rPr lang="en-US" sz="2400" dirty="0"/>
              <a:t> </a:t>
            </a:r>
            <a:r>
              <a:rPr lang="en-US" sz="2400" b="1" dirty="0"/>
              <a:t>use a try-catch mechanism </a:t>
            </a:r>
            <a:r>
              <a:rPr lang="en-US" sz="2400" dirty="0"/>
              <a:t>when calling one of those methods.</a:t>
            </a:r>
          </a:p>
        </p:txBody>
      </p:sp>
    </p:spTree>
    <p:extLst>
      <p:ext uri="{BB962C8B-B14F-4D97-AF65-F5344CB8AC3E}">
        <p14:creationId xmlns:p14="http://schemas.microsoft.com/office/powerpoint/2010/main" val="207590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JavaMadeSoEasy.com (JMSE): Exception handling, exception hierarchy ...">
            <a:extLst>
              <a:ext uri="{FF2B5EF4-FFF2-40B4-BE49-F238E27FC236}">
                <a16:creationId xmlns:a16="http://schemas.microsoft.com/office/drawing/2014/main" id="{6F5C7548-95A4-030A-8EDB-E3AA1406A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107" y="825788"/>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Diagram 3">
            <a:extLst>
              <a:ext uri="{FF2B5EF4-FFF2-40B4-BE49-F238E27FC236}">
                <a16:creationId xmlns:a16="http://schemas.microsoft.com/office/drawing/2014/main" id="{7406A02C-1A77-54F0-DFCE-20C66AAB86F2}"/>
              </a:ext>
            </a:extLst>
          </p:cNvPr>
          <p:cNvGraphicFramePr/>
          <p:nvPr>
            <p:extLst>
              <p:ext uri="{D42A27DB-BD31-4B8C-83A1-F6EECF244321}">
                <p14:modId xmlns:p14="http://schemas.microsoft.com/office/powerpoint/2010/main" val="2828251942"/>
              </p:ext>
            </p:extLst>
          </p:nvPr>
        </p:nvGraphicFramePr>
        <p:xfrm>
          <a:off x="3786555" y="241013"/>
          <a:ext cx="6276077" cy="584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D604-EE6D-300F-9FFC-C07CBA0C9537}"/>
              </a:ext>
            </a:extLst>
          </p:cNvPr>
          <p:cNvSpPr>
            <a:spLocks noGrp="1"/>
          </p:cNvSpPr>
          <p:nvPr>
            <p:ph type="title"/>
          </p:nvPr>
        </p:nvSpPr>
        <p:spPr/>
        <p:txBody>
          <a:bodyPr/>
          <a:lstStyle/>
          <a:p>
            <a:pPr algn="ctr"/>
            <a:r>
              <a:rPr lang="en-US" b="1" dirty="0"/>
              <a:t>How Do I Tell if it’s Checked or not?</a:t>
            </a:r>
          </a:p>
        </p:txBody>
      </p:sp>
      <p:sp>
        <p:nvSpPr>
          <p:cNvPr id="3" name="Content Placeholder 2">
            <a:extLst>
              <a:ext uri="{FF2B5EF4-FFF2-40B4-BE49-F238E27FC236}">
                <a16:creationId xmlns:a16="http://schemas.microsoft.com/office/drawing/2014/main" id="{B6CEA35B-5294-E82F-4635-C7A172DE87F0}"/>
              </a:ext>
            </a:extLst>
          </p:cNvPr>
          <p:cNvSpPr>
            <a:spLocks noGrp="1"/>
          </p:cNvSpPr>
          <p:nvPr>
            <p:ph idx="1"/>
          </p:nvPr>
        </p:nvSpPr>
        <p:spPr>
          <a:xfrm>
            <a:off x="3115685" y="1905000"/>
            <a:ext cx="8915400" cy="3777622"/>
          </a:xfrm>
        </p:spPr>
        <p:txBody>
          <a:bodyPr>
            <a:normAutofit/>
          </a:bodyPr>
          <a:lstStyle/>
          <a:p>
            <a:pPr marL="0" indent="0">
              <a:buNone/>
            </a:pPr>
            <a:r>
              <a:rPr lang="en-US" sz="2400" dirty="0"/>
              <a:t>To find out if a particular exception is checked or unchecked, look up its associated class in the API documentation.</a:t>
            </a:r>
          </a:p>
          <a:p>
            <a:pPr marL="0" indent="0">
              <a:buNone/>
            </a:pPr>
            <a:r>
              <a:rPr lang="en-US" sz="2400" dirty="0"/>
              <a:t>On the class's API page, look at its class hierarchy tree. </a:t>
            </a:r>
          </a:p>
          <a:p>
            <a:pPr marL="0" indent="0">
              <a:buNone/>
            </a:pPr>
            <a:r>
              <a:rPr lang="en-US" sz="2400" dirty="0"/>
              <a:t>If you find that the class is derived from the </a:t>
            </a:r>
            <a:r>
              <a:rPr lang="en-US" sz="2400" dirty="0" err="1"/>
              <a:t>RuntimeException</a:t>
            </a:r>
            <a:r>
              <a:rPr lang="en-US" sz="2400" dirty="0"/>
              <a:t> class or from the Error Exception class, then it's an </a:t>
            </a:r>
            <a:r>
              <a:rPr lang="en-US" sz="2400" b="1" dirty="0"/>
              <a:t>unchecked</a:t>
            </a:r>
            <a:r>
              <a:rPr lang="en-US" sz="2400" dirty="0"/>
              <a:t> exception.</a:t>
            </a:r>
          </a:p>
          <a:p>
            <a:pPr marL="0" indent="0">
              <a:buNone/>
            </a:pPr>
            <a:r>
              <a:rPr lang="en-US" sz="2400" dirty="0"/>
              <a:t>Otherwise, it's a </a:t>
            </a:r>
            <a:r>
              <a:rPr lang="en-US" sz="2400" b="1" dirty="0"/>
              <a:t>checked</a:t>
            </a:r>
            <a:r>
              <a:rPr lang="en-US" sz="2400" dirty="0"/>
              <a:t> exception.</a:t>
            </a:r>
          </a:p>
          <a:p>
            <a:pPr marL="0" indent="0">
              <a:buNone/>
            </a:pPr>
            <a:endParaRPr lang="en-US" sz="2400" dirty="0"/>
          </a:p>
        </p:txBody>
      </p:sp>
    </p:spTree>
    <p:extLst>
      <p:ext uri="{BB962C8B-B14F-4D97-AF65-F5344CB8AC3E}">
        <p14:creationId xmlns:p14="http://schemas.microsoft.com/office/powerpoint/2010/main" val="3702725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46132-42C7-AD78-5AEF-8D145DA50DB9}"/>
              </a:ext>
            </a:extLst>
          </p:cNvPr>
          <p:cNvSpPr>
            <a:spLocks noGrp="1"/>
          </p:cNvSpPr>
          <p:nvPr>
            <p:ph type="title"/>
          </p:nvPr>
        </p:nvSpPr>
        <p:spPr/>
        <p:txBody>
          <a:bodyPr/>
          <a:lstStyle/>
          <a:p>
            <a:pPr algn="ctr"/>
            <a:r>
              <a:rPr lang="en-US" b="1" dirty="0"/>
              <a:t>List of Common Unchecked Exceptions</a:t>
            </a:r>
          </a:p>
        </p:txBody>
      </p:sp>
      <p:sp>
        <p:nvSpPr>
          <p:cNvPr id="3" name="Content Placeholder 2">
            <a:extLst>
              <a:ext uri="{FF2B5EF4-FFF2-40B4-BE49-F238E27FC236}">
                <a16:creationId xmlns:a16="http://schemas.microsoft.com/office/drawing/2014/main" id="{E9756FBB-F015-B5EC-60A5-E2232AF98D49}"/>
              </a:ext>
            </a:extLst>
          </p:cNvPr>
          <p:cNvSpPr>
            <a:spLocks noGrp="1"/>
          </p:cNvSpPr>
          <p:nvPr>
            <p:ph idx="1"/>
          </p:nvPr>
        </p:nvSpPr>
        <p:spPr>
          <a:xfrm>
            <a:off x="2592925" y="1662545"/>
            <a:ext cx="8915400" cy="3777622"/>
          </a:xfrm>
        </p:spPr>
        <p:txBody>
          <a:bodyPr>
            <a:noAutofit/>
          </a:bodyPr>
          <a:lstStyle/>
          <a:p>
            <a:pPr marL="457200" indent="-457200">
              <a:buFont typeface="+mj-lt"/>
              <a:buAutoNum type="arabicPeriod"/>
            </a:pPr>
            <a:r>
              <a:rPr lang="en-US" sz="2400" dirty="0" err="1"/>
              <a:t>ArithmeticException</a:t>
            </a:r>
            <a:endParaRPr lang="en-US" sz="2400" dirty="0"/>
          </a:p>
          <a:p>
            <a:pPr marL="457200" indent="-457200">
              <a:buFont typeface="+mj-lt"/>
              <a:buAutoNum type="arabicPeriod"/>
            </a:pPr>
            <a:r>
              <a:rPr lang="en-US" sz="2400" dirty="0" err="1"/>
              <a:t>NullPointerException</a:t>
            </a:r>
            <a:endParaRPr lang="en-US" sz="2400" dirty="0"/>
          </a:p>
          <a:p>
            <a:pPr marL="457200" indent="-457200">
              <a:buFont typeface="+mj-lt"/>
              <a:buAutoNum type="arabicPeriod"/>
            </a:pPr>
            <a:r>
              <a:rPr lang="en-US" sz="2400" dirty="0" err="1"/>
              <a:t>ArrayIndexOutOfBoundsException</a:t>
            </a:r>
            <a:endParaRPr lang="en-US" sz="2400" dirty="0"/>
          </a:p>
          <a:p>
            <a:pPr marL="457200" indent="-457200">
              <a:buFont typeface="+mj-lt"/>
              <a:buAutoNum type="arabicPeriod"/>
            </a:pPr>
            <a:r>
              <a:rPr lang="en-US" sz="2400" dirty="0" err="1"/>
              <a:t>NumberFormatException</a:t>
            </a:r>
            <a:endParaRPr lang="en-US" sz="2400" dirty="0"/>
          </a:p>
          <a:p>
            <a:pPr marL="457200" indent="-457200">
              <a:buFont typeface="+mj-lt"/>
              <a:buAutoNum type="arabicPeriod"/>
            </a:pPr>
            <a:r>
              <a:rPr lang="en-US" sz="2400" dirty="0" err="1"/>
              <a:t>InputMismatchException</a:t>
            </a:r>
            <a:endParaRPr lang="en-US" sz="2400" dirty="0"/>
          </a:p>
          <a:p>
            <a:pPr marL="457200" indent="-457200">
              <a:buFont typeface="+mj-lt"/>
              <a:buAutoNum type="arabicPeriod"/>
            </a:pPr>
            <a:r>
              <a:rPr lang="en-US" sz="2400" dirty="0" err="1"/>
              <a:t>IllegalStateException</a:t>
            </a:r>
            <a:endParaRPr lang="en-US" sz="2400" dirty="0"/>
          </a:p>
          <a:p>
            <a:pPr marL="457200" indent="-457200">
              <a:buFont typeface="+mj-lt"/>
              <a:buAutoNum type="arabicPeriod"/>
            </a:pPr>
            <a:r>
              <a:rPr lang="en-US" sz="2400" dirty="0"/>
              <a:t>Missing Resource Exception</a:t>
            </a:r>
          </a:p>
          <a:p>
            <a:pPr marL="457200" indent="-457200">
              <a:buFont typeface="+mj-lt"/>
              <a:buAutoNum type="arabicPeriod"/>
            </a:pPr>
            <a:r>
              <a:rPr lang="en-US" sz="2400" dirty="0"/>
              <a:t>No Such Element Exception</a:t>
            </a:r>
          </a:p>
        </p:txBody>
      </p:sp>
    </p:spTree>
    <p:extLst>
      <p:ext uri="{BB962C8B-B14F-4D97-AF65-F5344CB8AC3E}">
        <p14:creationId xmlns:p14="http://schemas.microsoft.com/office/powerpoint/2010/main" val="4001794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C3A36-5C81-64BC-17AE-47216C6C9AB4}"/>
              </a:ext>
            </a:extLst>
          </p:cNvPr>
          <p:cNvSpPr>
            <a:spLocks noGrp="1"/>
          </p:cNvSpPr>
          <p:nvPr>
            <p:ph type="title"/>
          </p:nvPr>
        </p:nvSpPr>
        <p:spPr/>
        <p:txBody>
          <a:bodyPr/>
          <a:lstStyle/>
          <a:p>
            <a:pPr algn="ctr"/>
            <a:r>
              <a:rPr lang="en-US" b="1" dirty="0"/>
              <a:t>Handling Unchecked Exceptions</a:t>
            </a:r>
          </a:p>
        </p:txBody>
      </p:sp>
      <p:sp>
        <p:nvSpPr>
          <p:cNvPr id="3" name="Content Placeholder 2">
            <a:extLst>
              <a:ext uri="{FF2B5EF4-FFF2-40B4-BE49-F238E27FC236}">
                <a16:creationId xmlns:a16="http://schemas.microsoft.com/office/drawing/2014/main" id="{E8300E3B-59F0-FDE9-8655-C1AD04F0A327}"/>
              </a:ext>
            </a:extLst>
          </p:cNvPr>
          <p:cNvSpPr>
            <a:spLocks noGrp="1"/>
          </p:cNvSpPr>
          <p:nvPr>
            <p:ph idx="1"/>
          </p:nvPr>
        </p:nvSpPr>
        <p:spPr/>
        <p:txBody>
          <a:bodyPr>
            <a:normAutofit/>
          </a:bodyPr>
          <a:lstStyle/>
          <a:p>
            <a:pPr marL="0" indent="0">
              <a:buNone/>
            </a:pPr>
            <a:r>
              <a:rPr lang="en-US" sz="2400" dirty="0"/>
              <a:t>Remember, if an unchecked exception is thrown and not caught, then the program will still </a:t>
            </a:r>
            <a:r>
              <a:rPr lang="en-US" sz="2400" b="1" dirty="0"/>
              <a:t>crash</a:t>
            </a:r>
            <a:r>
              <a:rPr lang="en-US" sz="2400" dirty="0"/>
              <a:t>.</a:t>
            </a:r>
          </a:p>
          <a:p>
            <a:pPr marL="0" indent="0">
              <a:buNone/>
            </a:pPr>
            <a:r>
              <a:rPr lang="en-US" sz="2400" dirty="0"/>
              <a:t>How to handle code that might throw an unchecked exception:</a:t>
            </a:r>
          </a:p>
          <a:p>
            <a:pPr marL="0" indent="0">
              <a:buNone/>
            </a:pPr>
            <a:r>
              <a:rPr lang="en-US" sz="2400" dirty="0"/>
              <a:t>1. You can still use a try-catch mechanism 	</a:t>
            </a:r>
          </a:p>
          <a:p>
            <a:pPr marL="0" indent="0">
              <a:buNone/>
            </a:pPr>
            <a:r>
              <a:rPr lang="en-US" sz="2400" dirty="0"/>
              <a:t>2. Don't attempt to catch the exception, instead write the code </a:t>
            </a:r>
            <a:r>
              <a:rPr lang="en-US" sz="2400" b="1" dirty="0"/>
              <a:t>carefully </a:t>
            </a:r>
            <a:r>
              <a:rPr lang="en-US" sz="2400" dirty="0"/>
              <a:t>to avoid the possibility of the exception being thrown (see the upcoming example).</a:t>
            </a:r>
          </a:p>
          <a:p>
            <a:pPr marL="0" indent="0">
              <a:buNone/>
            </a:pPr>
            <a:endParaRPr lang="en-US" sz="2400" dirty="0"/>
          </a:p>
        </p:txBody>
      </p:sp>
    </p:spTree>
    <p:extLst>
      <p:ext uri="{BB962C8B-B14F-4D97-AF65-F5344CB8AC3E}">
        <p14:creationId xmlns:p14="http://schemas.microsoft.com/office/powerpoint/2010/main" val="935875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F5C7-D653-776F-47B2-EDA33D5D45C4}"/>
              </a:ext>
            </a:extLst>
          </p:cNvPr>
          <p:cNvSpPr>
            <a:spLocks noGrp="1"/>
          </p:cNvSpPr>
          <p:nvPr>
            <p:ph type="title"/>
          </p:nvPr>
        </p:nvSpPr>
        <p:spPr/>
        <p:txBody>
          <a:bodyPr/>
          <a:lstStyle/>
          <a:p>
            <a:pPr algn="ctr"/>
            <a:r>
              <a:rPr lang="en-US" b="1" dirty="0"/>
              <a:t>Careful Coding</a:t>
            </a:r>
          </a:p>
        </p:txBody>
      </p:sp>
      <p:sp>
        <p:nvSpPr>
          <p:cNvPr id="3" name="Content Placeholder 2">
            <a:extLst>
              <a:ext uri="{FF2B5EF4-FFF2-40B4-BE49-F238E27FC236}">
                <a16:creationId xmlns:a16="http://schemas.microsoft.com/office/drawing/2014/main" id="{5287FA03-AED0-FEED-6C8B-81BC6590DF24}"/>
              </a:ext>
            </a:extLst>
          </p:cNvPr>
          <p:cNvSpPr>
            <a:spLocks noGrp="1"/>
          </p:cNvSpPr>
          <p:nvPr>
            <p:ph idx="1"/>
          </p:nvPr>
        </p:nvSpPr>
        <p:spPr>
          <a:xfrm>
            <a:off x="2381909" y="1264554"/>
            <a:ext cx="9599075" cy="5136245"/>
          </a:xfrm>
        </p:spPr>
        <p:txBody>
          <a:bodyPr>
            <a:noAutofit/>
          </a:bodyPr>
          <a:lstStyle/>
          <a:p>
            <a:pPr marL="0" indent="0">
              <a:buNone/>
            </a:pPr>
            <a:r>
              <a:rPr lang="en-US" sz="2400" dirty="0"/>
              <a:t>The following method attempts to remove a specified student from a list of student names. The list of student names is stored in an </a:t>
            </a:r>
            <a:r>
              <a:rPr lang="en-US" sz="2400" dirty="0" err="1"/>
              <a:t>ArrayList</a:t>
            </a:r>
            <a:r>
              <a:rPr lang="en-US" sz="2400" dirty="0"/>
              <a:t> instance variable named students.</a:t>
            </a:r>
          </a:p>
          <a:p>
            <a:pPr marL="0" indent="0">
              <a:buNone/>
            </a:pPr>
            <a:r>
              <a:rPr lang="en-US" sz="2400" b="1" dirty="0"/>
              <a:t>	public void </a:t>
            </a:r>
            <a:r>
              <a:rPr lang="en-US" sz="2400" b="1" dirty="0" err="1"/>
              <a:t>removeStudent</a:t>
            </a:r>
            <a:r>
              <a:rPr lang="en-US" sz="2400" b="1" dirty="0"/>
              <a:t>(int index)</a:t>
            </a:r>
          </a:p>
          <a:p>
            <a:pPr marL="0" indent="0">
              <a:buNone/>
            </a:pPr>
            <a:r>
              <a:rPr lang="en-US" sz="2400" b="1" dirty="0"/>
              <a:t>	{</a:t>
            </a:r>
          </a:p>
          <a:p>
            <a:pPr marL="0" indent="0">
              <a:buNone/>
            </a:pPr>
            <a:r>
              <a:rPr lang="en-US" sz="2400" b="1" dirty="0"/>
              <a:t>		</a:t>
            </a:r>
            <a:r>
              <a:rPr lang="en-US" sz="2400" b="1" dirty="0" err="1"/>
              <a:t>students.remove</a:t>
            </a:r>
            <a:r>
              <a:rPr lang="en-US" sz="2400" b="1" dirty="0"/>
              <a:t>(index);</a:t>
            </a:r>
          </a:p>
          <a:p>
            <a:pPr marL="0" indent="0">
              <a:buNone/>
            </a:pPr>
            <a:r>
              <a:rPr lang="en-US" sz="2400" b="1" dirty="0"/>
              <a:t>	}</a:t>
            </a:r>
          </a:p>
          <a:p>
            <a:pPr marL="0" indent="0">
              <a:buNone/>
            </a:pPr>
            <a:r>
              <a:rPr lang="en-US" sz="2400" dirty="0"/>
              <a:t>The </a:t>
            </a:r>
            <a:r>
              <a:rPr lang="en-US" sz="2400" dirty="0" err="1"/>
              <a:t>students.remove</a:t>
            </a:r>
            <a:r>
              <a:rPr lang="en-US" sz="2400" dirty="0"/>
              <a:t> method call is dangerous because it throws an unchecked exception, </a:t>
            </a:r>
            <a:r>
              <a:rPr lang="en-US" sz="2400" dirty="0" err="1"/>
              <a:t>IndexOutOfBoundsException</a:t>
            </a:r>
            <a:r>
              <a:rPr lang="en-US" sz="2400" dirty="0"/>
              <a:t>, if its argument holds an invalid index.</a:t>
            </a:r>
          </a:p>
          <a:p>
            <a:pPr marL="0" indent="0">
              <a:buNone/>
            </a:pPr>
            <a:r>
              <a:rPr lang="en-US" sz="2400" b="1" dirty="0"/>
              <a:t>How would you take care of that?</a:t>
            </a:r>
          </a:p>
          <a:p>
            <a:pPr marL="0" indent="0">
              <a:buNone/>
            </a:pPr>
            <a:endParaRPr lang="en-US" sz="2400" dirty="0"/>
          </a:p>
        </p:txBody>
      </p:sp>
    </p:spTree>
    <p:extLst>
      <p:ext uri="{BB962C8B-B14F-4D97-AF65-F5344CB8AC3E}">
        <p14:creationId xmlns:p14="http://schemas.microsoft.com/office/powerpoint/2010/main" val="454225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58E47-1F71-ABFB-B258-7652A884AD44}"/>
              </a:ext>
            </a:extLst>
          </p:cNvPr>
          <p:cNvSpPr>
            <a:spLocks noGrp="1"/>
          </p:cNvSpPr>
          <p:nvPr>
            <p:ph type="title"/>
          </p:nvPr>
        </p:nvSpPr>
        <p:spPr/>
        <p:txBody>
          <a:bodyPr/>
          <a:lstStyle/>
          <a:p>
            <a:pPr algn="ctr"/>
            <a:r>
              <a:rPr lang="en-US" b="1" dirty="0"/>
              <a:t>Handle the Unchecked Exception</a:t>
            </a:r>
          </a:p>
        </p:txBody>
      </p:sp>
      <p:sp>
        <p:nvSpPr>
          <p:cNvPr id="3" name="Content Placeholder 2">
            <a:extLst>
              <a:ext uri="{FF2B5EF4-FFF2-40B4-BE49-F238E27FC236}">
                <a16:creationId xmlns:a16="http://schemas.microsoft.com/office/drawing/2014/main" id="{53BF929C-4656-08FA-B7AF-CA604B253ECE}"/>
              </a:ext>
            </a:extLst>
          </p:cNvPr>
          <p:cNvSpPr>
            <a:spLocks noGrp="1"/>
          </p:cNvSpPr>
          <p:nvPr>
            <p:ph idx="1"/>
          </p:nvPr>
        </p:nvSpPr>
        <p:spPr>
          <a:xfrm>
            <a:off x="2515321" y="1385454"/>
            <a:ext cx="9501188" cy="4590473"/>
          </a:xfrm>
        </p:spPr>
        <p:txBody>
          <a:bodyPr>
            <a:noAutofit/>
          </a:bodyPr>
          <a:lstStyle/>
          <a:p>
            <a:pPr marL="0" indent="0">
              <a:buNone/>
            </a:pPr>
            <a:r>
              <a:rPr lang="en-US" dirty="0"/>
              <a:t>1. Add a line to the </a:t>
            </a:r>
            <a:r>
              <a:rPr lang="en-US" dirty="0" err="1"/>
              <a:t>removeStudent</a:t>
            </a:r>
            <a:r>
              <a:rPr lang="en-US" dirty="0"/>
              <a:t> method and check that the index in NOT out of bounds</a:t>
            </a:r>
          </a:p>
          <a:p>
            <a:pPr marL="0" indent="0">
              <a:buNone/>
            </a:pPr>
            <a:r>
              <a:rPr lang="en-US" dirty="0"/>
              <a:t>public void </a:t>
            </a:r>
            <a:r>
              <a:rPr lang="en-US" dirty="0" err="1"/>
              <a:t>removeStudent</a:t>
            </a:r>
            <a:r>
              <a:rPr lang="en-US" dirty="0"/>
              <a:t>(int index) throws </a:t>
            </a:r>
            <a:r>
              <a:rPr lang="en-US" dirty="0" err="1"/>
              <a:t>IndexOutOfBoundsException</a:t>
            </a:r>
            <a:r>
              <a:rPr lang="en-US" dirty="0"/>
              <a:t>   {</a:t>
            </a:r>
          </a:p>
          <a:p>
            <a:pPr marL="0" indent="0">
              <a:buNone/>
            </a:pPr>
            <a:r>
              <a:rPr lang="en-US" dirty="0"/>
              <a:t>	  if( index &lt; </a:t>
            </a:r>
            <a:r>
              <a:rPr lang="en-US" dirty="0" err="1"/>
              <a:t>students.size</a:t>
            </a:r>
            <a:r>
              <a:rPr lang="en-US" dirty="0"/>
              <a:t>() &amp;&amp; index &gt;= 0)</a:t>
            </a:r>
          </a:p>
          <a:p>
            <a:pPr marL="0" indent="0">
              <a:buNone/>
            </a:pPr>
            <a:r>
              <a:rPr lang="en-US" dirty="0"/>
              <a:t>		</a:t>
            </a:r>
            <a:r>
              <a:rPr lang="en-US" dirty="0" err="1"/>
              <a:t>students.remove</a:t>
            </a:r>
            <a:r>
              <a:rPr lang="en-US" dirty="0"/>
              <a:t>(index);</a:t>
            </a:r>
          </a:p>
          <a:p>
            <a:pPr marL="0" indent="0">
              <a:buNone/>
            </a:pPr>
            <a:r>
              <a:rPr lang="en-US" dirty="0"/>
              <a:t>  } </a:t>
            </a:r>
          </a:p>
          <a:p>
            <a:pPr marL="0" indent="0">
              <a:buNone/>
            </a:pPr>
            <a:r>
              <a:rPr lang="en-US" b="1" dirty="0"/>
              <a:t>Question: does this version of the method still throw the Exception?</a:t>
            </a:r>
          </a:p>
          <a:p>
            <a:pPr marL="0" indent="0">
              <a:buNone/>
            </a:pPr>
            <a:r>
              <a:rPr lang="en-US" dirty="0"/>
              <a:t>2. Add a try-catch in the calling method:</a:t>
            </a:r>
          </a:p>
          <a:p>
            <a:pPr marL="0" indent="0">
              <a:buNone/>
            </a:pPr>
            <a:r>
              <a:rPr lang="en-US" dirty="0"/>
              <a:t>try{</a:t>
            </a:r>
          </a:p>
          <a:p>
            <a:pPr marL="0" indent="0">
              <a:buNone/>
            </a:pPr>
            <a:r>
              <a:rPr lang="en-US" dirty="0"/>
              <a:t>		</a:t>
            </a:r>
            <a:r>
              <a:rPr lang="en-US" dirty="0" err="1"/>
              <a:t>studentList.removeStudent</a:t>
            </a:r>
            <a:r>
              <a:rPr lang="en-US" dirty="0"/>
              <a:t>(6);</a:t>
            </a:r>
          </a:p>
          <a:p>
            <a:pPr marL="0" indent="0">
              <a:buNone/>
            </a:pPr>
            <a:r>
              <a:rPr lang="en-US" dirty="0"/>
              <a:t>	}catch(</a:t>
            </a:r>
            <a:r>
              <a:rPr lang="en-US" dirty="0" err="1"/>
              <a:t>IndexOutOfBoundsException</a:t>
            </a:r>
            <a:r>
              <a:rPr lang="en-US" dirty="0"/>
              <a:t> </a:t>
            </a:r>
            <a:r>
              <a:rPr lang="en-US" dirty="0" err="1"/>
              <a:t>exc</a:t>
            </a:r>
            <a:r>
              <a:rPr lang="en-US" dirty="0"/>
              <a:t>){</a:t>
            </a:r>
          </a:p>
          <a:p>
            <a:pPr marL="0" indent="0">
              <a:buNone/>
            </a:pPr>
            <a:r>
              <a:rPr lang="en-US" dirty="0"/>
              <a:t>		</a:t>
            </a:r>
            <a:r>
              <a:rPr lang="en-US" dirty="0" err="1"/>
              <a:t>System.out.print</a:t>
            </a:r>
            <a:r>
              <a:rPr lang="en-US" dirty="0"/>
              <a:t>("Error! " + </a:t>
            </a:r>
            <a:r>
              <a:rPr lang="en-US" dirty="0" err="1"/>
              <a:t>exc.getMessage</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769947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32E2-866C-2724-2ADD-81290C8BC7BB}"/>
              </a:ext>
            </a:extLst>
          </p:cNvPr>
          <p:cNvSpPr>
            <a:spLocks noGrp="1"/>
          </p:cNvSpPr>
          <p:nvPr>
            <p:ph type="title"/>
          </p:nvPr>
        </p:nvSpPr>
        <p:spPr>
          <a:xfrm>
            <a:off x="2639578" y="430998"/>
            <a:ext cx="8911687" cy="1280890"/>
          </a:xfrm>
        </p:spPr>
        <p:txBody>
          <a:bodyPr/>
          <a:lstStyle/>
          <a:p>
            <a:pPr algn="ctr"/>
            <a:r>
              <a:rPr lang="en-US" b="1" dirty="0"/>
              <a:t>Throwing Exceptions</a:t>
            </a:r>
          </a:p>
        </p:txBody>
      </p:sp>
      <p:sp>
        <p:nvSpPr>
          <p:cNvPr id="3" name="Content Placeholder 2">
            <a:extLst>
              <a:ext uri="{FF2B5EF4-FFF2-40B4-BE49-F238E27FC236}">
                <a16:creationId xmlns:a16="http://schemas.microsoft.com/office/drawing/2014/main" id="{E5A66A22-B397-92BB-2A79-43A6A8BD5A76}"/>
              </a:ext>
            </a:extLst>
          </p:cNvPr>
          <p:cNvSpPr>
            <a:spLocks noGrp="1"/>
          </p:cNvSpPr>
          <p:nvPr>
            <p:ph idx="1"/>
          </p:nvPr>
        </p:nvSpPr>
        <p:spPr>
          <a:xfrm>
            <a:off x="2850469" y="1368490"/>
            <a:ext cx="8915400" cy="3777622"/>
          </a:xfrm>
        </p:spPr>
        <p:txBody>
          <a:bodyPr>
            <a:noAutofit/>
          </a:bodyPr>
          <a:lstStyle/>
          <a:p>
            <a:pPr marL="0" indent="0">
              <a:buNone/>
            </a:pPr>
            <a:r>
              <a:rPr lang="en-US" sz="2400" dirty="0"/>
              <a:t>We can throw our own exceptions—either instances of Exception, one of its existing subclasses, or our own specialized exception classes. </a:t>
            </a:r>
          </a:p>
          <a:p>
            <a:pPr marL="0" indent="0">
              <a:buNone/>
            </a:pPr>
            <a:r>
              <a:rPr lang="en-US" sz="2400" dirty="0"/>
              <a:t>All we have to do is create an instance of the Exception and throw it with the throw statement:</a:t>
            </a:r>
          </a:p>
          <a:p>
            <a:pPr marL="0" indent="0">
              <a:buNone/>
            </a:pPr>
            <a:r>
              <a:rPr lang="en-US" sz="2400" dirty="0"/>
              <a:t>    </a:t>
            </a:r>
            <a:r>
              <a:rPr lang="en-US" sz="2400" b="1" dirty="0"/>
              <a:t>throw new </a:t>
            </a:r>
            <a:r>
              <a:rPr lang="en-US" sz="2400" b="1" dirty="0" err="1"/>
              <a:t>IOException</a:t>
            </a:r>
            <a:r>
              <a:rPr lang="en-US" sz="2400" b="1" dirty="0"/>
              <a:t>();</a:t>
            </a:r>
          </a:p>
          <a:p>
            <a:pPr marL="0" indent="0">
              <a:buNone/>
            </a:pPr>
            <a:r>
              <a:rPr lang="en-US" sz="2400" dirty="0"/>
              <a:t>Execution stops and is transferred to the nearest enclosing try/catch statement that can handle the exception type. An alternative constructor lets us specify a string with an error message:</a:t>
            </a:r>
          </a:p>
          <a:p>
            <a:pPr marL="0" indent="0">
              <a:buNone/>
            </a:pPr>
            <a:r>
              <a:rPr lang="en-US" sz="2400" dirty="0"/>
              <a:t>    </a:t>
            </a:r>
            <a:r>
              <a:rPr lang="en-US" sz="2400" b="1" dirty="0"/>
              <a:t>throw new </a:t>
            </a:r>
            <a:r>
              <a:rPr lang="en-US" sz="2400" b="1" dirty="0" err="1"/>
              <a:t>IOException</a:t>
            </a:r>
            <a:r>
              <a:rPr lang="en-US" sz="2400" b="1" dirty="0"/>
              <a:t>("Sunspots!");</a:t>
            </a:r>
          </a:p>
        </p:txBody>
      </p:sp>
    </p:spTree>
    <p:extLst>
      <p:ext uri="{BB962C8B-B14F-4D97-AF65-F5344CB8AC3E}">
        <p14:creationId xmlns:p14="http://schemas.microsoft.com/office/powerpoint/2010/main" val="1630850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A968-F90F-7203-731C-F0773F26D18C}"/>
              </a:ext>
            </a:extLst>
          </p:cNvPr>
          <p:cNvSpPr>
            <a:spLocks noGrp="1"/>
          </p:cNvSpPr>
          <p:nvPr>
            <p:ph type="title"/>
          </p:nvPr>
        </p:nvSpPr>
        <p:spPr>
          <a:xfrm>
            <a:off x="1538566" y="288208"/>
            <a:ext cx="10497924" cy="1280890"/>
          </a:xfrm>
        </p:spPr>
        <p:txBody>
          <a:bodyPr/>
          <a:lstStyle/>
          <a:p>
            <a:pPr algn="ctr"/>
            <a:r>
              <a:rPr lang="en-US" b="1" dirty="0"/>
              <a:t>Getting Information from the Exception Object</a:t>
            </a:r>
          </a:p>
        </p:txBody>
      </p:sp>
      <p:sp>
        <p:nvSpPr>
          <p:cNvPr id="3" name="Content Placeholder 2">
            <a:extLst>
              <a:ext uri="{FF2B5EF4-FFF2-40B4-BE49-F238E27FC236}">
                <a16:creationId xmlns:a16="http://schemas.microsoft.com/office/drawing/2014/main" id="{379132F5-B4E3-11E8-ECF4-1EDE3AD7DF59}"/>
              </a:ext>
            </a:extLst>
          </p:cNvPr>
          <p:cNvSpPr>
            <a:spLocks noGrp="1"/>
          </p:cNvSpPr>
          <p:nvPr>
            <p:ph idx="1"/>
          </p:nvPr>
        </p:nvSpPr>
        <p:spPr>
          <a:xfrm>
            <a:off x="2620916" y="1410477"/>
            <a:ext cx="8915400" cy="3777622"/>
          </a:xfrm>
        </p:spPr>
        <p:txBody>
          <a:bodyPr>
            <a:noAutofit/>
          </a:bodyPr>
          <a:lstStyle/>
          <a:p>
            <a:pPr marL="0" indent="0">
              <a:buNone/>
            </a:pPr>
            <a:r>
              <a:rPr lang="en-US" sz="2400" dirty="0"/>
              <a:t>You can retrieve the error string by using the Exception object’s </a:t>
            </a:r>
            <a:r>
              <a:rPr lang="en-US" sz="2400" dirty="0" err="1"/>
              <a:t>getMessage</a:t>
            </a:r>
            <a:r>
              <a:rPr lang="en-US" sz="2400" dirty="0"/>
              <a:t>() method. </a:t>
            </a:r>
          </a:p>
          <a:p>
            <a:pPr marL="0" indent="0">
              <a:buNone/>
            </a:pPr>
            <a:r>
              <a:rPr lang="en-US" sz="2400" dirty="0"/>
              <a:t>Often, though, you can just print (or </a:t>
            </a:r>
            <a:r>
              <a:rPr lang="en-US" sz="2400" dirty="0" err="1"/>
              <a:t>toString</a:t>
            </a:r>
            <a:r>
              <a:rPr lang="en-US" sz="2400" dirty="0"/>
              <a:t>()) the exception object itself to get the message and stack trace.</a:t>
            </a:r>
          </a:p>
          <a:p>
            <a:pPr marL="0" indent="0">
              <a:buNone/>
            </a:pPr>
            <a:r>
              <a:rPr lang="en-US" sz="2400" dirty="0"/>
              <a:t>By convention, all types of Exception have a String constructor like this.</a:t>
            </a:r>
          </a:p>
          <a:p>
            <a:pPr marL="0" indent="0">
              <a:buNone/>
            </a:pPr>
            <a:r>
              <a:rPr lang="en-US" sz="2400" dirty="0"/>
              <a:t> The preceding String message is not very useful.</a:t>
            </a:r>
          </a:p>
          <a:p>
            <a:pPr marL="0" indent="0">
              <a:buNone/>
            </a:pPr>
            <a:r>
              <a:rPr lang="en-US" sz="2400" dirty="0"/>
              <a:t> Normally, it will throw a more specific subclass Exception, which captures details or at least a more specific string explanation.</a:t>
            </a:r>
          </a:p>
        </p:txBody>
      </p:sp>
    </p:spTree>
    <p:extLst>
      <p:ext uri="{BB962C8B-B14F-4D97-AF65-F5344CB8AC3E}">
        <p14:creationId xmlns:p14="http://schemas.microsoft.com/office/powerpoint/2010/main" val="2306862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DE65-F62A-7594-67DD-FAD002FA961D}"/>
              </a:ext>
            </a:extLst>
          </p:cNvPr>
          <p:cNvSpPr>
            <a:spLocks noGrp="1"/>
          </p:cNvSpPr>
          <p:nvPr>
            <p:ph type="title"/>
          </p:nvPr>
        </p:nvSpPr>
        <p:spPr>
          <a:xfrm>
            <a:off x="2592925" y="372184"/>
            <a:ext cx="8911687" cy="1280890"/>
          </a:xfrm>
        </p:spPr>
        <p:txBody>
          <a:bodyPr/>
          <a:lstStyle/>
          <a:p>
            <a:pPr algn="ctr"/>
            <a:r>
              <a:rPr lang="en-US" b="1" dirty="0"/>
              <a:t>Example: Method to Check for an Illegal Path</a:t>
            </a:r>
          </a:p>
        </p:txBody>
      </p:sp>
      <p:sp>
        <p:nvSpPr>
          <p:cNvPr id="3" name="Content Placeholder 2">
            <a:extLst>
              <a:ext uri="{FF2B5EF4-FFF2-40B4-BE49-F238E27FC236}">
                <a16:creationId xmlns:a16="http://schemas.microsoft.com/office/drawing/2014/main" id="{F09D1F3C-C898-759A-B68F-B3B6D79B48AE}"/>
              </a:ext>
            </a:extLst>
          </p:cNvPr>
          <p:cNvSpPr>
            <a:spLocks noGrp="1"/>
          </p:cNvSpPr>
          <p:nvPr>
            <p:ph idx="1"/>
          </p:nvPr>
        </p:nvSpPr>
        <p:spPr>
          <a:xfrm>
            <a:off x="2592925" y="1960984"/>
            <a:ext cx="8915400" cy="3777622"/>
          </a:xfrm>
        </p:spPr>
        <p:txBody>
          <a:bodyPr>
            <a:noAutofit/>
          </a:bodyPr>
          <a:lstStyle/>
          <a:p>
            <a:pPr marL="0" indent="0">
              <a:buNone/>
            </a:pPr>
            <a:r>
              <a:rPr lang="en-US" sz="2400" b="1" dirty="0"/>
              <a:t>public void </a:t>
            </a:r>
            <a:r>
              <a:rPr lang="en-US" sz="2400" b="1" dirty="0" err="1"/>
              <a:t>checkRead</a:t>
            </a:r>
            <a:r>
              <a:rPr lang="en-US" sz="2400" b="1" dirty="0"/>
              <a:t>( String s ) {</a:t>
            </a:r>
          </a:p>
          <a:p>
            <a:pPr marL="0" indent="0">
              <a:buNone/>
            </a:pPr>
            <a:r>
              <a:rPr lang="en-US" sz="2400" b="1" dirty="0"/>
              <a:t>        if ( new File(s).</a:t>
            </a:r>
            <a:r>
              <a:rPr lang="en-US" sz="2400" b="1" dirty="0" err="1"/>
              <a:t>isAbsolute</a:t>
            </a:r>
            <a:r>
              <a:rPr lang="en-US" sz="2400" b="1" dirty="0"/>
              <a:t>() || (</a:t>
            </a:r>
            <a:r>
              <a:rPr lang="en-US" sz="2400" b="1" dirty="0" err="1"/>
              <a:t>s.indexOf</a:t>
            </a:r>
            <a:r>
              <a:rPr lang="en-US" sz="2400" b="1" dirty="0"/>
              <a:t>("..") != -1) )</a:t>
            </a:r>
          </a:p>
          <a:p>
            <a:pPr marL="0" indent="0">
              <a:buNone/>
            </a:pPr>
            <a:r>
              <a:rPr lang="en-US" sz="2400" b="1" dirty="0"/>
              <a:t>            throw new </a:t>
            </a:r>
            <a:r>
              <a:rPr lang="en-US" sz="2400" b="1" dirty="0" err="1"/>
              <a:t>SecurityException</a:t>
            </a:r>
            <a:r>
              <a:rPr lang="en-US" sz="2400" b="1" dirty="0"/>
              <a:t>(</a:t>
            </a:r>
          </a:p>
          <a:p>
            <a:pPr marL="0" indent="0">
              <a:buNone/>
            </a:pPr>
            <a:r>
              <a:rPr lang="en-US" sz="2400" b="1" dirty="0"/>
              <a:t>               "Access to file : "+ s +" denied.");</a:t>
            </a:r>
          </a:p>
          <a:p>
            <a:pPr marL="0" indent="0">
              <a:buNone/>
            </a:pPr>
            <a:r>
              <a:rPr lang="en-US" sz="2400" b="1" dirty="0"/>
              <a:t>    }</a:t>
            </a:r>
          </a:p>
          <a:p>
            <a:pPr marL="0" indent="0">
              <a:buNone/>
            </a:pPr>
            <a:r>
              <a:rPr lang="en-US" sz="2400" dirty="0"/>
              <a:t>In this code, we partially implement a method to check for an illegal path. If we find one, we throw a </a:t>
            </a:r>
            <a:r>
              <a:rPr lang="en-US" sz="2400" dirty="0" err="1"/>
              <a:t>SecurityException</a:t>
            </a:r>
            <a:r>
              <a:rPr lang="en-US" sz="2400" dirty="0"/>
              <a:t> along with some information about the transgression.</a:t>
            </a:r>
          </a:p>
        </p:txBody>
      </p:sp>
    </p:spTree>
    <p:extLst>
      <p:ext uri="{BB962C8B-B14F-4D97-AF65-F5344CB8AC3E}">
        <p14:creationId xmlns:p14="http://schemas.microsoft.com/office/powerpoint/2010/main" val="3353914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0B98-1299-5512-E783-F30F9AC79909}"/>
              </a:ext>
            </a:extLst>
          </p:cNvPr>
          <p:cNvSpPr>
            <a:spLocks noGrp="1"/>
          </p:cNvSpPr>
          <p:nvPr>
            <p:ph type="title"/>
          </p:nvPr>
        </p:nvSpPr>
        <p:spPr/>
        <p:txBody>
          <a:bodyPr/>
          <a:lstStyle/>
          <a:p>
            <a:pPr algn="ctr"/>
            <a:r>
              <a:rPr lang="en-US" b="1" dirty="0"/>
              <a:t>A Custom Exception</a:t>
            </a:r>
          </a:p>
        </p:txBody>
      </p:sp>
      <p:sp>
        <p:nvSpPr>
          <p:cNvPr id="3" name="Content Placeholder 2">
            <a:extLst>
              <a:ext uri="{FF2B5EF4-FFF2-40B4-BE49-F238E27FC236}">
                <a16:creationId xmlns:a16="http://schemas.microsoft.com/office/drawing/2014/main" id="{89E0F8FD-12B4-4BC0-3C75-DAFF724BB314}"/>
              </a:ext>
            </a:extLst>
          </p:cNvPr>
          <p:cNvSpPr>
            <a:spLocks noGrp="1"/>
          </p:cNvSpPr>
          <p:nvPr>
            <p:ph idx="1"/>
          </p:nvPr>
        </p:nvSpPr>
        <p:spPr/>
        <p:txBody>
          <a:bodyPr>
            <a:normAutofit/>
          </a:bodyPr>
          <a:lstStyle/>
          <a:p>
            <a:pPr marL="0" indent="0">
              <a:buNone/>
            </a:pPr>
            <a:r>
              <a:rPr lang="en-US" sz="2400" dirty="0"/>
              <a:t>Of course, we could include any other information that is useful in our own specialized subclasses of Exception. </a:t>
            </a:r>
          </a:p>
          <a:p>
            <a:pPr marL="0" indent="0">
              <a:buNone/>
            </a:pPr>
            <a:r>
              <a:rPr lang="en-US" sz="2400" dirty="0"/>
              <a:t>Often, though, just having a new type of exception is good enough because it’s sufficient to help direct the flow of control. </a:t>
            </a:r>
          </a:p>
          <a:p>
            <a:pPr marL="0" indent="0">
              <a:buNone/>
            </a:pPr>
            <a:r>
              <a:rPr lang="en-US" sz="2400" dirty="0"/>
              <a:t>For example, if we are building a parser, we might want to make our own kind of exception to indicate a particular kind of failure.</a:t>
            </a:r>
          </a:p>
        </p:txBody>
      </p:sp>
    </p:spTree>
    <p:extLst>
      <p:ext uri="{BB962C8B-B14F-4D97-AF65-F5344CB8AC3E}">
        <p14:creationId xmlns:p14="http://schemas.microsoft.com/office/powerpoint/2010/main" val="506321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C07A8-0E39-D5C8-68F4-F3149E8FB52D}"/>
              </a:ext>
            </a:extLst>
          </p:cNvPr>
          <p:cNvSpPr>
            <a:spLocks noGrp="1"/>
          </p:cNvSpPr>
          <p:nvPr>
            <p:ph type="title"/>
          </p:nvPr>
        </p:nvSpPr>
        <p:spPr>
          <a:xfrm>
            <a:off x="6955372" y="973778"/>
            <a:ext cx="4718072" cy="736269"/>
          </a:xfrm>
          <a:ln w="19050">
            <a:solidFill>
              <a:schemeClr val="tx1"/>
            </a:solidFill>
          </a:ln>
        </p:spPr>
        <p:txBody>
          <a:bodyPr/>
          <a:lstStyle/>
          <a:p>
            <a:pPr algn="ctr"/>
            <a:r>
              <a:rPr lang="en-US" b="1" dirty="0"/>
              <a:t>The Example Code</a:t>
            </a:r>
          </a:p>
        </p:txBody>
      </p:sp>
      <p:sp>
        <p:nvSpPr>
          <p:cNvPr id="3" name="Content Placeholder 2">
            <a:extLst>
              <a:ext uri="{FF2B5EF4-FFF2-40B4-BE49-F238E27FC236}">
                <a16:creationId xmlns:a16="http://schemas.microsoft.com/office/drawing/2014/main" id="{CD562C43-7CE3-889D-1211-068C9550A16B}"/>
              </a:ext>
            </a:extLst>
          </p:cNvPr>
          <p:cNvSpPr>
            <a:spLocks noGrp="1"/>
          </p:cNvSpPr>
          <p:nvPr>
            <p:ph idx="1"/>
          </p:nvPr>
        </p:nvSpPr>
        <p:spPr>
          <a:xfrm>
            <a:off x="1543298" y="0"/>
            <a:ext cx="8915400" cy="6644242"/>
          </a:xfrm>
        </p:spPr>
        <p:txBody>
          <a:bodyPr>
            <a:noAutofit/>
          </a:bodyPr>
          <a:lstStyle/>
          <a:p>
            <a:pPr marL="0" indent="0">
              <a:buNone/>
            </a:pPr>
            <a:r>
              <a:rPr lang="en-US" sz="2400" b="1" dirty="0"/>
              <a:t> class </a:t>
            </a:r>
            <a:r>
              <a:rPr lang="en-US" sz="2400" b="1" dirty="0" err="1"/>
              <a:t>ParseException</a:t>
            </a:r>
            <a:r>
              <a:rPr lang="en-US" sz="2400" b="1" dirty="0"/>
              <a:t> extends Exception {</a:t>
            </a:r>
          </a:p>
          <a:p>
            <a:pPr marL="0" indent="0">
              <a:buNone/>
            </a:pPr>
            <a:r>
              <a:rPr lang="en-US" sz="2400" b="1" dirty="0"/>
              <a:t>        private int </a:t>
            </a:r>
            <a:r>
              <a:rPr lang="en-US" sz="2400" b="1" dirty="0" err="1"/>
              <a:t>lineNumber</a:t>
            </a:r>
            <a:r>
              <a:rPr lang="en-US" sz="2400" b="1" dirty="0"/>
              <a:t>;</a:t>
            </a:r>
          </a:p>
          <a:p>
            <a:pPr marL="0" indent="0">
              <a:buNone/>
            </a:pPr>
            <a:r>
              <a:rPr lang="en-US" sz="2400" b="1" dirty="0"/>
              <a:t>        </a:t>
            </a:r>
            <a:r>
              <a:rPr lang="en-US" sz="2400" b="1" dirty="0" err="1"/>
              <a:t>ParseException</a:t>
            </a:r>
            <a:r>
              <a:rPr lang="en-US" sz="2400" b="1" dirty="0"/>
              <a:t>() {</a:t>
            </a:r>
          </a:p>
          <a:p>
            <a:pPr marL="0" indent="0">
              <a:buNone/>
            </a:pPr>
            <a:r>
              <a:rPr lang="en-US" sz="2400" b="1" dirty="0"/>
              <a:t>            super();</a:t>
            </a:r>
          </a:p>
          <a:p>
            <a:pPr marL="0" indent="0">
              <a:buNone/>
            </a:pPr>
            <a:r>
              <a:rPr lang="en-US" sz="2400" b="1" dirty="0"/>
              <a:t>            </a:t>
            </a:r>
            <a:r>
              <a:rPr lang="en-US" sz="2400" b="1" dirty="0" err="1"/>
              <a:t>this.lineNumber</a:t>
            </a:r>
            <a:r>
              <a:rPr lang="en-US" sz="2400" b="1" dirty="0"/>
              <a:t> = -1;</a:t>
            </a:r>
          </a:p>
          <a:p>
            <a:pPr marL="0" indent="0">
              <a:buNone/>
            </a:pPr>
            <a:r>
              <a:rPr lang="en-US" sz="2400" b="1" dirty="0"/>
              <a:t>        }</a:t>
            </a:r>
          </a:p>
          <a:p>
            <a:pPr marL="0" indent="0">
              <a:buNone/>
            </a:pPr>
            <a:r>
              <a:rPr lang="en-US" sz="2400" b="1" dirty="0"/>
              <a:t>        </a:t>
            </a:r>
            <a:r>
              <a:rPr lang="en-US" sz="2400" b="1" dirty="0" err="1"/>
              <a:t>ParseException</a:t>
            </a:r>
            <a:r>
              <a:rPr lang="en-US" sz="2400" b="1" dirty="0"/>
              <a:t>( String desc, int </a:t>
            </a:r>
            <a:r>
              <a:rPr lang="en-US" sz="2400" b="1" dirty="0" err="1"/>
              <a:t>lineNumber</a:t>
            </a:r>
            <a:r>
              <a:rPr lang="en-US" sz="2400" b="1" dirty="0"/>
              <a:t> ) {</a:t>
            </a:r>
          </a:p>
          <a:p>
            <a:pPr marL="0" indent="0">
              <a:buNone/>
            </a:pPr>
            <a:r>
              <a:rPr lang="en-US" sz="2400" b="1" dirty="0"/>
              <a:t>            super( desc );</a:t>
            </a:r>
          </a:p>
          <a:p>
            <a:pPr marL="0" indent="0">
              <a:buNone/>
            </a:pPr>
            <a:r>
              <a:rPr lang="en-US" sz="2400" b="1" dirty="0"/>
              <a:t>            </a:t>
            </a:r>
            <a:r>
              <a:rPr lang="en-US" sz="2400" b="1" dirty="0" err="1"/>
              <a:t>this.lineNumber</a:t>
            </a:r>
            <a:r>
              <a:rPr lang="en-US" sz="2400" b="1" dirty="0"/>
              <a:t> = </a:t>
            </a:r>
            <a:r>
              <a:rPr lang="en-US" sz="2400" b="1" dirty="0" err="1"/>
              <a:t>lineNumber</a:t>
            </a:r>
            <a:r>
              <a:rPr lang="en-US" sz="2400" b="1" dirty="0"/>
              <a:t>;</a:t>
            </a:r>
          </a:p>
          <a:p>
            <a:pPr marL="0" indent="0">
              <a:buNone/>
            </a:pPr>
            <a:r>
              <a:rPr lang="en-US" sz="2400" b="1" dirty="0"/>
              <a:t>        }</a:t>
            </a:r>
          </a:p>
          <a:p>
            <a:pPr marL="0" indent="0">
              <a:buNone/>
            </a:pPr>
            <a:r>
              <a:rPr lang="en-US" sz="2400" b="1" dirty="0"/>
              <a:t>        public int </a:t>
            </a:r>
            <a:r>
              <a:rPr lang="en-US" sz="2400" b="1" dirty="0" err="1"/>
              <a:t>getLineNumber</a:t>
            </a:r>
            <a:r>
              <a:rPr lang="en-US" sz="2400" b="1" dirty="0"/>
              <a:t>() {</a:t>
            </a:r>
          </a:p>
          <a:p>
            <a:pPr marL="0" indent="0">
              <a:buNone/>
            </a:pPr>
            <a:r>
              <a:rPr lang="en-US" sz="2400" b="1" dirty="0"/>
              <a:t>            return </a:t>
            </a:r>
            <a:r>
              <a:rPr lang="en-US" sz="2400" b="1" dirty="0" err="1"/>
              <a:t>lineNumber</a:t>
            </a:r>
            <a:r>
              <a:rPr lang="en-US" sz="2400" b="1" dirty="0"/>
              <a:t>;</a:t>
            </a:r>
          </a:p>
          <a:p>
            <a:pPr marL="0" indent="0">
              <a:buNone/>
            </a:pPr>
            <a:r>
              <a:rPr lang="en-US" sz="2400" b="1" dirty="0"/>
              <a:t>        }</a:t>
            </a:r>
          </a:p>
          <a:p>
            <a:pPr marL="0" indent="0">
              <a:buNone/>
            </a:pPr>
            <a:r>
              <a:rPr lang="en-US" sz="2400" b="1" dirty="0"/>
              <a:t>    }</a:t>
            </a:r>
          </a:p>
        </p:txBody>
      </p:sp>
    </p:spTree>
    <p:extLst>
      <p:ext uri="{BB962C8B-B14F-4D97-AF65-F5344CB8AC3E}">
        <p14:creationId xmlns:p14="http://schemas.microsoft.com/office/powerpoint/2010/main" val="2914865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9BC0-9A27-EC38-1E1B-54B6E66C4521}"/>
              </a:ext>
            </a:extLst>
          </p:cNvPr>
          <p:cNvSpPr>
            <a:spLocks noGrp="1"/>
          </p:cNvSpPr>
          <p:nvPr>
            <p:ph type="title"/>
          </p:nvPr>
        </p:nvSpPr>
        <p:spPr>
          <a:xfrm>
            <a:off x="1425038" y="350977"/>
            <a:ext cx="10066317" cy="1280890"/>
          </a:xfrm>
        </p:spPr>
        <p:txBody>
          <a:bodyPr/>
          <a:lstStyle/>
          <a:p>
            <a:pPr algn="ctr"/>
            <a:r>
              <a:rPr lang="en-US" b="1" dirty="0"/>
              <a:t>Use a try/catch with the Custom Exception</a:t>
            </a:r>
          </a:p>
        </p:txBody>
      </p:sp>
      <p:sp>
        <p:nvSpPr>
          <p:cNvPr id="3" name="Content Placeholder 2">
            <a:extLst>
              <a:ext uri="{FF2B5EF4-FFF2-40B4-BE49-F238E27FC236}">
                <a16:creationId xmlns:a16="http://schemas.microsoft.com/office/drawing/2014/main" id="{994A4889-F6BE-6366-DA0F-16B9A82315BE}"/>
              </a:ext>
            </a:extLst>
          </p:cNvPr>
          <p:cNvSpPr>
            <a:spLocks noGrp="1"/>
          </p:cNvSpPr>
          <p:nvPr>
            <p:ph idx="1"/>
          </p:nvPr>
        </p:nvSpPr>
        <p:spPr>
          <a:xfrm>
            <a:off x="2244828" y="1172054"/>
            <a:ext cx="8915400" cy="4966834"/>
          </a:xfrm>
        </p:spPr>
        <p:txBody>
          <a:bodyPr>
            <a:noAutofit/>
          </a:bodyPr>
          <a:lstStyle/>
          <a:p>
            <a:pPr marL="0" indent="0">
              <a:buNone/>
            </a:pPr>
            <a:r>
              <a:rPr lang="en-US" sz="2000" dirty="0"/>
              <a:t>// Somewhere in our code</a:t>
            </a:r>
          </a:p>
          <a:p>
            <a:pPr marL="0" indent="0">
              <a:buNone/>
            </a:pPr>
            <a:r>
              <a:rPr lang="en-US" sz="2000" dirty="0"/>
              <a:t>    ...</a:t>
            </a:r>
          </a:p>
          <a:p>
            <a:pPr marL="0" indent="0">
              <a:buNone/>
            </a:pPr>
            <a:r>
              <a:rPr lang="en-US" sz="2000" b="1" dirty="0"/>
              <a:t>    try {</a:t>
            </a:r>
          </a:p>
          <a:p>
            <a:pPr marL="0" indent="0">
              <a:buNone/>
            </a:pPr>
            <a:r>
              <a:rPr lang="en-US" sz="2000" b="1" dirty="0"/>
              <a:t>        </a:t>
            </a:r>
            <a:r>
              <a:rPr lang="en-US" sz="2000" b="1" dirty="0" err="1"/>
              <a:t>parseStream</a:t>
            </a:r>
            <a:r>
              <a:rPr lang="en-US" sz="2000" b="1" dirty="0"/>
              <a:t>( input );</a:t>
            </a:r>
          </a:p>
          <a:p>
            <a:pPr marL="0" indent="0">
              <a:buNone/>
            </a:pPr>
            <a:r>
              <a:rPr lang="en-US" sz="2000" b="1" dirty="0"/>
              <a:t>    } catch ( </a:t>
            </a:r>
            <a:r>
              <a:rPr lang="en-US" sz="2000" b="1" dirty="0" err="1"/>
              <a:t>ParseException</a:t>
            </a:r>
            <a:r>
              <a:rPr lang="en-US" sz="2000" b="1" dirty="0"/>
              <a:t> pe ) {</a:t>
            </a:r>
          </a:p>
          <a:p>
            <a:pPr marL="0" indent="0">
              <a:buNone/>
            </a:pPr>
            <a:r>
              <a:rPr lang="en-US" sz="2000" b="1" dirty="0"/>
              <a:t>        // Bad input...</a:t>
            </a:r>
          </a:p>
          <a:p>
            <a:pPr marL="0" indent="0">
              <a:buNone/>
            </a:pPr>
            <a:r>
              <a:rPr lang="en-US" sz="2000" b="1" dirty="0"/>
              <a:t>        // We can even tell them which line was bad!</a:t>
            </a:r>
          </a:p>
          <a:p>
            <a:pPr marL="0" indent="0">
              <a:buNone/>
            </a:pPr>
            <a:r>
              <a:rPr lang="en-US" sz="2000" b="1" dirty="0"/>
              <a:t>    } catch ( </a:t>
            </a:r>
            <a:r>
              <a:rPr lang="en-US" sz="2000" b="1" dirty="0" err="1"/>
              <a:t>IOException</a:t>
            </a:r>
            <a:r>
              <a:rPr lang="en-US" sz="2000" b="1" dirty="0"/>
              <a:t> </a:t>
            </a:r>
            <a:r>
              <a:rPr lang="en-US" sz="2000" b="1" dirty="0" err="1"/>
              <a:t>ioe</a:t>
            </a:r>
            <a:r>
              <a:rPr lang="en-US" sz="2000" b="1" dirty="0"/>
              <a:t> ) {</a:t>
            </a:r>
          </a:p>
          <a:p>
            <a:pPr marL="0" indent="0">
              <a:buNone/>
            </a:pPr>
            <a:r>
              <a:rPr lang="en-US" sz="2000" b="1" dirty="0"/>
              <a:t>        // Low-level communications problem</a:t>
            </a:r>
          </a:p>
          <a:p>
            <a:pPr marL="0" indent="0">
              <a:buNone/>
            </a:pPr>
            <a:r>
              <a:rPr lang="en-US" sz="2000" b="1" dirty="0"/>
              <a:t>    }</a:t>
            </a:r>
          </a:p>
          <a:p>
            <a:pPr marL="0" indent="0">
              <a:buNone/>
            </a:pPr>
            <a:r>
              <a:rPr lang="en-US" sz="2000" dirty="0"/>
              <a:t>Even without the special information like the line number where our input caused a problem, our custom exception lets us distinguish a parse error from an arbitrary I/O error in the same chunk of code.</a:t>
            </a:r>
          </a:p>
        </p:txBody>
      </p:sp>
    </p:spTree>
    <p:extLst>
      <p:ext uri="{BB962C8B-B14F-4D97-AF65-F5344CB8AC3E}">
        <p14:creationId xmlns:p14="http://schemas.microsoft.com/office/powerpoint/2010/main" val="2155247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2FE3D-7A3E-ABC6-5D50-0E0B5EBE2505}"/>
              </a:ext>
            </a:extLst>
          </p:cNvPr>
          <p:cNvSpPr>
            <a:spLocks noGrp="1"/>
          </p:cNvSpPr>
          <p:nvPr>
            <p:ph type="title"/>
          </p:nvPr>
        </p:nvSpPr>
        <p:spPr/>
        <p:txBody>
          <a:bodyPr/>
          <a:lstStyle/>
          <a:p>
            <a:pPr algn="ctr"/>
            <a:r>
              <a:rPr lang="en-US" b="1" dirty="0"/>
              <a:t>Chaining And Rethrowing Exceptions</a:t>
            </a:r>
          </a:p>
        </p:txBody>
      </p:sp>
      <p:sp>
        <p:nvSpPr>
          <p:cNvPr id="3" name="Content Placeholder 2">
            <a:extLst>
              <a:ext uri="{FF2B5EF4-FFF2-40B4-BE49-F238E27FC236}">
                <a16:creationId xmlns:a16="http://schemas.microsoft.com/office/drawing/2014/main" id="{493D9DF7-01AE-45C0-9560-B3CDA7A9B859}"/>
              </a:ext>
            </a:extLst>
          </p:cNvPr>
          <p:cNvSpPr>
            <a:spLocks noGrp="1"/>
          </p:cNvSpPr>
          <p:nvPr>
            <p:ph idx="1"/>
          </p:nvPr>
        </p:nvSpPr>
        <p:spPr>
          <a:xfrm>
            <a:off x="2446708" y="1540189"/>
            <a:ext cx="8915400" cy="3777622"/>
          </a:xfrm>
        </p:spPr>
        <p:txBody>
          <a:bodyPr>
            <a:noAutofit/>
          </a:bodyPr>
          <a:lstStyle/>
          <a:p>
            <a:pPr marL="0" indent="0">
              <a:buNone/>
            </a:pPr>
            <a:r>
              <a:rPr lang="en-US" sz="2400" dirty="0"/>
              <a:t>Sometimes you’ll want to take some action based on an exception and then turn around and throw a new exception in its place. </a:t>
            </a:r>
          </a:p>
          <a:p>
            <a:pPr marL="0" indent="0">
              <a:buNone/>
            </a:pPr>
            <a:r>
              <a:rPr lang="en-US" sz="2400" dirty="0"/>
              <a:t>This is common when building frameworks where low-level detailed exceptions are handled and represented by higher-level exceptions that can be managed more easily. </a:t>
            </a:r>
          </a:p>
          <a:p>
            <a:pPr marL="0" indent="0">
              <a:buNone/>
            </a:pPr>
            <a:r>
              <a:rPr lang="en-US" sz="2400" dirty="0"/>
              <a:t>For example, you might want to catch an </a:t>
            </a:r>
            <a:r>
              <a:rPr lang="en-US" sz="2400" dirty="0" err="1"/>
              <a:t>IOException</a:t>
            </a:r>
            <a:r>
              <a:rPr lang="en-US" sz="2400" dirty="0"/>
              <a:t> in a communications package, possibly perform some cleanup, and ultimately throw a higher-level exception of your own, maybe something like </a:t>
            </a:r>
            <a:r>
              <a:rPr lang="en-US" sz="2400" dirty="0" err="1"/>
              <a:t>LostServerConnection</a:t>
            </a:r>
            <a:r>
              <a:rPr lang="en-US" sz="2400" dirty="0"/>
              <a:t>.</a:t>
            </a:r>
          </a:p>
        </p:txBody>
      </p:sp>
    </p:spTree>
    <p:extLst>
      <p:ext uri="{BB962C8B-B14F-4D97-AF65-F5344CB8AC3E}">
        <p14:creationId xmlns:p14="http://schemas.microsoft.com/office/powerpoint/2010/main" val="35890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E43A-B847-CE89-978A-BEF491CFC6AF}"/>
              </a:ext>
            </a:extLst>
          </p:cNvPr>
          <p:cNvSpPr>
            <a:spLocks noGrp="1"/>
          </p:cNvSpPr>
          <p:nvPr>
            <p:ph type="title"/>
          </p:nvPr>
        </p:nvSpPr>
        <p:spPr>
          <a:xfrm>
            <a:off x="2545424" y="175816"/>
            <a:ext cx="8911687" cy="1280890"/>
          </a:xfrm>
        </p:spPr>
        <p:txBody>
          <a:bodyPr/>
          <a:lstStyle/>
          <a:p>
            <a:pPr algn="ctr"/>
            <a:r>
              <a:rPr lang="en-US" b="1" dirty="0"/>
              <a:t>Exception Chaining</a:t>
            </a:r>
          </a:p>
        </p:txBody>
      </p:sp>
      <p:sp>
        <p:nvSpPr>
          <p:cNvPr id="3" name="Content Placeholder 2">
            <a:extLst>
              <a:ext uri="{FF2B5EF4-FFF2-40B4-BE49-F238E27FC236}">
                <a16:creationId xmlns:a16="http://schemas.microsoft.com/office/drawing/2014/main" id="{AA4A147B-54BD-0689-832F-D05FB168FA94}"/>
              </a:ext>
            </a:extLst>
          </p:cNvPr>
          <p:cNvSpPr>
            <a:spLocks noGrp="1"/>
          </p:cNvSpPr>
          <p:nvPr>
            <p:ph idx="1"/>
          </p:nvPr>
        </p:nvSpPr>
        <p:spPr>
          <a:xfrm>
            <a:off x="2731716" y="1041070"/>
            <a:ext cx="9274238" cy="3777622"/>
          </a:xfrm>
        </p:spPr>
        <p:txBody>
          <a:bodyPr>
            <a:noAutofit/>
          </a:bodyPr>
          <a:lstStyle/>
          <a:p>
            <a:pPr marL="0" indent="0">
              <a:buNone/>
            </a:pPr>
            <a:r>
              <a:rPr lang="en-US" sz="2400" dirty="0"/>
              <a:t>You can do this in the obvious way by simply catching the exception and then throwing a new one, but then you lose important information, including the stack trace of the original “causal” exception.</a:t>
            </a:r>
          </a:p>
          <a:p>
            <a:pPr marL="0" indent="0">
              <a:buNone/>
            </a:pPr>
            <a:r>
              <a:rPr lang="en-US" sz="2400" dirty="0"/>
              <a:t>To deal with this, you can use the technique of exception chaining. This means that you include the causal exception in the new exception that you throw. </a:t>
            </a:r>
          </a:p>
          <a:p>
            <a:pPr marL="0" indent="0">
              <a:buNone/>
            </a:pPr>
            <a:r>
              <a:rPr lang="en-US" sz="2400" dirty="0"/>
              <a:t>Java has explicit support for exception chaining. </a:t>
            </a:r>
          </a:p>
          <a:p>
            <a:pPr marL="0" indent="0">
              <a:buNone/>
            </a:pPr>
            <a:r>
              <a:rPr lang="en-US" sz="2400" dirty="0"/>
              <a:t>The base Exception class can be constructed with an exception as an argument or the standard String message and an exception:</a:t>
            </a:r>
            <a:endParaRPr lang="en-US" sz="2400" b="1" dirty="0"/>
          </a:p>
          <a:p>
            <a:pPr marL="0" indent="0">
              <a:buNone/>
            </a:pPr>
            <a:r>
              <a:rPr lang="en-US" sz="2400" b="1" dirty="0"/>
              <a:t>    throw new Exception( "Here's the story...", </a:t>
            </a:r>
            <a:r>
              <a:rPr lang="en-US" sz="2400" b="1" dirty="0" err="1"/>
              <a:t>causalException</a:t>
            </a:r>
            <a:r>
              <a:rPr lang="en-US" sz="2400" b="1" dirty="0"/>
              <a:t> );</a:t>
            </a:r>
          </a:p>
        </p:txBody>
      </p:sp>
    </p:spTree>
    <p:extLst>
      <p:ext uri="{BB962C8B-B14F-4D97-AF65-F5344CB8AC3E}">
        <p14:creationId xmlns:p14="http://schemas.microsoft.com/office/powerpoint/2010/main" val="3377141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191E-EE91-8BB8-6A8F-A708B8466C7F}"/>
              </a:ext>
            </a:extLst>
          </p:cNvPr>
          <p:cNvSpPr>
            <a:spLocks noGrp="1"/>
          </p:cNvSpPr>
          <p:nvPr>
            <p:ph type="title"/>
          </p:nvPr>
        </p:nvSpPr>
        <p:spPr/>
        <p:txBody>
          <a:bodyPr/>
          <a:lstStyle/>
          <a:p>
            <a:pPr algn="ctr"/>
            <a:r>
              <a:rPr lang="en-US" b="1" dirty="0"/>
              <a:t>Access to the Causal Exception</a:t>
            </a:r>
          </a:p>
        </p:txBody>
      </p:sp>
      <p:sp>
        <p:nvSpPr>
          <p:cNvPr id="3" name="Content Placeholder 2">
            <a:extLst>
              <a:ext uri="{FF2B5EF4-FFF2-40B4-BE49-F238E27FC236}">
                <a16:creationId xmlns:a16="http://schemas.microsoft.com/office/drawing/2014/main" id="{B46F6EF2-CE42-ACF8-9DB1-1CF71CF0E319}"/>
              </a:ext>
            </a:extLst>
          </p:cNvPr>
          <p:cNvSpPr>
            <a:spLocks noGrp="1"/>
          </p:cNvSpPr>
          <p:nvPr>
            <p:ph idx="1"/>
          </p:nvPr>
        </p:nvSpPr>
        <p:spPr>
          <a:xfrm>
            <a:off x="2592925" y="1444831"/>
            <a:ext cx="9413028" cy="3777622"/>
          </a:xfrm>
        </p:spPr>
        <p:txBody>
          <a:bodyPr>
            <a:noAutofit/>
          </a:bodyPr>
          <a:lstStyle/>
          <a:p>
            <a:pPr marL="0" indent="0">
              <a:buNone/>
            </a:pPr>
            <a:r>
              <a:rPr lang="en-US" sz="2400" dirty="0"/>
              <a:t>You can get access to the wrapped exception later with the </a:t>
            </a:r>
            <a:r>
              <a:rPr lang="en-US" sz="2400" dirty="0" err="1"/>
              <a:t>getCause</a:t>
            </a:r>
            <a:r>
              <a:rPr lang="en-US" sz="2400" dirty="0"/>
              <a:t>() method. </a:t>
            </a:r>
          </a:p>
          <a:p>
            <a:pPr marL="0" indent="0">
              <a:buNone/>
            </a:pPr>
            <a:r>
              <a:rPr lang="en-US" sz="2400" dirty="0"/>
              <a:t>Java automatically prints both exceptions and their respective stack traces if you print the exception or if it is shown to the user.</a:t>
            </a:r>
          </a:p>
          <a:p>
            <a:pPr marL="0" indent="0">
              <a:buNone/>
            </a:pPr>
            <a:r>
              <a:rPr lang="en-US" sz="2400" dirty="0"/>
              <a:t>You can add this kind of constructor to your own exception subclasses or you can take advantage of this pattern by using the Throwable method </a:t>
            </a:r>
            <a:r>
              <a:rPr lang="en-US" sz="2400" dirty="0" err="1"/>
              <a:t>initCause</a:t>
            </a:r>
            <a:r>
              <a:rPr lang="en-US" sz="2400" dirty="0"/>
              <a:t>() to set the causal exception explicitly. </a:t>
            </a:r>
          </a:p>
          <a:p>
            <a:pPr marL="0" indent="0">
              <a:buNone/>
            </a:pPr>
            <a:r>
              <a:rPr lang="en-US" sz="2400" b="0" i="0" dirty="0">
                <a:solidFill>
                  <a:srgbClr val="111111"/>
                </a:solidFill>
                <a:effectLst/>
                <a:latin typeface="Roboto" panose="02000000000000000000" pitchFamily="2" charset="0"/>
              </a:rPr>
              <a:t>The </a:t>
            </a:r>
            <a:r>
              <a:rPr lang="en-US" sz="2400" b="0" i="0" dirty="0" err="1">
                <a:solidFill>
                  <a:srgbClr val="111111"/>
                </a:solidFill>
                <a:effectLst/>
                <a:latin typeface="Roboto" panose="02000000000000000000" pitchFamily="2" charset="0"/>
              </a:rPr>
              <a:t>initCause</a:t>
            </a:r>
            <a:r>
              <a:rPr lang="en-US" sz="2400" b="0" i="0" dirty="0">
                <a:solidFill>
                  <a:srgbClr val="111111"/>
                </a:solidFill>
                <a:effectLst/>
                <a:latin typeface="Roboto" panose="02000000000000000000" pitchFamily="2" charset="0"/>
              </a:rPr>
              <a:t> () method of Java Throwable class is used to</a:t>
            </a:r>
            <a:r>
              <a:rPr lang="en-US" sz="2400" b="1" i="0" dirty="0">
                <a:solidFill>
                  <a:srgbClr val="111111"/>
                </a:solidFill>
                <a:effectLst/>
                <a:latin typeface="Roboto" panose="02000000000000000000" pitchFamily="2" charset="0"/>
              </a:rPr>
              <a:t> </a:t>
            </a:r>
            <a:r>
              <a:rPr lang="en-US" sz="2400" i="0" dirty="0">
                <a:solidFill>
                  <a:srgbClr val="111111"/>
                </a:solidFill>
                <a:effectLst/>
                <a:latin typeface="Roboto" panose="02000000000000000000" pitchFamily="2" charset="0"/>
              </a:rPr>
              <a:t>initialize the cause of the </a:t>
            </a:r>
            <a:r>
              <a:rPr lang="en-US" sz="2400" i="1" dirty="0">
                <a:solidFill>
                  <a:srgbClr val="111111"/>
                </a:solidFill>
                <a:effectLst/>
                <a:latin typeface="Roboto" panose="02000000000000000000" pitchFamily="2" charset="0"/>
              </a:rPr>
              <a:t>this</a:t>
            </a:r>
            <a:r>
              <a:rPr lang="en-US" sz="2400" i="0" dirty="0">
                <a:solidFill>
                  <a:srgbClr val="111111"/>
                </a:solidFill>
                <a:effectLst/>
                <a:latin typeface="Roboto" panose="02000000000000000000" pitchFamily="2" charset="0"/>
              </a:rPr>
              <a:t> Throwable with the specified cause passed as a parameter to </a:t>
            </a:r>
            <a:r>
              <a:rPr lang="en-US" sz="2400" i="0" dirty="0" err="1">
                <a:solidFill>
                  <a:srgbClr val="111111"/>
                </a:solidFill>
                <a:effectLst/>
                <a:latin typeface="Roboto" panose="02000000000000000000" pitchFamily="2" charset="0"/>
              </a:rPr>
              <a:t>initCause</a:t>
            </a:r>
            <a:r>
              <a:rPr lang="en-US" sz="2400" i="0" dirty="0">
                <a:solidFill>
                  <a:srgbClr val="111111"/>
                </a:solidFill>
                <a:effectLst/>
                <a:latin typeface="Roboto" panose="02000000000000000000" pitchFamily="2" charset="0"/>
              </a:rPr>
              <a:t>. </a:t>
            </a:r>
            <a:r>
              <a:rPr lang="en-US" sz="2400" b="0" i="0" dirty="0">
                <a:solidFill>
                  <a:srgbClr val="111111"/>
                </a:solidFill>
                <a:effectLst/>
                <a:latin typeface="Roboto" panose="02000000000000000000" pitchFamily="2" charset="0"/>
              </a:rPr>
              <a:t>This method can be called only once.</a:t>
            </a:r>
            <a:endParaRPr lang="en-US" sz="2400" b="1" dirty="0"/>
          </a:p>
          <a:p>
            <a:pPr marL="0" indent="0">
              <a:buNone/>
            </a:pPr>
            <a:endParaRPr lang="en-US" sz="2400" dirty="0"/>
          </a:p>
        </p:txBody>
      </p:sp>
    </p:spTree>
    <p:extLst>
      <p:ext uri="{BB962C8B-B14F-4D97-AF65-F5344CB8AC3E}">
        <p14:creationId xmlns:p14="http://schemas.microsoft.com/office/powerpoint/2010/main" val="110385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661C-8631-D8F8-BDA0-05E122549372}"/>
              </a:ext>
            </a:extLst>
          </p:cNvPr>
          <p:cNvSpPr>
            <a:spLocks noGrp="1"/>
          </p:cNvSpPr>
          <p:nvPr>
            <p:ph type="title"/>
          </p:nvPr>
        </p:nvSpPr>
        <p:spPr>
          <a:xfrm>
            <a:off x="2030680" y="385949"/>
            <a:ext cx="9450181" cy="1280890"/>
          </a:xfrm>
        </p:spPr>
        <p:txBody>
          <a:bodyPr/>
          <a:lstStyle/>
          <a:p>
            <a:pPr algn="ctr"/>
            <a:r>
              <a:rPr lang="en-US" b="1" dirty="0"/>
              <a:t>Using </a:t>
            </a:r>
            <a:r>
              <a:rPr lang="en-US" b="1" dirty="0" err="1"/>
              <a:t>initCase</a:t>
            </a:r>
            <a:r>
              <a:rPr lang="en-US" b="1" dirty="0"/>
              <a:t>() from the Throwable class</a:t>
            </a:r>
          </a:p>
        </p:txBody>
      </p:sp>
      <p:sp>
        <p:nvSpPr>
          <p:cNvPr id="3" name="Content Placeholder 2">
            <a:extLst>
              <a:ext uri="{FF2B5EF4-FFF2-40B4-BE49-F238E27FC236}">
                <a16:creationId xmlns:a16="http://schemas.microsoft.com/office/drawing/2014/main" id="{3A7A4099-BC75-AE05-F867-3A26E637E8D0}"/>
              </a:ext>
            </a:extLst>
          </p:cNvPr>
          <p:cNvSpPr>
            <a:spLocks noGrp="1"/>
          </p:cNvSpPr>
          <p:nvPr>
            <p:ph idx="1"/>
          </p:nvPr>
        </p:nvSpPr>
        <p:spPr>
          <a:xfrm>
            <a:off x="2298070" y="2153726"/>
            <a:ext cx="8915400" cy="4318325"/>
          </a:xfrm>
        </p:spPr>
        <p:txBody>
          <a:bodyPr>
            <a:noAutofit/>
          </a:bodyPr>
          <a:lstStyle/>
          <a:p>
            <a:pPr marL="0" indent="0">
              <a:buNone/>
            </a:pPr>
            <a:r>
              <a:rPr lang="en-US" sz="2400" b="1" dirty="0"/>
              <a:t>try {</a:t>
            </a:r>
          </a:p>
          <a:p>
            <a:pPr marL="0" indent="0">
              <a:buNone/>
            </a:pPr>
            <a:r>
              <a:rPr lang="en-US" sz="2400" b="1" dirty="0"/>
              <a:t>      // ...</a:t>
            </a:r>
          </a:p>
          <a:p>
            <a:pPr marL="0" indent="0">
              <a:buNone/>
            </a:pPr>
            <a:r>
              <a:rPr lang="en-US" sz="2400" b="1" dirty="0"/>
              <a:t>    } catch ( </a:t>
            </a:r>
            <a:r>
              <a:rPr lang="en-US" sz="2400" b="1" dirty="0" err="1"/>
              <a:t>IOException</a:t>
            </a:r>
            <a:r>
              <a:rPr lang="en-US" sz="2400" b="1" dirty="0"/>
              <a:t> cause ) {</a:t>
            </a:r>
          </a:p>
          <a:p>
            <a:pPr marL="0" indent="0">
              <a:buNone/>
            </a:pPr>
            <a:r>
              <a:rPr lang="en-US" sz="2400" b="1" dirty="0"/>
              <a:t>      Exception e =</a:t>
            </a:r>
          </a:p>
          <a:p>
            <a:pPr marL="0" indent="0">
              <a:buNone/>
            </a:pPr>
            <a:r>
              <a:rPr lang="en-US" sz="2400" b="1" dirty="0"/>
              <a:t>        new </a:t>
            </a:r>
            <a:r>
              <a:rPr lang="en-US" sz="2400" b="1" dirty="0" err="1"/>
              <a:t>IOException</a:t>
            </a:r>
            <a:r>
              <a:rPr lang="en-US" sz="2400" b="1" dirty="0"/>
              <a:t>("What we have here is a failure to communicate...");</a:t>
            </a:r>
          </a:p>
          <a:p>
            <a:pPr marL="0" indent="0">
              <a:buNone/>
            </a:pPr>
            <a:r>
              <a:rPr lang="en-US" sz="2400" b="1" dirty="0"/>
              <a:t>      </a:t>
            </a:r>
            <a:r>
              <a:rPr lang="en-US" sz="2400" b="1" dirty="0" err="1"/>
              <a:t>e.initCause</a:t>
            </a:r>
            <a:r>
              <a:rPr lang="en-US" sz="2400" b="1" dirty="0"/>
              <a:t>( cause );</a:t>
            </a:r>
          </a:p>
          <a:p>
            <a:pPr marL="0" indent="0">
              <a:buNone/>
            </a:pPr>
            <a:r>
              <a:rPr lang="en-US" sz="2400" b="1" dirty="0"/>
              <a:t>      throw e;</a:t>
            </a:r>
          </a:p>
          <a:p>
            <a:pPr marL="0" indent="0">
              <a:buNone/>
            </a:pPr>
            <a:r>
              <a:rPr lang="en-US" sz="2400" b="1" dirty="0"/>
              <a:t>    }</a:t>
            </a:r>
          </a:p>
        </p:txBody>
      </p:sp>
      <p:sp>
        <p:nvSpPr>
          <p:cNvPr id="4" name="Oval 3">
            <a:extLst>
              <a:ext uri="{FF2B5EF4-FFF2-40B4-BE49-F238E27FC236}">
                <a16:creationId xmlns:a16="http://schemas.microsoft.com/office/drawing/2014/main" id="{667A723D-2FDE-F828-F637-8E6985CA2456}"/>
              </a:ext>
            </a:extLst>
          </p:cNvPr>
          <p:cNvSpPr/>
          <p:nvPr/>
        </p:nvSpPr>
        <p:spPr>
          <a:xfrm>
            <a:off x="5807034" y="3137148"/>
            <a:ext cx="1246909" cy="58370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F148492-9630-44D2-3B93-F074A4E31FBF}"/>
              </a:ext>
            </a:extLst>
          </p:cNvPr>
          <p:cNvCxnSpPr>
            <a:stCxn id="4" idx="4"/>
          </p:cNvCxnSpPr>
          <p:nvPr/>
        </p:nvCxnSpPr>
        <p:spPr>
          <a:xfrm flipH="1">
            <a:off x="5332021" y="3720852"/>
            <a:ext cx="1098468" cy="135378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27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BA7C-630B-47DE-E752-33BB5709CC69}"/>
              </a:ext>
            </a:extLst>
          </p:cNvPr>
          <p:cNvSpPr>
            <a:spLocks noGrp="1"/>
          </p:cNvSpPr>
          <p:nvPr>
            <p:ph type="title"/>
          </p:nvPr>
        </p:nvSpPr>
        <p:spPr/>
        <p:txBody>
          <a:bodyPr/>
          <a:lstStyle/>
          <a:p>
            <a:pPr algn="ctr"/>
            <a:r>
              <a:rPr lang="en-US" b="1" dirty="0"/>
              <a:t>Narrowed Rethrow</a:t>
            </a:r>
          </a:p>
        </p:txBody>
      </p:sp>
      <p:sp>
        <p:nvSpPr>
          <p:cNvPr id="3" name="Content Placeholder 2">
            <a:extLst>
              <a:ext uri="{FF2B5EF4-FFF2-40B4-BE49-F238E27FC236}">
                <a16:creationId xmlns:a16="http://schemas.microsoft.com/office/drawing/2014/main" id="{3AB2E049-066E-7AC9-D3ED-61EAA66C3C9A}"/>
              </a:ext>
            </a:extLst>
          </p:cNvPr>
          <p:cNvSpPr>
            <a:spLocks noGrp="1"/>
          </p:cNvSpPr>
          <p:nvPr>
            <p:ph idx="1"/>
          </p:nvPr>
        </p:nvSpPr>
        <p:spPr>
          <a:xfrm>
            <a:off x="2684214" y="1264555"/>
            <a:ext cx="8915400" cy="5254998"/>
          </a:xfrm>
        </p:spPr>
        <p:txBody>
          <a:bodyPr>
            <a:noAutofit/>
          </a:bodyPr>
          <a:lstStyle/>
          <a:p>
            <a:pPr marL="0" indent="0">
              <a:buNone/>
            </a:pPr>
            <a:r>
              <a:rPr lang="en-US" sz="2400" dirty="0"/>
              <a:t>Java allows us to narrow the type of exceptions thrown back to the original types in most cases. An example:</a:t>
            </a:r>
          </a:p>
          <a:p>
            <a:pPr marL="0" indent="0">
              <a:buNone/>
            </a:pPr>
            <a:r>
              <a:rPr lang="en-US" sz="2400" b="1" dirty="0"/>
              <a:t>void </a:t>
            </a:r>
            <a:r>
              <a:rPr lang="en-US" sz="2400" b="1" dirty="0" err="1"/>
              <a:t>myMethod</a:t>
            </a:r>
            <a:r>
              <a:rPr lang="en-US" sz="2400" b="1" dirty="0"/>
              <a:t>() throws </a:t>
            </a:r>
            <a:r>
              <a:rPr lang="en-US" sz="2400" b="1" dirty="0" err="1"/>
              <a:t>ZipException</a:t>
            </a:r>
            <a:r>
              <a:rPr lang="en-US" sz="2400" b="1" dirty="0"/>
              <a:t>, </a:t>
            </a:r>
            <a:r>
              <a:rPr lang="en-US" sz="2400" b="1" dirty="0" err="1"/>
              <a:t>SSLException</a:t>
            </a:r>
            <a:endParaRPr lang="en-US" sz="2400" b="1" dirty="0"/>
          </a:p>
          <a:p>
            <a:pPr marL="0" indent="0">
              <a:buNone/>
            </a:pPr>
            <a:r>
              <a:rPr lang="en-US" sz="2400" b="1" dirty="0"/>
              <a:t>    {</a:t>
            </a:r>
          </a:p>
          <a:p>
            <a:pPr marL="0" indent="0">
              <a:buNone/>
            </a:pPr>
            <a:r>
              <a:rPr lang="en-US" sz="2400" b="1" dirty="0"/>
              <a:t>        try {</a:t>
            </a:r>
          </a:p>
          <a:p>
            <a:pPr marL="0" indent="0">
              <a:buNone/>
            </a:pPr>
            <a:r>
              <a:rPr lang="en-US" sz="2400" b="1" dirty="0"/>
              <a:t>            // Possible cause of </a:t>
            </a:r>
            <a:r>
              <a:rPr lang="en-US" sz="2400" b="1" dirty="0" err="1"/>
              <a:t>ZipException</a:t>
            </a:r>
            <a:r>
              <a:rPr lang="en-US" sz="2400" b="1" dirty="0"/>
              <a:t> or </a:t>
            </a:r>
            <a:r>
              <a:rPr lang="en-US" sz="2400" b="1" dirty="0" err="1"/>
              <a:t>SSLException</a:t>
            </a:r>
            <a:endParaRPr lang="en-US" sz="2400" b="1" dirty="0"/>
          </a:p>
          <a:p>
            <a:pPr marL="0" indent="0">
              <a:buNone/>
            </a:pPr>
            <a:r>
              <a:rPr lang="en-US" sz="2400" b="1" dirty="0"/>
              <a:t>        } catch ( Exception e ) {</a:t>
            </a:r>
          </a:p>
          <a:p>
            <a:pPr marL="0" indent="0">
              <a:buNone/>
            </a:pPr>
            <a:r>
              <a:rPr lang="en-US" sz="2400" b="1" dirty="0"/>
              <a:t>            log( e );</a:t>
            </a:r>
          </a:p>
          <a:p>
            <a:pPr marL="0" indent="0">
              <a:buNone/>
            </a:pPr>
            <a:r>
              <a:rPr lang="en-US" sz="2400" b="1" dirty="0"/>
              <a:t>            throw e;</a:t>
            </a:r>
          </a:p>
          <a:p>
            <a:pPr marL="0" indent="0">
              <a:buNone/>
            </a:pPr>
            <a:r>
              <a:rPr lang="en-US" sz="2400" b="1" dirty="0"/>
              <a:t>        }</a:t>
            </a:r>
          </a:p>
          <a:p>
            <a:pPr marL="0" indent="0">
              <a:buNone/>
            </a:pPr>
            <a:r>
              <a:rPr lang="en-US" sz="2400" b="1" dirty="0"/>
              <a:t>    }</a:t>
            </a:r>
          </a:p>
          <a:p>
            <a:pPr marL="0" indent="0">
              <a:buNone/>
            </a:pPr>
            <a:endParaRPr lang="en-US" sz="2400" dirty="0"/>
          </a:p>
        </p:txBody>
      </p:sp>
    </p:spTree>
    <p:extLst>
      <p:ext uri="{BB962C8B-B14F-4D97-AF65-F5344CB8AC3E}">
        <p14:creationId xmlns:p14="http://schemas.microsoft.com/office/powerpoint/2010/main" val="1594533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01EC-BADB-57BE-5323-40425B091A7F}"/>
              </a:ext>
            </a:extLst>
          </p:cNvPr>
          <p:cNvSpPr>
            <a:spLocks noGrp="1"/>
          </p:cNvSpPr>
          <p:nvPr>
            <p:ph type="title"/>
          </p:nvPr>
        </p:nvSpPr>
        <p:spPr/>
        <p:txBody>
          <a:bodyPr/>
          <a:lstStyle/>
          <a:p>
            <a:pPr algn="ctr"/>
            <a:r>
              <a:rPr lang="en-US" b="1" dirty="0"/>
              <a:t>Using the catch Exception </a:t>
            </a:r>
          </a:p>
        </p:txBody>
      </p:sp>
      <p:sp>
        <p:nvSpPr>
          <p:cNvPr id="3" name="Content Placeholder 2">
            <a:extLst>
              <a:ext uri="{FF2B5EF4-FFF2-40B4-BE49-F238E27FC236}">
                <a16:creationId xmlns:a16="http://schemas.microsoft.com/office/drawing/2014/main" id="{81712375-D4EF-2A24-6CF2-575C9681C4E5}"/>
              </a:ext>
            </a:extLst>
          </p:cNvPr>
          <p:cNvSpPr>
            <a:spLocks noGrp="1"/>
          </p:cNvSpPr>
          <p:nvPr>
            <p:ph idx="1"/>
          </p:nvPr>
        </p:nvSpPr>
        <p:spPr>
          <a:xfrm>
            <a:off x="2592925" y="1775194"/>
            <a:ext cx="8915400" cy="3777622"/>
          </a:xfrm>
        </p:spPr>
        <p:txBody>
          <a:bodyPr>
            <a:noAutofit/>
          </a:bodyPr>
          <a:lstStyle/>
          <a:p>
            <a:pPr marL="0" indent="0">
              <a:buNone/>
            </a:pPr>
            <a:r>
              <a:rPr lang="en-US" sz="2400" dirty="0"/>
              <a:t>In this example, we are exceedingly lazy and simply catch all exceptions with a broad catch Exception clause in order to log them prior to rethrowing.</a:t>
            </a:r>
          </a:p>
          <a:p>
            <a:pPr marL="0" indent="0">
              <a:buNone/>
            </a:pPr>
            <a:r>
              <a:rPr lang="en-US" sz="2400" dirty="0"/>
              <a:t>The Java compiler is now smart enough in most cases to analyze the actual types of exceptions that may be thrown and allows us to prescribe the precise set of types. </a:t>
            </a:r>
          </a:p>
          <a:p>
            <a:pPr marL="0" indent="0">
              <a:buNone/>
            </a:pPr>
            <a:r>
              <a:rPr lang="en-US" sz="2400" dirty="0"/>
              <a:t>The same would be true if we had used the </a:t>
            </a:r>
            <a:r>
              <a:rPr lang="en-US" sz="2400" dirty="0" err="1"/>
              <a:t>mutiple</a:t>
            </a:r>
            <a:r>
              <a:rPr lang="en-US" sz="2400" dirty="0"/>
              <a:t>-type catch clause in this example, as you might have guessed. </a:t>
            </a:r>
          </a:p>
          <a:p>
            <a:pPr marL="0" indent="0">
              <a:buNone/>
            </a:pPr>
            <a:r>
              <a:rPr lang="en-US" sz="2400" dirty="0"/>
              <a:t>The preceding is a bit less intuitive, but very useful in shoring up the specificity of exception handling of code without requiring potentially tricky reworking of catch clauses.</a:t>
            </a:r>
          </a:p>
        </p:txBody>
      </p:sp>
    </p:spTree>
    <p:extLst>
      <p:ext uri="{BB962C8B-B14F-4D97-AF65-F5344CB8AC3E}">
        <p14:creationId xmlns:p14="http://schemas.microsoft.com/office/powerpoint/2010/main" val="410767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CF8F-7E0A-D73A-BD8E-8FA8BAEA16E2}"/>
              </a:ext>
            </a:extLst>
          </p:cNvPr>
          <p:cNvSpPr>
            <a:spLocks noGrp="1"/>
          </p:cNvSpPr>
          <p:nvPr>
            <p:ph type="title"/>
          </p:nvPr>
        </p:nvSpPr>
        <p:spPr/>
        <p:txBody>
          <a:bodyPr/>
          <a:lstStyle/>
          <a:p>
            <a:pPr algn="ctr"/>
            <a:r>
              <a:rPr lang="en-US" b="1" dirty="0"/>
              <a:t>try creep</a:t>
            </a:r>
          </a:p>
        </p:txBody>
      </p:sp>
      <p:sp>
        <p:nvSpPr>
          <p:cNvPr id="3" name="Content Placeholder 2">
            <a:extLst>
              <a:ext uri="{FF2B5EF4-FFF2-40B4-BE49-F238E27FC236}">
                <a16:creationId xmlns:a16="http://schemas.microsoft.com/office/drawing/2014/main" id="{3F6CE25A-D70D-5F44-047D-F26A1EE5583E}"/>
              </a:ext>
            </a:extLst>
          </p:cNvPr>
          <p:cNvSpPr>
            <a:spLocks noGrp="1"/>
          </p:cNvSpPr>
          <p:nvPr>
            <p:ph idx="1"/>
          </p:nvPr>
        </p:nvSpPr>
        <p:spPr>
          <a:xfrm>
            <a:off x="2592925" y="1540189"/>
            <a:ext cx="8915400" cy="3777622"/>
          </a:xfrm>
        </p:spPr>
        <p:txBody>
          <a:bodyPr>
            <a:noAutofit/>
          </a:bodyPr>
          <a:lstStyle/>
          <a:p>
            <a:pPr marL="0" indent="0">
              <a:buNone/>
            </a:pPr>
            <a:r>
              <a:rPr lang="en-US" sz="2400" dirty="0"/>
              <a:t>The try statement imposes a condition on the statements that it guards. </a:t>
            </a:r>
          </a:p>
          <a:p>
            <a:pPr marL="0" indent="0">
              <a:buNone/>
            </a:pPr>
            <a:r>
              <a:rPr lang="en-US" sz="2400" dirty="0"/>
              <a:t>It says that if an exception occurs within it, the remaining statements are abandoned. </a:t>
            </a:r>
          </a:p>
          <a:p>
            <a:pPr marL="0" indent="0">
              <a:buNone/>
            </a:pPr>
            <a:r>
              <a:rPr lang="en-US" sz="2400" dirty="0"/>
              <a:t>This has consequences for local variable initialization. </a:t>
            </a:r>
          </a:p>
          <a:p>
            <a:pPr marL="0" lvl="0" indent="0">
              <a:buNone/>
            </a:pPr>
            <a:r>
              <a:rPr lang="en-US" sz="2400" dirty="0"/>
              <a:t>The JVM  knows that statements inside a try block might possibly be skipped, and it assumes the worst, that all statements inside a try block get skipped.</a:t>
            </a:r>
          </a:p>
          <a:p>
            <a:pPr marL="0" lvl="0" indent="0">
              <a:buNone/>
            </a:pPr>
            <a:r>
              <a:rPr lang="en-US" sz="2400" dirty="0"/>
              <a:t>So it insists that the local variable be initialize outside the try block.  Rather forcefully.</a:t>
            </a:r>
          </a:p>
          <a:p>
            <a:pPr marL="0" indent="0">
              <a:buNone/>
            </a:pPr>
            <a:endParaRPr lang="en-US" sz="2400" dirty="0"/>
          </a:p>
        </p:txBody>
      </p:sp>
    </p:spTree>
    <p:extLst>
      <p:ext uri="{BB962C8B-B14F-4D97-AF65-F5344CB8AC3E}">
        <p14:creationId xmlns:p14="http://schemas.microsoft.com/office/powerpoint/2010/main" val="2401620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FC0B-26A9-BF52-2FD7-CFA894783AC0}"/>
              </a:ext>
            </a:extLst>
          </p:cNvPr>
          <p:cNvSpPr>
            <a:spLocks noGrp="1"/>
          </p:cNvSpPr>
          <p:nvPr>
            <p:ph type="title"/>
          </p:nvPr>
        </p:nvSpPr>
        <p:spPr>
          <a:xfrm>
            <a:off x="2497923" y="434105"/>
            <a:ext cx="8911687" cy="1280890"/>
          </a:xfrm>
        </p:spPr>
        <p:txBody>
          <a:bodyPr/>
          <a:lstStyle/>
          <a:p>
            <a:pPr algn="ctr"/>
            <a:r>
              <a:rPr lang="en-US" b="1" dirty="0"/>
              <a:t>Example:</a:t>
            </a:r>
          </a:p>
        </p:txBody>
      </p:sp>
      <p:sp>
        <p:nvSpPr>
          <p:cNvPr id="3" name="Content Placeholder 2">
            <a:extLst>
              <a:ext uri="{FF2B5EF4-FFF2-40B4-BE49-F238E27FC236}">
                <a16:creationId xmlns:a16="http://schemas.microsoft.com/office/drawing/2014/main" id="{9D1C50B2-9490-604D-F228-103D5AB6BFBB}"/>
              </a:ext>
            </a:extLst>
          </p:cNvPr>
          <p:cNvSpPr>
            <a:spLocks noGrp="1"/>
          </p:cNvSpPr>
          <p:nvPr>
            <p:ph idx="1"/>
          </p:nvPr>
        </p:nvSpPr>
        <p:spPr>
          <a:xfrm>
            <a:off x="2363581" y="1074550"/>
            <a:ext cx="8915400" cy="3777622"/>
          </a:xfrm>
        </p:spPr>
        <p:txBody>
          <a:bodyPr>
            <a:noAutofit/>
          </a:bodyPr>
          <a:lstStyle/>
          <a:p>
            <a:pPr marL="0" indent="0">
              <a:buNone/>
            </a:pPr>
            <a:r>
              <a:rPr lang="en-US" sz="2400" b="1" dirty="0"/>
              <a:t>void </a:t>
            </a:r>
            <a:r>
              <a:rPr lang="en-US" sz="2400" b="1" dirty="0" err="1"/>
              <a:t>myMethod</a:t>
            </a:r>
            <a:r>
              <a:rPr lang="en-US" sz="2400" b="1" dirty="0"/>
              <a:t>() {</a:t>
            </a:r>
          </a:p>
          <a:p>
            <a:pPr marL="0" indent="0">
              <a:buNone/>
            </a:pPr>
            <a:r>
              <a:rPr lang="en-US" sz="2400" b="1" dirty="0"/>
              <a:t>        int foo;</a:t>
            </a:r>
          </a:p>
          <a:p>
            <a:pPr marL="0" indent="0">
              <a:buNone/>
            </a:pPr>
            <a:r>
              <a:rPr lang="en-US" sz="2400" b="1" dirty="0"/>
              <a:t>        try {</a:t>
            </a:r>
          </a:p>
          <a:p>
            <a:pPr marL="0" indent="0">
              <a:buNone/>
            </a:pPr>
            <a:r>
              <a:rPr lang="en-US" sz="2400" b="1" dirty="0"/>
              <a:t>            foo = </a:t>
            </a:r>
            <a:r>
              <a:rPr lang="en-US" sz="2400" b="1" dirty="0" err="1"/>
              <a:t>getResults</a:t>
            </a:r>
            <a:r>
              <a:rPr lang="en-US" sz="2400" b="1" dirty="0"/>
              <a:t>();</a:t>
            </a:r>
          </a:p>
          <a:p>
            <a:pPr marL="0" indent="0">
              <a:buNone/>
            </a:pPr>
            <a:r>
              <a:rPr lang="en-US" sz="2400" b="1" dirty="0"/>
              <a:t>        }</a:t>
            </a:r>
          </a:p>
          <a:p>
            <a:pPr marL="0" indent="0">
              <a:buNone/>
            </a:pPr>
            <a:r>
              <a:rPr lang="en-US" sz="2400" b="1" dirty="0"/>
              <a:t>        catch ( Exception e ) {</a:t>
            </a:r>
          </a:p>
          <a:p>
            <a:pPr marL="0" indent="0">
              <a:buNone/>
            </a:pPr>
            <a:r>
              <a:rPr lang="en-US" sz="2400" b="1" dirty="0"/>
              <a:t>            ...</a:t>
            </a:r>
          </a:p>
          <a:p>
            <a:pPr marL="0" indent="0">
              <a:buNone/>
            </a:pPr>
            <a:r>
              <a:rPr lang="en-US" sz="2400" b="1" dirty="0"/>
              <a:t>        }</a:t>
            </a:r>
          </a:p>
          <a:p>
            <a:pPr marL="0" indent="0">
              <a:buNone/>
            </a:pPr>
            <a:r>
              <a:rPr lang="en-US" sz="2400" b="1" dirty="0"/>
              <a:t>        int bar = foo;  </a:t>
            </a:r>
            <a:r>
              <a:rPr lang="en-US" sz="2400" dirty="0"/>
              <a:t>// Compile-time error: foo may not have been initialized</a:t>
            </a:r>
          </a:p>
          <a:p>
            <a:pPr marL="0" indent="0">
              <a:buNone/>
            </a:pPr>
            <a:r>
              <a:rPr lang="en-US" sz="2400" dirty="0"/>
              <a:t>In this example, we can’t use foo in the indicated place because there’s a chance it was never assigned a value.</a:t>
            </a:r>
          </a:p>
        </p:txBody>
      </p:sp>
    </p:spTree>
    <p:extLst>
      <p:ext uri="{BB962C8B-B14F-4D97-AF65-F5344CB8AC3E}">
        <p14:creationId xmlns:p14="http://schemas.microsoft.com/office/powerpoint/2010/main" val="1395524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51AEC-58F0-E9C1-94BE-19E0527B425A}"/>
              </a:ext>
            </a:extLst>
          </p:cNvPr>
          <p:cNvSpPr>
            <a:spLocks noGrp="1"/>
          </p:cNvSpPr>
          <p:nvPr>
            <p:ph idx="1"/>
          </p:nvPr>
        </p:nvSpPr>
        <p:spPr>
          <a:xfrm>
            <a:off x="2327955" y="170213"/>
            <a:ext cx="9559244" cy="6517574"/>
          </a:xfrm>
        </p:spPr>
        <p:txBody>
          <a:bodyPr>
            <a:noAutofit/>
          </a:bodyPr>
          <a:lstStyle/>
          <a:p>
            <a:pPr marL="0" indent="0">
              <a:buNone/>
            </a:pPr>
            <a:r>
              <a:rPr lang="en-US" sz="2400" dirty="0"/>
              <a:t>One obvious option is to move the assignment inside the try statement:</a:t>
            </a:r>
          </a:p>
          <a:p>
            <a:pPr marL="0" indent="0">
              <a:buNone/>
            </a:pPr>
            <a:r>
              <a:rPr lang="en-US" sz="2400" b="1" dirty="0"/>
              <a:t>try {</a:t>
            </a:r>
          </a:p>
          <a:p>
            <a:pPr marL="0" indent="0">
              <a:buNone/>
            </a:pPr>
            <a:r>
              <a:rPr lang="en-US" sz="2400" b="1" dirty="0"/>
              <a:t>        foo = </a:t>
            </a:r>
            <a:r>
              <a:rPr lang="en-US" sz="2400" b="1" dirty="0" err="1"/>
              <a:t>getResults</a:t>
            </a:r>
            <a:r>
              <a:rPr lang="en-US" sz="2400" b="1" dirty="0"/>
              <a:t>();</a:t>
            </a:r>
          </a:p>
          <a:p>
            <a:pPr marL="0" indent="0">
              <a:buNone/>
            </a:pPr>
            <a:endParaRPr lang="en-US" sz="2400" b="1" dirty="0"/>
          </a:p>
          <a:p>
            <a:pPr marL="0" indent="0">
              <a:buNone/>
            </a:pPr>
            <a:r>
              <a:rPr lang="en-US" sz="2400" b="1" dirty="0"/>
              <a:t>        int bar = foo;  // Okay because we get here only</a:t>
            </a:r>
          </a:p>
          <a:p>
            <a:pPr marL="0" indent="0">
              <a:buNone/>
            </a:pPr>
            <a:r>
              <a:rPr lang="en-US" sz="2400" b="1" dirty="0"/>
              <a:t>                        // if previous assignment succeeds</a:t>
            </a:r>
          </a:p>
          <a:p>
            <a:pPr marL="0" indent="0">
              <a:buNone/>
            </a:pPr>
            <a:r>
              <a:rPr lang="en-US" sz="2400" b="1" dirty="0"/>
              <a:t>    }</a:t>
            </a:r>
          </a:p>
          <a:p>
            <a:pPr marL="0" indent="0">
              <a:buNone/>
            </a:pPr>
            <a:r>
              <a:rPr lang="en-US" sz="2400" b="1" dirty="0"/>
              <a:t>    catch ( Exception e ) {</a:t>
            </a:r>
          </a:p>
          <a:p>
            <a:pPr marL="0" indent="0">
              <a:buNone/>
            </a:pPr>
            <a:r>
              <a:rPr lang="en-US" sz="2400" b="1" dirty="0"/>
              <a:t>        ...</a:t>
            </a:r>
          </a:p>
          <a:p>
            <a:pPr marL="0" indent="0">
              <a:buNone/>
            </a:pPr>
            <a:r>
              <a:rPr lang="en-US" sz="2400" b="1" dirty="0"/>
              <a:t>    }</a:t>
            </a:r>
          </a:p>
          <a:p>
            <a:pPr marL="0" indent="0">
              <a:buNone/>
            </a:pPr>
            <a:r>
              <a:rPr lang="en-US" sz="2400" dirty="0"/>
              <a:t>The compiler is smart enough to know that if an error had occurred in the try clause, we wouldn’t have reached the bar assignment, so it allows us to refer to foo.</a:t>
            </a:r>
          </a:p>
        </p:txBody>
      </p:sp>
    </p:spTree>
    <p:extLst>
      <p:ext uri="{BB962C8B-B14F-4D97-AF65-F5344CB8AC3E}">
        <p14:creationId xmlns:p14="http://schemas.microsoft.com/office/powerpoint/2010/main" val="17452782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9A4D-0605-D9C2-0970-DD0616CDD9B1}"/>
              </a:ext>
            </a:extLst>
          </p:cNvPr>
          <p:cNvSpPr>
            <a:spLocks noGrp="1"/>
          </p:cNvSpPr>
          <p:nvPr>
            <p:ph type="title"/>
          </p:nvPr>
        </p:nvSpPr>
        <p:spPr>
          <a:xfrm>
            <a:off x="2616674" y="270765"/>
            <a:ext cx="8911687" cy="1280890"/>
          </a:xfrm>
        </p:spPr>
        <p:txBody>
          <a:bodyPr/>
          <a:lstStyle/>
          <a:p>
            <a:pPr algn="ctr"/>
            <a:r>
              <a:rPr lang="en-US" b="1" dirty="0"/>
              <a:t>The Finally Clause</a:t>
            </a:r>
          </a:p>
        </p:txBody>
      </p:sp>
      <p:sp>
        <p:nvSpPr>
          <p:cNvPr id="3" name="Content Placeholder 2">
            <a:extLst>
              <a:ext uri="{FF2B5EF4-FFF2-40B4-BE49-F238E27FC236}">
                <a16:creationId xmlns:a16="http://schemas.microsoft.com/office/drawing/2014/main" id="{B4688BCE-1726-8DDA-B948-144F516F824A}"/>
              </a:ext>
            </a:extLst>
          </p:cNvPr>
          <p:cNvSpPr>
            <a:spLocks noGrp="1"/>
          </p:cNvSpPr>
          <p:nvPr>
            <p:ph sz="half" idx="1"/>
          </p:nvPr>
        </p:nvSpPr>
        <p:spPr>
          <a:xfrm>
            <a:off x="2521147" y="1377259"/>
            <a:ext cx="5156488" cy="5011665"/>
          </a:xfrm>
          <a:ln w="19050">
            <a:solidFill>
              <a:schemeClr val="tx1"/>
            </a:solidFill>
          </a:ln>
        </p:spPr>
        <p:txBody>
          <a:bodyPr>
            <a:noAutofit/>
          </a:bodyPr>
          <a:lstStyle/>
          <a:p>
            <a:pPr marL="0" indent="0">
              <a:buNone/>
            </a:pPr>
            <a:r>
              <a:rPr lang="en-US" sz="2000" dirty="0"/>
              <a:t>What if we have something important to do before we exit our method from one of the catch clauses? </a:t>
            </a:r>
          </a:p>
          <a:p>
            <a:pPr marL="0" indent="0">
              <a:buNone/>
            </a:pPr>
            <a:r>
              <a:rPr lang="en-US" sz="2000" dirty="0"/>
              <a:t>To avoid duplicating the code in each catch branch and to make the cleanup more explicit, you can use the finally clause. </a:t>
            </a:r>
          </a:p>
          <a:p>
            <a:pPr marL="0" indent="0">
              <a:buNone/>
            </a:pPr>
            <a:r>
              <a:rPr lang="en-US" sz="2000" dirty="0"/>
              <a:t>A finally clause can be added after a try and any associated catch clauses. </a:t>
            </a:r>
          </a:p>
          <a:p>
            <a:pPr marL="0" indent="0">
              <a:buNone/>
            </a:pPr>
            <a:r>
              <a:rPr lang="en-US" sz="2000" dirty="0"/>
              <a:t>Any statements in the body of the finally clause are guaranteed to be executed no matter how control leaves the try body, whether an exception was thrown or not.</a:t>
            </a:r>
          </a:p>
          <a:p>
            <a:pPr marL="0" indent="0">
              <a:buNone/>
            </a:pPr>
            <a:endParaRPr lang="en-US" sz="2000" dirty="0"/>
          </a:p>
        </p:txBody>
      </p:sp>
      <p:sp>
        <p:nvSpPr>
          <p:cNvPr id="4" name="Content Placeholder 3">
            <a:extLst>
              <a:ext uri="{FF2B5EF4-FFF2-40B4-BE49-F238E27FC236}">
                <a16:creationId xmlns:a16="http://schemas.microsoft.com/office/drawing/2014/main" id="{8900026F-66F3-06DE-63CF-DD7CA1308128}"/>
              </a:ext>
            </a:extLst>
          </p:cNvPr>
          <p:cNvSpPr>
            <a:spLocks noGrp="1"/>
          </p:cNvSpPr>
          <p:nvPr>
            <p:ph sz="half" idx="2"/>
          </p:nvPr>
        </p:nvSpPr>
        <p:spPr>
          <a:xfrm>
            <a:off x="8010145" y="1377259"/>
            <a:ext cx="4043310" cy="5011666"/>
          </a:xfrm>
          <a:ln w="19050">
            <a:solidFill>
              <a:schemeClr val="tx1"/>
            </a:solidFill>
          </a:ln>
        </p:spPr>
        <p:txBody>
          <a:bodyPr>
            <a:noAutofit/>
          </a:bodyPr>
          <a:lstStyle/>
          <a:p>
            <a:pPr marL="0" indent="0">
              <a:buNone/>
            </a:pPr>
            <a:r>
              <a:rPr lang="en-US" sz="2400" b="1" dirty="0"/>
              <a:t>try {</a:t>
            </a:r>
          </a:p>
          <a:p>
            <a:pPr marL="0" indent="0">
              <a:buNone/>
            </a:pPr>
            <a:r>
              <a:rPr lang="en-US" sz="2400" b="1" dirty="0"/>
              <a:t>        // Do something here</a:t>
            </a:r>
          </a:p>
          <a:p>
            <a:pPr marL="0" indent="0">
              <a:buNone/>
            </a:pPr>
            <a:r>
              <a:rPr lang="en-US" sz="2400" b="1" dirty="0"/>
              <a:t>    }</a:t>
            </a:r>
          </a:p>
          <a:p>
            <a:pPr marL="0" indent="0">
              <a:buNone/>
            </a:pPr>
            <a:r>
              <a:rPr lang="en-US" sz="2400" b="1" dirty="0"/>
              <a:t>catch ( Exception e ) {</a:t>
            </a:r>
          </a:p>
          <a:p>
            <a:pPr marL="0" indent="0">
              <a:buNone/>
            </a:pPr>
            <a:r>
              <a:rPr lang="en-US" sz="2400" b="1" dirty="0"/>
              <a:t>        ...</a:t>
            </a:r>
          </a:p>
          <a:p>
            <a:pPr marL="0" indent="0">
              <a:buNone/>
            </a:pPr>
            <a:r>
              <a:rPr lang="en-US" sz="2400" b="1" dirty="0"/>
              <a:t>    }</a:t>
            </a:r>
          </a:p>
          <a:p>
            <a:pPr marL="0" indent="0">
              <a:buNone/>
            </a:pPr>
            <a:r>
              <a:rPr lang="en-US" sz="2400" b="1" dirty="0"/>
              <a:t>    finally {</a:t>
            </a:r>
          </a:p>
          <a:p>
            <a:pPr marL="0" indent="0">
              <a:buNone/>
            </a:pPr>
            <a:r>
              <a:rPr lang="en-US" sz="2400" b="1" dirty="0"/>
              <a:t>// Cleanup here is    always executed</a:t>
            </a:r>
          </a:p>
          <a:p>
            <a:pPr marL="0" indent="0">
              <a:buNone/>
            </a:pPr>
            <a:r>
              <a:rPr lang="en-US" sz="2400" b="1" dirty="0"/>
              <a:t>    }</a:t>
            </a:r>
          </a:p>
          <a:p>
            <a:pPr marL="0" indent="0">
              <a:buNone/>
            </a:pPr>
            <a:endParaRPr lang="en-US" sz="2400" dirty="0"/>
          </a:p>
        </p:txBody>
      </p:sp>
    </p:spTree>
    <p:extLst>
      <p:ext uri="{BB962C8B-B14F-4D97-AF65-F5344CB8AC3E}">
        <p14:creationId xmlns:p14="http://schemas.microsoft.com/office/powerpoint/2010/main" val="3696412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4DE5-F7F3-68BB-A102-AC9F6D84720C}"/>
              </a:ext>
            </a:extLst>
          </p:cNvPr>
          <p:cNvSpPr>
            <a:spLocks noGrp="1"/>
          </p:cNvSpPr>
          <p:nvPr>
            <p:ph type="title"/>
          </p:nvPr>
        </p:nvSpPr>
        <p:spPr>
          <a:xfrm>
            <a:off x="2592925" y="469730"/>
            <a:ext cx="8911687" cy="1280890"/>
          </a:xfrm>
        </p:spPr>
        <p:txBody>
          <a:bodyPr/>
          <a:lstStyle/>
          <a:p>
            <a:pPr algn="ctr"/>
            <a:r>
              <a:rPr lang="en-US" b="1" dirty="0"/>
              <a:t>try with Resources</a:t>
            </a:r>
          </a:p>
        </p:txBody>
      </p:sp>
      <p:sp>
        <p:nvSpPr>
          <p:cNvPr id="3" name="Content Placeholder 2">
            <a:extLst>
              <a:ext uri="{FF2B5EF4-FFF2-40B4-BE49-F238E27FC236}">
                <a16:creationId xmlns:a16="http://schemas.microsoft.com/office/drawing/2014/main" id="{4684B259-6B0B-2F49-D80A-B229ECF4DF01}"/>
              </a:ext>
            </a:extLst>
          </p:cNvPr>
          <p:cNvSpPr>
            <a:spLocks noGrp="1"/>
          </p:cNvSpPr>
          <p:nvPr>
            <p:ph idx="1"/>
          </p:nvPr>
        </p:nvSpPr>
        <p:spPr>
          <a:xfrm>
            <a:off x="2339831" y="1110174"/>
            <a:ext cx="9713624" cy="5504381"/>
          </a:xfrm>
        </p:spPr>
        <p:txBody>
          <a:bodyPr>
            <a:normAutofit/>
          </a:bodyPr>
          <a:lstStyle/>
          <a:p>
            <a:pPr marL="0" indent="0">
              <a:buNone/>
            </a:pPr>
            <a:r>
              <a:rPr lang="en-US" sz="2000" dirty="0"/>
              <a:t>A common use of the finally clause is to ensure that resources used in a try clause are cleaned up, no matter how the code exits the block.</a:t>
            </a:r>
          </a:p>
          <a:p>
            <a:pPr marL="0" indent="0">
              <a:buNone/>
            </a:pPr>
            <a:r>
              <a:rPr lang="en-US" sz="2000" dirty="0"/>
              <a:t>That means to deallocate expensive resources or close connections such as files, sockets, or database connections. </a:t>
            </a:r>
          </a:p>
          <a:p>
            <a:pPr marL="0" indent="0">
              <a:buNone/>
            </a:pPr>
            <a:r>
              <a:rPr lang="en-US" sz="2000" dirty="0"/>
              <a:t>In some cases, these resources might get cleaned up on their own eventually as Java reclaims the garbage, but that would at best be at an unknown time in the future and at worst may never happen or may not happen before you run out of resources. </a:t>
            </a:r>
          </a:p>
          <a:p>
            <a:pPr marL="0" indent="0">
              <a:buNone/>
            </a:pPr>
            <a:r>
              <a:rPr lang="en-US" sz="2000" dirty="0"/>
              <a:t>So it is always best to guard against these situations. </a:t>
            </a:r>
          </a:p>
          <a:p>
            <a:pPr marL="0" indent="0">
              <a:buNone/>
            </a:pPr>
            <a:r>
              <a:rPr lang="en-US" sz="2000" dirty="0"/>
              <a:t>There are two problems with this approach: </a:t>
            </a:r>
          </a:p>
          <a:p>
            <a:pPr marL="800100" lvl="1" indent="-342900">
              <a:buFont typeface="+mj-lt"/>
              <a:buAutoNum type="arabicPeriod"/>
            </a:pPr>
            <a:r>
              <a:rPr lang="en-US" sz="2000" dirty="0"/>
              <a:t>It requires extra work to carry out this pattern in all of your code, including important things like null checks, as shown in our example.</a:t>
            </a:r>
          </a:p>
          <a:p>
            <a:pPr marL="800100" lvl="1" indent="-342900">
              <a:buFont typeface="+mj-lt"/>
              <a:buAutoNum type="arabicPeriod"/>
            </a:pPr>
            <a:r>
              <a:rPr lang="en-US" sz="2000" dirty="0"/>
              <a:t>If you are juggling multiple resources in a single finally block, you have the possibility of your cleanup code throwing an exception (e.g., on close()) and leaving the job unfinished.</a:t>
            </a:r>
          </a:p>
        </p:txBody>
      </p:sp>
    </p:spTree>
    <p:extLst>
      <p:ext uri="{BB962C8B-B14F-4D97-AF65-F5344CB8AC3E}">
        <p14:creationId xmlns:p14="http://schemas.microsoft.com/office/powerpoint/2010/main" val="6705069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9EC1-391A-244F-0E83-0D088C23337B}"/>
              </a:ext>
            </a:extLst>
          </p:cNvPr>
          <p:cNvSpPr>
            <a:spLocks noGrp="1"/>
          </p:cNvSpPr>
          <p:nvPr>
            <p:ph type="title"/>
          </p:nvPr>
        </p:nvSpPr>
        <p:spPr/>
        <p:txBody>
          <a:bodyPr/>
          <a:lstStyle/>
          <a:p>
            <a:pPr algn="ctr"/>
            <a:r>
              <a:rPr lang="en-US" b="1" dirty="0"/>
              <a:t>Enter “try with resources”</a:t>
            </a:r>
          </a:p>
        </p:txBody>
      </p:sp>
      <p:sp>
        <p:nvSpPr>
          <p:cNvPr id="3" name="Content Placeholder 2">
            <a:extLst>
              <a:ext uri="{FF2B5EF4-FFF2-40B4-BE49-F238E27FC236}">
                <a16:creationId xmlns:a16="http://schemas.microsoft.com/office/drawing/2014/main" id="{90E143E2-5354-780A-8AA4-56402EA0BCE5}"/>
              </a:ext>
            </a:extLst>
          </p:cNvPr>
          <p:cNvSpPr>
            <a:spLocks noGrp="1"/>
          </p:cNvSpPr>
          <p:nvPr>
            <p:ph idx="1"/>
          </p:nvPr>
        </p:nvSpPr>
        <p:spPr>
          <a:xfrm>
            <a:off x="2874220" y="1361704"/>
            <a:ext cx="8915400" cy="3777622"/>
          </a:xfrm>
        </p:spPr>
        <p:txBody>
          <a:bodyPr>
            <a:noAutofit/>
          </a:bodyPr>
          <a:lstStyle/>
          <a:p>
            <a:pPr marL="0" indent="0">
              <a:buNone/>
            </a:pPr>
            <a:r>
              <a:rPr lang="en-US" sz="2400" dirty="0"/>
              <a:t>Since Java 7, we have had the new “try with resources” form of the try clause. </a:t>
            </a:r>
          </a:p>
          <a:p>
            <a:pPr marL="0" indent="0">
              <a:buNone/>
            </a:pPr>
            <a:r>
              <a:rPr lang="en-US" sz="2400" dirty="0"/>
              <a:t>In this form, you may place one or more resource initialization statements within parentheses after a try keyword, and those resources will automatically be “closed” for you when control leaves the try block.</a:t>
            </a:r>
          </a:p>
          <a:p>
            <a:pPr marL="0" indent="0">
              <a:buNone/>
            </a:pPr>
            <a:r>
              <a:rPr lang="en-US" sz="2400" dirty="0"/>
              <a:t>In this example, we initialize both a Socket object and a </a:t>
            </a:r>
            <a:r>
              <a:rPr lang="en-US" sz="2400" dirty="0" err="1"/>
              <a:t>FileWriter</a:t>
            </a:r>
            <a:r>
              <a:rPr lang="en-US" sz="2400" dirty="0"/>
              <a:t> object within the try-with-resources clause and use them within the body of the try statement. </a:t>
            </a:r>
          </a:p>
          <a:p>
            <a:pPr marL="0" indent="0">
              <a:buNone/>
            </a:pPr>
            <a:r>
              <a:rPr lang="en-US" sz="2400" dirty="0"/>
              <a:t>When control leaves the try statement, either after successful completion or via an exception, both resources are automatically closed by calling their close() method.</a:t>
            </a:r>
          </a:p>
        </p:txBody>
      </p:sp>
    </p:spTree>
    <p:extLst>
      <p:ext uri="{BB962C8B-B14F-4D97-AF65-F5344CB8AC3E}">
        <p14:creationId xmlns:p14="http://schemas.microsoft.com/office/powerpoint/2010/main" val="3245674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F04B-754F-D40D-0870-3EFD2BA01481}"/>
              </a:ext>
            </a:extLst>
          </p:cNvPr>
          <p:cNvSpPr>
            <a:spLocks noGrp="1"/>
          </p:cNvSpPr>
          <p:nvPr>
            <p:ph type="title"/>
          </p:nvPr>
        </p:nvSpPr>
        <p:spPr/>
        <p:txBody>
          <a:bodyPr/>
          <a:lstStyle/>
          <a:p>
            <a:pPr algn="ctr"/>
            <a:r>
              <a:rPr lang="en-US" b="1" dirty="0"/>
              <a:t>Example of try with resources</a:t>
            </a:r>
          </a:p>
        </p:txBody>
      </p:sp>
      <p:sp>
        <p:nvSpPr>
          <p:cNvPr id="3" name="Content Placeholder 2">
            <a:extLst>
              <a:ext uri="{FF2B5EF4-FFF2-40B4-BE49-F238E27FC236}">
                <a16:creationId xmlns:a16="http://schemas.microsoft.com/office/drawing/2014/main" id="{358E8CDB-C92C-1604-A1DE-10DA615F014F}"/>
              </a:ext>
            </a:extLst>
          </p:cNvPr>
          <p:cNvSpPr>
            <a:spLocks noGrp="1"/>
          </p:cNvSpPr>
          <p:nvPr>
            <p:ph idx="1"/>
          </p:nvPr>
        </p:nvSpPr>
        <p:spPr>
          <a:xfrm>
            <a:off x="2731715" y="1540188"/>
            <a:ext cx="8915400" cy="4860611"/>
          </a:xfrm>
        </p:spPr>
        <p:txBody>
          <a:bodyPr>
            <a:noAutofit/>
          </a:bodyPr>
          <a:lstStyle/>
          <a:p>
            <a:pPr marL="0" indent="0">
              <a:buNone/>
            </a:pPr>
            <a:r>
              <a:rPr lang="en-US" sz="2400" b="1" dirty="0"/>
              <a:t>try (</a:t>
            </a:r>
          </a:p>
          <a:p>
            <a:pPr marL="0" indent="0">
              <a:buNone/>
            </a:pPr>
            <a:r>
              <a:rPr lang="en-US" sz="2400" b="1" dirty="0"/>
              <a:t>        Socket sock = new Socket("128.252.120.1", 80);</a:t>
            </a:r>
          </a:p>
          <a:p>
            <a:pPr marL="0" indent="0">
              <a:buNone/>
            </a:pPr>
            <a:r>
              <a:rPr lang="en-US" sz="2400" b="1" dirty="0"/>
              <a:t>        </a:t>
            </a:r>
            <a:r>
              <a:rPr lang="en-US" sz="2400" b="1" dirty="0" err="1"/>
              <a:t>FileWriter</a:t>
            </a:r>
            <a:r>
              <a:rPr lang="en-US" sz="2400" b="1" dirty="0"/>
              <a:t> file = new </a:t>
            </a:r>
            <a:r>
              <a:rPr lang="en-US" sz="2400" b="1" dirty="0" err="1"/>
              <a:t>FileWriter</a:t>
            </a:r>
            <a:r>
              <a:rPr lang="en-US" sz="2400" b="1" dirty="0"/>
              <a:t>("foo");</a:t>
            </a:r>
          </a:p>
          <a:p>
            <a:pPr marL="0" indent="0">
              <a:buNone/>
            </a:pPr>
            <a:r>
              <a:rPr lang="en-US" sz="2400" b="1" dirty="0"/>
              <a:t>    )</a:t>
            </a:r>
          </a:p>
          <a:p>
            <a:pPr marL="0" indent="0">
              <a:buNone/>
            </a:pPr>
            <a:r>
              <a:rPr lang="en-US" sz="2400" b="1" dirty="0"/>
              <a:t>    {</a:t>
            </a:r>
          </a:p>
          <a:p>
            <a:pPr marL="0" indent="0">
              <a:buNone/>
            </a:pPr>
            <a:r>
              <a:rPr lang="en-US" sz="2400" b="1" dirty="0"/>
              <a:t>        // work with sock and file</a:t>
            </a:r>
          </a:p>
          <a:p>
            <a:pPr marL="0" indent="0">
              <a:buNone/>
            </a:pPr>
            <a:r>
              <a:rPr lang="en-US" sz="2400" b="1" dirty="0"/>
              <a:t>    } catch ( </a:t>
            </a:r>
            <a:r>
              <a:rPr lang="en-US" sz="2400" b="1" dirty="0" err="1"/>
              <a:t>IOException</a:t>
            </a:r>
            <a:r>
              <a:rPr lang="en-US" sz="2400" b="1" dirty="0"/>
              <a:t> e ) {</a:t>
            </a:r>
          </a:p>
          <a:p>
            <a:pPr marL="0" indent="0">
              <a:buNone/>
            </a:pPr>
            <a:r>
              <a:rPr lang="en-US" sz="2400" b="1" dirty="0"/>
              <a:t>        ...</a:t>
            </a:r>
          </a:p>
          <a:p>
            <a:pPr marL="0" indent="0">
              <a:buNone/>
            </a:pPr>
            <a:r>
              <a:rPr lang="en-US" sz="2400" b="1" dirty="0"/>
              <a:t>    }</a:t>
            </a:r>
          </a:p>
        </p:txBody>
      </p:sp>
    </p:spTree>
    <p:extLst>
      <p:ext uri="{BB962C8B-B14F-4D97-AF65-F5344CB8AC3E}">
        <p14:creationId xmlns:p14="http://schemas.microsoft.com/office/powerpoint/2010/main" val="4051354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59AB4-0291-9389-FBAF-F1B0DCB435A5}"/>
              </a:ext>
            </a:extLst>
          </p:cNvPr>
          <p:cNvSpPr>
            <a:spLocks noGrp="1"/>
          </p:cNvSpPr>
          <p:nvPr>
            <p:ph type="title"/>
          </p:nvPr>
        </p:nvSpPr>
        <p:spPr/>
        <p:txBody>
          <a:bodyPr/>
          <a:lstStyle/>
          <a:p>
            <a:pPr algn="ctr"/>
            <a:r>
              <a:rPr lang="en-US" b="1" dirty="0"/>
              <a:t>Another Example of Try with Resources</a:t>
            </a:r>
          </a:p>
        </p:txBody>
      </p:sp>
      <p:pic>
        <p:nvPicPr>
          <p:cNvPr id="9" name="Content Placeholder 8">
            <a:extLst>
              <a:ext uri="{FF2B5EF4-FFF2-40B4-BE49-F238E27FC236}">
                <a16:creationId xmlns:a16="http://schemas.microsoft.com/office/drawing/2014/main" id="{937F0C88-1310-378F-FA70-84E5C5D8A90B}"/>
              </a:ext>
            </a:extLst>
          </p:cNvPr>
          <p:cNvPicPr>
            <a:picLocks noGrp="1" noChangeAspect="1"/>
          </p:cNvPicPr>
          <p:nvPr>
            <p:ph idx="1"/>
          </p:nvPr>
        </p:nvPicPr>
        <p:blipFill>
          <a:blip r:embed="rId2"/>
          <a:stretch>
            <a:fillRect/>
          </a:stretch>
        </p:blipFill>
        <p:spPr>
          <a:xfrm>
            <a:off x="1650281" y="1759911"/>
            <a:ext cx="10319397" cy="4134428"/>
          </a:xfrm>
        </p:spPr>
      </p:pic>
    </p:spTree>
    <p:extLst>
      <p:ext uri="{BB962C8B-B14F-4D97-AF65-F5344CB8AC3E}">
        <p14:creationId xmlns:p14="http://schemas.microsoft.com/office/powerpoint/2010/main" val="9317633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31E8C-9B07-0F8D-6562-B3F3CB04BC36}"/>
              </a:ext>
            </a:extLst>
          </p:cNvPr>
          <p:cNvSpPr>
            <a:spLocks noGrp="1"/>
          </p:cNvSpPr>
          <p:nvPr>
            <p:ph type="title"/>
          </p:nvPr>
        </p:nvSpPr>
        <p:spPr>
          <a:xfrm>
            <a:off x="2526250" y="257175"/>
            <a:ext cx="8911687" cy="1280890"/>
          </a:xfrm>
        </p:spPr>
        <p:txBody>
          <a:bodyPr/>
          <a:lstStyle/>
          <a:p>
            <a:pPr algn="ctr"/>
            <a:r>
              <a:rPr lang="en-US" b="1" dirty="0"/>
              <a:t>Discussion</a:t>
            </a:r>
          </a:p>
        </p:txBody>
      </p:sp>
      <p:sp>
        <p:nvSpPr>
          <p:cNvPr id="3" name="Content Placeholder 2">
            <a:extLst>
              <a:ext uri="{FF2B5EF4-FFF2-40B4-BE49-F238E27FC236}">
                <a16:creationId xmlns:a16="http://schemas.microsoft.com/office/drawing/2014/main" id="{A0FA3A74-D100-99D8-0855-845B2181C2D8}"/>
              </a:ext>
            </a:extLst>
          </p:cNvPr>
          <p:cNvSpPr>
            <a:spLocks noGrp="1"/>
          </p:cNvSpPr>
          <p:nvPr>
            <p:ph idx="1"/>
          </p:nvPr>
        </p:nvSpPr>
        <p:spPr>
          <a:xfrm>
            <a:off x="2703512" y="1121089"/>
            <a:ext cx="9240838" cy="5251136"/>
          </a:xfrm>
        </p:spPr>
        <p:txBody>
          <a:bodyPr>
            <a:noAutofit/>
          </a:bodyPr>
          <a:lstStyle/>
          <a:p>
            <a:pPr marL="0" indent="0">
              <a:buNone/>
            </a:pPr>
            <a:r>
              <a:rPr lang="en-US" sz="2400" dirty="0"/>
              <a:t>Notice how the resource-specification portion of the try declares a </a:t>
            </a:r>
            <a:r>
              <a:rPr lang="en-US" sz="2400" dirty="0" err="1"/>
              <a:t>FileInputStream</a:t>
            </a:r>
            <a:r>
              <a:rPr lang="en-US" sz="2400" dirty="0"/>
              <a:t> called fin, which is then assigned a reference to the file opened by its constructor.</a:t>
            </a:r>
          </a:p>
          <a:p>
            <a:pPr marL="0" indent="0">
              <a:buNone/>
            </a:pPr>
            <a:r>
              <a:rPr lang="en-US" sz="2400" dirty="0"/>
              <a:t> Thus, the variable fin is local to the try block, being created when the try is entered. </a:t>
            </a:r>
          </a:p>
          <a:p>
            <a:pPr marL="0" indent="0">
              <a:buNone/>
            </a:pPr>
            <a:r>
              <a:rPr lang="en-US" sz="2400" dirty="0"/>
              <a:t>When the try is left, the stream associated with fin is automatically closed by an implicit call to close( ). You don’t need to call close( ) </a:t>
            </a:r>
            <a:r>
              <a:rPr lang="en-US" sz="2400" dirty="0" err="1"/>
              <a:t>explicitly.This</a:t>
            </a:r>
            <a:r>
              <a:rPr lang="en-US" sz="2400" dirty="0"/>
              <a:t> is a key advantage of using try-with-resources.</a:t>
            </a:r>
          </a:p>
          <a:p>
            <a:pPr marL="0" indent="0">
              <a:buNone/>
            </a:pPr>
            <a:r>
              <a:rPr lang="en-US" sz="2400" dirty="0"/>
              <a:t>It is important to understand that a resource declared in the try statement is implicitly final. This means that you can’t assign to the resource after it has been created. </a:t>
            </a:r>
          </a:p>
          <a:p>
            <a:pPr marL="0" indent="0">
              <a:buNone/>
            </a:pPr>
            <a:r>
              <a:rPr lang="en-US" sz="2400" dirty="0"/>
              <a:t>Also, the scope of the resource is limited to the try-with-resources statement.</a:t>
            </a:r>
          </a:p>
        </p:txBody>
      </p:sp>
    </p:spTree>
    <p:extLst>
      <p:ext uri="{BB962C8B-B14F-4D97-AF65-F5344CB8AC3E}">
        <p14:creationId xmlns:p14="http://schemas.microsoft.com/office/powerpoint/2010/main" val="451305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14074-C30B-1671-8422-41EBFE973058}"/>
              </a:ext>
            </a:extLst>
          </p:cNvPr>
          <p:cNvSpPr>
            <a:spLocks noGrp="1"/>
          </p:cNvSpPr>
          <p:nvPr>
            <p:ph type="title"/>
          </p:nvPr>
        </p:nvSpPr>
        <p:spPr/>
        <p:txBody>
          <a:bodyPr/>
          <a:lstStyle/>
          <a:p>
            <a:pPr algn="ctr"/>
            <a:r>
              <a:rPr lang="en-US" b="1" dirty="0"/>
              <a:t>The </a:t>
            </a:r>
            <a:r>
              <a:rPr lang="en-US" b="1" dirty="0" err="1"/>
              <a:t>AutoCloseable</a:t>
            </a:r>
            <a:r>
              <a:rPr lang="en-US" b="1" dirty="0"/>
              <a:t> Interface</a:t>
            </a:r>
          </a:p>
        </p:txBody>
      </p:sp>
      <p:sp>
        <p:nvSpPr>
          <p:cNvPr id="3" name="Content Placeholder 2">
            <a:extLst>
              <a:ext uri="{FF2B5EF4-FFF2-40B4-BE49-F238E27FC236}">
                <a16:creationId xmlns:a16="http://schemas.microsoft.com/office/drawing/2014/main" id="{11CE08C9-6288-BF11-F69B-03B17459EE51}"/>
              </a:ext>
            </a:extLst>
          </p:cNvPr>
          <p:cNvSpPr>
            <a:spLocks noGrp="1"/>
          </p:cNvSpPr>
          <p:nvPr>
            <p:ph idx="1"/>
          </p:nvPr>
        </p:nvSpPr>
        <p:spPr>
          <a:xfrm>
            <a:off x="2886095" y="1741715"/>
            <a:ext cx="8915400" cy="3777622"/>
          </a:xfrm>
        </p:spPr>
        <p:txBody>
          <a:bodyPr>
            <a:noAutofit/>
          </a:bodyPr>
          <a:lstStyle/>
          <a:p>
            <a:pPr marL="0" indent="0">
              <a:buNone/>
            </a:pPr>
            <a:r>
              <a:rPr lang="en-US" sz="2400" dirty="0"/>
              <a:t>Resources are closed in the reverse of the order in which they were constructed, so dependencies among them can be accommodated. </a:t>
            </a:r>
          </a:p>
          <a:p>
            <a:pPr marL="0" indent="0">
              <a:buNone/>
            </a:pPr>
            <a:r>
              <a:rPr lang="en-US" sz="2400" dirty="0"/>
              <a:t>This behavior is supported for any class that implements the </a:t>
            </a:r>
            <a:r>
              <a:rPr lang="en-US" sz="2400" dirty="0" err="1"/>
              <a:t>AutoCloseable</a:t>
            </a:r>
            <a:r>
              <a:rPr lang="en-US" sz="2400" dirty="0"/>
              <a:t> interface.  </a:t>
            </a:r>
          </a:p>
          <a:p>
            <a:pPr marL="0" indent="0">
              <a:buNone/>
            </a:pPr>
            <a:r>
              <a:rPr lang="en-US" sz="2400" dirty="0"/>
              <a:t>The close() method of this interface is prescribed to release all resources associated with the object, and you can implement this easily in your own classes as well. </a:t>
            </a:r>
          </a:p>
          <a:p>
            <a:pPr marL="0" indent="0">
              <a:buNone/>
            </a:pPr>
            <a:r>
              <a:rPr lang="en-US" sz="2400" dirty="0"/>
              <a:t>When using try with resources, we don’t have to add any code specifically to close the file or socket; it is done for us automatically.</a:t>
            </a:r>
          </a:p>
        </p:txBody>
      </p:sp>
    </p:spTree>
    <p:extLst>
      <p:ext uri="{BB962C8B-B14F-4D97-AF65-F5344CB8AC3E}">
        <p14:creationId xmlns:p14="http://schemas.microsoft.com/office/powerpoint/2010/main" val="14296362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120A8-5045-1559-D079-8C19D9ADD26E}"/>
              </a:ext>
            </a:extLst>
          </p:cNvPr>
          <p:cNvSpPr>
            <a:spLocks noGrp="1"/>
          </p:cNvSpPr>
          <p:nvPr>
            <p:ph type="title"/>
          </p:nvPr>
        </p:nvSpPr>
        <p:spPr>
          <a:xfrm>
            <a:off x="1733797" y="339102"/>
            <a:ext cx="10355284" cy="1280890"/>
          </a:xfrm>
        </p:spPr>
        <p:txBody>
          <a:bodyPr/>
          <a:lstStyle/>
          <a:p>
            <a:r>
              <a:rPr lang="en-US" dirty="0"/>
              <a:t>Exception thrown during a close() Operation</a:t>
            </a:r>
          </a:p>
        </p:txBody>
      </p:sp>
      <p:sp>
        <p:nvSpPr>
          <p:cNvPr id="3" name="Content Placeholder 2">
            <a:extLst>
              <a:ext uri="{FF2B5EF4-FFF2-40B4-BE49-F238E27FC236}">
                <a16:creationId xmlns:a16="http://schemas.microsoft.com/office/drawing/2014/main" id="{098AD316-AFEE-CFDF-D752-5ED60B631E06}"/>
              </a:ext>
            </a:extLst>
          </p:cNvPr>
          <p:cNvSpPr>
            <a:spLocks noGrp="1"/>
          </p:cNvSpPr>
          <p:nvPr>
            <p:ph idx="1"/>
          </p:nvPr>
        </p:nvSpPr>
        <p:spPr>
          <a:xfrm>
            <a:off x="2280454" y="1264555"/>
            <a:ext cx="9594870" cy="3777622"/>
          </a:xfrm>
        </p:spPr>
        <p:txBody>
          <a:bodyPr>
            <a:noAutofit/>
          </a:bodyPr>
          <a:lstStyle/>
          <a:p>
            <a:pPr marL="0" indent="0">
              <a:buNone/>
            </a:pPr>
            <a:r>
              <a:rPr lang="en-US" sz="2400" dirty="0"/>
              <a:t>Another problem that try with resources solves is the pesky situation where an exception may be thrown during a close operation.</a:t>
            </a:r>
          </a:p>
          <a:p>
            <a:pPr marL="0" indent="0">
              <a:buNone/>
            </a:pPr>
            <a:r>
              <a:rPr lang="en-US" sz="2400" dirty="0"/>
              <a:t> Looking back to the prior example in which we used a finally clause to do our cleanup, if an exception had been raised by the close() method, it would have been thrown at that point, completely abandoning the original exception from the body of the try clause. </a:t>
            </a:r>
          </a:p>
          <a:p>
            <a:pPr marL="0" indent="0">
              <a:buNone/>
            </a:pPr>
            <a:r>
              <a:rPr lang="en-US" sz="2400" b="1" dirty="0"/>
              <a:t>But in using try with resources, we preserve the original exception. </a:t>
            </a:r>
          </a:p>
          <a:p>
            <a:pPr marL="0" indent="0">
              <a:buNone/>
            </a:pPr>
            <a:r>
              <a:rPr lang="en-US" sz="2400" dirty="0"/>
              <a:t>If an exception occurs while within the body of the try and one or more exceptions is raised during the subsequent auto-closing operations, it is the original exception from the body of the try that is bubbled up to the caller. </a:t>
            </a:r>
          </a:p>
        </p:txBody>
      </p:sp>
    </p:spTree>
    <p:extLst>
      <p:ext uri="{BB962C8B-B14F-4D97-AF65-F5344CB8AC3E}">
        <p14:creationId xmlns:p14="http://schemas.microsoft.com/office/powerpoint/2010/main" val="21998442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C901E-77E9-B4B7-73A0-2A0B5A3F0A86}"/>
              </a:ext>
            </a:extLst>
          </p:cNvPr>
          <p:cNvSpPr>
            <a:spLocks noGrp="1"/>
          </p:cNvSpPr>
          <p:nvPr>
            <p:ph type="title"/>
          </p:nvPr>
        </p:nvSpPr>
        <p:spPr/>
        <p:txBody>
          <a:bodyPr/>
          <a:lstStyle/>
          <a:p>
            <a:pPr algn="ctr"/>
            <a:r>
              <a:rPr lang="en-US" b="1" dirty="0"/>
              <a:t>Example with Sockets and Files using try with resources</a:t>
            </a:r>
          </a:p>
        </p:txBody>
      </p:sp>
      <p:sp>
        <p:nvSpPr>
          <p:cNvPr id="3" name="Content Placeholder 2">
            <a:extLst>
              <a:ext uri="{FF2B5EF4-FFF2-40B4-BE49-F238E27FC236}">
                <a16:creationId xmlns:a16="http://schemas.microsoft.com/office/drawing/2014/main" id="{D9A8A0FB-2910-4182-848A-CCEB4282B54D}"/>
              </a:ext>
            </a:extLst>
          </p:cNvPr>
          <p:cNvSpPr>
            <a:spLocks noGrp="1"/>
          </p:cNvSpPr>
          <p:nvPr>
            <p:ph idx="1"/>
          </p:nvPr>
        </p:nvSpPr>
        <p:spPr>
          <a:xfrm>
            <a:off x="2589211" y="2133600"/>
            <a:ext cx="9286113" cy="3777622"/>
          </a:xfrm>
        </p:spPr>
        <p:txBody>
          <a:bodyPr>
            <a:noAutofit/>
          </a:bodyPr>
          <a:lstStyle/>
          <a:p>
            <a:pPr marL="0" indent="0">
              <a:buNone/>
            </a:pPr>
            <a:r>
              <a:rPr lang="en-US" sz="2400" b="1" dirty="0"/>
              <a:t> try (</a:t>
            </a:r>
          </a:p>
          <a:p>
            <a:pPr marL="0" indent="0">
              <a:buNone/>
            </a:pPr>
            <a:r>
              <a:rPr lang="en-US" sz="2400" b="1" dirty="0"/>
              <a:t>        Socket sock = new Socket("128.252.120.1", 80); </a:t>
            </a:r>
            <a:r>
              <a:rPr lang="en-US" sz="2400" dirty="0"/>
              <a:t>// potential exception #3</a:t>
            </a:r>
          </a:p>
          <a:p>
            <a:pPr marL="0" indent="0">
              <a:buNone/>
            </a:pPr>
            <a:r>
              <a:rPr lang="en-US" sz="2400" dirty="0"/>
              <a:t>        </a:t>
            </a:r>
            <a:r>
              <a:rPr lang="en-US" sz="2400" b="1" dirty="0" err="1"/>
              <a:t>FileWriter</a:t>
            </a:r>
            <a:r>
              <a:rPr lang="en-US" sz="2400" b="1" dirty="0"/>
              <a:t> file = new </a:t>
            </a:r>
            <a:r>
              <a:rPr lang="en-US" sz="2400" b="1" dirty="0" err="1"/>
              <a:t>FileWriter</a:t>
            </a:r>
            <a:r>
              <a:rPr lang="en-US" sz="2400" b="1" dirty="0"/>
              <a:t>("foo"); </a:t>
            </a:r>
            <a:r>
              <a:rPr lang="en-US" sz="2400" dirty="0"/>
              <a:t>// potential exception #2</a:t>
            </a:r>
          </a:p>
          <a:p>
            <a:pPr marL="0" indent="0">
              <a:buNone/>
            </a:pPr>
            <a:r>
              <a:rPr lang="en-US" sz="2400" b="1" dirty="0"/>
              <a:t>    )</a:t>
            </a:r>
          </a:p>
          <a:p>
            <a:pPr marL="0" indent="0">
              <a:buNone/>
            </a:pPr>
            <a:r>
              <a:rPr lang="en-US" sz="2400" b="1" dirty="0"/>
              <a:t>    {</a:t>
            </a:r>
          </a:p>
          <a:p>
            <a:pPr marL="0" indent="0">
              <a:buNone/>
            </a:pPr>
            <a:r>
              <a:rPr lang="en-US" sz="2400" dirty="0"/>
              <a:t>        // work with sock and file // potential exception #1</a:t>
            </a:r>
          </a:p>
          <a:p>
            <a:pPr marL="0" indent="0">
              <a:buNone/>
            </a:pPr>
            <a:r>
              <a:rPr lang="en-US" sz="2400" dirty="0"/>
              <a:t>   </a:t>
            </a:r>
            <a:r>
              <a:rPr lang="en-US" sz="2400" b="1" dirty="0"/>
              <a:t> }</a:t>
            </a:r>
          </a:p>
        </p:txBody>
      </p:sp>
    </p:spTree>
    <p:extLst>
      <p:ext uri="{BB962C8B-B14F-4D97-AF65-F5344CB8AC3E}">
        <p14:creationId xmlns:p14="http://schemas.microsoft.com/office/powerpoint/2010/main" val="2648517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C64C-5EAC-D9A8-C262-E5D880748042}"/>
              </a:ext>
            </a:extLst>
          </p:cNvPr>
          <p:cNvSpPr>
            <a:spLocks noGrp="1"/>
          </p:cNvSpPr>
          <p:nvPr>
            <p:ph type="title"/>
          </p:nvPr>
        </p:nvSpPr>
        <p:spPr/>
        <p:txBody>
          <a:bodyPr/>
          <a:lstStyle/>
          <a:p>
            <a:pPr algn="ctr"/>
            <a:r>
              <a:rPr lang="en-US" b="1" dirty="0"/>
              <a:t>What Happens</a:t>
            </a:r>
          </a:p>
        </p:txBody>
      </p:sp>
      <p:sp>
        <p:nvSpPr>
          <p:cNvPr id="3" name="Content Placeholder 2">
            <a:extLst>
              <a:ext uri="{FF2B5EF4-FFF2-40B4-BE49-F238E27FC236}">
                <a16:creationId xmlns:a16="http://schemas.microsoft.com/office/drawing/2014/main" id="{B179998D-0FA3-4D64-521E-1991878199F0}"/>
              </a:ext>
            </a:extLst>
          </p:cNvPr>
          <p:cNvSpPr>
            <a:spLocks noGrp="1"/>
          </p:cNvSpPr>
          <p:nvPr>
            <p:ph idx="1"/>
          </p:nvPr>
        </p:nvSpPr>
        <p:spPr>
          <a:xfrm>
            <a:off x="2731716" y="1540189"/>
            <a:ext cx="8915400" cy="3777622"/>
          </a:xfrm>
        </p:spPr>
        <p:txBody>
          <a:bodyPr>
            <a:noAutofit/>
          </a:bodyPr>
          <a:lstStyle/>
          <a:p>
            <a:pPr marL="0" indent="0">
              <a:buNone/>
            </a:pPr>
            <a:r>
              <a:rPr lang="en-US" sz="2400" dirty="0"/>
              <a:t>Once the try has begun, if an exception occurs as exception point #1, Java will attempt to close both resources in reverse order, leading to potential exceptions at locations #2 and #3. </a:t>
            </a:r>
          </a:p>
          <a:p>
            <a:pPr marL="0" indent="0">
              <a:buNone/>
            </a:pPr>
            <a:r>
              <a:rPr lang="en-US" sz="2400" dirty="0"/>
              <a:t>In this case, the calling code will still receive exception #1. </a:t>
            </a:r>
          </a:p>
          <a:p>
            <a:pPr marL="0" indent="0">
              <a:buNone/>
            </a:pPr>
            <a:r>
              <a:rPr lang="en-US" sz="2400" dirty="0"/>
              <a:t>Exceptions #2 and #3 are not lost, however; they are merely “suppressed” and can be retrieved via the Throwable </a:t>
            </a:r>
            <a:r>
              <a:rPr lang="en-US" sz="2400" dirty="0" err="1"/>
              <a:t>getSuppressed</a:t>
            </a:r>
            <a:r>
              <a:rPr lang="en-US" sz="2400" dirty="0"/>
              <a:t>() method of the exception thrown to the caller. </a:t>
            </a:r>
          </a:p>
          <a:p>
            <a:pPr marL="0" indent="0">
              <a:buNone/>
            </a:pPr>
            <a:r>
              <a:rPr lang="en-US" sz="2400" dirty="0"/>
              <a:t>This returns an array of all of the </a:t>
            </a:r>
            <a:r>
              <a:rPr lang="en-US" sz="2400" dirty="0" err="1"/>
              <a:t>supressed</a:t>
            </a:r>
            <a:r>
              <a:rPr lang="en-US" sz="2400" dirty="0"/>
              <a:t> exceptions.</a:t>
            </a:r>
          </a:p>
        </p:txBody>
      </p:sp>
    </p:spTree>
    <p:extLst>
      <p:ext uri="{BB962C8B-B14F-4D97-AF65-F5344CB8AC3E}">
        <p14:creationId xmlns:p14="http://schemas.microsoft.com/office/powerpoint/2010/main" val="2663222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6240-ADB1-9A7C-EA8B-E1C18A9D1D7A}"/>
              </a:ext>
            </a:extLst>
          </p:cNvPr>
          <p:cNvSpPr>
            <a:spLocks noGrp="1"/>
          </p:cNvSpPr>
          <p:nvPr>
            <p:ph type="title"/>
          </p:nvPr>
        </p:nvSpPr>
        <p:spPr/>
        <p:txBody>
          <a:bodyPr/>
          <a:lstStyle/>
          <a:p>
            <a:pPr algn="ctr"/>
            <a:r>
              <a:rPr lang="en-US" b="1" dirty="0"/>
              <a:t>Performance Issues</a:t>
            </a:r>
          </a:p>
        </p:txBody>
      </p:sp>
      <p:sp>
        <p:nvSpPr>
          <p:cNvPr id="3" name="Content Placeholder 2">
            <a:extLst>
              <a:ext uri="{FF2B5EF4-FFF2-40B4-BE49-F238E27FC236}">
                <a16:creationId xmlns:a16="http://schemas.microsoft.com/office/drawing/2014/main" id="{B62511F2-C0F3-12AD-7D89-B4CEE6F8ADA2}"/>
              </a:ext>
            </a:extLst>
          </p:cNvPr>
          <p:cNvSpPr>
            <a:spLocks noGrp="1"/>
          </p:cNvSpPr>
          <p:nvPr>
            <p:ph idx="1"/>
          </p:nvPr>
        </p:nvSpPr>
        <p:spPr>
          <a:xfrm>
            <a:off x="2814843" y="1349829"/>
            <a:ext cx="8915400" cy="3777622"/>
          </a:xfrm>
        </p:spPr>
        <p:txBody>
          <a:bodyPr>
            <a:noAutofit/>
          </a:bodyPr>
          <a:lstStyle/>
          <a:p>
            <a:pPr marL="0" indent="0">
              <a:buNone/>
            </a:pPr>
            <a:r>
              <a:rPr lang="en-US" sz="2400" dirty="0"/>
              <a:t>Because of the way the Java VM is implemented, guarding against an exception being thrown (using a try) is free. </a:t>
            </a:r>
          </a:p>
          <a:p>
            <a:pPr marL="0" indent="0">
              <a:buNone/>
            </a:pPr>
            <a:r>
              <a:rPr lang="en-US" sz="2400" dirty="0"/>
              <a:t>It doesn’t add any overhead to the execution of your code. However, throwing an exception is not free. </a:t>
            </a:r>
          </a:p>
          <a:p>
            <a:pPr marL="0" indent="0">
              <a:buNone/>
            </a:pPr>
            <a:r>
              <a:rPr lang="en-US" sz="2400" dirty="0"/>
              <a:t>When an exception is thrown, Java has to locate the appropriate try/catch block and perform other time-consuming activities at runtime.</a:t>
            </a:r>
          </a:p>
          <a:p>
            <a:pPr marL="0" indent="0">
              <a:buNone/>
            </a:pPr>
            <a:r>
              <a:rPr lang="en-US" sz="2400" dirty="0"/>
              <a:t>The result is that you should throw exceptions only in truly “exceptional” circumstances and avoid using them for expected conditions, especially when performance is an issue. </a:t>
            </a:r>
          </a:p>
        </p:txBody>
      </p:sp>
    </p:spTree>
    <p:extLst>
      <p:ext uri="{BB962C8B-B14F-4D97-AF65-F5344CB8AC3E}">
        <p14:creationId xmlns:p14="http://schemas.microsoft.com/office/powerpoint/2010/main" val="2859290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1D69C-7144-67A3-3C0F-8E507AB193A2}"/>
              </a:ext>
            </a:extLst>
          </p:cNvPr>
          <p:cNvSpPr>
            <a:spLocks noGrp="1"/>
          </p:cNvSpPr>
          <p:nvPr>
            <p:ph type="title"/>
          </p:nvPr>
        </p:nvSpPr>
        <p:spPr>
          <a:xfrm>
            <a:off x="1945720" y="267850"/>
            <a:ext cx="10564934" cy="1280890"/>
          </a:xfrm>
        </p:spPr>
        <p:txBody>
          <a:bodyPr/>
          <a:lstStyle/>
          <a:p>
            <a:pPr algn="ctr"/>
            <a:r>
              <a:rPr lang="en-US" b="1" dirty="0"/>
              <a:t>Try to avoid throwing Frequent Exceptions</a:t>
            </a:r>
          </a:p>
        </p:txBody>
      </p:sp>
      <p:sp>
        <p:nvSpPr>
          <p:cNvPr id="3" name="Content Placeholder 2">
            <a:extLst>
              <a:ext uri="{FF2B5EF4-FFF2-40B4-BE49-F238E27FC236}">
                <a16:creationId xmlns:a16="http://schemas.microsoft.com/office/drawing/2014/main" id="{BED5D138-F350-1484-1AB7-91F5CC8DD5A4}"/>
              </a:ext>
            </a:extLst>
          </p:cNvPr>
          <p:cNvSpPr>
            <a:spLocks noGrp="1"/>
          </p:cNvSpPr>
          <p:nvPr>
            <p:ph idx="1"/>
          </p:nvPr>
        </p:nvSpPr>
        <p:spPr>
          <a:xfrm>
            <a:off x="2592925" y="1421081"/>
            <a:ext cx="9270524" cy="3777622"/>
          </a:xfrm>
        </p:spPr>
        <p:txBody>
          <a:bodyPr>
            <a:noAutofit/>
          </a:bodyPr>
          <a:lstStyle/>
          <a:p>
            <a:pPr marL="0" indent="0">
              <a:buNone/>
            </a:pPr>
            <a:r>
              <a:rPr lang="en-US" sz="2400" dirty="0"/>
              <a:t>For example, if you have a loop, it may be better to perform a small test on each pass and avoid throwing the exception rather than throwing it frequently. </a:t>
            </a:r>
          </a:p>
          <a:p>
            <a:pPr marL="0" indent="0">
              <a:buNone/>
            </a:pPr>
            <a:r>
              <a:rPr lang="en-US" sz="2400" dirty="0"/>
              <a:t>On the other hand, if the exception is thrown only once in a gazillion times, you may want to eliminate the overhead of the test code and not worry about the cost of throwing that exception. </a:t>
            </a:r>
          </a:p>
          <a:p>
            <a:pPr marL="0" indent="0">
              <a:buNone/>
            </a:pPr>
            <a:r>
              <a:rPr lang="en-US" sz="2400" dirty="0"/>
              <a:t>The general rule should be that exceptions are used for “out of bounds” or abnormal situations, not routine and expected conditions (such as the end of a file).</a:t>
            </a:r>
          </a:p>
          <a:p>
            <a:pPr marL="0" indent="0">
              <a:buNone/>
            </a:pPr>
            <a:r>
              <a:rPr lang="en-US" sz="2400" dirty="0"/>
              <a:t>Remember that you can take care of most unchecked exceptions using careful coding.  There is no cost to that!</a:t>
            </a:r>
          </a:p>
        </p:txBody>
      </p:sp>
    </p:spTree>
    <p:extLst>
      <p:ext uri="{BB962C8B-B14F-4D97-AF65-F5344CB8AC3E}">
        <p14:creationId xmlns:p14="http://schemas.microsoft.com/office/powerpoint/2010/main" val="243465309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256</TotalTime>
  <Words>5072</Words>
  <Application>Microsoft Office PowerPoint</Application>
  <PresentationFormat>Widescreen</PresentationFormat>
  <Paragraphs>372</Paragraphs>
  <Slides>56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Roboto</vt:lpstr>
      <vt:lpstr>Wingdings</vt:lpstr>
      <vt:lpstr>Wingdings 3</vt:lpstr>
      <vt:lpstr>Wisp</vt:lpstr>
      <vt:lpstr>Exception Handling</vt:lpstr>
      <vt:lpstr>Java Error Handling</vt:lpstr>
      <vt:lpstr>Programmer’s Responsibility</vt:lpstr>
      <vt:lpstr>Exceptions</vt:lpstr>
      <vt:lpstr>Exception-Handling Fundamentals</vt:lpstr>
      <vt:lpstr>Key Words in Java Exception Handling</vt:lpstr>
      <vt:lpstr>Errors and Exceptions are Throwable</vt:lpstr>
      <vt:lpstr>Uncaught Exceptions</vt:lpstr>
      <vt:lpstr>Exceptions Classes</vt:lpstr>
      <vt:lpstr>PowerPoint Presentation</vt:lpstr>
      <vt:lpstr>The Exception Object</vt:lpstr>
      <vt:lpstr>Java Error Objects</vt:lpstr>
      <vt:lpstr>PowerPoint Presentation</vt:lpstr>
      <vt:lpstr>Exception Handling</vt:lpstr>
      <vt:lpstr>try/catch blocks</vt:lpstr>
      <vt:lpstr>Methods can throw Multiple Exceptions</vt:lpstr>
      <vt:lpstr>Catching the Exception up the Line</vt:lpstr>
      <vt:lpstr>Example: The GetContent Method</vt:lpstr>
      <vt:lpstr>Stack Traces</vt:lpstr>
      <vt:lpstr>Getting the StackTrace</vt:lpstr>
      <vt:lpstr>How the Read the Trace</vt:lpstr>
      <vt:lpstr>More on Using the StackTrace</vt:lpstr>
      <vt:lpstr>Checked and Unchecked Exceptions</vt:lpstr>
      <vt:lpstr>PowerPoint Presentation</vt:lpstr>
      <vt:lpstr>How Do I Tell if it’s Checked or not?</vt:lpstr>
      <vt:lpstr>List of Common Unchecked Exceptions</vt:lpstr>
      <vt:lpstr>Handling Unchecked Exceptions</vt:lpstr>
      <vt:lpstr>Careful Coding</vt:lpstr>
      <vt:lpstr>Handle the Unchecked Exception</vt:lpstr>
      <vt:lpstr>Throwing Exceptions</vt:lpstr>
      <vt:lpstr>Getting Information from the Exception Object</vt:lpstr>
      <vt:lpstr>Example: Method to Check for an Illegal Path</vt:lpstr>
      <vt:lpstr>A Custom Exception</vt:lpstr>
      <vt:lpstr>The Example Code</vt:lpstr>
      <vt:lpstr>Use a try/catch with the Custom Exception</vt:lpstr>
      <vt:lpstr>Chaining And Rethrowing Exceptions</vt:lpstr>
      <vt:lpstr>Exception Chaining</vt:lpstr>
      <vt:lpstr>Access to the Causal Exception</vt:lpstr>
      <vt:lpstr>Using initCase() from the Throwable class</vt:lpstr>
      <vt:lpstr>Narrowed Rethrow</vt:lpstr>
      <vt:lpstr>Using the catch Exception </vt:lpstr>
      <vt:lpstr>try creep</vt:lpstr>
      <vt:lpstr>Example:</vt:lpstr>
      <vt:lpstr>PowerPoint Presentation</vt:lpstr>
      <vt:lpstr>The Finally Clause</vt:lpstr>
      <vt:lpstr>try with Resources</vt:lpstr>
      <vt:lpstr>Enter “try with resources”</vt:lpstr>
      <vt:lpstr>Example of try with resources</vt:lpstr>
      <vt:lpstr>Another Example of Try with Resources</vt:lpstr>
      <vt:lpstr>Discussion</vt:lpstr>
      <vt:lpstr>The AutoCloseable Interface</vt:lpstr>
      <vt:lpstr>Exception thrown during a close() Operation</vt:lpstr>
      <vt:lpstr>Example with Sockets and Files using try with resources</vt:lpstr>
      <vt:lpstr>What Happens</vt:lpstr>
      <vt:lpstr>Performance Issues</vt:lpstr>
      <vt:lpstr>Try to avoid throwing Frequent Exceptions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 Handling</dc:title>
  <dc:creator>Ivonne Nelson</dc:creator>
  <cp:lastModifiedBy>NELSON, IVONNE</cp:lastModifiedBy>
  <cp:revision>5</cp:revision>
  <dcterms:created xsi:type="dcterms:W3CDTF">2022-12-25T20:58:06Z</dcterms:created>
  <dcterms:modified xsi:type="dcterms:W3CDTF">2024-06-28T20:12:26Z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2024-06-28T20:12:25Z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a5bddc16-0ae6-4d0c-95f0-8e89646fa848</vt:lpwstr>
  </property>
  <property fmtid="{D5CDD505-2E9C-101B-9397-08002B2CF9AE}" pid="8" name="MSIP_Label_d8bb7484-22c2-4b98-9fb8-3ab13d821527_ContentBits">
    <vt:lpwstr>0</vt:lpwstr>
  </property>
</Properties>
</file>