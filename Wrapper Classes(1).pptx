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7" r:id="rId3"/>
    <p:sldId id="264" r:id="rId4"/>
    <p:sldId id="265" r:id="rId5"/>
    <p:sldId id="266" r:id="rId6"/>
    <p:sldId id="269" r:id="rId7"/>
    <p:sldId id="270" r:id="rId8"/>
    <p:sldId id="271"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2564646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1305771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3337961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3388373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4DAD92C-854F-43F6-BE9E-7CB5F27F4501}" type="datetimeFigureOut">
              <a:rPr lang="en-US" smtClean="0"/>
              <a:t>6/10/2024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70772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4DAD92C-854F-43F6-BE9E-7CB5F27F4501}" type="datetimeFigureOut">
              <a:rPr lang="en-US" smtClean="0"/>
              <a:t>6/10/2024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2437376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DAD92C-854F-43F6-BE9E-7CB5F27F4501}" type="datetimeFigureOut">
              <a:rPr lang="en-US" smtClean="0"/>
              <a:t>6/10/2024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982471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45784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3153010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859061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1F045325-4DEC-4529-A815-300B66D455A7}"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018652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2628051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045325-4DEC-4529-A815-300B66D455A7}"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009143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4DAD92C-854F-43F6-BE9E-7CB5F27F4501}" type="datetimeFigureOut">
              <a:rPr lang="en-US" smtClean="0"/>
              <a:t>6/10/2024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4183663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39183874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4DAD92C-854F-43F6-BE9E-7CB5F27F4501}" type="datetimeFigureOut">
              <a:rPr lang="en-US" smtClean="0"/>
              <a:t>6/10/2024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1F045325-4DEC-4529-A815-300B66D455A7}" type="slidenum">
              <a:rPr lang="en-US" smtClean="0"/>
              <a:t>‹#›</a:t>
            </a:fld>
            <a:endParaRPr lang="en-US"/>
          </a:p>
        </p:txBody>
      </p:sp>
    </p:spTree>
    <p:extLst>
      <p:ext uri="{BB962C8B-B14F-4D97-AF65-F5344CB8AC3E}">
        <p14:creationId xmlns:p14="http://schemas.microsoft.com/office/powerpoint/2010/main" val="3679760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4DAD92C-854F-43F6-BE9E-7CB5F27F4501}" type="datetimeFigureOut">
              <a:rPr lang="en-US" smtClean="0"/>
              <a:t>6/10/2024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1F045325-4DEC-4529-A815-300B66D455A7}" type="slidenum">
              <a:rPr lang="en-US" smtClean="0"/>
              <a:t>‹#›</a:t>
            </a:fld>
            <a:endParaRPr lang="en-US"/>
          </a:p>
        </p:txBody>
      </p:sp>
    </p:spTree>
    <p:extLst>
      <p:ext uri="{BB962C8B-B14F-4D97-AF65-F5344CB8AC3E}">
        <p14:creationId xmlns:p14="http://schemas.microsoft.com/office/powerpoint/2010/main" val="1893992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1" name="Group 10">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12"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13"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14"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15"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16"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17"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18"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19"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20"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21"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22"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23"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sp>
        <p:nvSpPr>
          <p:cNvPr id="2" name="Title 1">
            <a:extLst>
              <a:ext uri="{FF2B5EF4-FFF2-40B4-BE49-F238E27FC236}">
                <a16:creationId xmlns:a16="http://schemas.microsoft.com/office/drawing/2014/main" id="{639730B3-1256-4787-A261-6EB41FDC9867}"/>
              </a:ext>
            </a:extLst>
          </p:cNvPr>
          <p:cNvSpPr>
            <a:spLocks noGrp="1"/>
          </p:cNvSpPr>
          <p:nvPr>
            <p:ph type="ctrTitle"/>
          </p:nvPr>
        </p:nvSpPr>
        <p:spPr>
          <a:xfrm>
            <a:off x="1304103" y="1318591"/>
            <a:ext cx="5800929" cy="4220820"/>
          </a:xfrm>
        </p:spPr>
        <p:txBody>
          <a:bodyPr anchor="ctr">
            <a:normAutofit/>
          </a:bodyPr>
          <a:lstStyle/>
          <a:p>
            <a:pPr algn="r"/>
            <a:r>
              <a:rPr lang="en-US" sz="6600">
                <a:solidFill>
                  <a:schemeClr val="tx2">
                    <a:lumMod val="75000"/>
                  </a:schemeClr>
                </a:solidFill>
              </a:rPr>
              <a:t>Wrapper Classes</a:t>
            </a:r>
            <a:br>
              <a:rPr lang="en-US" sz="6600">
                <a:solidFill>
                  <a:schemeClr val="tx2">
                    <a:lumMod val="75000"/>
                  </a:schemeClr>
                </a:solidFill>
              </a:rPr>
            </a:br>
            <a:endParaRPr lang="en-US" sz="6600">
              <a:solidFill>
                <a:schemeClr val="tx2">
                  <a:lumMod val="75000"/>
                </a:schemeClr>
              </a:solidFill>
            </a:endParaRPr>
          </a:p>
        </p:txBody>
      </p:sp>
      <p:cxnSp>
        <p:nvCxnSpPr>
          <p:cNvPr id="25" name="Straight Connector 24">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98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AC77C-5153-DCC1-AB74-C08B41D20009}"/>
              </a:ext>
            </a:extLst>
          </p:cNvPr>
          <p:cNvSpPr>
            <a:spLocks noGrp="1"/>
          </p:cNvSpPr>
          <p:nvPr>
            <p:ph type="title"/>
          </p:nvPr>
        </p:nvSpPr>
        <p:spPr/>
        <p:txBody>
          <a:bodyPr/>
          <a:lstStyle/>
          <a:p>
            <a:pPr algn="ctr"/>
            <a:r>
              <a:rPr lang="en-US" b="1" dirty="0"/>
              <a:t>Using Primitives vs Objects in Java</a:t>
            </a:r>
          </a:p>
        </p:txBody>
      </p:sp>
      <p:sp>
        <p:nvSpPr>
          <p:cNvPr id="3" name="Content Placeholder 2">
            <a:extLst>
              <a:ext uri="{FF2B5EF4-FFF2-40B4-BE49-F238E27FC236}">
                <a16:creationId xmlns:a16="http://schemas.microsoft.com/office/drawing/2014/main" id="{5F41C95B-A21D-4F1F-4CE7-50300F8D4C63}"/>
              </a:ext>
            </a:extLst>
          </p:cNvPr>
          <p:cNvSpPr>
            <a:spLocks noGrp="1"/>
          </p:cNvSpPr>
          <p:nvPr>
            <p:ph idx="1"/>
          </p:nvPr>
        </p:nvSpPr>
        <p:spPr>
          <a:xfrm>
            <a:off x="2592925" y="2034987"/>
            <a:ext cx="8915400" cy="4455459"/>
          </a:xfrm>
        </p:spPr>
        <p:txBody>
          <a:bodyPr>
            <a:noAutofit/>
          </a:bodyPr>
          <a:lstStyle/>
          <a:p>
            <a:pPr marL="0" indent="0">
              <a:buNone/>
            </a:pPr>
            <a:r>
              <a:rPr lang="en-US" sz="2400" dirty="0"/>
              <a:t>Java uses primitive types to hold the basic data types supported by the language. Primitive types, rather than objects, are used for these quantities for the sake of performance. Using objects for these values would add an unacceptable overhead to even the simplest of calculations. Thus, the primitive types are not part of the object hierarchy, and they do not inherit Object.</a:t>
            </a:r>
          </a:p>
          <a:p>
            <a:pPr marL="0" indent="0">
              <a:buNone/>
            </a:pPr>
            <a:r>
              <a:rPr lang="en-US" sz="2400" dirty="0"/>
              <a:t>There are times when you will need an object representation. You can’t pass a primitive type by reference to a method. Also, many of the standard data structures implemented by Java operate on objects, which means that you can’t use these data structures to store primitive types. </a:t>
            </a:r>
          </a:p>
        </p:txBody>
      </p:sp>
    </p:spTree>
    <p:extLst>
      <p:ext uri="{BB962C8B-B14F-4D97-AF65-F5344CB8AC3E}">
        <p14:creationId xmlns:p14="http://schemas.microsoft.com/office/powerpoint/2010/main" val="1142817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92EA-B99E-D5FE-12F1-49857095A1FE}"/>
              </a:ext>
            </a:extLst>
          </p:cNvPr>
          <p:cNvSpPr>
            <a:spLocks noGrp="1"/>
          </p:cNvSpPr>
          <p:nvPr>
            <p:ph type="title"/>
          </p:nvPr>
        </p:nvSpPr>
        <p:spPr/>
        <p:txBody>
          <a:bodyPr/>
          <a:lstStyle/>
          <a:p>
            <a:pPr algn="ctr"/>
            <a:r>
              <a:rPr lang="en-US" b="1" dirty="0"/>
              <a:t>What are Wrapper Classes?</a:t>
            </a:r>
          </a:p>
        </p:txBody>
      </p:sp>
      <p:sp>
        <p:nvSpPr>
          <p:cNvPr id="3" name="Content Placeholder 2">
            <a:extLst>
              <a:ext uri="{FF2B5EF4-FFF2-40B4-BE49-F238E27FC236}">
                <a16:creationId xmlns:a16="http://schemas.microsoft.com/office/drawing/2014/main" id="{7C0F505D-7040-A90E-67BB-144D8F5D9DBD}"/>
              </a:ext>
            </a:extLst>
          </p:cNvPr>
          <p:cNvSpPr>
            <a:spLocks noGrp="1"/>
          </p:cNvSpPr>
          <p:nvPr>
            <p:ph idx="1"/>
          </p:nvPr>
        </p:nvSpPr>
        <p:spPr>
          <a:xfrm>
            <a:off x="2592925" y="1739153"/>
            <a:ext cx="8915400" cy="1918447"/>
          </a:xfrm>
        </p:spPr>
        <p:txBody>
          <a:bodyPr>
            <a:normAutofit/>
          </a:bodyPr>
          <a:lstStyle/>
          <a:p>
            <a:pPr marL="0" indent="0">
              <a:buNone/>
            </a:pPr>
            <a:r>
              <a:rPr lang="en-US" sz="2400" dirty="0"/>
              <a:t>The wrapper classes in Java are used to convert primitive types (int, char, float, </a:t>
            </a:r>
            <a:r>
              <a:rPr lang="en-US" sz="2400" dirty="0" err="1"/>
              <a:t>etc</a:t>
            </a:r>
            <a:r>
              <a:rPr lang="en-US" sz="2400" dirty="0"/>
              <a:t>) into corresponding objects.</a:t>
            </a:r>
          </a:p>
          <a:p>
            <a:pPr marL="0" indent="0">
              <a:buNone/>
            </a:pPr>
            <a:r>
              <a:rPr lang="en-US" sz="2400" dirty="0"/>
              <a:t>Each of the 8 primitive types has corresponding wrapper classes:</a:t>
            </a:r>
          </a:p>
          <a:p>
            <a:pPr marL="0" indent="0">
              <a:buNone/>
            </a:pPr>
            <a:endParaRPr lang="en-US" sz="2400" dirty="0"/>
          </a:p>
          <a:p>
            <a:pPr marL="0" indent="0">
              <a:buNone/>
            </a:pPr>
            <a:endParaRPr lang="en-US" sz="2400" dirty="0"/>
          </a:p>
        </p:txBody>
      </p:sp>
      <p:graphicFrame>
        <p:nvGraphicFramePr>
          <p:cNvPr id="4" name="Table 3">
            <a:extLst>
              <a:ext uri="{FF2B5EF4-FFF2-40B4-BE49-F238E27FC236}">
                <a16:creationId xmlns:a16="http://schemas.microsoft.com/office/drawing/2014/main" id="{5E957376-FB54-518A-D762-FCA287B54DB9}"/>
              </a:ext>
            </a:extLst>
          </p:cNvPr>
          <p:cNvGraphicFramePr>
            <a:graphicFrameLocks noGrp="1"/>
          </p:cNvGraphicFramePr>
          <p:nvPr>
            <p:extLst>
              <p:ext uri="{D42A27DB-BD31-4B8C-83A1-F6EECF244321}">
                <p14:modId xmlns:p14="http://schemas.microsoft.com/office/powerpoint/2010/main" val="1785370486"/>
              </p:ext>
            </p:extLst>
          </p:nvPr>
        </p:nvGraphicFramePr>
        <p:xfrm>
          <a:off x="3762188" y="3836894"/>
          <a:ext cx="4404659" cy="2225040"/>
        </p:xfrm>
        <a:graphic>
          <a:graphicData uri="http://schemas.openxmlformats.org/drawingml/2006/table">
            <a:tbl>
              <a:tblPr firstRow="1" bandRow="1">
                <a:tableStyleId>{5C22544A-7EE6-4342-B048-85BDC9FD1C3A}</a:tableStyleId>
              </a:tblPr>
              <a:tblGrid>
                <a:gridCol w="1885577">
                  <a:extLst>
                    <a:ext uri="{9D8B030D-6E8A-4147-A177-3AD203B41FA5}">
                      <a16:colId xmlns:a16="http://schemas.microsoft.com/office/drawing/2014/main" val="1240500156"/>
                    </a:ext>
                  </a:extLst>
                </a:gridCol>
                <a:gridCol w="2519082">
                  <a:extLst>
                    <a:ext uri="{9D8B030D-6E8A-4147-A177-3AD203B41FA5}">
                      <a16:colId xmlns:a16="http://schemas.microsoft.com/office/drawing/2014/main" val="1116868831"/>
                    </a:ext>
                  </a:extLst>
                </a:gridCol>
              </a:tblGrid>
              <a:tr h="370840">
                <a:tc>
                  <a:txBody>
                    <a:bodyPr/>
                    <a:lstStyle/>
                    <a:p>
                      <a:r>
                        <a:rPr lang="en-US" dirty="0"/>
                        <a:t>Primitive</a:t>
                      </a:r>
                    </a:p>
                  </a:txBody>
                  <a:tcPr/>
                </a:tc>
                <a:tc>
                  <a:txBody>
                    <a:bodyPr/>
                    <a:lstStyle/>
                    <a:p>
                      <a:r>
                        <a:rPr lang="en-US" dirty="0"/>
                        <a:t>Wrapper Class</a:t>
                      </a:r>
                    </a:p>
                  </a:txBody>
                  <a:tcPr/>
                </a:tc>
                <a:extLst>
                  <a:ext uri="{0D108BD9-81ED-4DB2-BD59-A6C34878D82A}">
                    <a16:rowId xmlns:a16="http://schemas.microsoft.com/office/drawing/2014/main" val="841648731"/>
                  </a:ext>
                </a:extLst>
              </a:tr>
              <a:tr h="370840">
                <a:tc>
                  <a:txBody>
                    <a:bodyPr/>
                    <a:lstStyle/>
                    <a:p>
                      <a:r>
                        <a:rPr lang="en-US" dirty="0" err="1"/>
                        <a:t>boolean</a:t>
                      </a:r>
                      <a:endParaRPr lang="en-US" dirty="0"/>
                    </a:p>
                  </a:txBody>
                  <a:tcPr anchor="ctr"/>
                </a:tc>
                <a:tc>
                  <a:txBody>
                    <a:bodyPr/>
                    <a:lstStyle/>
                    <a:p>
                      <a:r>
                        <a:rPr lang="en-US" dirty="0"/>
                        <a:t>Boolean</a:t>
                      </a:r>
                    </a:p>
                  </a:txBody>
                  <a:tcPr anchor="ctr"/>
                </a:tc>
                <a:extLst>
                  <a:ext uri="{0D108BD9-81ED-4DB2-BD59-A6C34878D82A}">
                    <a16:rowId xmlns:a16="http://schemas.microsoft.com/office/drawing/2014/main" val="453071006"/>
                  </a:ext>
                </a:extLst>
              </a:tr>
              <a:tr h="370840">
                <a:tc>
                  <a:txBody>
                    <a:bodyPr/>
                    <a:lstStyle/>
                    <a:p>
                      <a:r>
                        <a:rPr lang="en-US" dirty="0"/>
                        <a:t>char</a:t>
                      </a:r>
                    </a:p>
                  </a:txBody>
                  <a:tcPr anchor="ctr"/>
                </a:tc>
                <a:tc>
                  <a:txBody>
                    <a:bodyPr/>
                    <a:lstStyle/>
                    <a:p>
                      <a:r>
                        <a:rPr lang="en-US"/>
                        <a:t>Character</a:t>
                      </a:r>
                    </a:p>
                  </a:txBody>
                  <a:tcPr anchor="ctr"/>
                </a:tc>
                <a:extLst>
                  <a:ext uri="{0D108BD9-81ED-4DB2-BD59-A6C34878D82A}">
                    <a16:rowId xmlns:a16="http://schemas.microsoft.com/office/drawing/2014/main" val="375497111"/>
                  </a:ext>
                </a:extLst>
              </a:tr>
              <a:tr h="370840">
                <a:tc>
                  <a:txBody>
                    <a:bodyPr/>
                    <a:lstStyle/>
                    <a:p>
                      <a:r>
                        <a:rPr lang="en-US" dirty="0"/>
                        <a:t>double</a:t>
                      </a:r>
                    </a:p>
                  </a:txBody>
                  <a:tcPr anchor="ctr"/>
                </a:tc>
                <a:tc>
                  <a:txBody>
                    <a:bodyPr/>
                    <a:lstStyle/>
                    <a:p>
                      <a:r>
                        <a:rPr lang="en-US" dirty="0"/>
                        <a:t>Double</a:t>
                      </a:r>
                    </a:p>
                  </a:txBody>
                  <a:tcPr anchor="ctr"/>
                </a:tc>
                <a:extLst>
                  <a:ext uri="{0D108BD9-81ED-4DB2-BD59-A6C34878D82A}">
                    <a16:rowId xmlns:a16="http://schemas.microsoft.com/office/drawing/2014/main" val="1358262158"/>
                  </a:ext>
                </a:extLst>
              </a:tr>
              <a:tr h="370840">
                <a:tc>
                  <a:txBody>
                    <a:bodyPr/>
                    <a:lstStyle/>
                    <a:p>
                      <a:r>
                        <a:rPr lang="en-US"/>
                        <a:t>float</a:t>
                      </a:r>
                    </a:p>
                  </a:txBody>
                  <a:tcPr anchor="ctr"/>
                </a:tc>
                <a:tc>
                  <a:txBody>
                    <a:bodyPr/>
                    <a:lstStyle/>
                    <a:p>
                      <a:r>
                        <a:rPr lang="en-US" dirty="0"/>
                        <a:t>Float</a:t>
                      </a:r>
                    </a:p>
                  </a:txBody>
                  <a:tcPr anchor="ctr"/>
                </a:tc>
                <a:extLst>
                  <a:ext uri="{0D108BD9-81ED-4DB2-BD59-A6C34878D82A}">
                    <a16:rowId xmlns:a16="http://schemas.microsoft.com/office/drawing/2014/main" val="4151998088"/>
                  </a:ext>
                </a:extLst>
              </a:tr>
              <a:tr h="370840">
                <a:tc>
                  <a:txBody>
                    <a:bodyPr/>
                    <a:lstStyle/>
                    <a:p>
                      <a:r>
                        <a:rPr lang="en-US" dirty="0"/>
                        <a:t>int</a:t>
                      </a:r>
                    </a:p>
                  </a:txBody>
                  <a:tcPr anchor="ctr"/>
                </a:tc>
                <a:tc>
                  <a:txBody>
                    <a:bodyPr/>
                    <a:lstStyle/>
                    <a:p>
                      <a:r>
                        <a:rPr lang="en-US" dirty="0"/>
                        <a:t>Integer</a:t>
                      </a:r>
                    </a:p>
                  </a:txBody>
                  <a:tcPr anchor="ctr"/>
                </a:tc>
                <a:extLst>
                  <a:ext uri="{0D108BD9-81ED-4DB2-BD59-A6C34878D82A}">
                    <a16:rowId xmlns:a16="http://schemas.microsoft.com/office/drawing/2014/main" val="157495109"/>
                  </a:ext>
                </a:extLst>
              </a:tr>
            </a:tbl>
          </a:graphicData>
        </a:graphic>
      </p:graphicFrame>
    </p:spTree>
    <p:extLst>
      <p:ext uri="{BB962C8B-B14F-4D97-AF65-F5344CB8AC3E}">
        <p14:creationId xmlns:p14="http://schemas.microsoft.com/office/powerpoint/2010/main" val="3100979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A192D-B1C4-052C-008E-575E08D6A6CD}"/>
              </a:ext>
            </a:extLst>
          </p:cNvPr>
          <p:cNvSpPr>
            <a:spLocks noGrp="1"/>
          </p:cNvSpPr>
          <p:nvPr>
            <p:ph type="title"/>
          </p:nvPr>
        </p:nvSpPr>
        <p:spPr/>
        <p:txBody>
          <a:bodyPr>
            <a:normAutofit fontScale="90000"/>
          </a:bodyPr>
          <a:lstStyle/>
          <a:p>
            <a:pPr algn="ctr"/>
            <a:r>
              <a:rPr lang="en-US" b="1" dirty="0"/>
              <a:t>Convert Primitive Types to Wrapper Objects</a:t>
            </a:r>
            <a:br>
              <a:rPr lang="en-US" b="1" dirty="0"/>
            </a:br>
            <a:endParaRPr lang="en-US" b="1" dirty="0"/>
          </a:p>
        </p:txBody>
      </p:sp>
      <p:sp>
        <p:nvSpPr>
          <p:cNvPr id="3" name="Content Placeholder 2">
            <a:extLst>
              <a:ext uri="{FF2B5EF4-FFF2-40B4-BE49-F238E27FC236}">
                <a16:creationId xmlns:a16="http://schemas.microsoft.com/office/drawing/2014/main" id="{A9B1D709-87B5-59EB-0006-A9CA6B01E61C}"/>
              </a:ext>
            </a:extLst>
          </p:cNvPr>
          <p:cNvSpPr>
            <a:spLocks noGrp="1"/>
          </p:cNvSpPr>
          <p:nvPr>
            <p:ph idx="1"/>
          </p:nvPr>
        </p:nvSpPr>
        <p:spPr>
          <a:xfrm>
            <a:off x="2678859" y="1264555"/>
            <a:ext cx="8915400" cy="4510987"/>
          </a:xfrm>
        </p:spPr>
        <p:txBody>
          <a:bodyPr>
            <a:noAutofit/>
          </a:bodyPr>
          <a:lstStyle/>
          <a:p>
            <a:pPr marL="0" indent="0">
              <a:buNone/>
            </a:pPr>
            <a:r>
              <a:rPr lang="en-US" sz="2400" dirty="0"/>
              <a:t>We use the </a:t>
            </a:r>
            <a:r>
              <a:rPr lang="en-US" sz="2400" dirty="0" err="1"/>
              <a:t>valueOf</a:t>
            </a:r>
            <a:r>
              <a:rPr lang="en-US" sz="2400" dirty="0"/>
              <a:t>() method to convert primitive types into corresponding objects.  This format is used for all types.</a:t>
            </a:r>
          </a:p>
          <a:p>
            <a:pPr marL="0" indent="0">
              <a:buNone/>
            </a:pPr>
            <a:r>
              <a:rPr lang="en-US" sz="2400" dirty="0"/>
              <a:t>All classes support forms that convert a numeric value or a String into an object. The String must contain a valid numerical value.</a:t>
            </a:r>
          </a:p>
          <a:p>
            <a:pPr marL="0" indent="0">
              <a:buNone/>
            </a:pPr>
            <a:r>
              <a:rPr lang="en-US" sz="2400" dirty="0"/>
              <a:t>// create primitive types</a:t>
            </a:r>
          </a:p>
          <a:p>
            <a:pPr marL="400050" lvl="1" indent="0">
              <a:buNone/>
            </a:pPr>
            <a:r>
              <a:rPr lang="en-US" sz="2400" b="1" dirty="0"/>
              <a:t>int a = 5;</a:t>
            </a:r>
          </a:p>
          <a:p>
            <a:pPr marL="400050" lvl="1" indent="0">
              <a:buNone/>
            </a:pPr>
            <a:r>
              <a:rPr lang="en-US" sz="2400" b="1" dirty="0"/>
              <a:t>String b = “5.65”;</a:t>
            </a:r>
          </a:p>
          <a:p>
            <a:pPr marL="0" indent="0">
              <a:buNone/>
            </a:pPr>
            <a:r>
              <a:rPr lang="en-US" sz="2400" dirty="0"/>
              <a:t>//converts into wrapper objects</a:t>
            </a:r>
          </a:p>
          <a:p>
            <a:pPr marL="400050" lvl="1" indent="0">
              <a:buNone/>
            </a:pPr>
            <a:r>
              <a:rPr lang="en-US" sz="2400" b="1" dirty="0"/>
              <a:t>Integer </a:t>
            </a:r>
            <a:r>
              <a:rPr lang="en-US" sz="2400" b="1" dirty="0" err="1"/>
              <a:t>aObj</a:t>
            </a:r>
            <a:r>
              <a:rPr lang="en-US" sz="2400" b="1" dirty="0"/>
              <a:t> = </a:t>
            </a:r>
            <a:r>
              <a:rPr lang="en-US" sz="2400" b="1" dirty="0" err="1"/>
              <a:t>Integer.valueOf</a:t>
            </a:r>
            <a:r>
              <a:rPr lang="en-US" sz="2400" b="1" dirty="0"/>
              <a:t>(a);</a:t>
            </a:r>
          </a:p>
          <a:p>
            <a:pPr marL="400050" lvl="1" indent="0">
              <a:buNone/>
            </a:pPr>
            <a:r>
              <a:rPr lang="en-US" sz="2400" b="1" dirty="0"/>
              <a:t>Double </a:t>
            </a:r>
            <a:r>
              <a:rPr lang="en-US" sz="2400" b="1" dirty="0" err="1"/>
              <a:t>bObj</a:t>
            </a:r>
            <a:r>
              <a:rPr lang="en-US" sz="2400" b="1" dirty="0"/>
              <a:t> = </a:t>
            </a:r>
            <a:r>
              <a:rPr lang="en-US" sz="2400" b="1" dirty="0" err="1"/>
              <a:t>Double.valueOf</a:t>
            </a:r>
            <a:r>
              <a:rPr lang="en-US" sz="2400" b="1" dirty="0"/>
              <a:t>(b);</a:t>
            </a:r>
          </a:p>
          <a:p>
            <a:pPr marL="0" indent="0">
              <a:buNone/>
            </a:pPr>
            <a:endParaRPr lang="en-US" sz="2400" dirty="0"/>
          </a:p>
        </p:txBody>
      </p:sp>
    </p:spTree>
    <p:extLst>
      <p:ext uri="{BB962C8B-B14F-4D97-AF65-F5344CB8AC3E}">
        <p14:creationId xmlns:p14="http://schemas.microsoft.com/office/powerpoint/2010/main" val="36825496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14A32-2E65-2107-3081-284BB05E9438}"/>
              </a:ext>
            </a:extLst>
          </p:cNvPr>
          <p:cNvSpPr>
            <a:spLocks noGrp="1"/>
          </p:cNvSpPr>
          <p:nvPr>
            <p:ph type="title"/>
          </p:nvPr>
        </p:nvSpPr>
        <p:spPr/>
        <p:txBody>
          <a:bodyPr/>
          <a:lstStyle/>
          <a:p>
            <a:pPr algn="ctr"/>
            <a:r>
              <a:rPr lang="en-US" b="1" dirty="0"/>
              <a:t>Autoboxing</a:t>
            </a:r>
          </a:p>
        </p:txBody>
      </p:sp>
      <p:sp>
        <p:nvSpPr>
          <p:cNvPr id="3" name="Content Placeholder 2">
            <a:extLst>
              <a:ext uri="{FF2B5EF4-FFF2-40B4-BE49-F238E27FC236}">
                <a16:creationId xmlns:a16="http://schemas.microsoft.com/office/drawing/2014/main" id="{3CB6E336-CB15-BD2A-C68D-1C93530EE618}"/>
              </a:ext>
            </a:extLst>
          </p:cNvPr>
          <p:cNvSpPr>
            <a:spLocks noGrp="1"/>
          </p:cNvSpPr>
          <p:nvPr>
            <p:ph idx="1"/>
          </p:nvPr>
        </p:nvSpPr>
        <p:spPr/>
        <p:txBody>
          <a:bodyPr>
            <a:noAutofit/>
          </a:bodyPr>
          <a:lstStyle/>
          <a:p>
            <a:pPr marL="0" indent="0">
              <a:buNone/>
            </a:pPr>
            <a:r>
              <a:rPr lang="en-US" sz="2400" dirty="0"/>
              <a:t>The Java compiler can directly convert the primitive types into corresponding objects whenever they are needed. For example,</a:t>
            </a:r>
          </a:p>
          <a:p>
            <a:pPr marL="0" indent="0">
              <a:buNone/>
            </a:pPr>
            <a:r>
              <a:rPr lang="en-US" sz="2400" b="1" dirty="0"/>
              <a:t>int a = 5;</a:t>
            </a:r>
          </a:p>
          <a:p>
            <a:pPr marL="0" indent="0">
              <a:buNone/>
            </a:pPr>
            <a:r>
              <a:rPr lang="en-US" sz="2400" dirty="0"/>
              <a:t>// converts into object</a:t>
            </a:r>
          </a:p>
          <a:p>
            <a:pPr marL="0" indent="0">
              <a:buNone/>
            </a:pPr>
            <a:r>
              <a:rPr lang="en-US" sz="2400" b="1" dirty="0"/>
              <a:t>Integer </a:t>
            </a:r>
            <a:r>
              <a:rPr lang="en-US" sz="2400" b="1" dirty="0" err="1"/>
              <a:t>aObj</a:t>
            </a:r>
            <a:r>
              <a:rPr lang="en-US" sz="2400" b="1" dirty="0"/>
              <a:t> = a;</a:t>
            </a:r>
          </a:p>
          <a:p>
            <a:pPr marL="0" indent="0">
              <a:buNone/>
            </a:pPr>
            <a:r>
              <a:rPr lang="en-US" sz="2400" b="1" dirty="0"/>
              <a:t>double b = 5.6;</a:t>
            </a:r>
          </a:p>
          <a:p>
            <a:pPr marL="0" indent="0">
              <a:buNone/>
            </a:pPr>
            <a:r>
              <a:rPr lang="en-US" sz="2400" dirty="0"/>
              <a:t>// converts into object</a:t>
            </a:r>
          </a:p>
          <a:p>
            <a:pPr marL="0" indent="0">
              <a:buNone/>
            </a:pPr>
            <a:r>
              <a:rPr lang="en-US" sz="2400" b="1" dirty="0"/>
              <a:t>Double </a:t>
            </a:r>
            <a:r>
              <a:rPr lang="en-US" sz="2400" b="1" dirty="0" err="1"/>
              <a:t>bObj</a:t>
            </a:r>
            <a:r>
              <a:rPr lang="en-US" sz="2400" b="1" dirty="0"/>
              <a:t> = b;</a:t>
            </a:r>
          </a:p>
          <a:p>
            <a:pPr marL="0" indent="0">
              <a:buNone/>
            </a:pPr>
            <a:endParaRPr lang="en-US" sz="2400" dirty="0"/>
          </a:p>
        </p:txBody>
      </p:sp>
    </p:spTree>
    <p:extLst>
      <p:ext uri="{BB962C8B-B14F-4D97-AF65-F5344CB8AC3E}">
        <p14:creationId xmlns:p14="http://schemas.microsoft.com/office/powerpoint/2010/main" val="2720699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9DC21-1D78-1BFD-2A20-5E5490473BD7}"/>
              </a:ext>
            </a:extLst>
          </p:cNvPr>
          <p:cNvSpPr>
            <a:spLocks noGrp="1"/>
          </p:cNvSpPr>
          <p:nvPr>
            <p:ph type="title"/>
          </p:nvPr>
        </p:nvSpPr>
        <p:spPr/>
        <p:txBody>
          <a:bodyPr/>
          <a:lstStyle/>
          <a:p>
            <a:pPr algn="ctr"/>
            <a:r>
              <a:rPr lang="en-US" b="1" dirty="0"/>
              <a:t>Auto Unboxing</a:t>
            </a:r>
          </a:p>
        </p:txBody>
      </p:sp>
      <p:sp>
        <p:nvSpPr>
          <p:cNvPr id="3" name="Content Placeholder 2">
            <a:extLst>
              <a:ext uri="{FF2B5EF4-FFF2-40B4-BE49-F238E27FC236}">
                <a16:creationId xmlns:a16="http://schemas.microsoft.com/office/drawing/2014/main" id="{958587E1-2D78-B7AD-3273-F55C3470BE89}"/>
              </a:ext>
            </a:extLst>
          </p:cNvPr>
          <p:cNvSpPr>
            <a:spLocks noGrp="1"/>
          </p:cNvSpPr>
          <p:nvPr>
            <p:ph idx="1"/>
          </p:nvPr>
        </p:nvSpPr>
        <p:spPr/>
        <p:txBody>
          <a:bodyPr>
            <a:noAutofit/>
          </a:bodyPr>
          <a:lstStyle/>
          <a:p>
            <a:pPr marL="0" indent="0">
              <a:buNone/>
            </a:pPr>
            <a:r>
              <a:rPr lang="en-US" sz="2400" dirty="0"/>
              <a:t>The Java compiler can automatically convert objects into corresponding primitive types. For example,</a:t>
            </a:r>
          </a:p>
          <a:p>
            <a:pPr marL="0" indent="0">
              <a:buNone/>
            </a:pPr>
            <a:r>
              <a:rPr lang="en-US" sz="2400" b="1" dirty="0"/>
              <a:t>Integer </a:t>
            </a:r>
            <a:r>
              <a:rPr lang="en-US" sz="2400" b="1" dirty="0" err="1"/>
              <a:t>aObj</a:t>
            </a:r>
            <a:r>
              <a:rPr lang="en-US" sz="2400" b="1" dirty="0"/>
              <a:t> = </a:t>
            </a:r>
            <a:r>
              <a:rPr lang="en-US" sz="2400" b="1" dirty="0" err="1"/>
              <a:t>Integer.valueOf</a:t>
            </a:r>
            <a:r>
              <a:rPr lang="en-US" sz="2400" b="1" dirty="0"/>
              <a:t>(2);</a:t>
            </a:r>
          </a:p>
          <a:p>
            <a:pPr marL="0" indent="0">
              <a:buNone/>
            </a:pPr>
            <a:r>
              <a:rPr lang="en-US" sz="2400" dirty="0"/>
              <a:t>// converts into int type</a:t>
            </a:r>
          </a:p>
          <a:p>
            <a:pPr marL="0" indent="0">
              <a:buNone/>
            </a:pPr>
            <a:r>
              <a:rPr lang="en-US" sz="2400" b="1" dirty="0"/>
              <a:t>int a = </a:t>
            </a:r>
            <a:r>
              <a:rPr lang="en-US" sz="2400" b="1" dirty="0" err="1"/>
              <a:t>aObj</a:t>
            </a:r>
            <a:r>
              <a:rPr lang="en-US" sz="2400" b="1" dirty="0"/>
              <a:t>;</a:t>
            </a:r>
          </a:p>
          <a:p>
            <a:pPr marL="0" indent="0">
              <a:buNone/>
            </a:pPr>
            <a:r>
              <a:rPr lang="en-US" sz="2400" b="1" dirty="0"/>
              <a:t>Double </a:t>
            </a:r>
            <a:r>
              <a:rPr lang="en-US" sz="2400" b="1" dirty="0" err="1"/>
              <a:t>bObj</a:t>
            </a:r>
            <a:r>
              <a:rPr lang="en-US" sz="2400" b="1" dirty="0"/>
              <a:t> = </a:t>
            </a:r>
            <a:r>
              <a:rPr lang="en-US" sz="2400" b="1" dirty="0" err="1"/>
              <a:t>Double.valueOf</a:t>
            </a:r>
            <a:r>
              <a:rPr lang="en-US" sz="2400" b="1" dirty="0"/>
              <a:t>(5.55);</a:t>
            </a:r>
          </a:p>
          <a:p>
            <a:pPr marL="0" indent="0">
              <a:buNone/>
            </a:pPr>
            <a:r>
              <a:rPr lang="en-US" sz="2400" dirty="0"/>
              <a:t>// converts into double type</a:t>
            </a:r>
          </a:p>
          <a:p>
            <a:pPr marL="0" indent="0">
              <a:buNone/>
            </a:pPr>
            <a:r>
              <a:rPr lang="en-US" sz="2400" b="1" dirty="0"/>
              <a:t>double b = </a:t>
            </a:r>
            <a:r>
              <a:rPr lang="en-US" sz="2400" b="1" dirty="0" err="1"/>
              <a:t>bObj</a:t>
            </a:r>
            <a:r>
              <a:rPr lang="en-US" sz="2400" b="1" dirty="0"/>
              <a:t>;</a:t>
            </a:r>
          </a:p>
          <a:p>
            <a:pPr marL="0" indent="0">
              <a:buNone/>
            </a:pPr>
            <a:endParaRPr lang="en-US" sz="2400" dirty="0"/>
          </a:p>
        </p:txBody>
      </p:sp>
    </p:spTree>
    <p:extLst>
      <p:ext uri="{BB962C8B-B14F-4D97-AF65-F5344CB8AC3E}">
        <p14:creationId xmlns:p14="http://schemas.microsoft.com/office/powerpoint/2010/main" val="4112367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28127-387A-3B72-1AE5-D3C23CB5FE02}"/>
              </a:ext>
            </a:extLst>
          </p:cNvPr>
          <p:cNvSpPr>
            <a:spLocks noGrp="1"/>
          </p:cNvSpPr>
          <p:nvPr>
            <p:ph type="title"/>
          </p:nvPr>
        </p:nvSpPr>
        <p:spPr/>
        <p:txBody>
          <a:bodyPr/>
          <a:lstStyle/>
          <a:p>
            <a:pPr algn="ctr"/>
            <a:r>
              <a:rPr lang="en-US" b="1" dirty="0"/>
              <a:t>Wrapper Classes can Convert Numbers to Strings</a:t>
            </a:r>
          </a:p>
        </p:txBody>
      </p:sp>
      <p:sp>
        <p:nvSpPr>
          <p:cNvPr id="3" name="Content Placeholder 2">
            <a:extLst>
              <a:ext uri="{FF2B5EF4-FFF2-40B4-BE49-F238E27FC236}">
                <a16:creationId xmlns:a16="http://schemas.microsoft.com/office/drawing/2014/main" id="{F85BDE0E-5787-D67D-9BAA-1E4A35E6A2E9}"/>
              </a:ext>
            </a:extLst>
          </p:cNvPr>
          <p:cNvSpPr>
            <a:spLocks noGrp="1"/>
          </p:cNvSpPr>
          <p:nvPr>
            <p:ph idx="1"/>
          </p:nvPr>
        </p:nvSpPr>
        <p:spPr>
          <a:xfrm>
            <a:off x="2589212" y="2133600"/>
            <a:ext cx="8915400" cy="4100290"/>
          </a:xfrm>
        </p:spPr>
        <p:txBody>
          <a:bodyPr>
            <a:noAutofit/>
          </a:bodyPr>
          <a:lstStyle/>
          <a:p>
            <a:pPr marL="0" indent="0">
              <a:buNone/>
            </a:pPr>
            <a:r>
              <a:rPr lang="en-US" sz="2400" dirty="0"/>
              <a:t>// The </a:t>
            </a:r>
            <a:r>
              <a:rPr lang="en-US" sz="2400" dirty="0" err="1"/>
              <a:t>valueOf</a:t>
            </a:r>
            <a:r>
              <a:rPr lang="en-US" sz="2400" dirty="0"/>
              <a:t> class method.</a:t>
            </a:r>
          </a:p>
          <a:p>
            <a:pPr marL="0" indent="0">
              <a:buNone/>
            </a:pPr>
            <a:r>
              <a:rPr lang="en-US" sz="2400" b="1" dirty="0"/>
              <a:t>int </a:t>
            </a:r>
            <a:r>
              <a:rPr lang="en-US" sz="2400" b="1" dirty="0" err="1"/>
              <a:t>i</a:t>
            </a:r>
            <a:r>
              <a:rPr lang="en-US" sz="2400" b="1" dirty="0"/>
              <a:t> = 14;</a:t>
            </a:r>
          </a:p>
          <a:p>
            <a:pPr marL="0" indent="0">
              <a:buNone/>
            </a:pPr>
            <a:r>
              <a:rPr lang="en-US" sz="2400" b="1" dirty="0"/>
              <a:t>String s2 = </a:t>
            </a:r>
            <a:r>
              <a:rPr lang="en-US" sz="2400" b="1" dirty="0" err="1"/>
              <a:t>String.valueOf</a:t>
            </a:r>
            <a:r>
              <a:rPr lang="en-US" sz="2400" b="1" dirty="0"/>
              <a:t>(</a:t>
            </a:r>
            <a:r>
              <a:rPr lang="en-US" sz="2400" b="1" dirty="0" err="1"/>
              <a:t>i</a:t>
            </a:r>
            <a:r>
              <a:rPr lang="en-US" sz="2400" b="1" dirty="0"/>
              <a:t>);</a:t>
            </a:r>
          </a:p>
          <a:p>
            <a:pPr marL="0" indent="0">
              <a:buNone/>
            </a:pPr>
            <a:r>
              <a:rPr lang="en-US" sz="2400" dirty="0"/>
              <a:t>S2 has value of  “14”</a:t>
            </a:r>
          </a:p>
          <a:p>
            <a:pPr marL="0" indent="0">
              <a:buNone/>
            </a:pPr>
            <a:r>
              <a:rPr lang="en-US" sz="2400" dirty="0"/>
              <a:t>//The </a:t>
            </a:r>
            <a:r>
              <a:rPr lang="en-US" sz="2400" dirty="0" err="1"/>
              <a:t>toString</a:t>
            </a:r>
            <a:r>
              <a:rPr lang="en-US" sz="2400" dirty="0"/>
              <a:t> method.</a:t>
            </a:r>
          </a:p>
          <a:p>
            <a:pPr marL="0" indent="0">
              <a:buNone/>
            </a:pPr>
            <a:r>
              <a:rPr lang="en-US" sz="2400" b="1" dirty="0"/>
              <a:t>double d = 858.48;</a:t>
            </a:r>
          </a:p>
          <a:p>
            <a:pPr marL="0" indent="0">
              <a:buNone/>
            </a:pPr>
            <a:r>
              <a:rPr lang="en-US" sz="2400" b="1" dirty="0"/>
              <a:t>String s = </a:t>
            </a:r>
            <a:r>
              <a:rPr lang="en-US" sz="2400" b="1" dirty="0" err="1"/>
              <a:t>Double.toString</a:t>
            </a:r>
            <a:r>
              <a:rPr lang="en-US" sz="2400" b="1" dirty="0"/>
              <a:t>(d);</a:t>
            </a:r>
          </a:p>
          <a:p>
            <a:pPr marL="0" indent="0">
              <a:buNone/>
            </a:pPr>
            <a:r>
              <a:rPr lang="en-US" sz="2400" dirty="0"/>
              <a:t>s has value of “858.48”</a:t>
            </a:r>
          </a:p>
          <a:p>
            <a:pPr marL="0" indent="0">
              <a:buNone/>
            </a:pPr>
            <a:endParaRPr lang="en-US" sz="2400" dirty="0"/>
          </a:p>
        </p:txBody>
      </p:sp>
    </p:spTree>
    <p:extLst>
      <p:ext uri="{BB962C8B-B14F-4D97-AF65-F5344CB8AC3E}">
        <p14:creationId xmlns:p14="http://schemas.microsoft.com/office/powerpoint/2010/main" val="2472865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02A62-E14E-09C0-6BAE-3217274C6D46}"/>
              </a:ext>
            </a:extLst>
          </p:cNvPr>
          <p:cNvSpPr>
            <a:spLocks noGrp="1"/>
          </p:cNvSpPr>
          <p:nvPr>
            <p:ph type="title"/>
          </p:nvPr>
        </p:nvSpPr>
        <p:spPr/>
        <p:txBody>
          <a:bodyPr/>
          <a:lstStyle/>
          <a:p>
            <a:pPr algn="ctr"/>
            <a:r>
              <a:rPr lang="en-US" b="1" dirty="0"/>
              <a:t>Wrapper Classes can Convert Strings to Numbers </a:t>
            </a:r>
          </a:p>
        </p:txBody>
      </p:sp>
      <p:sp>
        <p:nvSpPr>
          <p:cNvPr id="3" name="Content Placeholder 2">
            <a:extLst>
              <a:ext uri="{FF2B5EF4-FFF2-40B4-BE49-F238E27FC236}">
                <a16:creationId xmlns:a16="http://schemas.microsoft.com/office/drawing/2014/main" id="{8D8C7243-A416-0E7A-8EC2-A165E8D11E85}"/>
              </a:ext>
            </a:extLst>
          </p:cNvPr>
          <p:cNvSpPr>
            <a:spLocks noGrp="1"/>
          </p:cNvSpPr>
          <p:nvPr>
            <p:ph idx="1"/>
          </p:nvPr>
        </p:nvSpPr>
        <p:spPr/>
        <p:txBody>
          <a:bodyPr>
            <a:normAutofit/>
          </a:bodyPr>
          <a:lstStyle/>
          <a:p>
            <a:pPr marL="0" indent="0">
              <a:buNone/>
            </a:pPr>
            <a:r>
              <a:rPr lang="en-US" sz="2400" b="1" dirty="0"/>
              <a:t>String str = “42”;</a:t>
            </a:r>
          </a:p>
          <a:p>
            <a:pPr marL="0" indent="0">
              <a:buNone/>
            </a:pPr>
            <a:r>
              <a:rPr lang="en-US" sz="2400" b="1" dirty="0"/>
              <a:t>float a = </a:t>
            </a:r>
            <a:r>
              <a:rPr lang="en-US" sz="2400" b="1" dirty="0" err="1"/>
              <a:t>Float.parseFloat</a:t>
            </a:r>
            <a:r>
              <a:rPr lang="en-US" sz="2400" b="1" dirty="0"/>
              <a:t>(str);</a:t>
            </a:r>
          </a:p>
          <a:p>
            <a:pPr marL="0" indent="0">
              <a:buNone/>
            </a:pPr>
            <a:r>
              <a:rPr lang="en-US" sz="2400" b="1" dirty="0"/>
              <a:t>int b = </a:t>
            </a:r>
            <a:r>
              <a:rPr lang="en-US" sz="2400" b="1" dirty="0" err="1"/>
              <a:t>Integer.valueOf</a:t>
            </a:r>
            <a:r>
              <a:rPr lang="en-US" sz="2400" b="1" dirty="0"/>
              <a:t>(str); </a:t>
            </a:r>
          </a:p>
          <a:p>
            <a:pPr marL="0" indent="0">
              <a:buNone/>
            </a:pPr>
            <a:endParaRPr lang="en-US" sz="2400" dirty="0"/>
          </a:p>
        </p:txBody>
      </p:sp>
    </p:spTree>
    <p:extLst>
      <p:ext uri="{BB962C8B-B14F-4D97-AF65-F5344CB8AC3E}">
        <p14:creationId xmlns:p14="http://schemas.microsoft.com/office/powerpoint/2010/main" val="200174249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46</TotalTime>
  <Words>471</Words>
  <Application>Microsoft Office PowerPoint</Application>
  <PresentationFormat>Widescreen</PresentationFormat>
  <Paragraphs>57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Wingdings 3</vt:lpstr>
      <vt:lpstr>Wisp</vt:lpstr>
      <vt:lpstr>Wrapper Classes </vt:lpstr>
      <vt:lpstr>Using Primitives vs Objects in Java</vt:lpstr>
      <vt:lpstr>What are Wrapper Classes?</vt:lpstr>
      <vt:lpstr>Convert Primitive Types to Wrapper Objects </vt:lpstr>
      <vt:lpstr>Autoboxing</vt:lpstr>
      <vt:lpstr>Auto Unboxing</vt:lpstr>
      <vt:lpstr>Wrapper Classes can Convert Numbers to Strings</vt:lpstr>
      <vt:lpstr>Wrapper Classes can Convert Strings to Numbers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Wrapper Classes</dc:title>
  <dc:creator>NELSON, IVONNE</dc:creator>
  <cp:lastModifiedBy>NELSON, IVONNE</cp:lastModifiedBy>
  <cp:revision>6</cp:revision>
  <dcterms:created xsi:type="dcterms:W3CDTF">2022-01-18T20:37:50Z</dcterms:created>
  <dcterms:modified xsi:type="dcterms:W3CDTF">2024-06-10T15:55:30Z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8bb7484-22c2-4b98-9fb8-3ab13d821527_Enabled">
    <vt:lpwstr>true</vt:lpwstr>
  </property>
  <property fmtid="{D5CDD505-2E9C-101B-9397-08002B2CF9AE}" pid="3" name="MSIP_Label_d8bb7484-22c2-4b98-9fb8-3ab13d821527_SetDate">
    <vt:lpwstr>2024-06-10T15:55:30Z</vt:lpwstr>
  </property>
  <property fmtid="{D5CDD505-2E9C-101B-9397-08002B2CF9AE}" pid="4" name="MSIP_Label_d8bb7484-22c2-4b98-9fb8-3ab13d821527_Method">
    <vt:lpwstr>Standard</vt:lpwstr>
  </property>
  <property fmtid="{D5CDD505-2E9C-101B-9397-08002B2CF9AE}" pid="5" name="MSIP_Label_d8bb7484-22c2-4b98-9fb8-3ab13d821527_Name">
    <vt:lpwstr>defa4170-0d19-0005-0004-bc88714345d2</vt:lpwstr>
  </property>
  <property fmtid="{D5CDD505-2E9C-101B-9397-08002B2CF9AE}" pid="6" name="MSIP_Label_d8bb7484-22c2-4b98-9fb8-3ab13d821527_SiteId">
    <vt:lpwstr>f50e076b-86a5-45f3-87b0-3f4d0ec5e94e</vt:lpwstr>
  </property>
  <property fmtid="{D5CDD505-2E9C-101B-9397-08002B2CF9AE}" pid="7" name="MSIP_Label_d8bb7484-22c2-4b98-9fb8-3ab13d821527_ActionId">
    <vt:lpwstr>ed0aacba-08be-4323-8364-0da21dc782c1</vt:lpwstr>
  </property>
  <property fmtid="{D5CDD505-2E9C-101B-9397-08002B2CF9AE}" pid="8" name="MSIP_Label_d8bb7484-22c2-4b98-9fb8-3ab13d821527_ContentBits">
    <vt:lpwstr>0</vt:lpwstr>
  </property>
</Properties>
</file>