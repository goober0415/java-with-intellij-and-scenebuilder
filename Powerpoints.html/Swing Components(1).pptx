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62" r:id="rId3"/>
    <p:sldId id="329" r:id="rId4"/>
    <p:sldId id="343" r:id="rId5"/>
    <p:sldId id="267" r:id="rId6"/>
    <p:sldId id="351" r:id="rId7"/>
    <p:sldId id="263" r:id="rId8"/>
    <p:sldId id="352" r:id="rId9"/>
    <p:sldId id="353" r:id="rId10"/>
    <p:sldId id="354" r:id="rId11"/>
    <p:sldId id="265" r:id="rId12"/>
    <p:sldId id="266" r:id="rId13"/>
    <p:sldId id="268" r:id="rId14"/>
    <p:sldId id="355" r:id="rId15"/>
    <p:sldId id="330" r:id="rId16"/>
    <p:sldId id="331" r:id="rId17"/>
    <p:sldId id="356" r:id="rId18"/>
    <p:sldId id="334" r:id="rId19"/>
    <p:sldId id="357" r:id="rId20"/>
    <p:sldId id="333" r:id="rId21"/>
    <p:sldId id="335" r:id="rId22"/>
    <p:sldId id="336" r:id="rId23"/>
    <p:sldId id="358" r:id="rId24"/>
    <p:sldId id="337" r:id="rId25"/>
    <p:sldId id="338" r:id="rId26"/>
    <p:sldId id="327" r:id="rId27"/>
    <p:sldId id="339" r:id="rId28"/>
    <p:sldId id="264" r:id="rId29"/>
    <p:sldId id="340" r:id="rId30"/>
    <p:sldId id="360" r:id="rId31"/>
    <p:sldId id="342" r:id="rId32"/>
    <p:sldId id="363" r:id="rId33"/>
    <p:sldId id="364" r:id="rId34"/>
    <p:sldId id="365" r:id="rId35"/>
    <p:sldId id="535" r:id="rId36"/>
    <p:sldId id="366" r:id="rId37"/>
    <p:sldId id="536" r:id="rId38"/>
    <p:sldId id="537" r:id="rId39"/>
    <p:sldId id="538" r:id="rId40"/>
    <p:sldId id="541" r:id="rId41"/>
    <p:sldId id="540" r:id="rId42"/>
    <p:sldId id="542" r:id="rId43"/>
    <p:sldId id="543" r:id="rId44"/>
    <p:sldId id="544" r:id="rId45"/>
    <p:sldId id="54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22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63E1E-1618-4E94-B3C1-4AAE252A0250}" type="datetimeFigureOut">
              <a:rPr lang="en-US" smtClean="0"/>
              <a:t>6/23/2024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F5940D-AA7C-4EDD-B52A-7436EA427891}" type="slidenum">
              <a:rPr lang="en-US" smtClean="0"/>
              <a:t>‹#›</a:t>
            </a:fld>
            <a:endParaRPr lang="en-US"/>
          </a:p>
        </p:txBody>
      </p:sp>
    </p:spTree>
    <p:extLst>
      <p:ext uri="{BB962C8B-B14F-4D97-AF65-F5344CB8AC3E}">
        <p14:creationId xmlns:p14="http://schemas.microsoft.com/office/powerpoint/2010/main" val="27122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7CA7838-E56E-C862-9E3E-362D592B7AE4}"/>
              </a:ext>
            </a:extLst>
          </p:cNvPr>
          <p:cNvSpPr>
            <a:spLocks noGrp="1" noChangeArrowheads="1"/>
          </p:cNvSpPr>
          <p:nvPr>
            <p:ph type="sldNum" sz="quarter" idx="5"/>
          </p:nvPr>
        </p:nvSpPr>
        <p:spPr>
          <a:ln/>
        </p:spPr>
        <p:txBody>
          <a:bodyPr/>
          <a:lstStyle/>
          <a:p>
            <a:fld id="{6C1A8B19-7A42-4348-BE82-82655A4CD10C}" type="slidenum">
              <a:rPr lang="en-US" altLang="en-US"/>
              <a:pPr/>
              <a:t>35</a:t>
            </a:fld>
            <a:endParaRPr lang="en-US" altLang="en-US"/>
          </a:p>
        </p:txBody>
      </p:sp>
      <p:sp>
        <p:nvSpPr>
          <p:cNvPr id="395266" name="Rectangle 1026">
            <a:extLst>
              <a:ext uri="{FF2B5EF4-FFF2-40B4-BE49-F238E27FC236}">
                <a16:creationId xmlns:a16="http://schemas.microsoft.com/office/drawing/2014/main" id="{07F7CE30-1FD6-D369-149A-A729BC9CF7B4}"/>
              </a:ext>
            </a:extLst>
          </p:cNvPr>
          <p:cNvSpPr>
            <a:spLocks noGrp="1" noRot="1" noChangeAspect="1" noChangeArrowheads="1" noTextEdit="1"/>
          </p:cNvSpPr>
          <p:nvPr>
            <p:ph type="sldImg"/>
          </p:nvPr>
        </p:nvSpPr>
        <p:spPr>
          <a:xfrm>
            <a:off x="393700" y="692150"/>
            <a:ext cx="6070600" cy="3416300"/>
          </a:xfrm>
          <a:ln/>
        </p:spPr>
      </p:sp>
      <p:sp>
        <p:nvSpPr>
          <p:cNvPr id="395267" name="Rectangle 1027">
            <a:extLst>
              <a:ext uri="{FF2B5EF4-FFF2-40B4-BE49-F238E27FC236}">
                <a16:creationId xmlns:a16="http://schemas.microsoft.com/office/drawing/2014/main" id="{E887FCC9-9E07-2025-4D99-47D30A365077}"/>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526031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2090954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314717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672640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ED46C2-14E8-4538-B470-7589A44A8EEA}" type="datetimeFigureOut">
              <a:rPr lang="en-US" smtClean="0"/>
              <a:t>6/23/2024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541962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ED46C2-14E8-4538-B470-7589A44A8EEA}" type="datetimeFigureOut">
              <a:rPr lang="en-US" smtClean="0"/>
              <a:t>6/23/2024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095872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ED46C2-14E8-4538-B470-7589A44A8EEA}" type="datetimeFigureOut">
              <a:rPr lang="en-US" smtClean="0"/>
              <a:t>6/23/2024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3988679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914137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535563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360664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C1507D-E28A-4883-B3EF-4EB47AD6AD77}"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33143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441883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77216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FED46C2-14E8-4538-B470-7589A44A8EEA}" type="datetimeFigureOut">
              <a:rPr lang="en-US" smtClean="0"/>
              <a:t>6/23/2024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1441723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797610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ED46C2-14E8-4538-B470-7589A44A8EEA}" type="datetimeFigureOut">
              <a:rPr lang="en-US" smtClean="0"/>
              <a:t>6/23/2024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C1507D-E28A-4883-B3EF-4EB47AD6AD77}" type="slidenum">
              <a:rPr lang="en-US" smtClean="0"/>
              <a:t>‹#›</a:t>
            </a:fld>
            <a:endParaRPr lang="en-US"/>
          </a:p>
        </p:txBody>
      </p:sp>
    </p:spTree>
    <p:extLst>
      <p:ext uri="{BB962C8B-B14F-4D97-AF65-F5344CB8AC3E}">
        <p14:creationId xmlns:p14="http://schemas.microsoft.com/office/powerpoint/2010/main" val="2025749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FED46C2-14E8-4538-B470-7589A44A8EEA}" type="datetimeFigureOut">
              <a:rPr lang="en-US" smtClean="0"/>
              <a:t>6/23/2024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5C1507D-E28A-4883-B3EF-4EB47AD6AD77}" type="slidenum">
              <a:rPr lang="en-US" smtClean="0"/>
              <a:t>‹#›</a:t>
            </a:fld>
            <a:endParaRPr lang="en-US"/>
          </a:p>
        </p:txBody>
      </p:sp>
    </p:spTree>
    <p:extLst>
      <p:ext uri="{BB962C8B-B14F-4D97-AF65-F5344CB8AC3E}">
        <p14:creationId xmlns:p14="http://schemas.microsoft.com/office/powerpoint/2010/main" val="39927899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4B2A1-C43B-D371-1C41-F80370898D9A}"/>
              </a:ext>
            </a:extLst>
          </p:cNvPr>
          <p:cNvSpPr>
            <a:spLocks noGrp="1"/>
          </p:cNvSpPr>
          <p:nvPr>
            <p:ph type="ctrTitle"/>
          </p:nvPr>
        </p:nvSpPr>
        <p:spPr/>
        <p:txBody>
          <a:bodyPr/>
          <a:lstStyle/>
          <a:p>
            <a:pPr algn="ctr"/>
            <a:r>
              <a:rPr lang="en-US" b="1" dirty="0"/>
              <a:t>Swing Components</a:t>
            </a:r>
          </a:p>
        </p:txBody>
      </p:sp>
      <p:sp>
        <p:nvSpPr>
          <p:cNvPr id="3" name="Subtitle 2">
            <a:extLst>
              <a:ext uri="{FF2B5EF4-FFF2-40B4-BE49-F238E27FC236}">
                <a16:creationId xmlns:a16="http://schemas.microsoft.com/office/drawing/2014/main" id="{054301AE-8B26-3BE2-54C6-FC63BC2BC4E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97682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C5601-4C17-1621-A556-96E91D216A08}"/>
              </a:ext>
            </a:extLst>
          </p:cNvPr>
          <p:cNvSpPr>
            <a:spLocks noGrp="1"/>
          </p:cNvSpPr>
          <p:nvPr>
            <p:ph type="title"/>
          </p:nvPr>
        </p:nvSpPr>
        <p:spPr/>
        <p:txBody>
          <a:bodyPr/>
          <a:lstStyle/>
          <a:p>
            <a:pPr algn="ctr"/>
            <a:r>
              <a:rPr lang="en-US" b="1" dirty="0" err="1"/>
              <a:t>JLabels</a:t>
            </a:r>
            <a:endParaRPr lang="en-US" b="1" dirty="0"/>
          </a:p>
        </p:txBody>
      </p:sp>
      <p:sp>
        <p:nvSpPr>
          <p:cNvPr id="3" name="Text Placeholder 2">
            <a:extLst>
              <a:ext uri="{FF2B5EF4-FFF2-40B4-BE49-F238E27FC236}">
                <a16:creationId xmlns:a16="http://schemas.microsoft.com/office/drawing/2014/main" id="{D777C95A-E600-F0F0-6172-5EAA2AF2FAF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0733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FB90-C2F4-F8B9-8FAE-F67995C11812}"/>
              </a:ext>
            </a:extLst>
          </p:cNvPr>
          <p:cNvSpPr>
            <a:spLocks noGrp="1"/>
          </p:cNvSpPr>
          <p:nvPr>
            <p:ph type="title"/>
          </p:nvPr>
        </p:nvSpPr>
        <p:spPr/>
        <p:txBody>
          <a:bodyPr/>
          <a:lstStyle/>
          <a:p>
            <a:pPr algn="ctr"/>
            <a:r>
              <a:rPr lang="en-US" b="1" dirty="0" err="1"/>
              <a:t>JLabels</a:t>
            </a:r>
            <a:endParaRPr lang="en-US" b="1" dirty="0"/>
          </a:p>
        </p:txBody>
      </p:sp>
      <p:sp>
        <p:nvSpPr>
          <p:cNvPr id="3" name="Content Placeholder 2">
            <a:extLst>
              <a:ext uri="{FF2B5EF4-FFF2-40B4-BE49-F238E27FC236}">
                <a16:creationId xmlns:a16="http://schemas.microsoft.com/office/drawing/2014/main" id="{3482DF07-C97A-CBD1-525B-3EAAFA830F16}"/>
              </a:ext>
            </a:extLst>
          </p:cNvPr>
          <p:cNvSpPr>
            <a:spLocks noGrp="1"/>
          </p:cNvSpPr>
          <p:nvPr>
            <p:ph idx="1"/>
          </p:nvPr>
        </p:nvSpPr>
        <p:spPr/>
        <p:txBody>
          <a:bodyPr>
            <a:normAutofit/>
          </a:bodyPr>
          <a:lstStyle/>
          <a:p>
            <a:pPr marL="0" indent="0">
              <a:buNone/>
            </a:pPr>
            <a:r>
              <a:rPr lang="en-US" sz="2400" dirty="0"/>
              <a:t>The simplest UI component is not surprisingly one of the most popular. Labels are used all over the place to indicate functionality, display status, and draw focus.</a:t>
            </a:r>
          </a:p>
          <a:p>
            <a:pPr marL="0" indent="0">
              <a:buNone/>
            </a:pPr>
            <a:r>
              <a:rPr lang="en-US" sz="2400" dirty="0"/>
              <a:t>The one thing labels cannot do is accept user input.  We’ll learn about that later.</a:t>
            </a:r>
          </a:p>
          <a:p>
            <a:pPr marL="0" indent="0">
              <a:buNone/>
            </a:pPr>
            <a:r>
              <a:rPr lang="en-US" sz="2400" dirty="0"/>
              <a:t>Let’s start out by creating a window and adding a label to it. The code is on the next slide.</a:t>
            </a:r>
          </a:p>
        </p:txBody>
      </p:sp>
    </p:spTree>
    <p:extLst>
      <p:ext uri="{BB962C8B-B14F-4D97-AF65-F5344CB8AC3E}">
        <p14:creationId xmlns:p14="http://schemas.microsoft.com/office/powerpoint/2010/main" val="1041467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C9CFC-24BB-6063-659A-B02F654B33D8}"/>
              </a:ext>
            </a:extLst>
          </p:cNvPr>
          <p:cNvSpPr>
            <a:spLocks noGrp="1"/>
          </p:cNvSpPr>
          <p:nvPr>
            <p:ph type="title"/>
          </p:nvPr>
        </p:nvSpPr>
        <p:spPr>
          <a:xfrm>
            <a:off x="2499141" y="319310"/>
            <a:ext cx="8911687" cy="1280890"/>
          </a:xfrm>
        </p:spPr>
        <p:txBody>
          <a:bodyPr/>
          <a:lstStyle/>
          <a:p>
            <a:pPr algn="ctr"/>
            <a:r>
              <a:rPr lang="en-US" b="1" dirty="0"/>
              <a:t>class Labels </a:t>
            </a:r>
          </a:p>
        </p:txBody>
      </p:sp>
      <p:sp>
        <p:nvSpPr>
          <p:cNvPr id="3" name="Content Placeholder 2">
            <a:extLst>
              <a:ext uri="{FF2B5EF4-FFF2-40B4-BE49-F238E27FC236}">
                <a16:creationId xmlns:a16="http://schemas.microsoft.com/office/drawing/2014/main" id="{37FE9E6B-79B7-7EFA-25A7-2EEE09664CF3}"/>
              </a:ext>
            </a:extLst>
          </p:cNvPr>
          <p:cNvSpPr>
            <a:spLocks noGrp="1"/>
          </p:cNvSpPr>
          <p:nvPr>
            <p:ph idx="1"/>
          </p:nvPr>
        </p:nvSpPr>
        <p:spPr>
          <a:xfrm>
            <a:off x="2378197" y="1371600"/>
            <a:ext cx="8915400" cy="3777622"/>
          </a:xfrm>
        </p:spPr>
        <p:txBody>
          <a:bodyPr>
            <a:noAutofit/>
          </a:bodyPr>
          <a:lstStyle/>
          <a:p>
            <a:pPr marL="0" indent="0">
              <a:buNone/>
            </a:pPr>
            <a:r>
              <a:rPr lang="en-US" sz="2400" b="1" dirty="0"/>
              <a:t>import </a:t>
            </a:r>
            <a:r>
              <a:rPr lang="en-US" sz="2400" b="1" dirty="0" err="1"/>
              <a:t>javax.swing</a:t>
            </a:r>
            <a:r>
              <a:rPr lang="en-US" sz="2400" b="1" dirty="0"/>
              <a:t>.*;</a:t>
            </a:r>
          </a:p>
          <a:p>
            <a:pPr marL="0" indent="0">
              <a:buNone/>
            </a:pPr>
            <a:r>
              <a:rPr lang="en-US" sz="2400" b="1" dirty="0"/>
              <a:t>import </a:t>
            </a:r>
            <a:r>
              <a:rPr lang="en-US" sz="2400" b="1" dirty="0" err="1"/>
              <a:t>java.awt</a:t>
            </a:r>
            <a:r>
              <a:rPr lang="en-US" sz="2400" b="1" dirty="0"/>
              <a:t>.*;</a:t>
            </a:r>
          </a:p>
          <a:p>
            <a:pPr marL="0" indent="0">
              <a:buNone/>
            </a:pPr>
            <a:r>
              <a:rPr lang="en-US" sz="2400" b="1" dirty="0"/>
              <a:t>public class Labels {</a:t>
            </a:r>
          </a:p>
          <a:p>
            <a:pPr marL="0" indent="0">
              <a:buNone/>
            </a:pPr>
            <a:r>
              <a:rPr lang="en-US" sz="2400" b="1" dirty="0"/>
              <a:t>	public static void main(String[] </a:t>
            </a:r>
            <a:r>
              <a:rPr lang="en-US" sz="2400" b="1" dirty="0" err="1"/>
              <a:t>args</a:t>
            </a:r>
            <a:r>
              <a:rPr lang="en-US" sz="2400" b="1" dirty="0"/>
              <a:t>){</a:t>
            </a:r>
          </a:p>
          <a:p>
            <a:pPr marL="0" indent="0">
              <a:buNone/>
            </a:pPr>
            <a:r>
              <a:rPr lang="en-US" sz="2400" b="1" dirty="0"/>
              <a:t>        	</a:t>
            </a:r>
            <a:r>
              <a:rPr lang="en-US" sz="2400" b="1" dirty="0" err="1"/>
              <a:t>JFrame</a:t>
            </a:r>
            <a:r>
              <a:rPr lang="en-US" sz="2400" b="1" dirty="0"/>
              <a:t> frame = new </a:t>
            </a:r>
            <a:r>
              <a:rPr lang="en-US" sz="2400" b="1" dirty="0" err="1"/>
              <a:t>JFrame</a:t>
            </a:r>
            <a:r>
              <a:rPr lang="en-US" sz="2400" b="1" dirty="0"/>
              <a:t>( "Hello, Java!" );</a:t>
            </a:r>
          </a:p>
          <a:p>
            <a:pPr marL="0" indent="0">
              <a:buNone/>
            </a:pPr>
            <a:r>
              <a:rPr lang="en-US" sz="2400" b="1" dirty="0"/>
              <a:t>   		 </a:t>
            </a:r>
            <a:r>
              <a:rPr lang="en-US" sz="2400" b="1" dirty="0" err="1"/>
              <a:t>frame.setSize</a:t>
            </a:r>
            <a:r>
              <a:rPr lang="en-US" sz="2400" b="1" dirty="0"/>
              <a:t>( 300, 300 );</a:t>
            </a:r>
          </a:p>
          <a:p>
            <a:pPr marL="0" indent="0">
              <a:buNone/>
            </a:pPr>
            <a:r>
              <a:rPr lang="en-US" sz="2400" b="1" dirty="0"/>
              <a:t>    		</a:t>
            </a:r>
            <a:r>
              <a:rPr lang="en-US" sz="2400" b="1" dirty="0" err="1"/>
              <a:t>frame.setVisible</a:t>
            </a:r>
            <a:r>
              <a:rPr lang="en-US" sz="2400" b="1" dirty="0"/>
              <a:t>( true );</a:t>
            </a:r>
          </a:p>
          <a:p>
            <a:pPr marL="0" indent="0">
              <a:buNone/>
            </a:pPr>
            <a:r>
              <a:rPr lang="en-US" sz="2400" b="1" dirty="0"/>
              <a:t>	}</a:t>
            </a:r>
          </a:p>
          <a:p>
            <a:pPr marL="0" indent="0">
              <a:buNone/>
            </a:pPr>
            <a:r>
              <a:rPr lang="en-US" sz="2400" b="1" dirty="0"/>
              <a:t>}</a:t>
            </a:r>
          </a:p>
          <a:p>
            <a:pPr marL="0" indent="0">
              <a:buNone/>
            </a:pPr>
            <a:r>
              <a:rPr lang="en-US" sz="2400" dirty="0"/>
              <a:t>This code creates a new window and sets its size and makes it visible.  Yes, it will not be visible otherwise!</a:t>
            </a:r>
          </a:p>
          <a:p>
            <a:pPr marL="0" indent="0">
              <a:buNone/>
            </a:pPr>
            <a:endParaRPr lang="en-US" sz="2400" dirty="0"/>
          </a:p>
        </p:txBody>
      </p:sp>
    </p:spTree>
    <p:extLst>
      <p:ext uri="{BB962C8B-B14F-4D97-AF65-F5344CB8AC3E}">
        <p14:creationId xmlns:p14="http://schemas.microsoft.com/office/powerpoint/2010/main" val="3044485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908FD-E6D5-0BA2-2626-1A6319EC1D21}"/>
              </a:ext>
            </a:extLst>
          </p:cNvPr>
          <p:cNvSpPr>
            <a:spLocks noGrp="1"/>
          </p:cNvSpPr>
          <p:nvPr>
            <p:ph type="title"/>
          </p:nvPr>
        </p:nvSpPr>
        <p:spPr/>
        <p:txBody>
          <a:bodyPr/>
          <a:lstStyle/>
          <a:p>
            <a:pPr algn="ctr"/>
            <a:r>
              <a:rPr lang="en-US" b="1" dirty="0"/>
              <a:t>Add our Label</a:t>
            </a:r>
          </a:p>
        </p:txBody>
      </p:sp>
      <p:sp>
        <p:nvSpPr>
          <p:cNvPr id="3" name="Content Placeholder 2">
            <a:extLst>
              <a:ext uri="{FF2B5EF4-FFF2-40B4-BE49-F238E27FC236}">
                <a16:creationId xmlns:a16="http://schemas.microsoft.com/office/drawing/2014/main" id="{78BD696F-2D96-0048-DF13-4B6810ECF0A8}"/>
              </a:ext>
            </a:extLst>
          </p:cNvPr>
          <p:cNvSpPr>
            <a:spLocks noGrp="1"/>
          </p:cNvSpPr>
          <p:nvPr>
            <p:ph idx="1"/>
          </p:nvPr>
        </p:nvSpPr>
        <p:spPr/>
        <p:txBody>
          <a:bodyPr>
            <a:normAutofit/>
          </a:bodyPr>
          <a:lstStyle/>
          <a:p>
            <a:pPr marL="0" indent="0">
              <a:buNone/>
            </a:pPr>
            <a:r>
              <a:rPr lang="en-US" sz="2400" dirty="0"/>
              <a:t>Create the </a:t>
            </a:r>
            <a:r>
              <a:rPr lang="en-US" sz="2400" dirty="0" err="1"/>
              <a:t>JLabel</a:t>
            </a:r>
            <a:r>
              <a:rPr lang="en-US" sz="2400" dirty="0"/>
              <a:t> object.</a:t>
            </a:r>
          </a:p>
          <a:p>
            <a:pPr marL="0" indent="0">
              <a:buNone/>
            </a:pPr>
            <a:r>
              <a:rPr lang="en-US" altLang="en-US" sz="2400" b="1" dirty="0" err="1"/>
              <a:t>JLabel</a:t>
            </a:r>
            <a:r>
              <a:rPr lang="en-US" altLang="en-US" sz="2400" b="1" dirty="0"/>
              <a:t> label = new </a:t>
            </a:r>
            <a:r>
              <a:rPr lang="en-US" altLang="en-US" sz="2400" b="1" dirty="0" err="1"/>
              <a:t>JLabel</a:t>
            </a:r>
            <a:r>
              <a:rPr lang="en-US" altLang="en-US" sz="2400" b="1" dirty="0"/>
              <a:t>("Hello, Java!");</a:t>
            </a:r>
          </a:p>
          <a:p>
            <a:pPr marL="0" indent="0">
              <a:buNone/>
            </a:pPr>
            <a:r>
              <a:rPr lang="en-US" sz="2400" dirty="0"/>
              <a:t>Add the label to the window:</a:t>
            </a:r>
          </a:p>
          <a:p>
            <a:pPr marL="0" indent="0">
              <a:buNone/>
            </a:pPr>
            <a:r>
              <a:rPr lang="en-US" sz="2400" b="1" dirty="0" err="1"/>
              <a:t>frame.add</a:t>
            </a:r>
            <a:r>
              <a:rPr lang="en-US" sz="2400" b="1" dirty="0"/>
              <a:t>(label);</a:t>
            </a:r>
          </a:p>
          <a:p>
            <a:pPr marL="0" indent="0">
              <a:buNone/>
            </a:pPr>
            <a:r>
              <a:rPr lang="en-US" sz="2400" dirty="0"/>
              <a:t>Make sure you put this code </a:t>
            </a:r>
            <a:r>
              <a:rPr lang="en-US" sz="2400" b="1" dirty="0"/>
              <a:t>BEFORE </a:t>
            </a:r>
            <a:r>
              <a:rPr lang="en-US" sz="2400" b="1" dirty="0" err="1"/>
              <a:t>frame.setVisible</a:t>
            </a:r>
            <a:r>
              <a:rPr lang="en-US" sz="2400" b="1" dirty="0"/>
              <a:t>()</a:t>
            </a:r>
          </a:p>
          <a:p>
            <a:pPr marL="0" indent="0">
              <a:buNone/>
            </a:pPr>
            <a:endParaRPr lang="en-US" sz="2400" dirty="0"/>
          </a:p>
        </p:txBody>
      </p:sp>
    </p:spTree>
    <p:extLst>
      <p:ext uri="{BB962C8B-B14F-4D97-AF65-F5344CB8AC3E}">
        <p14:creationId xmlns:p14="http://schemas.microsoft.com/office/powerpoint/2010/main" val="1918507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AA6CFE31-864E-332E-7288-27B2968313D9}"/>
              </a:ext>
            </a:extLst>
          </p:cNvPr>
          <p:cNvSpPr>
            <a:spLocks noGrp="1" noChangeArrowheads="1"/>
          </p:cNvSpPr>
          <p:nvPr>
            <p:ph type="title"/>
          </p:nvPr>
        </p:nvSpPr>
        <p:spPr>
          <a:xfrm>
            <a:off x="2809006" y="329788"/>
            <a:ext cx="8851181" cy="1281112"/>
          </a:xfrm>
        </p:spPr>
        <p:txBody>
          <a:bodyPr/>
          <a:lstStyle/>
          <a:p>
            <a:pPr algn="ctr"/>
            <a:r>
              <a:rPr lang="en-US" altLang="en-US" b="1" dirty="0"/>
              <a:t>Now compile and run your project</a:t>
            </a:r>
          </a:p>
        </p:txBody>
      </p:sp>
      <p:pic>
        <p:nvPicPr>
          <p:cNvPr id="39939" name="Content Placeholder 5">
            <a:extLst>
              <a:ext uri="{FF2B5EF4-FFF2-40B4-BE49-F238E27FC236}">
                <a16:creationId xmlns:a16="http://schemas.microsoft.com/office/drawing/2014/main" id="{FC19E895-99EE-3E69-2304-8E66898C9BB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246255" y="1371601"/>
            <a:ext cx="3632200" cy="3679825"/>
          </a:xfrm>
        </p:spPr>
      </p:pic>
      <p:sp>
        <p:nvSpPr>
          <p:cNvPr id="4" name="Slide Number Placeholder 3">
            <a:extLst>
              <a:ext uri="{FF2B5EF4-FFF2-40B4-BE49-F238E27FC236}">
                <a16:creationId xmlns:a16="http://schemas.microsoft.com/office/drawing/2014/main" id="{F5C7C093-F66D-A92D-DE05-01928846712B}"/>
              </a:ext>
            </a:extLst>
          </p:cNvPr>
          <p:cNvSpPr>
            <a:spLocks noGrp="1"/>
          </p:cNvSpPr>
          <p:nvPr>
            <p:ph type="sldNum" sz="quarter" idx="12"/>
          </p:nvPr>
        </p:nvSpPr>
        <p:spPr/>
        <p:txBody>
          <a:bodyPr/>
          <a:lstStyle/>
          <a:p>
            <a:pPr>
              <a:defRPr/>
            </a:pPr>
            <a:fld id="{5B363D42-688A-4B98-B18C-8AF3EED2C04B}" type="slidenum">
              <a:rPr lang="en-US" altLang="en-US" smtClean="0"/>
              <a:pPr>
                <a:defRPr/>
              </a:pPr>
              <a:t>6</a:t>
            </a:fld>
            <a:endParaRPr lang="en-US" altLang="en-US"/>
          </a:p>
        </p:txBody>
      </p:sp>
      <p:sp>
        <p:nvSpPr>
          <p:cNvPr id="39941" name="TextBox 6">
            <a:extLst>
              <a:ext uri="{FF2B5EF4-FFF2-40B4-BE49-F238E27FC236}">
                <a16:creationId xmlns:a16="http://schemas.microsoft.com/office/drawing/2014/main" id="{2A0FF5AE-E81C-5667-8708-8C0C26AEDB57}"/>
              </a:ext>
            </a:extLst>
          </p:cNvPr>
          <p:cNvSpPr txBox="1">
            <a:spLocks noChangeArrowheads="1"/>
          </p:cNvSpPr>
          <p:nvPr/>
        </p:nvSpPr>
        <p:spPr bwMode="auto">
          <a:xfrm>
            <a:off x="3329277" y="5486399"/>
            <a:ext cx="75603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2400" dirty="0">
                <a:solidFill>
                  <a:schemeClr val="tx1"/>
                </a:solidFill>
              </a:rPr>
              <a:t>More fun, eh? Let’s add some more features: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AB4A7-6C63-73FF-5DC2-1B3ABB1C1464}"/>
              </a:ext>
            </a:extLst>
          </p:cNvPr>
          <p:cNvSpPr>
            <a:spLocks noGrp="1"/>
          </p:cNvSpPr>
          <p:nvPr>
            <p:ph type="title"/>
          </p:nvPr>
        </p:nvSpPr>
        <p:spPr/>
        <p:txBody>
          <a:bodyPr/>
          <a:lstStyle/>
          <a:p>
            <a:pPr algn="ctr"/>
            <a:r>
              <a:rPr lang="en-US" b="1" dirty="0"/>
              <a:t>Set the Layout Manager for the Window</a:t>
            </a:r>
          </a:p>
        </p:txBody>
      </p:sp>
      <p:sp>
        <p:nvSpPr>
          <p:cNvPr id="3" name="Content Placeholder 2">
            <a:extLst>
              <a:ext uri="{FF2B5EF4-FFF2-40B4-BE49-F238E27FC236}">
                <a16:creationId xmlns:a16="http://schemas.microsoft.com/office/drawing/2014/main" id="{2180FD2F-2878-AC95-7552-92C2F1F53C38}"/>
              </a:ext>
            </a:extLst>
          </p:cNvPr>
          <p:cNvSpPr>
            <a:spLocks noGrp="1"/>
          </p:cNvSpPr>
          <p:nvPr>
            <p:ph idx="1"/>
          </p:nvPr>
        </p:nvSpPr>
        <p:spPr>
          <a:xfrm>
            <a:off x="2589212" y="1540189"/>
            <a:ext cx="8915400" cy="3777622"/>
          </a:xfrm>
        </p:spPr>
        <p:txBody>
          <a:bodyPr>
            <a:normAutofit/>
          </a:bodyPr>
          <a:lstStyle/>
          <a:p>
            <a:pPr marL="0" indent="0">
              <a:buNone/>
            </a:pPr>
            <a:r>
              <a:rPr lang="en-US" sz="2400" dirty="0"/>
              <a:t> There are a number of layout managers available.  </a:t>
            </a:r>
            <a:r>
              <a:rPr lang="en-US" sz="2400" dirty="0" err="1"/>
              <a:t>FlowLayout</a:t>
            </a:r>
            <a:r>
              <a:rPr lang="en-US" sz="2400" dirty="0"/>
              <a:t> is the simplest:</a:t>
            </a:r>
          </a:p>
          <a:p>
            <a:pPr marL="0" indent="0">
              <a:buNone/>
            </a:pPr>
            <a:r>
              <a:rPr lang="en-US" sz="2400" dirty="0"/>
              <a:t>The </a:t>
            </a:r>
            <a:r>
              <a:rPr lang="en-US" sz="2400" dirty="0" err="1"/>
              <a:t>FlowLayout</a:t>
            </a:r>
            <a:r>
              <a:rPr lang="en-US" sz="2400" dirty="0"/>
              <a:t> class fills a container by horizontally centering components at the top, adding from left to right until that “row” runs out of room, then continuing on a new row below. </a:t>
            </a:r>
          </a:p>
          <a:p>
            <a:pPr marL="0" indent="0">
              <a:buNone/>
            </a:pPr>
            <a:r>
              <a:rPr lang="en-US" sz="2400" dirty="0"/>
              <a:t>This type of </a:t>
            </a:r>
            <a:r>
              <a:rPr lang="en-US" sz="2400" dirty="0" err="1"/>
              <a:t>arrangment</a:t>
            </a:r>
            <a:r>
              <a:rPr lang="en-US" sz="2400" dirty="0"/>
              <a:t> won’t be of much use in larger applications, but it is ideal for getting items on the screen quickly.</a:t>
            </a:r>
          </a:p>
          <a:p>
            <a:pPr marL="400050" lvl="1" indent="0">
              <a:buNone/>
            </a:pPr>
            <a:r>
              <a:rPr lang="en-US" sz="2400" b="1" dirty="0" err="1"/>
              <a:t>frame.setLayout</a:t>
            </a:r>
            <a:r>
              <a:rPr lang="en-US" sz="2400" b="1" dirty="0"/>
              <a:t>(new </a:t>
            </a:r>
            <a:r>
              <a:rPr lang="en-US" sz="2400" b="1" dirty="0" err="1"/>
              <a:t>FlowLayout</a:t>
            </a:r>
            <a:r>
              <a:rPr lang="en-US" sz="2400" b="1" dirty="0"/>
              <a:t>(  ));  </a:t>
            </a:r>
          </a:p>
        </p:txBody>
      </p:sp>
    </p:spTree>
    <p:extLst>
      <p:ext uri="{BB962C8B-B14F-4D97-AF65-F5344CB8AC3E}">
        <p14:creationId xmlns:p14="http://schemas.microsoft.com/office/powerpoint/2010/main" val="3403312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AA6CFE31-864E-332E-7288-27B2968313D9}"/>
              </a:ext>
            </a:extLst>
          </p:cNvPr>
          <p:cNvSpPr>
            <a:spLocks noGrp="1" noChangeArrowheads="1"/>
          </p:cNvSpPr>
          <p:nvPr>
            <p:ph type="title"/>
          </p:nvPr>
        </p:nvSpPr>
        <p:spPr>
          <a:xfrm>
            <a:off x="2809006" y="329788"/>
            <a:ext cx="8851181" cy="1281112"/>
          </a:xfrm>
        </p:spPr>
        <p:txBody>
          <a:bodyPr/>
          <a:lstStyle/>
          <a:p>
            <a:pPr algn="ctr"/>
            <a:r>
              <a:rPr lang="en-US" altLang="en-US" b="1" dirty="0"/>
              <a:t>Now compile and run your project</a:t>
            </a:r>
          </a:p>
        </p:txBody>
      </p:sp>
      <p:sp>
        <p:nvSpPr>
          <p:cNvPr id="4" name="Slide Number Placeholder 3">
            <a:extLst>
              <a:ext uri="{FF2B5EF4-FFF2-40B4-BE49-F238E27FC236}">
                <a16:creationId xmlns:a16="http://schemas.microsoft.com/office/drawing/2014/main" id="{F5C7C093-F66D-A92D-DE05-01928846712B}"/>
              </a:ext>
            </a:extLst>
          </p:cNvPr>
          <p:cNvSpPr>
            <a:spLocks noGrp="1"/>
          </p:cNvSpPr>
          <p:nvPr>
            <p:ph type="sldNum" sz="quarter" idx="12"/>
          </p:nvPr>
        </p:nvSpPr>
        <p:spPr/>
        <p:txBody>
          <a:bodyPr/>
          <a:lstStyle/>
          <a:p>
            <a:pPr>
              <a:defRPr/>
            </a:pPr>
            <a:fld id="{5B363D42-688A-4B98-B18C-8AF3EED2C04B}" type="slidenum">
              <a:rPr lang="en-US" altLang="en-US" smtClean="0"/>
              <a:pPr>
                <a:defRPr/>
              </a:pPr>
              <a:t>8</a:t>
            </a:fld>
            <a:endParaRPr lang="en-US" altLang="en-US"/>
          </a:p>
        </p:txBody>
      </p:sp>
      <p:sp>
        <p:nvSpPr>
          <p:cNvPr id="39941" name="TextBox 6">
            <a:extLst>
              <a:ext uri="{FF2B5EF4-FFF2-40B4-BE49-F238E27FC236}">
                <a16:creationId xmlns:a16="http://schemas.microsoft.com/office/drawing/2014/main" id="{2A0FF5AE-E81C-5667-8708-8C0C26AEDB57}"/>
              </a:ext>
            </a:extLst>
          </p:cNvPr>
          <p:cNvSpPr txBox="1">
            <a:spLocks noChangeArrowheads="1"/>
          </p:cNvSpPr>
          <p:nvPr/>
        </p:nvSpPr>
        <p:spPr bwMode="auto">
          <a:xfrm>
            <a:off x="2304041" y="5631574"/>
            <a:ext cx="82531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2400" dirty="0">
                <a:solidFill>
                  <a:schemeClr val="tx1"/>
                </a:solidFill>
              </a:rPr>
              <a:t>Notice the location of the label.  Add another feature:</a:t>
            </a:r>
          </a:p>
        </p:txBody>
      </p:sp>
      <p:pic>
        <p:nvPicPr>
          <p:cNvPr id="6" name="Content Placeholder 5">
            <a:extLst>
              <a:ext uri="{FF2B5EF4-FFF2-40B4-BE49-F238E27FC236}">
                <a16:creationId xmlns:a16="http://schemas.microsoft.com/office/drawing/2014/main" id="{AD5D1FCC-BEF5-42A5-4879-355472FF3C6D}"/>
              </a:ext>
            </a:extLst>
          </p:cNvPr>
          <p:cNvPicPr>
            <a:picLocks noGrp="1" noChangeAspect="1"/>
          </p:cNvPicPr>
          <p:nvPr>
            <p:ph idx="1"/>
          </p:nvPr>
        </p:nvPicPr>
        <p:blipFill>
          <a:blip r:embed="rId2"/>
          <a:stretch>
            <a:fillRect/>
          </a:stretch>
        </p:blipFill>
        <p:spPr>
          <a:xfrm>
            <a:off x="5025468" y="1779381"/>
            <a:ext cx="2810267" cy="2962688"/>
          </a:xfrm>
        </p:spPr>
      </p:pic>
    </p:spTree>
    <p:extLst>
      <p:ext uri="{BB962C8B-B14F-4D97-AF65-F5344CB8AC3E}">
        <p14:creationId xmlns:p14="http://schemas.microsoft.com/office/powerpoint/2010/main" val="1198054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8A7C-BE79-2AA3-473F-F92BA5C8CE06}"/>
              </a:ext>
            </a:extLst>
          </p:cNvPr>
          <p:cNvSpPr>
            <a:spLocks noGrp="1"/>
          </p:cNvSpPr>
          <p:nvPr>
            <p:ph type="title"/>
          </p:nvPr>
        </p:nvSpPr>
        <p:spPr/>
        <p:txBody>
          <a:bodyPr/>
          <a:lstStyle/>
          <a:p>
            <a:pPr algn="ctr"/>
            <a:r>
              <a:rPr lang="en-US" b="1" dirty="0"/>
              <a:t>Location of Window</a:t>
            </a:r>
          </a:p>
        </p:txBody>
      </p:sp>
      <p:sp>
        <p:nvSpPr>
          <p:cNvPr id="3" name="Content Placeholder 2">
            <a:extLst>
              <a:ext uri="{FF2B5EF4-FFF2-40B4-BE49-F238E27FC236}">
                <a16:creationId xmlns:a16="http://schemas.microsoft.com/office/drawing/2014/main" id="{4120D02A-E4D3-2C39-473B-27ABEBD54162}"/>
              </a:ext>
            </a:extLst>
          </p:cNvPr>
          <p:cNvSpPr>
            <a:spLocks noGrp="1"/>
          </p:cNvSpPr>
          <p:nvPr>
            <p:ph idx="1"/>
          </p:nvPr>
        </p:nvSpPr>
        <p:spPr/>
        <p:txBody>
          <a:bodyPr>
            <a:noAutofit/>
          </a:bodyPr>
          <a:lstStyle/>
          <a:p>
            <a:pPr marL="0" indent="0">
              <a:buNone/>
            </a:pPr>
            <a:r>
              <a:rPr lang="en-US" sz="2400" dirty="0"/>
              <a:t>That window is showing up at the top left of the screen.  That is its default location.  It’s actually, the (0,0) location for graphics in the Java drawing world.</a:t>
            </a:r>
          </a:p>
          <a:p>
            <a:pPr marL="0" indent="0">
              <a:buNone/>
            </a:pPr>
            <a:r>
              <a:rPr lang="en-US" sz="2400" dirty="0"/>
              <a:t>But we would like our window to show up in the middle of our screen.</a:t>
            </a:r>
          </a:p>
          <a:p>
            <a:pPr marL="0" indent="0">
              <a:buNone/>
            </a:pPr>
            <a:r>
              <a:rPr lang="en-US" sz="2400" b="1" dirty="0" err="1"/>
              <a:t>frame.setLocationRelativeTo</a:t>
            </a:r>
            <a:r>
              <a:rPr lang="en-US" sz="2400" b="1" dirty="0"/>
              <a:t>(null);  </a:t>
            </a:r>
          </a:p>
          <a:p>
            <a:pPr marL="0" indent="0">
              <a:buNone/>
            </a:pPr>
            <a:r>
              <a:rPr lang="en-US" sz="2400" dirty="0"/>
              <a:t>null gives us the center of the screen.</a:t>
            </a:r>
          </a:p>
          <a:p>
            <a:pPr marL="0" indent="0">
              <a:buNone/>
            </a:pPr>
            <a:r>
              <a:rPr lang="en-US" sz="2400" dirty="0"/>
              <a:t>Run your program.  The window should be displayed at the center of your screen.</a:t>
            </a:r>
          </a:p>
        </p:txBody>
      </p:sp>
    </p:spTree>
    <p:extLst>
      <p:ext uri="{BB962C8B-B14F-4D97-AF65-F5344CB8AC3E}">
        <p14:creationId xmlns:p14="http://schemas.microsoft.com/office/powerpoint/2010/main" val="1118419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AE75-6015-AE4F-0F63-A94C50528F51}"/>
              </a:ext>
            </a:extLst>
          </p:cNvPr>
          <p:cNvSpPr>
            <a:spLocks noGrp="1"/>
          </p:cNvSpPr>
          <p:nvPr>
            <p:ph type="title"/>
          </p:nvPr>
        </p:nvSpPr>
        <p:spPr/>
        <p:txBody>
          <a:bodyPr/>
          <a:lstStyle/>
          <a:p>
            <a:pPr algn="ctr"/>
            <a:r>
              <a:rPr lang="en-US" b="1" dirty="0"/>
              <a:t>Set the Action on Close</a:t>
            </a:r>
          </a:p>
        </p:txBody>
      </p:sp>
      <p:sp>
        <p:nvSpPr>
          <p:cNvPr id="3" name="Content Placeholder 2">
            <a:extLst>
              <a:ext uri="{FF2B5EF4-FFF2-40B4-BE49-F238E27FC236}">
                <a16:creationId xmlns:a16="http://schemas.microsoft.com/office/drawing/2014/main" id="{33CC6E9A-FFF8-47EC-EA8A-3967C26BD931}"/>
              </a:ext>
            </a:extLst>
          </p:cNvPr>
          <p:cNvSpPr>
            <a:spLocks noGrp="1"/>
          </p:cNvSpPr>
          <p:nvPr>
            <p:ph idx="1"/>
          </p:nvPr>
        </p:nvSpPr>
        <p:spPr/>
        <p:txBody>
          <a:bodyPr>
            <a:normAutofit fontScale="92500" lnSpcReduction="10000"/>
          </a:bodyPr>
          <a:lstStyle/>
          <a:p>
            <a:pPr marL="0" indent="0">
              <a:buNone/>
            </a:pPr>
            <a:r>
              <a:rPr lang="en-US" sz="2400" dirty="0"/>
              <a:t>You may have noticed that after the program has run and you X it out to close the window, you do not get the cursor back in the </a:t>
            </a:r>
            <a:r>
              <a:rPr lang="en-US" sz="2400" dirty="0" err="1"/>
              <a:t>cmd</a:t>
            </a:r>
            <a:r>
              <a:rPr lang="en-US" sz="2400" dirty="0"/>
              <a:t> window.   You have to close </a:t>
            </a:r>
            <a:r>
              <a:rPr lang="en-US" sz="2400" dirty="0" err="1"/>
              <a:t>cmd</a:t>
            </a:r>
            <a:r>
              <a:rPr lang="en-US" sz="2400" dirty="0"/>
              <a:t> and re-open it.</a:t>
            </a:r>
          </a:p>
          <a:p>
            <a:pPr marL="0" indent="0">
              <a:buNone/>
            </a:pPr>
            <a:r>
              <a:rPr lang="en-US" sz="2400" dirty="0"/>
              <a:t>Unlike a Frame, a </a:t>
            </a:r>
            <a:r>
              <a:rPr lang="en-US" sz="2400" dirty="0" err="1"/>
              <a:t>JFrame</a:t>
            </a:r>
            <a:r>
              <a:rPr lang="en-US" sz="2400" dirty="0"/>
              <a:t> has some notion of how to respond when the user attempts to close the window. </a:t>
            </a:r>
          </a:p>
          <a:p>
            <a:pPr marL="0" indent="0">
              <a:buNone/>
            </a:pPr>
            <a:r>
              <a:rPr lang="en-US" sz="2400" dirty="0"/>
              <a:t>The default behavior is to simply hide the </a:t>
            </a:r>
            <a:r>
              <a:rPr lang="en-US" sz="2400" dirty="0" err="1"/>
              <a:t>JFrame</a:t>
            </a:r>
            <a:r>
              <a:rPr lang="en-US" sz="2400" dirty="0"/>
              <a:t> when the user closes the window. </a:t>
            </a:r>
          </a:p>
          <a:p>
            <a:pPr marL="0" indent="0">
              <a:buNone/>
            </a:pPr>
            <a:r>
              <a:rPr lang="en-US" sz="2400" dirty="0"/>
              <a:t>To change the default behavior, you invoke the method </a:t>
            </a:r>
            <a:r>
              <a:rPr lang="en-US" sz="2400" dirty="0" err="1"/>
              <a:t>setDefaultCloseOperation</a:t>
            </a:r>
            <a:r>
              <a:rPr lang="en-US" sz="2400" dirty="0"/>
              <a:t>(int operation);</a:t>
            </a:r>
          </a:p>
          <a:p>
            <a:pPr marL="0" indent="0">
              <a:buNone/>
            </a:pPr>
            <a:r>
              <a:rPr lang="en-US" sz="2400" dirty="0"/>
              <a:t>These are the choices for the operation:</a:t>
            </a:r>
          </a:p>
          <a:p>
            <a:pPr marL="0" indent="0">
              <a:buNone/>
            </a:pPr>
            <a:endParaRPr lang="en-US" sz="2400" dirty="0"/>
          </a:p>
        </p:txBody>
      </p:sp>
    </p:spTree>
    <p:extLst>
      <p:ext uri="{BB962C8B-B14F-4D97-AF65-F5344CB8AC3E}">
        <p14:creationId xmlns:p14="http://schemas.microsoft.com/office/powerpoint/2010/main" val="3678578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7E4B-EE83-0BCE-D0FB-0146023EB47E}"/>
              </a:ext>
            </a:extLst>
          </p:cNvPr>
          <p:cNvSpPr>
            <a:spLocks noGrp="1"/>
          </p:cNvSpPr>
          <p:nvPr>
            <p:ph type="title"/>
          </p:nvPr>
        </p:nvSpPr>
        <p:spPr/>
        <p:txBody>
          <a:bodyPr/>
          <a:lstStyle/>
          <a:p>
            <a:pPr algn="ctr"/>
            <a:r>
              <a:rPr lang="en-US" b="1" dirty="0"/>
              <a:t>Operations</a:t>
            </a:r>
          </a:p>
        </p:txBody>
      </p:sp>
      <p:sp>
        <p:nvSpPr>
          <p:cNvPr id="3" name="Content Placeholder 2">
            <a:extLst>
              <a:ext uri="{FF2B5EF4-FFF2-40B4-BE49-F238E27FC236}">
                <a16:creationId xmlns:a16="http://schemas.microsoft.com/office/drawing/2014/main" id="{4DAE87E3-C2BB-5030-A520-EBDB472CAC57}"/>
              </a:ext>
            </a:extLst>
          </p:cNvPr>
          <p:cNvSpPr>
            <a:spLocks noGrp="1"/>
          </p:cNvSpPr>
          <p:nvPr>
            <p:ph idx="1"/>
          </p:nvPr>
        </p:nvSpPr>
        <p:spPr>
          <a:xfrm>
            <a:off x="2495428" y="1540189"/>
            <a:ext cx="8915400" cy="3777622"/>
          </a:xfrm>
        </p:spPr>
        <p:txBody>
          <a:bodyPr>
            <a:noAutofit/>
          </a:bodyPr>
          <a:lstStyle/>
          <a:p>
            <a:pPr marL="0" indent="0" eaLnBrk="1" hangingPunct="1">
              <a:buNone/>
              <a:defRPr/>
            </a:pPr>
            <a:r>
              <a:rPr lang="en-US" sz="2400" b="1" dirty="0"/>
              <a:t>DO_NOTHING_ON_CLOSE </a:t>
            </a:r>
            <a:r>
              <a:rPr lang="en-US" sz="2400" dirty="0"/>
              <a:t>Don't do anything; require the program to handle the operation in the </a:t>
            </a:r>
            <a:r>
              <a:rPr lang="en-US" sz="2400" dirty="0" err="1"/>
              <a:t>windowClosing</a:t>
            </a:r>
            <a:r>
              <a:rPr lang="en-US" sz="2400" dirty="0"/>
              <a:t> method of a registered </a:t>
            </a:r>
            <a:r>
              <a:rPr lang="en-US" sz="2400" dirty="0" err="1"/>
              <a:t>WindowListener</a:t>
            </a:r>
            <a:r>
              <a:rPr lang="en-US" sz="2400" dirty="0"/>
              <a:t> object.</a:t>
            </a:r>
          </a:p>
          <a:p>
            <a:pPr marL="0" indent="0" eaLnBrk="1" hangingPunct="1">
              <a:buNone/>
              <a:defRPr/>
            </a:pPr>
            <a:r>
              <a:rPr lang="en-US" sz="2400" b="1" dirty="0"/>
              <a:t>HIDE_ON_CLOSE </a:t>
            </a:r>
            <a:r>
              <a:rPr lang="en-US" sz="2400" dirty="0"/>
              <a:t>(Default): Automatically hide the frame after invoking any registered </a:t>
            </a:r>
            <a:r>
              <a:rPr lang="en-US" sz="2400" dirty="0" err="1"/>
              <a:t>WindowListener</a:t>
            </a:r>
            <a:r>
              <a:rPr lang="en-US" sz="2400" dirty="0"/>
              <a:t> objects.</a:t>
            </a:r>
          </a:p>
          <a:p>
            <a:pPr marL="0" indent="0" eaLnBrk="1" hangingPunct="1">
              <a:buNone/>
              <a:defRPr/>
            </a:pPr>
            <a:r>
              <a:rPr lang="en-US" sz="2400" b="1" dirty="0"/>
              <a:t>DISPOSE_ON_CLOSE </a:t>
            </a:r>
            <a:r>
              <a:rPr lang="en-US" sz="2400" dirty="0"/>
              <a:t>: Automatically hide and dispose the frame after invoking registered </a:t>
            </a:r>
            <a:r>
              <a:rPr lang="en-US" sz="2400" dirty="0" err="1"/>
              <a:t>WindowListener</a:t>
            </a:r>
            <a:r>
              <a:rPr lang="en-US" sz="2400" dirty="0"/>
              <a:t> objects.</a:t>
            </a:r>
          </a:p>
          <a:p>
            <a:pPr marL="0" indent="0" eaLnBrk="1" hangingPunct="1">
              <a:buNone/>
              <a:defRPr/>
            </a:pPr>
            <a:r>
              <a:rPr lang="en-US" sz="2400" b="1" dirty="0"/>
              <a:t>EXIT_ON_CLOSE </a:t>
            </a:r>
            <a:r>
              <a:rPr lang="en-US" sz="2400" dirty="0"/>
              <a:t>(defined in </a:t>
            </a:r>
            <a:r>
              <a:rPr lang="en-US" sz="2400" dirty="0" err="1"/>
              <a:t>JFrame</a:t>
            </a:r>
            <a:r>
              <a:rPr lang="en-US" sz="2400" dirty="0"/>
              <a:t>): Exit the application using the System exit method. Use this only in applications.</a:t>
            </a:r>
          </a:p>
          <a:p>
            <a:pPr marL="0" indent="0">
              <a:buNone/>
            </a:pPr>
            <a:endParaRPr lang="en-US" sz="2400" dirty="0"/>
          </a:p>
        </p:txBody>
      </p:sp>
    </p:spTree>
    <p:extLst>
      <p:ext uri="{BB962C8B-B14F-4D97-AF65-F5344CB8AC3E}">
        <p14:creationId xmlns:p14="http://schemas.microsoft.com/office/powerpoint/2010/main" val="520320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66CA-2D79-6AA5-CA3C-D249FFED97BF}"/>
              </a:ext>
            </a:extLst>
          </p:cNvPr>
          <p:cNvSpPr>
            <a:spLocks noGrp="1"/>
          </p:cNvSpPr>
          <p:nvPr>
            <p:ph type="title"/>
          </p:nvPr>
        </p:nvSpPr>
        <p:spPr/>
        <p:txBody>
          <a:bodyPr/>
          <a:lstStyle/>
          <a:p>
            <a:pPr algn="ctr"/>
            <a:r>
              <a:rPr lang="en-US" b="1" dirty="0"/>
              <a:t>Our Choice</a:t>
            </a:r>
          </a:p>
        </p:txBody>
      </p:sp>
      <p:sp>
        <p:nvSpPr>
          <p:cNvPr id="3" name="Content Placeholder 2">
            <a:extLst>
              <a:ext uri="{FF2B5EF4-FFF2-40B4-BE49-F238E27FC236}">
                <a16:creationId xmlns:a16="http://schemas.microsoft.com/office/drawing/2014/main" id="{94E5E079-C59E-FE00-19E4-F464CEE6C5CA}"/>
              </a:ext>
            </a:extLst>
          </p:cNvPr>
          <p:cNvSpPr>
            <a:spLocks noGrp="1"/>
          </p:cNvSpPr>
          <p:nvPr>
            <p:ph idx="1"/>
          </p:nvPr>
        </p:nvSpPr>
        <p:spPr>
          <a:xfrm>
            <a:off x="2592925" y="2161309"/>
            <a:ext cx="8915400" cy="3777622"/>
          </a:xfrm>
        </p:spPr>
        <p:txBody>
          <a:bodyPr>
            <a:normAutofit/>
          </a:bodyPr>
          <a:lstStyle/>
          <a:p>
            <a:pPr marL="0" indent="0">
              <a:buNone/>
            </a:pPr>
            <a:r>
              <a:rPr lang="en-US" sz="2400" dirty="0"/>
              <a:t>We choose </a:t>
            </a:r>
            <a:r>
              <a:rPr lang="en-US" sz="2400" dirty="0" err="1"/>
              <a:t>JFrame.EXIT_ON_CLOSE</a:t>
            </a:r>
            <a:r>
              <a:rPr lang="en-US" sz="2400" dirty="0"/>
              <a:t>.</a:t>
            </a:r>
          </a:p>
          <a:p>
            <a:pPr marL="0" indent="0">
              <a:buNone/>
            </a:pPr>
            <a:r>
              <a:rPr lang="en-US" sz="2400" dirty="0"/>
              <a:t>Otherwise, the window is hidden by default and keeps running even though you cannot see it…</a:t>
            </a:r>
          </a:p>
          <a:p>
            <a:pPr marL="0" indent="0">
              <a:buNone/>
            </a:pPr>
            <a:endParaRPr lang="en-US" sz="2400" dirty="0"/>
          </a:p>
          <a:p>
            <a:pPr marL="0" indent="0">
              <a:buNone/>
            </a:pPr>
            <a:r>
              <a:rPr lang="en-US" sz="2400" b="1" dirty="0" err="1"/>
              <a:t>frame.setDefaultCloseOperation</a:t>
            </a:r>
            <a:r>
              <a:rPr lang="en-US" sz="2400" b="1" dirty="0"/>
              <a:t>(</a:t>
            </a:r>
            <a:r>
              <a:rPr lang="en-US" sz="2400" b="1" dirty="0" err="1"/>
              <a:t>JFrame.EXIT_ON_CLOSE</a:t>
            </a:r>
            <a:r>
              <a:rPr lang="en-US" sz="2400" b="1" dirty="0"/>
              <a:t>);</a:t>
            </a:r>
          </a:p>
          <a:p>
            <a:pPr marL="0" indent="0">
              <a:buNone/>
            </a:pPr>
            <a:r>
              <a:rPr lang="en-US" sz="2400" dirty="0"/>
              <a:t>Now run your program and close the window.  You will see the caret waiting for you to give it another command.</a:t>
            </a:r>
          </a:p>
        </p:txBody>
      </p:sp>
    </p:spTree>
    <p:extLst>
      <p:ext uri="{BB962C8B-B14F-4D97-AF65-F5344CB8AC3E}">
        <p14:creationId xmlns:p14="http://schemas.microsoft.com/office/powerpoint/2010/main" val="1572558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78847-C186-1AD2-99AA-DEA5061A3850}"/>
              </a:ext>
            </a:extLst>
          </p:cNvPr>
          <p:cNvSpPr>
            <a:spLocks noGrp="1"/>
          </p:cNvSpPr>
          <p:nvPr>
            <p:ph type="title"/>
          </p:nvPr>
        </p:nvSpPr>
        <p:spPr>
          <a:xfrm>
            <a:off x="2009611" y="688765"/>
            <a:ext cx="8911687" cy="1280890"/>
          </a:xfrm>
        </p:spPr>
        <p:txBody>
          <a:bodyPr/>
          <a:lstStyle/>
          <a:p>
            <a:pPr algn="r"/>
            <a:r>
              <a:rPr lang="en-US" b="1" dirty="0"/>
              <a:t>The Result</a:t>
            </a:r>
          </a:p>
        </p:txBody>
      </p:sp>
      <p:sp>
        <p:nvSpPr>
          <p:cNvPr id="3" name="Content Placeholder 2">
            <a:extLst>
              <a:ext uri="{FF2B5EF4-FFF2-40B4-BE49-F238E27FC236}">
                <a16:creationId xmlns:a16="http://schemas.microsoft.com/office/drawing/2014/main" id="{76080F94-587E-0CAD-15C5-3F4F3B09D011}"/>
              </a:ext>
            </a:extLst>
          </p:cNvPr>
          <p:cNvSpPr>
            <a:spLocks noGrp="1"/>
          </p:cNvSpPr>
          <p:nvPr>
            <p:ph idx="1"/>
          </p:nvPr>
        </p:nvSpPr>
        <p:spPr>
          <a:xfrm>
            <a:off x="2598449" y="0"/>
            <a:ext cx="8915400" cy="5181600"/>
          </a:xfrm>
        </p:spPr>
        <p:txBody>
          <a:bodyPr>
            <a:noAutofit/>
          </a:bodyPr>
          <a:lstStyle/>
          <a:p>
            <a:pPr marL="0" indent="0">
              <a:buNone/>
            </a:pPr>
            <a:r>
              <a:rPr lang="en-US" sz="1600" dirty="0"/>
              <a:t>/***********************************************</a:t>
            </a:r>
          </a:p>
          <a:p>
            <a:pPr marL="0" indent="0">
              <a:buNone/>
            </a:pPr>
            <a:r>
              <a:rPr lang="en-US" sz="1600" dirty="0"/>
              <a:t>* Ivonne Nelson inelson1@cnm.edu</a:t>
            </a:r>
          </a:p>
          <a:p>
            <a:pPr marL="0" indent="0">
              <a:buNone/>
            </a:pPr>
            <a:r>
              <a:rPr lang="en-US" sz="1600" dirty="0"/>
              <a:t>* Labels.java</a:t>
            </a:r>
          </a:p>
          <a:p>
            <a:pPr marL="0" indent="0">
              <a:buNone/>
            </a:pPr>
            <a:r>
              <a:rPr lang="en-US" sz="1600" dirty="0"/>
              <a:t>* This program prints a hello message.</a:t>
            </a:r>
          </a:p>
          <a:p>
            <a:pPr marL="0" indent="0">
              <a:buNone/>
            </a:pPr>
            <a:r>
              <a:rPr lang="en-US" sz="1600" dirty="0"/>
              <a:t>************************************************/</a:t>
            </a:r>
          </a:p>
          <a:p>
            <a:pPr marL="0" indent="0">
              <a:buNone/>
            </a:pPr>
            <a:r>
              <a:rPr lang="en-US" sz="1600" b="1" dirty="0"/>
              <a:t>import </a:t>
            </a:r>
            <a:r>
              <a:rPr lang="en-US" sz="1600" b="1" dirty="0" err="1"/>
              <a:t>javax.swing</a:t>
            </a:r>
            <a:r>
              <a:rPr lang="en-US" sz="1600" b="1" dirty="0"/>
              <a:t>.*;</a:t>
            </a:r>
          </a:p>
          <a:p>
            <a:pPr marL="0" indent="0">
              <a:buNone/>
            </a:pPr>
            <a:r>
              <a:rPr lang="en-US" sz="1600" b="1" dirty="0"/>
              <a:t>import </a:t>
            </a:r>
            <a:r>
              <a:rPr lang="en-US" sz="1600" b="1" dirty="0" err="1"/>
              <a:t>java.awt</a:t>
            </a:r>
            <a:r>
              <a:rPr lang="en-US" sz="1600" b="1" dirty="0"/>
              <a:t>.*;</a:t>
            </a:r>
          </a:p>
          <a:p>
            <a:pPr marL="0" indent="0">
              <a:buNone/>
            </a:pPr>
            <a:r>
              <a:rPr lang="en-US" sz="1600" b="1" dirty="0"/>
              <a:t>public class Labels {</a:t>
            </a:r>
          </a:p>
          <a:p>
            <a:pPr marL="0" indent="0">
              <a:buNone/>
            </a:pPr>
            <a:r>
              <a:rPr lang="en-US" sz="1600" b="1" dirty="0"/>
              <a:t>	public static void main(String[] </a:t>
            </a:r>
            <a:r>
              <a:rPr lang="en-US" sz="1600" b="1" dirty="0" err="1"/>
              <a:t>args</a:t>
            </a:r>
            <a:r>
              <a:rPr lang="en-US" sz="1600" b="1" dirty="0"/>
              <a:t>){</a:t>
            </a:r>
          </a:p>
          <a:p>
            <a:pPr marL="0" indent="0">
              <a:buNone/>
            </a:pPr>
            <a:r>
              <a:rPr lang="en-US" sz="1600" b="1" dirty="0"/>
              <a:t> 	    </a:t>
            </a:r>
            <a:r>
              <a:rPr lang="en-US" sz="1600" b="1" dirty="0" err="1"/>
              <a:t>JFrame</a:t>
            </a:r>
            <a:r>
              <a:rPr lang="en-US" sz="1600" b="1" dirty="0"/>
              <a:t> frame = new </a:t>
            </a:r>
            <a:r>
              <a:rPr lang="en-US" sz="1600" b="1" dirty="0" err="1"/>
              <a:t>JFrame</a:t>
            </a:r>
            <a:r>
              <a:rPr lang="en-US" sz="1600" b="1" dirty="0"/>
              <a:t>( "Hello, Java!" );</a:t>
            </a:r>
          </a:p>
          <a:p>
            <a:pPr marL="0" indent="0">
              <a:buNone/>
            </a:pPr>
            <a:r>
              <a:rPr lang="en-US" sz="1600" b="1" dirty="0"/>
              <a:t>	    </a:t>
            </a:r>
            <a:r>
              <a:rPr lang="en-US" sz="1600" b="1" dirty="0" err="1"/>
              <a:t>frame.setLayout</a:t>
            </a:r>
            <a:r>
              <a:rPr lang="en-US" sz="1600" b="1" dirty="0"/>
              <a:t>(new </a:t>
            </a:r>
            <a:r>
              <a:rPr lang="en-US" sz="1600" b="1" dirty="0" err="1"/>
              <a:t>FlowLayout</a:t>
            </a:r>
            <a:r>
              <a:rPr lang="en-US" sz="1600" b="1" dirty="0"/>
              <a:t>(  ));  </a:t>
            </a:r>
          </a:p>
          <a:p>
            <a:pPr marL="0" indent="0">
              <a:buNone/>
            </a:pPr>
            <a:r>
              <a:rPr lang="en-US" sz="1600" b="1" dirty="0"/>
              <a:t>	    </a:t>
            </a:r>
            <a:r>
              <a:rPr lang="en-US" sz="1600" b="1" dirty="0" err="1"/>
              <a:t>frame.setDefaultCloseOperation</a:t>
            </a:r>
            <a:r>
              <a:rPr lang="en-US" sz="1600" b="1" dirty="0"/>
              <a:t>(</a:t>
            </a:r>
            <a:r>
              <a:rPr lang="en-US" sz="1600" b="1" dirty="0" err="1"/>
              <a:t>JFrame.EXIT_ON_CLOSE</a:t>
            </a:r>
            <a:r>
              <a:rPr lang="en-US" sz="1600" b="1" dirty="0"/>
              <a:t>);</a:t>
            </a:r>
          </a:p>
          <a:p>
            <a:pPr marL="0" indent="0">
              <a:buNone/>
            </a:pPr>
            <a:r>
              <a:rPr lang="en-US" sz="1600" b="1" dirty="0"/>
              <a:t>	    </a:t>
            </a:r>
            <a:r>
              <a:rPr lang="en-US" sz="1600" b="1" dirty="0" err="1"/>
              <a:t>frame.setLocationRelativeTo</a:t>
            </a:r>
            <a:r>
              <a:rPr lang="en-US" sz="1600" b="1" dirty="0"/>
              <a:t>(null);</a:t>
            </a:r>
          </a:p>
          <a:p>
            <a:pPr marL="0" indent="0">
              <a:buNone/>
            </a:pPr>
            <a:r>
              <a:rPr lang="en-US" sz="1600" b="1" dirty="0"/>
              <a:t>            </a:t>
            </a:r>
            <a:r>
              <a:rPr lang="en-US" sz="1600" b="1" dirty="0" err="1"/>
              <a:t>JLabel</a:t>
            </a:r>
            <a:r>
              <a:rPr lang="en-US" sz="1600" b="1" dirty="0"/>
              <a:t> label = new </a:t>
            </a:r>
            <a:r>
              <a:rPr lang="en-US" sz="1600" b="1" dirty="0" err="1"/>
              <a:t>JLabel</a:t>
            </a:r>
            <a:r>
              <a:rPr lang="en-US" sz="1600" b="1" dirty="0"/>
              <a:t>("Hello, Java!", </a:t>
            </a:r>
            <a:r>
              <a:rPr lang="en-US" sz="1600" b="1" dirty="0" err="1"/>
              <a:t>JLabel.CENTER</a:t>
            </a:r>
            <a:r>
              <a:rPr lang="en-US" sz="1600" b="1" dirty="0"/>
              <a:t> );</a:t>
            </a:r>
          </a:p>
          <a:p>
            <a:pPr marL="0" indent="0">
              <a:buNone/>
            </a:pPr>
            <a:r>
              <a:rPr lang="en-US" sz="1600" b="1" dirty="0"/>
              <a:t>	    </a:t>
            </a:r>
            <a:r>
              <a:rPr lang="en-US" sz="1600" b="1" dirty="0" err="1"/>
              <a:t>frame.add</a:t>
            </a:r>
            <a:r>
              <a:rPr lang="en-US" sz="1600" b="1" dirty="0"/>
              <a:t>(label);</a:t>
            </a:r>
          </a:p>
          <a:p>
            <a:pPr marL="0" indent="0">
              <a:buNone/>
            </a:pPr>
            <a:r>
              <a:rPr lang="en-US" sz="1600" b="1" dirty="0"/>
              <a:t>            </a:t>
            </a:r>
            <a:r>
              <a:rPr lang="en-US" sz="1600" b="1" dirty="0" err="1"/>
              <a:t>frame.setSize</a:t>
            </a:r>
            <a:r>
              <a:rPr lang="en-US" sz="1600" b="1" dirty="0"/>
              <a:t>( 300, 300 );</a:t>
            </a:r>
          </a:p>
          <a:p>
            <a:pPr marL="0" indent="0">
              <a:buNone/>
            </a:pPr>
            <a:r>
              <a:rPr lang="en-US" sz="1600" b="1" dirty="0"/>
              <a:t>            </a:t>
            </a:r>
            <a:r>
              <a:rPr lang="en-US" sz="1600" b="1" dirty="0" err="1"/>
              <a:t>frame.setVisible</a:t>
            </a:r>
            <a:r>
              <a:rPr lang="en-US" sz="1600" b="1" dirty="0"/>
              <a:t>( true ); </a:t>
            </a:r>
          </a:p>
          <a:p>
            <a:pPr marL="0" indent="0">
              <a:buNone/>
            </a:pPr>
            <a:r>
              <a:rPr lang="en-US" sz="1600" b="1" dirty="0"/>
              <a:t>    }}</a:t>
            </a:r>
          </a:p>
        </p:txBody>
      </p:sp>
    </p:spTree>
    <p:extLst>
      <p:ext uri="{BB962C8B-B14F-4D97-AF65-F5344CB8AC3E}">
        <p14:creationId xmlns:p14="http://schemas.microsoft.com/office/powerpoint/2010/main" val="3539849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720B-5ABC-98AC-3F32-9D239857570B}"/>
              </a:ext>
            </a:extLst>
          </p:cNvPr>
          <p:cNvSpPr>
            <a:spLocks noGrp="1"/>
          </p:cNvSpPr>
          <p:nvPr>
            <p:ph type="title"/>
          </p:nvPr>
        </p:nvSpPr>
        <p:spPr/>
        <p:txBody>
          <a:bodyPr/>
          <a:lstStyle/>
          <a:p>
            <a:pPr algn="ctr"/>
            <a:r>
              <a:rPr lang="en-US" dirty="0"/>
              <a:t>Let’s do more!</a:t>
            </a:r>
          </a:p>
        </p:txBody>
      </p:sp>
      <p:sp>
        <p:nvSpPr>
          <p:cNvPr id="3" name="Content Placeholder 2">
            <a:extLst>
              <a:ext uri="{FF2B5EF4-FFF2-40B4-BE49-F238E27FC236}">
                <a16:creationId xmlns:a16="http://schemas.microsoft.com/office/drawing/2014/main" id="{851A88F6-03E3-5AFB-5F98-BDA6CA6FBD2A}"/>
              </a:ext>
            </a:extLst>
          </p:cNvPr>
          <p:cNvSpPr>
            <a:spLocks noGrp="1"/>
          </p:cNvSpPr>
          <p:nvPr>
            <p:ph idx="1"/>
          </p:nvPr>
        </p:nvSpPr>
        <p:spPr>
          <a:xfrm>
            <a:off x="2471981" y="1264555"/>
            <a:ext cx="8915400" cy="3777622"/>
          </a:xfrm>
        </p:spPr>
        <p:txBody>
          <a:bodyPr>
            <a:noAutofit/>
          </a:bodyPr>
          <a:lstStyle/>
          <a:p>
            <a:pPr marL="0" indent="0">
              <a:buNone/>
            </a:pPr>
            <a:r>
              <a:rPr lang="en-US" sz="2400" dirty="0"/>
              <a:t>Add three more labels to the frame.  Create the label objects:</a:t>
            </a:r>
          </a:p>
          <a:p>
            <a:pPr marL="0" indent="0">
              <a:buNone/>
            </a:pPr>
            <a:r>
              <a:rPr lang="en-US" sz="2400" dirty="0"/>
              <a:t> </a:t>
            </a:r>
            <a:r>
              <a:rPr lang="en-US" sz="2400" dirty="0" err="1"/>
              <a:t>JLabel</a:t>
            </a:r>
            <a:r>
              <a:rPr lang="en-US" sz="2400" dirty="0"/>
              <a:t> another = new </a:t>
            </a:r>
            <a:r>
              <a:rPr lang="en-US" sz="2400" dirty="0" err="1"/>
              <a:t>JLabel</a:t>
            </a:r>
            <a:r>
              <a:rPr lang="en-US" sz="2400" dirty="0"/>
              <a:t>("Another Label");</a:t>
            </a:r>
          </a:p>
          <a:p>
            <a:pPr marL="0" indent="0">
              <a:buNone/>
            </a:pPr>
            <a:r>
              <a:rPr lang="en-US" sz="2400" dirty="0"/>
              <a:t> </a:t>
            </a:r>
            <a:r>
              <a:rPr lang="en-US" sz="2400" dirty="0" err="1"/>
              <a:t>JLabel</a:t>
            </a:r>
            <a:r>
              <a:rPr lang="en-US" sz="2400" dirty="0"/>
              <a:t> simple = new </a:t>
            </a:r>
            <a:r>
              <a:rPr lang="en-US" sz="2400" dirty="0" err="1"/>
              <a:t>JLabel</a:t>
            </a:r>
            <a:r>
              <a:rPr lang="en-US" sz="2400" dirty="0"/>
              <a:t>("A Simple Label");</a:t>
            </a:r>
          </a:p>
          <a:p>
            <a:pPr marL="0" indent="0">
              <a:buNone/>
            </a:pPr>
            <a:r>
              <a:rPr lang="en-US" sz="2400" dirty="0"/>
              <a:t> </a:t>
            </a:r>
            <a:r>
              <a:rPr lang="en-US" sz="2400" dirty="0" err="1"/>
              <a:t>JLabel</a:t>
            </a:r>
            <a:r>
              <a:rPr lang="en-US" sz="2400" dirty="0"/>
              <a:t> standard = new </a:t>
            </a:r>
            <a:r>
              <a:rPr lang="en-US" sz="2400" dirty="0" err="1"/>
              <a:t>JLabel</a:t>
            </a:r>
            <a:r>
              <a:rPr lang="en-US" sz="2400" dirty="0"/>
              <a:t>("A Standard Label");</a:t>
            </a:r>
          </a:p>
          <a:p>
            <a:pPr marL="0" indent="0">
              <a:buNone/>
            </a:pPr>
            <a:endParaRPr lang="en-US" sz="2400" dirty="0"/>
          </a:p>
          <a:p>
            <a:pPr marL="0" indent="0">
              <a:buNone/>
            </a:pPr>
            <a:r>
              <a:rPr lang="en-US" sz="2400" dirty="0"/>
              <a:t>and add them to the frame.</a:t>
            </a:r>
          </a:p>
          <a:p>
            <a:pPr marL="0" indent="0">
              <a:buNone/>
            </a:pPr>
            <a:endParaRPr lang="en-US" sz="2400" dirty="0"/>
          </a:p>
          <a:p>
            <a:pPr marL="0" indent="0">
              <a:buNone/>
            </a:pPr>
            <a:r>
              <a:rPr lang="en-US" sz="2400" dirty="0"/>
              <a:t> </a:t>
            </a:r>
            <a:r>
              <a:rPr lang="en-US" sz="2400" dirty="0" err="1"/>
              <a:t>frame.add</a:t>
            </a:r>
            <a:r>
              <a:rPr lang="en-US" sz="2400" dirty="0"/>
              <a:t>(another);</a:t>
            </a:r>
          </a:p>
          <a:p>
            <a:pPr marL="0" indent="0">
              <a:buNone/>
            </a:pPr>
            <a:r>
              <a:rPr lang="en-US" sz="2400" dirty="0"/>
              <a:t> </a:t>
            </a:r>
            <a:r>
              <a:rPr lang="en-US" sz="2400" dirty="0" err="1"/>
              <a:t>frame.add</a:t>
            </a:r>
            <a:r>
              <a:rPr lang="en-US" sz="2400" dirty="0"/>
              <a:t>(simple);</a:t>
            </a:r>
          </a:p>
          <a:p>
            <a:pPr marL="0" indent="0">
              <a:buNone/>
            </a:pPr>
            <a:r>
              <a:rPr lang="en-US" sz="2400" dirty="0"/>
              <a:t> </a:t>
            </a:r>
            <a:r>
              <a:rPr lang="en-US" sz="2400" dirty="0" err="1"/>
              <a:t>frame.add</a:t>
            </a:r>
            <a:r>
              <a:rPr lang="en-US" sz="2400" dirty="0"/>
              <a:t>(standard);</a:t>
            </a:r>
          </a:p>
        </p:txBody>
      </p:sp>
    </p:spTree>
    <p:extLst>
      <p:ext uri="{BB962C8B-B14F-4D97-AF65-F5344CB8AC3E}">
        <p14:creationId xmlns:p14="http://schemas.microsoft.com/office/powerpoint/2010/main" val="3520079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E5F72-FC0E-0222-6F34-97E8FE520519}"/>
              </a:ext>
            </a:extLst>
          </p:cNvPr>
          <p:cNvSpPr>
            <a:spLocks noGrp="1"/>
          </p:cNvSpPr>
          <p:nvPr>
            <p:ph idx="1"/>
          </p:nvPr>
        </p:nvSpPr>
        <p:spPr>
          <a:xfrm>
            <a:off x="1780319" y="1490145"/>
            <a:ext cx="7200519" cy="4788877"/>
          </a:xfrm>
          <a:solidFill>
            <a:schemeClr val="bg1"/>
          </a:solidFill>
        </p:spPr>
        <p:txBody>
          <a:bodyPr>
            <a:normAutofit/>
          </a:bodyPr>
          <a:lstStyle/>
          <a:p>
            <a:pPr marL="0" indent="0">
              <a:buNone/>
            </a:pPr>
            <a:r>
              <a:rPr lang="en-US" dirty="0"/>
              <a:t>public class Labels {</a:t>
            </a:r>
          </a:p>
          <a:p>
            <a:pPr marL="0" indent="0">
              <a:buNone/>
            </a:pPr>
            <a:r>
              <a:rPr lang="en-US" dirty="0"/>
              <a:t>    public static void main( String[] </a:t>
            </a:r>
            <a:r>
              <a:rPr lang="en-US" dirty="0" err="1"/>
              <a:t>args</a:t>
            </a:r>
            <a:r>
              <a:rPr lang="en-US" dirty="0"/>
              <a:t> ) {</a:t>
            </a:r>
          </a:p>
          <a:p>
            <a:pPr marL="0" indent="0">
              <a:buNone/>
            </a:pPr>
            <a:r>
              <a:rPr lang="en-US" dirty="0"/>
              <a:t>        </a:t>
            </a:r>
            <a:r>
              <a:rPr lang="en-US" dirty="0" err="1"/>
              <a:t>JFrame</a:t>
            </a:r>
            <a:r>
              <a:rPr lang="en-US" dirty="0"/>
              <a:t> frame = new </a:t>
            </a:r>
            <a:r>
              <a:rPr lang="en-US" dirty="0" err="1"/>
              <a:t>JFrame</a:t>
            </a:r>
            <a:r>
              <a:rPr lang="en-US" dirty="0"/>
              <a:t>( "</a:t>
            </a:r>
            <a:r>
              <a:rPr lang="en-US" dirty="0" err="1"/>
              <a:t>JLabel</a:t>
            </a:r>
            <a:r>
              <a:rPr lang="en-US" dirty="0"/>
              <a:t> Examples" );</a:t>
            </a:r>
          </a:p>
          <a:p>
            <a:pPr marL="0" indent="0">
              <a:buNone/>
            </a:pPr>
            <a:r>
              <a:rPr lang="en-US" dirty="0"/>
              <a:t>        </a:t>
            </a:r>
            <a:r>
              <a:rPr lang="en-US" dirty="0" err="1"/>
              <a:t>frame.setLayout</a:t>
            </a:r>
            <a:r>
              <a:rPr lang="en-US" dirty="0"/>
              <a:t>(new </a:t>
            </a:r>
            <a:r>
              <a:rPr lang="en-US" dirty="0" err="1"/>
              <a:t>GridLayout</a:t>
            </a:r>
            <a:r>
              <a:rPr lang="en-US" dirty="0"/>
              <a:t>(0,1));</a:t>
            </a:r>
          </a:p>
          <a:p>
            <a:pPr marL="0" indent="0">
              <a:buNone/>
            </a:pPr>
            <a:r>
              <a:rPr lang="en-US" dirty="0"/>
              <a:t>        	</a:t>
            </a:r>
            <a:r>
              <a:rPr lang="en-US" dirty="0" err="1"/>
              <a:t>frame.setDefaultCloseOperation</a:t>
            </a:r>
            <a:r>
              <a:rPr lang="en-US" dirty="0"/>
              <a:t>(</a:t>
            </a:r>
            <a:r>
              <a:rPr lang="en-US" dirty="0" err="1"/>
              <a:t>JFrame.EXIT_ON_CLOSE</a:t>
            </a:r>
            <a:r>
              <a:rPr lang="en-US" dirty="0"/>
              <a:t>);</a:t>
            </a:r>
          </a:p>
          <a:p>
            <a:pPr marL="0" indent="0">
              <a:buNone/>
            </a:pPr>
            <a:r>
              <a:rPr lang="en-US" dirty="0"/>
              <a:t>        </a:t>
            </a:r>
            <a:r>
              <a:rPr lang="en-US" dirty="0" err="1"/>
              <a:t>frame.setSize</a:t>
            </a:r>
            <a:r>
              <a:rPr lang="en-US" dirty="0"/>
              <a:t>( 300, 300 );</a:t>
            </a:r>
          </a:p>
          <a:p>
            <a:pPr marL="0" indent="0">
              <a:buNone/>
            </a:pPr>
            <a:endParaRPr lang="en-US" dirty="0"/>
          </a:p>
          <a:p>
            <a:pPr marL="0" indent="0">
              <a:buNone/>
            </a:pPr>
            <a:r>
              <a:rPr lang="en-US" dirty="0"/>
              <a:t>        </a:t>
            </a:r>
            <a:r>
              <a:rPr lang="en-US" dirty="0" err="1"/>
              <a:t>JLabel</a:t>
            </a:r>
            <a:r>
              <a:rPr lang="en-US" dirty="0"/>
              <a:t> basic = new </a:t>
            </a:r>
            <a:r>
              <a:rPr lang="en-US" dirty="0" err="1"/>
              <a:t>JLabel</a:t>
            </a:r>
            <a:r>
              <a:rPr lang="en-US" dirty="0"/>
              <a:t>("Default Label");</a:t>
            </a:r>
          </a:p>
          <a:p>
            <a:pPr marL="0" indent="0">
              <a:buNone/>
            </a:pPr>
            <a:r>
              <a:rPr lang="en-US" dirty="0"/>
              <a:t>        </a:t>
            </a:r>
            <a:r>
              <a:rPr lang="en-US" dirty="0" err="1"/>
              <a:t>JLabel</a:t>
            </a:r>
            <a:r>
              <a:rPr lang="en-US" dirty="0"/>
              <a:t> another = new </a:t>
            </a:r>
            <a:r>
              <a:rPr lang="en-US" dirty="0" err="1"/>
              <a:t>JLabel</a:t>
            </a:r>
            <a:r>
              <a:rPr lang="en-US" dirty="0"/>
              <a:t>("Another Label");</a:t>
            </a:r>
          </a:p>
          <a:p>
            <a:pPr marL="0" indent="0">
              <a:buNone/>
            </a:pPr>
            <a:r>
              <a:rPr lang="en-US" dirty="0"/>
              <a:t>        </a:t>
            </a:r>
            <a:r>
              <a:rPr lang="en-US" dirty="0" err="1"/>
              <a:t>JLabel</a:t>
            </a:r>
            <a:r>
              <a:rPr lang="en-US" dirty="0"/>
              <a:t> simple = new </a:t>
            </a:r>
            <a:r>
              <a:rPr lang="en-US" dirty="0" err="1"/>
              <a:t>JLabel</a:t>
            </a:r>
            <a:r>
              <a:rPr lang="en-US" dirty="0"/>
              <a:t>("A Simple Label");</a:t>
            </a:r>
          </a:p>
          <a:p>
            <a:pPr marL="0" indent="0">
              <a:buNone/>
            </a:pPr>
            <a:r>
              <a:rPr lang="en-US" dirty="0"/>
              <a:t>        </a:t>
            </a:r>
            <a:r>
              <a:rPr lang="en-US" dirty="0" err="1"/>
              <a:t>JLabel</a:t>
            </a:r>
            <a:r>
              <a:rPr lang="en-US" dirty="0"/>
              <a:t> standard = new </a:t>
            </a:r>
            <a:r>
              <a:rPr lang="en-US" dirty="0" err="1"/>
              <a:t>JLabel</a:t>
            </a:r>
            <a:r>
              <a:rPr lang="en-US" dirty="0"/>
              <a:t>("A Standard Label");</a:t>
            </a:r>
          </a:p>
          <a:p>
            <a:pPr marL="0" indent="0">
              <a:buNone/>
            </a:pPr>
            <a:endParaRPr lang="en-US" dirty="0"/>
          </a:p>
        </p:txBody>
      </p:sp>
      <p:sp>
        <p:nvSpPr>
          <p:cNvPr id="5" name="TextBox 4">
            <a:extLst>
              <a:ext uri="{FF2B5EF4-FFF2-40B4-BE49-F238E27FC236}">
                <a16:creationId xmlns:a16="http://schemas.microsoft.com/office/drawing/2014/main" id="{C15FF150-E66D-DECB-02AB-F68E310913B7}"/>
              </a:ext>
            </a:extLst>
          </p:cNvPr>
          <p:cNvSpPr txBox="1"/>
          <p:nvPr/>
        </p:nvSpPr>
        <p:spPr>
          <a:xfrm>
            <a:off x="9144962" y="1490145"/>
            <a:ext cx="2861681" cy="2031325"/>
          </a:xfrm>
          <a:prstGeom prst="rect">
            <a:avLst/>
          </a:prstGeom>
          <a:solidFill>
            <a:schemeClr val="bg1"/>
          </a:solidFill>
        </p:spPr>
        <p:txBody>
          <a:bodyPr wrap="none" rtlCol="0">
            <a:spAutoFit/>
          </a:bodyPr>
          <a:lstStyle/>
          <a:p>
            <a:r>
              <a:rPr lang="en-US" dirty="0"/>
              <a:t> </a:t>
            </a:r>
            <a:r>
              <a:rPr lang="en-US" dirty="0" err="1"/>
              <a:t>frame.add</a:t>
            </a:r>
            <a:r>
              <a:rPr lang="en-US" dirty="0"/>
              <a:t>(basic);</a:t>
            </a:r>
          </a:p>
          <a:p>
            <a:r>
              <a:rPr lang="en-US" dirty="0"/>
              <a:t> </a:t>
            </a:r>
            <a:r>
              <a:rPr lang="en-US" dirty="0" err="1"/>
              <a:t>frame.add</a:t>
            </a:r>
            <a:r>
              <a:rPr lang="en-US" dirty="0"/>
              <a:t>(another);</a:t>
            </a:r>
          </a:p>
          <a:p>
            <a:r>
              <a:rPr lang="en-US" dirty="0"/>
              <a:t> </a:t>
            </a:r>
            <a:r>
              <a:rPr lang="en-US" dirty="0" err="1"/>
              <a:t>frame.add</a:t>
            </a:r>
            <a:r>
              <a:rPr lang="en-US" dirty="0"/>
              <a:t>(simple);</a:t>
            </a:r>
          </a:p>
          <a:p>
            <a:r>
              <a:rPr lang="en-US" dirty="0"/>
              <a:t> </a:t>
            </a:r>
            <a:r>
              <a:rPr lang="en-US" dirty="0" err="1"/>
              <a:t>frame.add</a:t>
            </a:r>
            <a:r>
              <a:rPr lang="en-US" dirty="0"/>
              <a:t>(standard);</a:t>
            </a:r>
          </a:p>
          <a:p>
            <a:endParaRPr lang="en-US" dirty="0"/>
          </a:p>
          <a:p>
            <a:r>
              <a:rPr lang="en-US" dirty="0"/>
              <a:t>  </a:t>
            </a:r>
            <a:r>
              <a:rPr lang="en-US" dirty="0" err="1"/>
              <a:t>frame.setVisible</a:t>
            </a:r>
            <a:r>
              <a:rPr lang="en-US" dirty="0"/>
              <a:t>( true );</a:t>
            </a:r>
          </a:p>
          <a:p>
            <a:r>
              <a:rPr lang="en-US" dirty="0"/>
              <a:t>}</a:t>
            </a:r>
          </a:p>
        </p:txBody>
      </p:sp>
      <p:sp>
        <p:nvSpPr>
          <p:cNvPr id="6" name="TextBox 5">
            <a:extLst>
              <a:ext uri="{FF2B5EF4-FFF2-40B4-BE49-F238E27FC236}">
                <a16:creationId xmlns:a16="http://schemas.microsoft.com/office/drawing/2014/main" id="{800AF159-F67B-4C3F-763A-D697F2A33B8C}"/>
              </a:ext>
            </a:extLst>
          </p:cNvPr>
          <p:cNvSpPr txBox="1"/>
          <p:nvPr/>
        </p:nvSpPr>
        <p:spPr>
          <a:xfrm>
            <a:off x="3399692" y="386862"/>
            <a:ext cx="4717958" cy="584775"/>
          </a:xfrm>
          <a:prstGeom prst="rect">
            <a:avLst/>
          </a:prstGeom>
          <a:noFill/>
        </p:spPr>
        <p:txBody>
          <a:bodyPr wrap="none" rtlCol="0">
            <a:spAutoFit/>
          </a:bodyPr>
          <a:lstStyle/>
          <a:p>
            <a:r>
              <a:rPr lang="en-US" sz="3200" b="1" dirty="0"/>
              <a:t>Code for </a:t>
            </a:r>
            <a:r>
              <a:rPr lang="en-US" sz="3200" b="1" dirty="0" err="1"/>
              <a:t>JLabel</a:t>
            </a:r>
            <a:r>
              <a:rPr lang="en-US" sz="3200" b="1" dirty="0"/>
              <a:t> Demo</a:t>
            </a:r>
          </a:p>
        </p:txBody>
      </p:sp>
    </p:spTree>
    <p:extLst>
      <p:ext uri="{BB962C8B-B14F-4D97-AF65-F5344CB8AC3E}">
        <p14:creationId xmlns:p14="http://schemas.microsoft.com/office/powerpoint/2010/main" val="3998314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F1C3-DFD5-6B33-3BB8-8A62D11587A2}"/>
              </a:ext>
            </a:extLst>
          </p:cNvPr>
          <p:cNvSpPr>
            <a:spLocks noGrp="1"/>
          </p:cNvSpPr>
          <p:nvPr>
            <p:ph type="title"/>
          </p:nvPr>
        </p:nvSpPr>
        <p:spPr>
          <a:xfrm>
            <a:off x="3167356" y="565495"/>
            <a:ext cx="8911687" cy="1280890"/>
          </a:xfrm>
        </p:spPr>
        <p:txBody>
          <a:bodyPr/>
          <a:lstStyle/>
          <a:p>
            <a:r>
              <a:rPr lang="en-US" dirty="0"/>
              <a:t>Run your program and see:</a:t>
            </a:r>
          </a:p>
        </p:txBody>
      </p:sp>
      <p:pic>
        <p:nvPicPr>
          <p:cNvPr id="5" name="Content Placeholder 4">
            <a:extLst>
              <a:ext uri="{FF2B5EF4-FFF2-40B4-BE49-F238E27FC236}">
                <a16:creationId xmlns:a16="http://schemas.microsoft.com/office/drawing/2014/main" id="{67EC886D-AE00-7A2B-1270-D9B6CA87680D}"/>
              </a:ext>
            </a:extLst>
          </p:cNvPr>
          <p:cNvPicPr>
            <a:picLocks noGrp="1" noChangeAspect="1"/>
          </p:cNvPicPr>
          <p:nvPr>
            <p:ph idx="1"/>
          </p:nvPr>
        </p:nvPicPr>
        <p:blipFill>
          <a:blip r:embed="rId2"/>
          <a:stretch>
            <a:fillRect/>
          </a:stretch>
        </p:blipFill>
        <p:spPr>
          <a:xfrm>
            <a:off x="3361069" y="2001074"/>
            <a:ext cx="5753903" cy="2191056"/>
          </a:xfrm>
        </p:spPr>
      </p:pic>
    </p:spTree>
    <p:extLst>
      <p:ext uri="{BB962C8B-B14F-4D97-AF65-F5344CB8AC3E}">
        <p14:creationId xmlns:p14="http://schemas.microsoft.com/office/powerpoint/2010/main" val="1115376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12C6B-D8F5-FB49-9F2A-E47EC56B98E0}"/>
              </a:ext>
            </a:extLst>
          </p:cNvPr>
          <p:cNvSpPr>
            <a:spLocks noGrp="1"/>
          </p:cNvSpPr>
          <p:nvPr>
            <p:ph type="title"/>
          </p:nvPr>
        </p:nvSpPr>
        <p:spPr/>
        <p:txBody>
          <a:bodyPr/>
          <a:lstStyle/>
          <a:p>
            <a:pPr algn="ctr"/>
            <a:r>
              <a:rPr lang="en-US" b="1" dirty="0"/>
              <a:t>Set the Labels background colors</a:t>
            </a:r>
          </a:p>
        </p:txBody>
      </p:sp>
      <p:sp>
        <p:nvSpPr>
          <p:cNvPr id="3" name="Content Placeholder 2">
            <a:extLst>
              <a:ext uri="{FF2B5EF4-FFF2-40B4-BE49-F238E27FC236}">
                <a16:creationId xmlns:a16="http://schemas.microsoft.com/office/drawing/2014/main" id="{1CEFD1A2-4980-197A-742D-820462191E46}"/>
              </a:ext>
            </a:extLst>
          </p:cNvPr>
          <p:cNvSpPr>
            <a:spLocks noGrp="1"/>
          </p:cNvSpPr>
          <p:nvPr>
            <p:ph idx="1"/>
          </p:nvPr>
        </p:nvSpPr>
        <p:spPr>
          <a:xfrm>
            <a:off x="2589212" y="2133599"/>
            <a:ext cx="8915400" cy="4431323"/>
          </a:xfrm>
        </p:spPr>
        <p:txBody>
          <a:bodyPr>
            <a:normAutofit/>
          </a:bodyPr>
          <a:lstStyle/>
          <a:p>
            <a:pPr marL="0" indent="0">
              <a:buNone/>
            </a:pPr>
            <a:r>
              <a:rPr lang="en-US" sz="2400" b="1" dirty="0"/>
              <a:t>import </a:t>
            </a:r>
            <a:r>
              <a:rPr lang="en-US" sz="2400" b="1" dirty="0" err="1"/>
              <a:t>java.awt.Color</a:t>
            </a:r>
            <a:r>
              <a:rPr lang="en-US" sz="2400" b="1" dirty="0"/>
              <a:t>;</a:t>
            </a:r>
          </a:p>
          <a:p>
            <a:pPr marL="0" indent="0">
              <a:buNone/>
            </a:pPr>
            <a:endParaRPr lang="en-US" sz="2400" b="1" dirty="0"/>
          </a:p>
          <a:p>
            <a:pPr marL="0" indent="0">
              <a:buNone/>
            </a:pPr>
            <a:r>
              <a:rPr lang="en-US" sz="2400" b="1" dirty="0" err="1"/>
              <a:t>label.setOpaque</a:t>
            </a:r>
            <a:r>
              <a:rPr lang="en-US" sz="2400" b="1" dirty="0"/>
              <a:t>(true);</a:t>
            </a:r>
          </a:p>
          <a:p>
            <a:pPr marL="0" indent="0">
              <a:buNone/>
            </a:pPr>
            <a:r>
              <a:rPr lang="en-US" sz="2400" b="1" dirty="0" err="1"/>
              <a:t>label.setbackground</a:t>
            </a:r>
            <a:r>
              <a:rPr lang="en-US" sz="2400" b="1" dirty="0"/>
              <a:t> (</a:t>
            </a:r>
            <a:r>
              <a:rPr lang="en-US" sz="2400" b="1" dirty="0" err="1"/>
              <a:t>Color.YELLOW</a:t>
            </a:r>
            <a:r>
              <a:rPr lang="en-US" sz="2400" b="1" dirty="0"/>
              <a:t>);</a:t>
            </a:r>
          </a:p>
          <a:p>
            <a:pPr marL="0" indent="0">
              <a:buNone/>
            </a:pPr>
            <a:endParaRPr lang="en-US" sz="2400" b="1" dirty="0"/>
          </a:p>
          <a:p>
            <a:pPr marL="0" indent="0">
              <a:buNone/>
            </a:pPr>
            <a:r>
              <a:rPr lang="en-US" sz="2400" dirty="0"/>
              <a:t>Do the same for the other three labels, using different colors.  The Java Color Constants are on the next slide.</a:t>
            </a:r>
          </a:p>
          <a:p>
            <a:pPr marL="0" indent="0">
              <a:buNone/>
            </a:pPr>
            <a:r>
              <a:rPr lang="en-US" sz="2400" dirty="0"/>
              <a:t>if the background color is dark, Change the text color - set: 	</a:t>
            </a:r>
            <a:r>
              <a:rPr lang="en-US" sz="2400" b="1" dirty="0" err="1"/>
              <a:t>labelName.foreground</a:t>
            </a:r>
            <a:r>
              <a:rPr lang="en-US" sz="2400" b="1" dirty="0"/>
              <a:t>(</a:t>
            </a:r>
            <a:r>
              <a:rPr lang="en-US" sz="2400" b="1" dirty="0" err="1"/>
              <a:t>Color.WHITE</a:t>
            </a:r>
            <a:r>
              <a:rPr lang="en-US" sz="2400" b="1" dirty="0"/>
              <a:t>);</a:t>
            </a:r>
            <a:endParaRPr lang="en-US" sz="2400" dirty="0"/>
          </a:p>
          <a:p>
            <a:pPr marL="0" indent="0">
              <a:buNone/>
            </a:pPr>
            <a:endParaRPr lang="en-US" sz="2400" dirty="0"/>
          </a:p>
        </p:txBody>
      </p:sp>
    </p:spTree>
    <p:extLst>
      <p:ext uri="{BB962C8B-B14F-4D97-AF65-F5344CB8AC3E}">
        <p14:creationId xmlns:p14="http://schemas.microsoft.com/office/powerpoint/2010/main" val="763037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953F1-DA26-80BA-CF76-29B1A736AB69}"/>
              </a:ext>
            </a:extLst>
          </p:cNvPr>
          <p:cNvSpPr>
            <a:spLocks noGrp="1"/>
          </p:cNvSpPr>
          <p:nvPr>
            <p:ph idx="1"/>
          </p:nvPr>
        </p:nvSpPr>
        <p:spPr>
          <a:xfrm>
            <a:off x="2460258" y="339969"/>
            <a:ext cx="4526696" cy="6178061"/>
          </a:xfrm>
        </p:spPr>
        <p:txBody>
          <a:bodyPr>
            <a:noAutofit/>
          </a:bodyPr>
          <a:lstStyle/>
          <a:p>
            <a:pPr marL="0" indent="0">
              <a:buNone/>
            </a:pPr>
            <a:r>
              <a:rPr lang="en-US" sz="2400" dirty="0"/>
              <a:t>BLACK			black</a:t>
            </a:r>
          </a:p>
          <a:p>
            <a:pPr marL="0" indent="0">
              <a:buNone/>
            </a:pPr>
            <a:r>
              <a:rPr lang="en-US" sz="2400" dirty="0"/>
              <a:t>BLUE				blue</a:t>
            </a:r>
          </a:p>
          <a:p>
            <a:pPr marL="0" indent="0">
              <a:buNone/>
            </a:pPr>
            <a:r>
              <a:rPr lang="en-US" sz="2400" dirty="0"/>
              <a:t>CYAN				cyan</a:t>
            </a:r>
          </a:p>
          <a:p>
            <a:pPr marL="0" indent="0">
              <a:buNone/>
            </a:pPr>
            <a:r>
              <a:rPr lang="en-US" sz="2400" dirty="0"/>
              <a:t>DARK_GRAY		</a:t>
            </a:r>
            <a:r>
              <a:rPr lang="en-US" sz="2400" dirty="0" err="1"/>
              <a:t>darkGray</a:t>
            </a:r>
            <a:endParaRPr lang="en-US" sz="2400" dirty="0"/>
          </a:p>
          <a:p>
            <a:pPr marL="0" indent="0">
              <a:buNone/>
            </a:pPr>
            <a:r>
              <a:rPr lang="en-US" sz="2400" dirty="0"/>
              <a:t>GRAY				gray</a:t>
            </a:r>
          </a:p>
          <a:p>
            <a:pPr marL="0" indent="0">
              <a:buNone/>
            </a:pPr>
            <a:r>
              <a:rPr lang="en-US" sz="2400" dirty="0"/>
              <a:t>GREEN			green</a:t>
            </a:r>
          </a:p>
          <a:p>
            <a:pPr marL="0" indent="0">
              <a:buNone/>
            </a:pPr>
            <a:r>
              <a:rPr lang="en-US" sz="2400" dirty="0"/>
              <a:t>LIGHT_GRAY		</a:t>
            </a:r>
            <a:r>
              <a:rPr lang="en-US" sz="2400" dirty="0" err="1"/>
              <a:t>lightGray</a:t>
            </a:r>
            <a:endParaRPr lang="en-US" sz="2400" dirty="0"/>
          </a:p>
          <a:p>
            <a:pPr marL="0" indent="0">
              <a:buNone/>
            </a:pPr>
            <a:r>
              <a:rPr lang="en-US" sz="2400" dirty="0"/>
              <a:t>MAGENTA		magenta</a:t>
            </a:r>
          </a:p>
          <a:p>
            <a:pPr marL="0" indent="0">
              <a:buNone/>
            </a:pPr>
            <a:r>
              <a:rPr lang="en-US" sz="2400" dirty="0"/>
              <a:t>ORANGE			orange</a:t>
            </a:r>
          </a:p>
          <a:p>
            <a:pPr marL="0" indent="0">
              <a:buNone/>
            </a:pPr>
            <a:r>
              <a:rPr lang="en-US" sz="2400" dirty="0"/>
              <a:t>PINK				pink</a:t>
            </a:r>
          </a:p>
          <a:p>
            <a:pPr marL="0" indent="0">
              <a:buNone/>
            </a:pPr>
            <a:r>
              <a:rPr lang="en-US" sz="2400" dirty="0"/>
              <a:t>RED				red</a:t>
            </a:r>
          </a:p>
          <a:p>
            <a:pPr marL="0" indent="0">
              <a:buNone/>
            </a:pPr>
            <a:r>
              <a:rPr lang="en-US" sz="2400" dirty="0"/>
              <a:t>WHITE				white</a:t>
            </a:r>
          </a:p>
          <a:p>
            <a:pPr marL="0" indent="0">
              <a:buNone/>
            </a:pPr>
            <a:r>
              <a:rPr lang="en-US" sz="2400" dirty="0"/>
              <a:t>YELLOW			yellow</a:t>
            </a:r>
          </a:p>
        </p:txBody>
      </p:sp>
      <p:sp>
        <p:nvSpPr>
          <p:cNvPr id="6" name="TextBox 5">
            <a:extLst>
              <a:ext uri="{FF2B5EF4-FFF2-40B4-BE49-F238E27FC236}">
                <a16:creationId xmlns:a16="http://schemas.microsoft.com/office/drawing/2014/main" id="{08874598-5D4C-D6A4-B038-215CD667EC35}"/>
              </a:ext>
            </a:extLst>
          </p:cNvPr>
          <p:cNvSpPr txBox="1"/>
          <p:nvPr/>
        </p:nvSpPr>
        <p:spPr>
          <a:xfrm>
            <a:off x="7134197" y="602566"/>
            <a:ext cx="4526696" cy="1569660"/>
          </a:xfrm>
          <a:prstGeom prst="rect">
            <a:avLst/>
          </a:prstGeom>
          <a:noFill/>
          <a:ln w="19050">
            <a:solidFill>
              <a:schemeClr val="tx1"/>
            </a:solidFill>
          </a:ln>
        </p:spPr>
        <p:txBody>
          <a:bodyPr wrap="square" rtlCol="0">
            <a:spAutoFit/>
          </a:bodyPr>
          <a:lstStyle/>
          <a:p>
            <a:r>
              <a:rPr lang="en-US" sz="2400" dirty="0"/>
              <a:t>The color constants are the COLORS  in caps.  </a:t>
            </a:r>
          </a:p>
          <a:p>
            <a:r>
              <a:rPr lang="en-US" sz="2400" dirty="0"/>
              <a:t>The lowercase colors are not constant but they work, too.</a:t>
            </a:r>
          </a:p>
        </p:txBody>
      </p:sp>
    </p:spTree>
    <p:extLst>
      <p:ext uri="{BB962C8B-B14F-4D97-AF65-F5344CB8AC3E}">
        <p14:creationId xmlns:p14="http://schemas.microsoft.com/office/powerpoint/2010/main" val="574197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AA6CFE31-864E-332E-7288-27B2968313D9}"/>
              </a:ext>
            </a:extLst>
          </p:cNvPr>
          <p:cNvSpPr>
            <a:spLocks noGrp="1" noChangeArrowheads="1"/>
          </p:cNvSpPr>
          <p:nvPr>
            <p:ph type="title"/>
          </p:nvPr>
        </p:nvSpPr>
        <p:spPr>
          <a:xfrm>
            <a:off x="2809006" y="329788"/>
            <a:ext cx="8851181" cy="1281112"/>
          </a:xfrm>
        </p:spPr>
        <p:txBody>
          <a:bodyPr/>
          <a:lstStyle/>
          <a:p>
            <a:pPr algn="ctr"/>
            <a:r>
              <a:rPr lang="en-US" altLang="en-US" b="1" dirty="0"/>
              <a:t>Now compile and run your project</a:t>
            </a:r>
          </a:p>
        </p:txBody>
      </p:sp>
      <p:sp>
        <p:nvSpPr>
          <p:cNvPr id="4" name="Slide Number Placeholder 3">
            <a:extLst>
              <a:ext uri="{FF2B5EF4-FFF2-40B4-BE49-F238E27FC236}">
                <a16:creationId xmlns:a16="http://schemas.microsoft.com/office/drawing/2014/main" id="{F5C7C093-F66D-A92D-DE05-01928846712B}"/>
              </a:ext>
            </a:extLst>
          </p:cNvPr>
          <p:cNvSpPr>
            <a:spLocks noGrp="1"/>
          </p:cNvSpPr>
          <p:nvPr>
            <p:ph type="sldNum" sz="quarter" idx="12"/>
          </p:nvPr>
        </p:nvSpPr>
        <p:spPr/>
        <p:txBody>
          <a:bodyPr/>
          <a:lstStyle/>
          <a:p>
            <a:pPr>
              <a:defRPr/>
            </a:pPr>
            <a:fld id="{5B363D42-688A-4B98-B18C-8AF3EED2C04B}" type="slidenum">
              <a:rPr lang="en-US" altLang="en-US" smtClean="0"/>
              <a:pPr>
                <a:defRPr/>
              </a:pPr>
              <a:t>19</a:t>
            </a:fld>
            <a:endParaRPr lang="en-US" altLang="en-US"/>
          </a:p>
        </p:txBody>
      </p:sp>
      <p:sp>
        <p:nvSpPr>
          <p:cNvPr id="39941" name="TextBox 6">
            <a:extLst>
              <a:ext uri="{FF2B5EF4-FFF2-40B4-BE49-F238E27FC236}">
                <a16:creationId xmlns:a16="http://schemas.microsoft.com/office/drawing/2014/main" id="{2A0FF5AE-E81C-5667-8708-8C0C26AEDB57}"/>
              </a:ext>
            </a:extLst>
          </p:cNvPr>
          <p:cNvSpPr txBox="1">
            <a:spLocks noChangeArrowheads="1"/>
          </p:cNvSpPr>
          <p:nvPr/>
        </p:nvSpPr>
        <p:spPr bwMode="auto">
          <a:xfrm>
            <a:off x="3600734" y="4291235"/>
            <a:ext cx="66367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US" altLang="en-US" sz="2400" dirty="0">
                <a:solidFill>
                  <a:schemeClr val="tx1"/>
                </a:solidFill>
              </a:rPr>
              <a:t>Notice the location of the labels. This is how a </a:t>
            </a:r>
            <a:r>
              <a:rPr lang="en-US" altLang="en-US" sz="2400" dirty="0" err="1">
                <a:solidFill>
                  <a:schemeClr val="tx1"/>
                </a:solidFill>
              </a:rPr>
              <a:t>FlowLayout</a:t>
            </a:r>
            <a:r>
              <a:rPr lang="en-US" altLang="en-US" sz="2400" dirty="0">
                <a:solidFill>
                  <a:schemeClr val="tx1"/>
                </a:solidFill>
              </a:rPr>
              <a:t> works.  </a:t>
            </a:r>
          </a:p>
        </p:txBody>
      </p:sp>
      <p:pic>
        <p:nvPicPr>
          <p:cNvPr id="5" name="Content Placeholder 4">
            <a:extLst>
              <a:ext uri="{FF2B5EF4-FFF2-40B4-BE49-F238E27FC236}">
                <a16:creationId xmlns:a16="http://schemas.microsoft.com/office/drawing/2014/main" id="{44FC8FAC-57ED-C02F-8A95-D61038008B0D}"/>
              </a:ext>
            </a:extLst>
          </p:cNvPr>
          <p:cNvPicPr>
            <a:picLocks noGrp="1" noChangeAspect="1"/>
          </p:cNvPicPr>
          <p:nvPr>
            <p:ph idx="1"/>
          </p:nvPr>
        </p:nvPicPr>
        <p:blipFill>
          <a:blip r:embed="rId2"/>
          <a:stretch>
            <a:fillRect/>
          </a:stretch>
        </p:blipFill>
        <p:spPr>
          <a:xfrm>
            <a:off x="3858570" y="2123111"/>
            <a:ext cx="5696745" cy="1571844"/>
          </a:xfrm>
          <a:prstGeom prst="rect">
            <a:avLst/>
          </a:prstGeom>
        </p:spPr>
      </p:pic>
    </p:spTree>
    <p:extLst>
      <p:ext uri="{BB962C8B-B14F-4D97-AF65-F5344CB8AC3E}">
        <p14:creationId xmlns:p14="http://schemas.microsoft.com/office/powerpoint/2010/main" val="3850952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BEFE7-8F0E-323A-C8D9-1A4072E33486}"/>
              </a:ext>
            </a:extLst>
          </p:cNvPr>
          <p:cNvSpPr>
            <a:spLocks noGrp="1"/>
          </p:cNvSpPr>
          <p:nvPr>
            <p:ph type="title"/>
          </p:nvPr>
        </p:nvSpPr>
        <p:spPr/>
        <p:txBody>
          <a:bodyPr/>
          <a:lstStyle/>
          <a:p>
            <a:r>
              <a:rPr lang="en-US" b="1" dirty="0"/>
              <a:t>Change the style of the text, and its location in the label</a:t>
            </a:r>
          </a:p>
        </p:txBody>
      </p:sp>
      <p:sp>
        <p:nvSpPr>
          <p:cNvPr id="3" name="Content Placeholder 2">
            <a:extLst>
              <a:ext uri="{FF2B5EF4-FFF2-40B4-BE49-F238E27FC236}">
                <a16:creationId xmlns:a16="http://schemas.microsoft.com/office/drawing/2014/main" id="{174A29F8-0AB4-4C93-3427-5D4B4CB8B5F7}"/>
              </a:ext>
            </a:extLst>
          </p:cNvPr>
          <p:cNvSpPr>
            <a:spLocks noGrp="1"/>
          </p:cNvSpPr>
          <p:nvPr>
            <p:ph idx="1"/>
          </p:nvPr>
        </p:nvSpPr>
        <p:spPr/>
        <p:txBody>
          <a:bodyPr>
            <a:normAutofit fontScale="92500" lnSpcReduction="20000"/>
          </a:bodyPr>
          <a:lstStyle/>
          <a:p>
            <a:pPr marL="0" indent="0">
              <a:buNone/>
            </a:pPr>
            <a:r>
              <a:rPr lang="en-US" sz="2400" dirty="0"/>
              <a:t>Yes, we can change lots of things on our labels.</a:t>
            </a:r>
          </a:p>
          <a:p>
            <a:pPr marL="457200" lvl="1" indent="0">
              <a:buNone/>
            </a:pPr>
            <a:r>
              <a:rPr lang="en-US" sz="2400" dirty="0"/>
              <a:t>Background color</a:t>
            </a:r>
          </a:p>
          <a:p>
            <a:pPr marL="457200" lvl="1" indent="0">
              <a:buNone/>
            </a:pPr>
            <a:r>
              <a:rPr lang="en-US" sz="2400" dirty="0"/>
              <a:t>Foreground color</a:t>
            </a:r>
          </a:p>
          <a:p>
            <a:pPr marL="457200" lvl="1" indent="0">
              <a:buNone/>
            </a:pPr>
            <a:r>
              <a:rPr lang="en-US" sz="2400" dirty="0"/>
              <a:t>Font</a:t>
            </a:r>
          </a:p>
          <a:p>
            <a:pPr marL="457200" lvl="1" indent="0">
              <a:buNone/>
            </a:pPr>
            <a:r>
              <a:rPr lang="en-US" sz="2400" dirty="0"/>
              <a:t>Alignment</a:t>
            </a:r>
          </a:p>
          <a:p>
            <a:pPr marL="457200" lvl="1" indent="0">
              <a:buNone/>
            </a:pPr>
            <a:r>
              <a:rPr lang="en-US" sz="2400" dirty="0"/>
              <a:t>Add icons</a:t>
            </a:r>
          </a:p>
          <a:p>
            <a:pPr marL="457200" lvl="1" indent="0">
              <a:buNone/>
            </a:pPr>
            <a:endParaRPr lang="en-US" sz="2400" dirty="0"/>
          </a:p>
          <a:p>
            <a:pPr marL="457200" lvl="1" indent="0">
              <a:buNone/>
            </a:pPr>
            <a:r>
              <a:rPr lang="en-US" sz="2400" dirty="0"/>
              <a:t>Use the code on the next two slides in the appropriate places to do all of this.  Be sure you download the image  in the assignment and add it where the Application can access it.</a:t>
            </a:r>
          </a:p>
          <a:p>
            <a:pPr marL="457200" lvl="1" indent="0">
              <a:buNone/>
            </a:pPr>
            <a:endParaRPr lang="en-US" sz="2400" dirty="0"/>
          </a:p>
        </p:txBody>
      </p:sp>
    </p:spTree>
    <p:extLst>
      <p:ext uri="{BB962C8B-B14F-4D97-AF65-F5344CB8AC3E}">
        <p14:creationId xmlns:p14="http://schemas.microsoft.com/office/powerpoint/2010/main" val="2930499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06ECFA-6737-4CEE-B4F8-BA07D411BE2C}"/>
              </a:ext>
            </a:extLst>
          </p:cNvPr>
          <p:cNvSpPr>
            <a:spLocks noGrp="1"/>
          </p:cNvSpPr>
          <p:nvPr>
            <p:ph idx="1"/>
          </p:nvPr>
        </p:nvSpPr>
        <p:spPr>
          <a:xfrm>
            <a:off x="2425089" y="468923"/>
            <a:ext cx="8915400" cy="6576646"/>
          </a:xfrm>
        </p:spPr>
        <p:txBody>
          <a:bodyPr>
            <a:noAutofit/>
          </a:bodyPr>
          <a:lstStyle/>
          <a:p>
            <a:pPr marL="0" indent="0">
              <a:buNone/>
            </a:pPr>
            <a:r>
              <a:rPr lang="en-US" sz="2000" dirty="0"/>
              <a:t>   </a:t>
            </a:r>
            <a:r>
              <a:rPr lang="en-US" sz="2000" dirty="0" err="1"/>
              <a:t>JLabel</a:t>
            </a:r>
            <a:r>
              <a:rPr lang="en-US" sz="2000" dirty="0"/>
              <a:t> centered = new </a:t>
            </a:r>
            <a:r>
              <a:rPr lang="en-US" sz="2000" dirty="0" err="1"/>
              <a:t>JLabel</a:t>
            </a:r>
            <a:r>
              <a:rPr lang="en-US" sz="2000" dirty="0"/>
              <a:t>("Centered Text", </a:t>
            </a:r>
            <a:r>
              <a:rPr lang="en-US" sz="2000" dirty="0" err="1"/>
              <a:t>JLabel.CENTER</a:t>
            </a:r>
            <a:r>
              <a:rPr lang="en-US" sz="2000" dirty="0"/>
              <a:t>);</a:t>
            </a:r>
          </a:p>
          <a:p>
            <a:pPr marL="0" indent="0">
              <a:buNone/>
            </a:pPr>
            <a:r>
              <a:rPr lang="en-US" sz="2000" dirty="0"/>
              <a:t>    </a:t>
            </a:r>
            <a:r>
              <a:rPr lang="en-US" sz="2000" dirty="0" err="1"/>
              <a:t>centered.setPreferredSize</a:t>
            </a:r>
            <a:r>
              <a:rPr lang="en-US" sz="2000" dirty="0"/>
              <a:t>(new Dimension(150, 24));</a:t>
            </a:r>
          </a:p>
          <a:p>
            <a:pPr marL="0" indent="0">
              <a:buNone/>
            </a:pPr>
            <a:r>
              <a:rPr lang="en-US" sz="2000" dirty="0"/>
              <a:t>    </a:t>
            </a:r>
            <a:r>
              <a:rPr lang="en-US" sz="2000" dirty="0" err="1"/>
              <a:t>centered.setOpaque</a:t>
            </a:r>
            <a:r>
              <a:rPr lang="en-US" sz="2000" dirty="0"/>
              <a:t>(true);</a:t>
            </a:r>
          </a:p>
          <a:p>
            <a:pPr marL="0" indent="0">
              <a:buNone/>
            </a:pPr>
            <a:r>
              <a:rPr lang="en-US" sz="2000" dirty="0"/>
              <a:t>    </a:t>
            </a:r>
            <a:r>
              <a:rPr lang="en-US" sz="2000" dirty="0" err="1"/>
              <a:t>centered.setBackground</a:t>
            </a:r>
            <a:r>
              <a:rPr lang="en-US" sz="2000" dirty="0"/>
              <a:t>(</a:t>
            </a:r>
            <a:r>
              <a:rPr lang="en-US" sz="2000" dirty="0" err="1"/>
              <a:t>Color.WHITE</a:t>
            </a:r>
            <a:r>
              <a:rPr lang="en-US" sz="2000" dirty="0"/>
              <a:t>);</a:t>
            </a:r>
          </a:p>
          <a:p>
            <a:pPr marL="0" indent="0">
              <a:buNone/>
            </a:pPr>
            <a:endParaRPr lang="en-US" sz="2000" dirty="0"/>
          </a:p>
          <a:p>
            <a:pPr marL="0" indent="0">
              <a:buNone/>
            </a:pPr>
            <a:r>
              <a:rPr lang="en-US" sz="2000" dirty="0"/>
              <a:t>    </a:t>
            </a:r>
            <a:r>
              <a:rPr lang="en-US" sz="2000" dirty="0" err="1"/>
              <a:t>JLabel</a:t>
            </a:r>
            <a:r>
              <a:rPr lang="en-US" sz="2000" dirty="0"/>
              <a:t> times = new </a:t>
            </a:r>
            <a:r>
              <a:rPr lang="en-US" sz="2000" dirty="0" err="1"/>
              <a:t>JLabel</a:t>
            </a:r>
            <a:r>
              <a:rPr lang="en-US" sz="2000" dirty="0"/>
              <a:t>("Times Roman");</a:t>
            </a:r>
          </a:p>
          <a:p>
            <a:pPr marL="0" indent="0">
              <a:buNone/>
            </a:pPr>
            <a:r>
              <a:rPr lang="en-US" sz="2000" dirty="0"/>
              <a:t>    </a:t>
            </a:r>
            <a:r>
              <a:rPr lang="en-US" sz="2000" dirty="0" err="1"/>
              <a:t>times.setOpaque</a:t>
            </a:r>
            <a:r>
              <a:rPr lang="en-US" sz="2000" dirty="0"/>
              <a:t>(true);</a:t>
            </a:r>
          </a:p>
          <a:p>
            <a:pPr marL="0" indent="0">
              <a:buNone/>
            </a:pPr>
            <a:r>
              <a:rPr lang="en-US" sz="2000" dirty="0"/>
              <a:t>    </a:t>
            </a:r>
            <a:r>
              <a:rPr lang="en-US" sz="2000" dirty="0" err="1"/>
              <a:t>times.setBackground</a:t>
            </a:r>
            <a:r>
              <a:rPr lang="en-US" sz="2000" dirty="0"/>
              <a:t>(</a:t>
            </a:r>
            <a:r>
              <a:rPr lang="en-US" sz="2000" dirty="0" err="1"/>
              <a:t>Color.WHITE</a:t>
            </a:r>
            <a:r>
              <a:rPr lang="en-US" sz="2000" dirty="0"/>
              <a:t>);</a:t>
            </a:r>
          </a:p>
          <a:p>
            <a:pPr marL="0" indent="0">
              <a:buNone/>
            </a:pPr>
            <a:r>
              <a:rPr lang="en-US" sz="2000" dirty="0"/>
              <a:t>    </a:t>
            </a:r>
            <a:r>
              <a:rPr lang="en-US" sz="2000" dirty="0" err="1"/>
              <a:t>times.setFont</a:t>
            </a:r>
            <a:r>
              <a:rPr lang="en-US" sz="2000" dirty="0"/>
              <a:t>(new Font("</a:t>
            </a:r>
            <a:r>
              <a:rPr lang="en-US" sz="2000" dirty="0" err="1"/>
              <a:t>TimesRoman</a:t>
            </a:r>
            <a:r>
              <a:rPr lang="en-US" sz="2000" dirty="0"/>
              <a:t>", </a:t>
            </a:r>
            <a:r>
              <a:rPr lang="en-US" sz="2000" dirty="0" err="1"/>
              <a:t>Font.BOLD</a:t>
            </a:r>
            <a:r>
              <a:rPr lang="en-US" sz="2000" dirty="0"/>
              <a:t>, 18));</a:t>
            </a:r>
          </a:p>
          <a:p>
            <a:pPr marL="0" indent="0">
              <a:buNone/>
            </a:pPr>
            <a:endParaRPr lang="en-US" sz="2000" dirty="0"/>
          </a:p>
          <a:p>
            <a:pPr marL="0" indent="0">
              <a:buNone/>
            </a:pPr>
            <a:r>
              <a:rPr lang="en-US" sz="2000" dirty="0"/>
              <a:t>    </a:t>
            </a:r>
            <a:r>
              <a:rPr lang="en-US" sz="2000" dirty="0" err="1"/>
              <a:t>JLabel</a:t>
            </a:r>
            <a:r>
              <a:rPr lang="en-US" sz="2000" dirty="0"/>
              <a:t> styled = new </a:t>
            </a:r>
            <a:r>
              <a:rPr lang="en-US" sz="2000" dirty="0" err="1"/>
              <a:t>JLabel</a:t>
            </a:r>
            <a:r>
              <a:rPr lang="en-US" sz="2000" dirty="0"/>
              <a:t>("&lt;html&gt;Some &lt;b&gt;&lt;</a:t>
            </a:r>
            <a:r>
              <a:rPr lang="en-US" sz="2000" dirty="0" err="1"/>
              <a:t>i</a:t>
            </a:r>
            <a:r>
              <a:rPr lang="en-US" sz="2000" dirty="0"/>
              <a:t>&gt;styling&lt;/</a:t>
            </a:r>
            <a:r>
              <a:rPr lang="en-US" sz="2000" dirty="0" err="1"/>
              <a:t>i</a:t>
            </a:r>
            <a:r>
              <a:rPr lang="en-US" sz="2000" dirty="0"/>
              <a:t>&gt;&lt;/b&gt;" +</a:t>
            </a:r>
          </a:p>
          <a:p>
            <a:pPr marL="0" indent="0">
              <a:buNone/>
            </a:pPr>
            <a:r>
              <a:rPr lang="en-US" sz="2000" dirty="0"/>
              <a:t>  " is also allowed&lt;/html&gt;");</a:t>
            </a:r>
          </a:p>
          <a:p>
            <a:pPr marL="0" indent="0">
              <a:buNone/>
            </a:pPr>
            <a:r>
              <a:rPr lang="en-US" sz="2000" dirty="0"/>
              <a:t>    </a:t>
            </a:r>
            <a:r>
              <a:rPr lang="en-US" sz="2000" dirty="0" err="1"/>
              <a:t>styled.setOpaque</a:t>
            </a:r>
            <a:r>
              <a:rPr lang="en-US" sz="2000" dirty="0"/>
              <a:t>(true);</a:t>
            </a:r>
          </a:p>
          <a:p>
            <a:pPr marL="0" indent="0">
              <a:buNone/>
            </a:pPr>
            <a:r>
              <a:rPr lang="en-US" sz="2000" dirty="0"/>
              <a:t>    </a:t>
            </a:r>
            <a:r>
              <a:rPr lang="en-US" sz="2000" dirty="0" err="1"/>
              <a:t>styled.setBackground</a:t>
            </a:r>
            <a:r>
              <a:rPr lang="en-US" sz="2000" dirty="0"/>
              <a:t>(</a:t>
            </a:r>
            <a:r>
              <a:rPr lang="en-US" sz="2000" dirty="0" err="1"/>
              <a:t>Color.WHITE</a:t>
            </a:r>
            <a:r>
              <a:rPr lang="en-US" sz="2000" dirty="0"/>
              <a:t>);</a:t>
            </a:r>
          </a:p>
          <a:p>
            <a:pPr marL="0" indent="0">
              <a:buNone/>
            </a:pPr>
            <a:endParaRPr lang="en-US" sz="2000" dirty="0"/>
          </a:p>
        </p:txBody>
      </p:sp>
    </p:spTree>
    <p:extLst>
      <p:ext uri="{BB962C8B-B14F-4D97-AF65-F5344CB8AC3E}">
        <p14:creationId xmlns:p14="http://schemas.microsoft.com/office/powerpoint/2010/main" val="2455548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46F40C-BFA7-3DE3-70FA-E82F4E372966}"/>
              </a:ext>
            </a:extLst>
          </p:cNvPr>
          <p:cNvSpPr>
            <a:spLocks noGrp="1"/>
          </p:cNvSpPr>
          <p:nvPr>
            <p:ph idx="1"/>
          </p:nvPr>
        </p:nvSpPr>
        <p:spPr>
          <a:xfrm>
            <a:off x="2471980" y="433754"/>
            <a:ext cx="9140899" cy="3777622"/>
          </a:xfrm>
        </p:spPr>
        <p:txBody>
          <a:bodyPr>
            <a:noAutofit/>
          </a:bodyPr>
          <a:lstStyle/>
          <a:p>
            <a:pPr marL="0" indent="0">
              <a:buNone/>
            </a:pPr>
            <a:r>
              <a:rPr lang="en-US" sz="2000" dirty="0"/>
              <a:t>    </a:t>
            </a:r>
            <a:r>
              <a:rPr lang="en-US" sz="2000" dirty="0" err="1"/>
              <a:t>JLabel</a:t>
            </a:r>
            <a:r>
              <a:rPr lang="en-US" sz="2000" dirty="0"/>
              <a:t> icon = new </a:t>
            </a:r>
            <a:r>
              <a:rPr lang="en-US" sz="2000" dirty="0" err="1"/>
              <a:t>JLabel</a:t>
            </a:r>
            <a:r>
              <a:rPr lang="en-US" sz="2000" dirty="0"/>
              <a:t>("Verified", new </a:t>
            </a:r>
            <a:r>
              <a:rPr lang="en-US" sz="2000" dirty="0" err="1"/>
              <a:t>ImageIcon</a:t>
            </a:r>
            <a:r>
              <a:rPr lang="en-US" sz="2000" dirty="0"/>
              <a:t>("ch10/check.png"),</a:t>
            </a:r>
          </a:p>
          <a:p>
            <a:pPr marL="0" indent="0">
              <a:buNone/>
            </a:pPr>
            <a:r>
              <a:rPr lang="en-US" sz="2000" dirty="0"/>
              <a:t>  </a:t>
            </a:r>
            <a:r>
              <a:rPr lang="en-US" sz="2000" dirty="0" err="1"/>
              <a:t>JLabel.LEFT</a:t>
            </a:r>
            <a:r>
              <a:rPr lang="en-US" sz="2000" dirty="0"/>
              <a:t>);</a:t>
            </a:r>
          </a:p>
          <a:p>
            <a:pPr marL="0" indent="0">
              <a:buNone/>
            </a:pPr>
            <a:r>
              <a:rPr lang="en-US" sz="2000" dirty="0"/>
              <a:t>    </a:t>
            </a:r>
            <a:r>
              <a:rPr lang="en-US" sz="2000" dirty="0" err="1"/>
              <a:t>icon.setOpaque</a:t>
            </a:r>
            <a:r>
              <a:rPr lang="en-US" sz="2000" dirty="0"/>
              <a:t>(true);</a:t>
            </a:r>
          </a:p>
          <a:p>
            <a:pPr marL="0" indent="0">
              <a:buNone/>
            </a:pPr>
            <a:r>
              <a:rPr lang="en-US" sz="2000" dirty="0"/>
              <a:t>    </a:t>
            </a:r>
            <a:r>
              <a:rPr lang="en-US" sz="2000" dirty="0" err="1"/>
              <a:t>icon.setBackground</a:t>
            </a:r>
            <a:r>
              <a:rPr lang="en-US" sz="2000" dirty="0"/>
              <a:t>(</a:t>
            </a:r>
            <a:r>
              <a:rPr lang="en-US" sz="2000" dirty="0" err="1"/>
              <a:t>Color.WHITE</a:t>
            </a:r>
            <a:r>
              <a:rPr lang="en-US" sz="2000" dirty="0"/>
              <a:t>);</a:t>
            </a:r>
          </a:p>
          <a:p>
            <a:pPr marL="0" indent="0">
              <a:buNone/>
            </a:pPr>
            <a:r>
              <a:rPr lang="en-US" sz="2000" dirty="0"/>
              <a:t>…</a:t>
            </a:r>
          </a:p>
          <a:p>
            <a:pPr marL="0" indent="0">
              <a:buNone/>
            </a:pPr>
            <a:r>
              <a:rPr lang="en-US" sz="2000" dirty="0" err="1"/>
              <a:t>frame.add</a:t>
            </a:r>
            <a:r>
              <a:rPr lang="en-US" sz="2000" dirty="0"/>
              <a:t>(centered);</a:t>
            </a:r>
          </a:p>
          <a:p>
            <a:pPr marL="0" indent="0">
              <a:buNone/>
            </a:pPr>
            <a:r>
              <a:rPr lang="en-US" sz="2000" dirty="0"/>
              <a:t>    </a:t>
            </a:r>
            <a:r>
              <a:rPr lang="en-US" sz="2000" dirty="0" err="1"/>
              <a:t>frame.add</a:t>
            </a:r>
            <a:r>
              <a:rPr lang="en-US" sz="2000" dirty="0"/>
              <a:t>(times);</a:t>
            </a:r>
          </a:p>
          <a:p>
            <a:pPr marL="0" indent="0">
              <a:buNone/>
            </a:pPr>
            <a:r>
              <a:rPr lang="en-US" sz="2000" dirty="0"/>
              <a:t>    </a:t>
            </a:r>
            <a:r>
              <a:rPr lang="en-US" sz="2000" dirty="0" err="1"/>
              <a:t>frame.add</a:t>
            </a:r>
            <a:r>
              <a:rPr lang="en-US" sz="2000" dirty="0"/>
              <a:t>(styled);</a:t>
            </a:r>
          </a:p>
          <a:p>
            <a:pPr marL="0" indent="0">
              <a:buNone/>
            </a:pPr>
            <a:r>
              <a:rPr lang="en-US" sz="2000" dirty="0"/>
              <a:t>    </a:t>
            </a:r>
            <a:r>
              <a:rPr lang="en-US" sz="2000" dirty="0" err="1"/>
              <a:t>frame.add</a:t>
            </a:r>
            <a:r>
              <a:rPr lang="en-US" sz="2000" dirty="0"/>
              <a:t>(icon);</a:t>
            </a:r>
          </a:p>
          <a:p>
            <a:pPr marL="0" indent="0">
              <a:buNone/>
            </a:pPr>
            <a:r>
              <a:rPr lang="en-US" sz="2000" dirty="0"/>
              <a:t>********************************************</a:t>
            </a:r>
          </a:p>
          <a:p>
            <a:pPr marL="0" indent="0">
              <a:buNone/>
            </a:pPr>
            <a:r>
              <a:rPr lang="en-US" sz="2000" dirty="0"/>
              <a:t>Run your program and get something like this: </a:t>
            </a:r>
          </a:p>
        </p:txBody>
      </p:sp>
      <p:pic>
        <p:nvPicPr>
          <p:cNvPr id="5" name="Picture 4">
            <a:extLst>
              <a:ext uri="{FF2B5EF4-FFF2-40B4-BE49-F238E27FC236}">
                <a16:creationId xmlns:a16="http://schemas.microsoft.com/office/drawing/2014/main" id="{FF5CD6FC-3AB5-181A-CADB-9B0939EB9FE3}"/>
              </a:ext>
            </a:extLst>
          </p:cNvPr>
          <p:cNvPicPr>
            <a:picLocks noChangeAspect="1"/>
          </p:cNvPicPr>
          <p:nvPr/>
        </p:nvPicPr>
        <p:blipFill>
          <a:blip r:embed="rId2"/>
          <a:stretch>
            <a:fillRect/>
          </a:stretch>
        </p:blipFill>
        <p:spPr>
          <a:xfrm>
            <a:off x="8554914" y="4353647"/>
            <a:ext cx="2695951" cy="2181529"/>
          </a:xfrm>
          <a:prstGeom prst="rect">
            <a:avLst/>
          </a:prstGeom>
          <a:ln w="19050">
            <a:solidFill>
              <a:schemeClr val="tx1"/>
            </a:solidFill>
          </a:ln>
        </p:spPr>
      </p:pic>
    </p:spTree>
    <p:extLst>
      <p:ext uri="{BB962C8B-B14F-4D97-AF65-F5344CB8AC3E}">
        <p14:creationId xmlns:p14="http://schemas.microsoft.com/office/powerpoint/2010/main" val="1900749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0260-CF51-911B-19BD-3C1C4181333A}"/>
              </a:ext>
            </a:extLst>
          </p:cNvPr>
          <p:cNvSpPr>
            <a:spLocks noGrp="1"/>
          </p:cNvSpPr>
          <p:nvPr>
            <p:ph type="title"/>
          </p:nvPr>
        </p:nvSpPr>
        <p:spPr/>
        <p:txBody>
          <a:bodyPr/>
          <a:lstStyle/>
          <a:p>
            <a:pPr algn="ctr"/>
            <a:r>
              <a:rPr lang="en-US" b="1" dirty="0"/>
              <a:t>Buttons</a:t>
            </a:r>
          </a:p>
        </p:txBody>
      </p:sp>
      <p:sp>
        <p:nvSpPr>
          <p:cNvPr id="3" name="Text Placeholder 2">
            <a:extLst>
              <a:ext uri="{FF2B5EF4-FFF2-40B4-BE49-F238E27FC236}">
                <a16:creationId xmlns:a16="http://schemas.microsoft.com/office/drawing/2014/main" id="{E14B9A0A-9B38-9F6F-45CC-5E0838C5755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85045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2196-B17E-933F-4A2A-41787069C28B}"/>
              </a:ext>
            </a:extLst>
          </p:cNvPr>
          <p:cNvSpPr>
            <a:spLocks noGrp="1"/>
          </p:cNvSpPr>
          <p:nvPr>
            <p:ph type="title"/>
          </p:nvPr>
        </p:nvSpPr>
        <p:spPr/>
        <p:txBody>
          <a:bodyPr/>
          <a:lstStyle/>
          <a:p>
            <a:pPr algn="ctr"/>
            <a:r>
              <a:rPr lang="en-US" b="1" dirty="0"/>
              <a:t>Buttons</a:t>
            </a:r>
          </a:p>
        </p:txBody>
      </p:sp>
      <p:sp>
        <p:nvSpPr>
          <p:cNvPr id="3" name="Content Placeholder 2">
            <a:extLst>
              <a:ext uri="{FF2B5EF4-FFF2-40B4-BE49-F238E27FC236}">
                <a16:creationId xmlns:a16="http://schemas.microsoft.com/office/drawing/2014/main" id="{A01E3A9E-B5A5-117E-55D2-0CD11E85F3CE}"/>
              </a:ext>
            </a:extLst>
          </p:cNvPr>
          <p:cNvSpPr>
            <a:spLocks noGrp="1"/>
          </p:cNvSpPr>
          <p:nvPr>
            <p:ph idx="1"/>
          </p:nvPr>
        </p:nvSpPr>
        <p:spPr>
          <a:xfrm>
            <a:off x="2592925" y="1266092"/>
            <a:ext cx="8915400" cy="5310554"/>
          </a:xfrm>
        </p:spPr>
        <p:txBody>
          <a:bodyPr>
            <a:noAutofit/>
          </a:bodyPr>
          <a:lstStyle/>
          <a:p>
            <a:pPr marL="0" indent="0">
              <a:buNone/>
            </a:pPr>
            <a:r>
              <a:rPr lang="en-US" sz="2400" dirty="0"/>
              <a:t>The other near-universal component you’ll need for graphical applications is the button. </a:t>
            </a:r>
          </a:p>
          <a:p>
            <a:pPr marL="0" indent="0">
              <a:buNone/>
            </a:pPr>
            <a:r>
              <a:rPr lang="en-US" sz="2400" dirty="0"/>
              <a:t>The </a:t>
            </a:r>
            <a:r>
              <a:rPr lang="en-US" sz="2400" dirty="0" err="1"/>
              <a:t>JButton</a:t>
            </a:r>
            <a:r>
              <a:rPr lang="en-US" sz="2400" dirty="0"/>
              <a:t> class is your go-to button in Swing. </a:t>
            </a:r>
          </a:p>
          <a:p>
            <a:pPr marL="0" indent="0">
              <a:buNone/>
            </a:pPr>
            <a:r>
              <a:rPr lang="en-US" sz="2400" dirty="0"/>
              <a:t>You’ll also find other popular button types such as </a:t>
            </a:r>
            <a:r>
              <a:rPr lang="en-US" sz="2400" dirty="0" err="1"/>
              <a:t>JCheckbox</a:t>
            </a:r>
            <a:r>
              <a:rPr lang="en-US" sz="2400" dirty="0"/>
              <a:t> and </a:t>
            </a:r>
            <a:r>
              <a:rPr lang="en-US" sz="2400" dirty="0" err="1"/>
              <a:t>JToggleButton</a:t>
            </a:r>
            <a:r>
              <a:rPr lang="en-US" sz="2400" dirty="0"/>
              <a:t> in the documentation. </a:t>
            </a:r>
          </a:p>
          <a:p>
            <a:pPr marL="0" indent="0">
              <a:buNone/>
            </a:pPr>
            <a:r>
              <a:rPr lang="en-US" sz="2400" dirty="0"/>
              <a:t>Creating a button is very similar to creating a label:</a:t>
            </a:r>
          </a:p>
          <a:p>
            <a:pPr marL="857250" lvl="1" indent="-457200">
              <a:buFont typeface="+mj-lt"/>
              <a:buAutoNum type="arabicPeriod"/>
            </a:pPr>
            <a:r>
              <a:rPr lang="en-US" sz="2400" dirty="0"/>
              <a:t>First, create the Button object</a:t>
            </a:r>
          </a:p>
          <a:p>
            <a:pPr marL="857250" lvl="1" indent="-457200">
              <a:buFont typeface="+mj-lt"/>
              <a:buAutoNum type="arabicPeriod"/>
            </a:pPr>
            <a:r>
              <a:rPr lang="en-US" sz="2400" dirty="0"/>
              <a:t>Set its attributes</a:t>
            </a:r>
          </a:p>
          <a:p>
            <a:pPr marL="857250" lvl="1" indent="-457200">
              <a:buFont typeface="+mj-lt"/>
              <a:buAutoNum type="arabicPeriod"/>
            </a:pPr>
            <a:r>
              <a:rPr lang="en-US" sz="2400" dirty="0"/>
              <a:t>Add it to the Window.</a:t>
            </a:r>
          </a:p>
          <a:p>
            <a:pPr marL="0" indent="0">
              <a:buNone/>
            </a:pPr>
            <a:r>
              <a:rPr lang="en-US" sz="2400" dirty="0"/>
              <a:t>You can control the colors, alignment, font, and so on for buttons in much the same way as you do for labels.</a:t>
            </a:r>
          </a:p>
        </p:txBody>
      </p:sp>
    </p:spTree>
    <p:extLst>
      <p:ext uri="{BB962C8B-B14F-4D97-AF65-F5344CB8AC3E}">
        <p14:creationId xmlns:p14="http://schemas.microsoft.com/office/powerpoint/2010/main" val="3076278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A9ED-191C-BE6E-E859-62A7112922CB}"/>
              </a:ext>
            </a:extLst>
          </p:cNvPr>
          <p:cNvSpPr>
            <a:spLocks noGrp="1"/>
          </p:cNvSpPr>
          <p:nvPr>
            <p:ph type="title"/>
          </p:nvPr>
        </p:nvSpPr>
        <p:spPr/>
        <p:txBody>
          <a:bodyPr/>
          <a:lstStyle/>
          <a:p>
            <a:pPr algn="ctr"/>
            <a:r>
              <a:rPr lang="en-US" b="1" dirty="0"/>
              <a:t>Buttons React to Being Pressed</a:t>
            </a:r>
          </a:p>
        </p:txBody>
      </p:sp>
      <p:sp>
        <p:nvSpPr>
          <p:cNvPr id="3" name="Content Placeholder 2">
            <a:extLst>
              <a:ext uri="{FF2B5EF4-FFF2-40B4-BE49-F238E27FC236}">
                <a16:creationId xmlns:a16="http://schemas.microsoft.com/office/drawing/2014/main" id="{C742E9AE-92FB-5889-724D-0E75B2AF7E21}"/>
              </a:ext>
            </a:extLst>
          </p:cNvPr>
          <p:cNvSpPr>
            <a:spLocks noGrp="1"/>
          </p:cNvSpPr>
          <p:nvPr>
            <p:ph idx="1"/>
          </p:nvPr>
        </p:nvSpPr>
        <p:spPr>
          <a:xfrm>
            <a:off x="2592925" y="1540189"/>
            <a:ext cx="8915400" cy="3777622"/>
          </a:xfrm>
        </p:spPr>
        <p:txBody>
          <a:bodyPr>
            <a:noAutofit/>
          </a:bodyPr>
          <a:lstStyle/>
          <a:p>
            <a:pPr marL="0" indent="0">
              <a:buNone/>
            </a:pPr>
            <a:r>
              <a:rPr lang="en-US" sz="2400" dirty="0"/>
              <a:t>The difference, of course, is that you can click on a button and react to that click in your program, whereas labels are static for the most part. </a:t>
            </a:r>
          </a:p>
          <a:p>
            <a:pPr marL="0" indent="0">
              <a:buNone/>
            </a:pPr>
            <a:r>
              <a:rPr lang="en-US" sz="2400" dirty="0"/>
              <a:t>Try running this example and clicking on the button. </a:t>
            </a:r>
          </a:p>
          <a:p>
            <a:pPr marL="0" indent="0">
              <a:buNone/>
            </a:pPr>
            <a:r>
              <a:rPr lang="en-US" sz="2400" dirty="0"/>
              <a:t>It should change color and feel “pressed” even though it does not perform any other function in our program yet. </a:t>
            </a:r>
          </a:p>
          <a:p>
            <a:pPr marL="0" indent="0">
              <a:buNone/>
            </a:pPr>
            <a:r>
              <a:rPr lang="en-US" sz="2400" dirty="0"/>
              <a:t>Hopefully you’ve used enough applications or websites to be familiar with buttons and their behavior. </a:t>
            </a:r>
          </a:p>
          <a:p>
            <a:pPr marL="0" indent="0">
              <a:buNone/>
            </a:pPr>
            <a:r>
              <a:rPr lang="en-US" sz="2400" dirty="0"/>
              <a:t>We want to go through a few more components before tackling that notion of “reacting” to a button click (an “event” in Swing-speak)!</a:t>
            </a:r>
          </a:p>
        </p:txBody>
      </p:sp>
    </p:spTree>
    <p:extLst>
      <p:ext uri="{BB962C8B-B14F-4D97-AF65-F5344CB8AC3E}">
        <p14:creationId xmlns:p14="http://schemas.microsoft.com/office/powerpoint/2010/main" val="2136135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ED5E-296B-4105-7D61-730D405455BE}"/>
              </a:ext>
            </a:extLst>
          </p:cNvPr>
          <p:cNvSpPr>
            <a:spLocks noGrp="1"/>
          </p:cNvSpPr>
          <p:nvPr>
            <p:ph type="title"/>
          </p:nvPr>
        </p:nvSpPr>
        <p:spPr/>
        <p:txBody>
          <a:bodyPr/>
          <a:lstStyle/>
          <a:p>
            <a:pPr algn="ctr"/>
            <a:r>
              <a:rPr lang="en-US" b="1" dirty="0" err="1"/>
              <a:t>JPanel</a:t>
            </a:r>
            <a:endParaRPr lang="en-US" b="1" dirty="0"/>
          </a:p>
        </p:txBody>
      </p:sp>
      <p:sp>
        <p:nvSpPr>
          <p:cNvPr id="3" name="Content Placeholder 2">
            <a:extLst>
              <a:ext uri="{FF2B5EF4-FFF2-40B4-BE49-F238E27FC236}">
                <a16:creationId xmlns:a16="http://schemas.microsoft.com/office/drawing/2014/main" id="{5B3252B5-6594-9ED3-E00F-75D1A2253570}"/>
              </a:ext>
            </a:extLst>
          </p:cNvPr>
          <p:cNvSpPr>
            <a:spLocks noGrp="1"/>
          </p:cNvSpPr>
          <p:nvPr>
            <p:ph idx="1"/>
          </p:nvPr>
        </p:nvSpPr>
        <p:spPr>
          <a:xfrm>
            <a:off x="2858842" y="1406769"/>
            <a:ext cx="8915400" cy="3777622"/>
          </a:xfrm>
        </p:spPr>
        <p:txBody>
          <a:bodyPr>
            <a:noAutofit/>
          </a:bodyPr>
          <a:lstStyle/>
          <a:p>
            <a:pPr marL="0" indent="0">
              <a:buNone/>
            </a:pPr>
            <a:r>
              <a:rPr lang="en-US" sz="2400" dirty="0"/>
              <a:t>The </a:t>
            </a:r>
            <a:r>
              <a:rPr lang="en-US" sz="2400" dirty="0" err="1"/>
              <a:t>JPanel</a:t>
            </a:r>
            <a:r>
              <a:rPr lang="en-US" sz="2400" dirty="0"/>
              <a:t> class is the go-to container in Swing. It is a component just like </a:t>
            </a:r>
            <a:r>
              <a:rPr lang="en-US" sz="2400" dirty="0" err="1"/>
              <a:t>JButton</a:t>
            </a:r>
            <a:r>
              <a:rPr lang="en-US" sz="2400" dirty="0"/>
              <a:t> or </a:t>
            </a:r>
            <a:r>
              <a:rPr lang="en-US" sz="2400" dirty="0" err="1"/>
              <a:t>JLabel</a:t>
            </a:r>
            <a:r>
              <a:rPr lang="en-US" sz="2400" dirty="0"/>
              <a:t>, so your panels can contain other panels. </a:t>
            </a:r>
          </a:p>
          <a:p>
            <a:pPr marL="0" indent="0">
              <a:buNone/>
            </a:pPr>
            <a:r>
              <a:rPr lang="en-US" sz="2400" dirty="0"/>
              <a:t>Such nesting often plays a big role in the layout of an application. </a:t>
            </a:r>
          </a:p>
          <a:p>
            <a:pPr marL="0" indent="0">
              <a:buNone/>
            </a:pPr>
            <a:r>
              <a:rPr lang="en-US" sz="2400" dirty="0"/>
              <a:t>For example, you could create a </a:t>
            </a:r>
            <a:r>
              <a:rPr lang="en-US" sz="2400" dirty="0" err="1"/>
              <a:t>JPanel</a:t>
            </a:r>
            <a:r>
              <a:rPr lang="en-US" sz="2400" dirty="0"/>
              <a:t> to house the formatting buttons of a text editor in a “toolbar” so that it is easy to move that toolbar around according to user preferences.</a:t>
            </a:r>
          </a:p>
          <a:p>
            <a:pPr marL="0" indent="0">
              <a:buNone/>
            </a:pPr>
            <a:r>
              <a:rPr lang="en-US" sz="2400" dirty="0" err="1"/>
              <a:t>JPanel</a:t>
            </a:r>
            <a:r>
              <a:rPr lang="en-US" sz="2400" dirty="0"/>
              <a:t> gives you the ability to add and remove components from the screen. (More accurately, those add/remove methods are inherited from the Container class, but we access them through our </a:t>
            </a:r>
            <a:r>
              <a:rPr lang="en-US" sz="2400" dirty="0" err="1"/>
              <a:t>JPanel</a:t>
            </a:r>
            <a:r>
              <a:rPr lang="en-US" sz="2400" dirty="0"/>
              <a:t> objects.) </a:t>
            </a:r>
          </a:p>
        </p:txBody>
      </p:sp>
    </p:spTree>
    <p:extLst>
      <p:ext uri="{BB962C8B-B14F-4D97-AF65-F5344CB8AC3E}">
        <p14:creationId xmlns:p14="http://schemas.microsoft.com/office/powerpoint/2010/main" val="143616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2D083-609E-F096-2A55-A7B0F347CE0F}"/>
              </a:ext>
            </a:extLst>
          </p:cNvPr>
          <p:cNvSpPr>
            <a:spLocks noGrp="1"/>
          </p:cNvSpPr>
          <p:nvPr>
            <p:ph type="title"/>
          </p:nvPr>
        </p:nvSpPr>
        <p:spPr/>
        <p:txBody>
          <a:bodyPr/>
          <a:lstStyle/>
          <a:p>
            <a:pPr algn="ctr"/>
            <a:r>
              <a:rPr lang="en-US" b="1" dirty="0"/>
              <a:t>Text Components</a:t>
            </a:r>
          </a:p>
        </p:txBody>
      </p:sp>
      <p:sp>
        <p:nvSpPr>
          <p:cNvPr id="3" name="Content Placeholder 2">
            <a:extLst>
              <a:ext uri="{FF2B5EF4-FFF2-40B4-BE49-F238E27FC236}">
                <a16:creationId xmlns:a16="http://schemas.microsoft.com/office/drawing/2014/main" id="{841133D7-20E9-B5FA-923F-FD02DE5C0385}"/>
              </a:ext>
            </a:extLst>
          </p:cNvPr>
          <p:cNvSpPr>
            <a:spLocks noGrp="1"/>
          </p:cNvSpPr>
          <p:nvPr>
            <p:ph idx="1"/>
          </p:nvPr>
        </p:nvSpPr>
        <p:spPr/>
        <p:txBody>
          <a:bodyPr>
            <a:noAutofit/>
          </a:bodyPr>
          <a:lstStyle/>
          <a:p>
            <a:pPr marL="0" indent="0">
              <a:buNone/>
            </a:pPr>
            <a:r>
              <a:rPr lang="en-US" sz="2400" dirty="0"/>
              <a:t>Right behind buttons and labels in popularity would be text fields. </a:t>
            </a:r>
          </a:p>
          <a:p>
            <a:pPr marL="0" indent="0">
              <a:buNone/>
            </a:pPr>
            <a:r>
              <a:rPr lang="en-US" sz="2400" dirty="0"/>
              <a:t>These input elements that allow for </a:t>
            </a:r>
            <a:r>
              <a:rPr lang="en-US" sz="2400" b="1" dirty="0"/>
              <a:t>free-form entry </a:t>
            </a:r>
            <a:r>
              <a:rPr lang="en-US" sz="2400" dirty="0"/>
              <a:t>of information are nearly ubiquitous in any forms. </a:t>
            </a:r>
          </a:p>
          <a:p>
            <a:pPr marL="0" indent="0">
              <a:buNone/>
            </a:pPr>
            <a:r>
              <a:rPr lang="en-US" sz="2400" dirty="0"/>
              <a:t>You can grab names, email addresses, phone numbers, and credit card numbers. </a:t>
            </a:r>
          </a:p>
          <a:p>
            <a:pPr marL="0" indent="0">
              <a:buNone/>
            </a:pPr>
            <a:r>
              <a:rPr lang="en-US" sz="2400" dirty="0"/>
              <a:t>You can do all that in languages that compose their characters, or others that read from right to left. </a:t>
            </a:r>
          </a:p>
        </p:txBody>
      </p:sp>
    </p:spTree>
    <p:extLst>
      <p:ext uri="{BB962C8B-B14F-4D97-AF65-F5344CB8AC3E}">
        <p14:creationId xmlns:p14="http://schemas.microsoft.com/office/powerpoint/2010/main" val="2218102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95B47-BF0A-5D1B-8B32-5BEA2A5D0E9C}"/>
              </a:ext>
            </a:extLst>
          </p:cNvPr>
          <p:cNvSpPr>
            <a:spLocks noGrp="1"/>
          </p:cNvSpPr>
          <p:nvPr>
            <p:ph type="title"/>
          </p:nvPr>
        </p:nvSpPr>
        <p:spPr>
          <a:xfrm>
            <a:off x="2592925" y="448264"/>
            <a:ext cx="8911687" cy="1280890"/>
          </a:xfrm>
        </p:spPr>
        <p:txBody>
          <a:bodyPr/>
          <a:lstStyle/>
          <a:p>
            <a:pPr algn="ctr"/>
            <a:r>
              <a:rPr lang="en-US" b="1" i="0" dirty="0">
                <a:solidFill>
                  <a:srgbClr val="3D3B49"/>
                </a:solidFill>
                <a:effectLst/>
                <a:latin typeface="+mn-lt"/>
              </a:rPr>
              <a:t>Text Components</a:t>
            </a:r>
            <a:br>
              <a:rPr lang="en-US" b="1" i="0" dirty="0">
                <a:solidFill>
                  <a:srgbClr val="3D3B49"/>
                </a:solidFill>
                <a:effectLst/>
                <a:latin typeface="Noto Serif" panose="02020600060500020200" pitchFamily="18" charset="0"/>
              </a:rPr>
            </a:br>
            <a:endParaRPr lang="en-US" dirty="0"/>
          </a:p>
        </p:txBody>
      </p:sp>
      <p:sp>
        <p:nvSpPr>
          <p:cNvPr id="3" name="Content Placeholder 2">
            <a:extLst>
              <a:ext uri="{FF2B5EF4-FFF2-40B4-BE49-F238E27FC236}">
                <a16:creationId xmlns:a16="http://schemas.microsoft.com/office/drawing/2014/main" id="{16E24586-3DC8-0D4B-79C8-B2CEB14329F8}"/>
              </a:ext>
            </a:extLst>
          </p:cNvPr>
          <p:cNvSpPr>
            <a:spLocks noGrp="1"/>
          </p:cNvSpPr>
          <p:nvPr>
            <p:ph idx="1"/>
          </p:nvPr>
        </p:nvSpPr>
        <p:spPr>
          <a:xfrm>
            <a:off x="2592925" y="1270558"/>
            <a:ext cx="8915400" cy="4316884"/>
          </a:xfrm>
        </p:spPr>
        <p:txBody>
          <a:bodyPr>
            <a:noAutofit/>
          </a:bodyPr>
          <a:lstStyle/>
          <a:p>
            <a:pPr marL="0" indent="0">
              <a:buNone/>
            </a:pPr>
            <a:r>
              <a:rPr lang="en-US" sz="2400" dirty="0"/>
              <a:t> Swing has three big text components that all extend a common parent, </a:t>
            </a:r>
            <a:r>
              <a:rPr lang="en-US" sz="2400" dirty="0" err="1"/>
              <a:t>JTextComponent</a:t>
            </a:r>
            <a:r>
              <a:rPr lang="en-US" sz="2400" dirty="0"/>
              <a:t>. </a:t>
            </a:r>
          </a:p>
          <a:p>
            <a:pPr marL="457200" lvl="1" indent="0">
              <a:buNone/>
            </a:pPr>
            <a:r>
              <a:rPr lang="en-US" sz="2400" dirty="0" err="1"/>
              <a:t>JTextField</a:t>
            </a:r>
            <a:r>
              <a:rPr lang="en-US" sz="2400" dirty="0"/>
              <a:t> </a:t>
            </a:r>
          </a:p>
          <a:p>
            <a:pPr marL="457200" lvl="1" indent="0">
              <a:buNone/>
            </a:pPr>
            <a:r>
              <a:rPr lang="en-US" sz="2400" dirty="0" err="1"/>
              <a:t>JTextArea</a:t>
            </a:r>
            <a:r>
              <a:rPr lang="en-US" sz="2400" dirty="0"/>
              <a:t> </a:t>
            </a:r>
          </a:p>
          <a:p>
            <a:pPr marL="457200" lvl="1" indent="0">
              <a:buNone/>
            </a:pPr>
            <a:r>
              <a:rPr lang="en-US" sz="2400" dirty="0" err="1"/>
              <a:t>JTextPane</a:t>
            </a:r>
            <a:r>
              <a:rPr lang="en-US" sz="2400" dirty="0"/>
              <a:t> </a:t>
            </a:r>
          </a:p>
          <a:p>
            <a:pPr marL="0" indent="0">
              <a:buNone/>
            </a:pPr>
            <a:r>
              <a:rPr lang="en-US" sz="2400" dirty="0" err="1"/>
              <a:t>JTextField</a:t>
            </a:r>
            <a:r>
              <a:rPr lang="en-US" sz="2400" dirty="0"/>
              <a:t> is a classic text field meant for brief, single-word or </a:t>
            </a:r>
            <a:r>
              <a:rPr lang="en-US" sz="2400" b="1" dirty="0"/>
              <a:t>single-line input</a:t>
            </a:r>
            <a:r>
              <a:rPr lang="en-US" sz="2400" dirty="0"/>
              <a:t>. </a:t>
            </a:r>
          </a:p>
          <a:p>
            <a:pPr marL="0" indent="0">
              <a:buNone/>
            </a:pPr>
            <a:r>
              <a:rPr lang="en-US" sz="2400" dirty="0" err="1"/>
              <a:t>JTextArea</a:t>
            </a:r>
            <a:r>
              <a:rPr lang="en-US" sz="2400" dirty="0"/>
              <a:t> allows for much more input spread across </a:t>
            </a:r>
            <a:r>
              <a:rPr lang="en-US" sz="2400" b="1" dirty="0"/>
              <a:t>multiple lines</a:t>
            </a:r>
            <a:r>
              <a:rPr lang="en-US" sz="2400" dirty="0"/>
              <a:t>. </a:t>
            </a:r>
          </a:p>
          <a:p>
            <a:pPr marL="0" indent="0">
              <a:buNone/>
            </a:pPr>
            <a:r>
              <a:rPr lang="en-US" sz="2400" dirty="0" err="1"/>
              <a:t>JTextPane</a:t>
            </a:r>
            <a:r>
              <a:rPr lang="en-US" sz="2400" dirty="0"/>
              <a:t> is a specialized component meant for editing </a:t>
            </a:r>
            <a:r>
              <a:rPr lang="en-US" sz="2400" b="1" dirty="0"/>
              <a:t>rich text</a:t>
            </a:r>
            <a:r>
              <a:rPr lang="en-US" sz="2400" dirty="0"/>
              <a:t>. </a:t>
            </a:r>
          </a:p>
        </p:txBody>
      </p:sp>
    </p:spTree>
    <p:extLst>
      <p:ext uri="{BB962C8B-B14F-4D97-AF65-F5344CB8AC3E}">
        <p14:creationId xmlns:p14="http://schemas.microsoft.com/office/powerpoint/2010/main" val="27528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AE7AB-D6CE-95A2-3D1A-76F3F9A01937}"/>
              </a:ext>
            </a:extLst>
          </p:cNvPr>
          <p:cNvSpPr>
            <a:spLocks noGrp="1"/>
          </p:cNvSpPr>
          <p:nvPr>
            <p:ph type="title"/>
          </p:nvPr>
        </p:nvSpPr>
        <p:spPr/>
        <p:txBody>
          <a:bodyPr/>
          <a:lstStyle/>
          <a:p>
            <a:pPr algn="ctr"/>
            <a:r>
              <a:rPr lang="en-US" b="1" dirty="0" err="1"/>
              <a:t>JTextFields</a:t>
            </a:r>
            <a:endParaRPr lang="en-US" b="1" dirty="0"/>
          </a:p>
        </p:txBody>
      </p:sp>
      <p:sp>
        <p:nvSpPr>
          <p:cNvPr id="3" name="Content Placeholder 2">
            <a:extLst>
              <a:ext uri="{FF2B5EF4-FFF2-40B4-BE49-F238E27FC236}">
                <a16:creationId xmlns:a16="http://schemas.microsoft.com/office/drawing/2014/main" id="{E64E630C-63B0-74B7-6DE3-C6A82C15F9B6}"/>
              </a:ext>
            </a:extLst>
          </p:cNvPr>
          <p:cNvSpPr>
            <a:spLocks noGrp="1"/>
          </p:cNvSpPr>
          <p:nvPr>
            <p:ph idx="1"/>
          </p:nvPr>
        </p:nvSpPr>
        <p:spPr>
          <a:xfrm>
            <a:off x="2483705" y="2051539"/>
            <a:ext cx="8915400" cy="3777622"/>
          </a:xfrm>
        </p:spPr>
        <p:txBody>
          <a:bodyPr>
            <a:normAutofit/>
          </a:bodyPr>
          <a:lstStyle/>
          <a:p>
            <a:pPr marL="0" indent="0">
              <a:buNone/>
            </a:pPr>
            <a:r>
              <a:rPr lang="en-US" sz="2400" dirty="0"/>
              <a:t>Let’s get an example of each up in our simple, flowing application. </a:t>
            </a:r>
          </a:p>
          <a:p>
            <a:pPr marL="0" indent="0">
              <a:buNone/>
            </a:pPr>
            <a:r>
              <a:rPr lang="en-US" sz="2400" dirty="0"/>
              <a:t>We’ll pare things back to a pair of labels and corresponding text fields, by far the more common of the two input components.</a:t>
            </a:r>
          </a:p>
          <a:p>
            <a:pPr marL="0" indent="0">
              <a:buNone/>
            </a:pPr>
            <a:r>
              <a:rPr lang="en-US" sz="2400" dirty="0"/>
              <a:t>The code is on the next two slides:</a:t>
            </a:r>
          </a:p>
        </p:txBody>
      </p:sp>
    </p:spTree>
    <p:extLst>
      <p:ext uri="{BB962C8B-B14F-4D97-AF65-F5344CB8AC3E}">
        <p14:creationId xmlns:p14="http://schemas.microsoft.com/office/powerpoint/2010/main" val="3329595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D113-F644-BF06-8952-4F28012469B7}"/>
              </a:ext>
            </a:extLst>
          </p:cNvPr>
          <p:cNvSpPr>
            <a:spLocks noGrp="1"/>
          </p:cNvSpPr>
          <p:nvPr>
            <p:ph type="title"/>
          </p:nvPr>
        </p:nvSpPr>
        <p:spPr>
          <a:xfrm>
            <a:off x="6687127" y="157018"/>
            <a:ext cx="5504873" cy="1747982"/>
          </a:xfrm>
        </p:spPr>
        <p:txBody>
          <a:bodyPr/>
          <a:lstStyle/>
          <a:p>
            <a:pPr algn="ctr"/>
            <a:r>
              <a:rPr lang="en-US" dirty="0"/>
              <a:t>Create a new  Program, </a:t>
            </a:r>
            <a:r>
              <a:rPr lang="en-US" dirty="0" err="1"/>
              <a:t>TextInputs</a:t>
            </a:r>
            <a:endParaRPr lang="en-US" dirty="0"/>
          </a:p>
        </p:txBody>
      </p:sp>
      <p:sp>
        <p:nvSpPr>
          <p:cNvPr id="3" name="Content Placeholder 2">
            <a:extLst>
              <a:ext uri="{FF2B5EF4-FFF2-40B4-BE49-F238E27FC236}">
                <a16:creationId xmlns:a16="http://schemas.microsoft.com/office/drawing/2014/main" id="{34EC0F57-CFD8-6262-CEEC-741E095DD501}"/>
              </a:ext>
            </a:extLst>
          </p:cNvPr>
          <p:cNvSpPr>
            <a:spLocks noGrp="1"/>
          </p:cNvSpPr>
          <p:nvPr>
            <p:ph idx="1"/>
          </p:nvPr>
        </p:nvSpPr>
        <p:spPr>
          <a:xfrm>
            <a:off x="1768595" y="76200"/>
            <a:ext cx="6718913" cy="6705600"/>
          </a:xfrm>
        </p:spPr>
        <p:txBody>
          <a:bodyPr>
            <a:normAutofit/>
          </a:bodyPr>
          <a:lstStyle/>
          <a:p>
            <a:pPr marL="0" indent="0">
              <a:buNone/>
            </a:pPr>
            <a:r>
              <a:rPr lang="en-US" dirty="0"/>
              <a:t>import </a:t>
            </a:r>
            <a:r>
              <a:rPr lang="en-US" dirty="0" err="1"/>
              <a:t>javax.swing</a:t>
            </a:r>
            <a:r>
              <a:rPr lang="en-US" dirty="0"/>
              <a:t>.*;</a:t>
            </a:r>
          </a:p>
          <a:p>
            <a:pPr marL="0" indent="0">
              <a:buNone/>
            </a:pPr>
            <a:r>
              <a:rPr lang="en-US" dirty="0"/>
              <a:t>import </a:t>
            </a:r>
            <a:r>
              <a:rPr lang="en-US" dirty="0" err="1"/>
              <a:t>java.awt</a:t>
            </a:r>
            <a:r>
              <a:rPr lang="en-US" dirty="0"/>
              <a:t>.*;</a:t>
            </a:r>
          </a:p>
          <a:p>
            <a:pPr marL="0" indent="0">
              <a:buNone/>
            </a:pPr>
            <a:endParaRPr lang="en-US" dirty="0"/>
          </a:p>
          <a:p>
            <a:pPr marL="0" indent="0">
              <a:buNone/>
            </a:pPr>
            <a:r>
              <a:rPr lang="en-US" dirty="0"/>
              <a:t>public class </a:t>
            </a:r>
            <a:r>
              <a:rPr lang="en-US" dirty="0" err="1"/>
              <a:t>TextInputs</a:t>
            </a:r>
            <a:r>
              <a:rPr lang="en-US" dirty="0"/>
              <a:t> {</a:t>
            </a:r>
          </a:p>
          <a:p>
            <a:pPr marL="0" indent="0">
              <a:buNone/>
            </a:pPr>
            <a:r>
              <a:rPr lang="en-US" dirty="0"/>
              <a:t>    public static void main( String[] </a:t>
            </a:r>
            <a:r>
              <a:rPr lang="en-US" dirty="0" err="1"/>
              <a:t>args</a:t>
            </a:r>
            <a:r>
              <a:rPr lang="en-US" dirty="0"/>
              <a:t> ) {</a:t>
            </a:r>
          </a:p>
          <a:p>
            <a:pPr marL="0" indent="0">
              <a:buNone/>
            </a:pPr>
            <a:r>
              <a:rPr lang="en-US" dirty="0"/>
              <a:t>        </a:t>
            </a:r>
            <a:r>
              <a:rPr lang="en-US" dirty="0" err="1"/>
              <a:t>JFrame</a:t>
            </a:r>
            <a:r>
              <a:rPr lang="en-US" dirty="0"/>
              <a:t> frame = new </a:t>
            </a:r>
            <a:r>
              <a:rPr lang="en-US" dirty="0" err="1"/>
              <a:t>JFrame</a:t>
            </a:r>
            <a:r>
              <a:rPr lang="en-US" dirty="0"/>
              <a:t>( "</a:t>
            </a:r>
            <a:r>
              <a:rPr lang="en-US" dirty="0" err="1"/>
              <a:t>JTextField</a:t>
            </a:r>
            <a:r>
              <a:rPr lang="en-US" dirty="0"/>
              <a:t> Examples" );</a:t>
            </a:r>
          </a:p>
          <a:p>
            <a:pPr marL="0" indent="0">
              <a:buNone/>
            </a:pPr>
            <a:r>
              <a:rPr lang="en-US" dirty="0"/>
              <a:t>        </a:t>
            </a:r>
            <a:r>
              <a:rPr lang="en-US" dirty="0" err="1"/>
              <a:t>frame.setLayout</a:t>
            </a:r>
            <a:r>
              <a:rPr lang="en-US" dirty="0"/>
              <a:t>(new </a:t>
            </a:r>
            <a:r>
              <a:rPr lang="en-US" dirty="0" err="1"/>
              <a:t>FlowLayout</a:t>
            </a:r>
            <a:r>
              <a:rPr lang="en-US" dirty="0"/>
              <a:t>());</a:t>
            </a:r>
          </a:p>
          <a:p>
            <a:pPr marL="0" indent="0">
              <a:buNone/>
            </a:pPr>
            <a:r>
              <a:rPr lang="en-US" dirty="0"/>
              <a:t>        </a:t>
            </a:r>
            <a:r>
              <a:rPr lang="en-US" dirty="0" err="1"/>
              <a:t>frame.setDefaultCloseOperation</a:t>
            </a:r>
            <a:r>
              <a:rPr lang="en-US" dirty="0"/>
              <a:t>(</a:t>
            </a:r>
            <a:r>
              <a:rPr lang="en-US" dirty="0" err="1"/>
              <a:t>JFrame.EXIT_ON_CLOSE</a:t>
            </a:r>
            <a:r>
              <a:rPr lang="en-US" dirty="0"/>
              <a:t>);</a:t>
            </a:r>
          </a:p>
          <a:p>
            <a:pPr marL="0" indent="0">
              <a:buNone/>
            </a:pPr>
            <a:r>
              <a:rPr lang="en-US" dirty="0"/>
              <a:t>        </a:t>
            </a:r>
            <a:r>
              <a:rPr lang="en-US" dirty="0" err="1"/>
              <a:t>frame.setSize</a:t>
            </a:r>
            <a:r>
              <a:rPr lang="en-US" dirty="0"/>
              <a:t>( 400, 200 );</a:t>
            </a:r>
          </a:p>
          <a:p>
            <a:pPr marL="0" indent="0">
              <a:buNone/>
            </a:pPr>
            <a:r>
              <a:rPr lang="en-US" dirty="0"/>
              <a:t>        </a:t>
            </a:r>
            <a:r>
              <a:rPr lang="en-US" dirty="0" err="1"/>
              <a:t>JLabel</a:t>
            </a:r>
            <a:r>
              <a:rPr lang="en-US" dirty="0"/>
              <a:t> </a:t>
            </a:r>
            <a:r>
              <a:rPr lang="en-US" dirty="0" err="1"/>
              <a:t>nameLabel</a:t>
            </a:r>
            <a:r>
              <a:rPr lang="en-US" dirty="0"/>
              <a:t> = new </a:t>
            </a:r>
            <a:r>
              <a:rPr lang="en-US" dirty="0" err="1"/>
              <a:t>JLabel</a:t>
            </a:r>
            <a:r>
              <a:rPr lang="en-US" dirty="0"/>
              <a:t>("Name:");</a:t>
            </a:r>
          </a:p>
          <a:p>
            <a:pPr marL="0" indent="0">
              <a:buNone/>
            </a:pPr>
            <a:r>
              <a:rPr lang="en-US" dirty="0"/>
              <a:t>        </a:t>
            </a:r>
            <a:r>
              <a:rPr lang="en-US" dirty="0" err="1"/>
              <a:t>JTextField</a:t>
            </a:r>
            <a:r>
              <a:rPr lang="en-US" dirty="0"/>
              <a:t> </a:t>
            </a:r>
            <a:r>
              <a:rPr lang="en-US" dirty="0" err="1"/>
              <a:t>nameField</a:t>
            </a:r>
            <a:r>
              <a:rPr lang="en-US" dirty="0"/>
              <a:t> = new </a:t>
            </a:r>
            <a:r>
              <a:rPr lang="en-US" dirty="0" err="1"/>
              <a:t>JTextField</a:t>
            </a:r>
            <a:r>
              <a:rPr lang="en-US" dirty="0"/>
              <a:t>(10);</a:t>
            </a:r>
          </a:p>
          <a:p>
            <a:pPr marL="0" indent="0">
              <a:buNone/>
            </a:pPr>
            <a:r>
              <a:rPr lang="en-US" dirty="0"/>
              <a:t>        </a:t>
            </a:r>
            <a:r>
              <a:rPr lang="en-US" dirty="0" err="1"/>
              <a:t>JLabel</a:t>
            </a:r>
            <a:r>
              <a:rPr lang="en-US" dirty="0"/>
              <a:t> </a:t>
            </a:r>
            <a:r>
              <a:rPr lang="en-US" dirty="0" err="1"/>
              <a:t>emailLabel</a:t>
            </a:r>
            <a:r>
              <a:rPr lang="en-US" dirty="0"/>
              <a:t> = new </a:t>
            </a:r>
            <a:r>
              <a:rPr lang="en-US" dirty="0" err="1"/>
              <a:t>JLabel</a:t>
            </a:r>
            <a:r>
              <a:rPr lang="en-US" dirty="0"/>
              <a:t>("Email:");</a:t>
            </a:r>
          </a:p>
          <a:p>
            <a:pPr marL="0" indent="0">
              <a:buNone/>
            </a:pPr>
            <a:r>
              <a:rPr lang="en-US" dirty="0"/>
              <a:t>        </a:t>
            </a:r>
            <a:r>
              <a:rPr lang="en-US" dirty="0" err="1"/>
              <a:t>JTextField</a:t>
            </a:r>
            <a:r>
              <a:rPr lang="en-US" dirty="0"/>
              <a:t> </a:t>
            </a:r>
            <a:r>
              <a:rPr lang="en-US" dirty="0" err="1"/>
              <a:t>emailField</a:t>
            </a:r>
            <a:r>
              <a:rPr lang="en-US" dirty="0"/>
              <a:t> = new </a:t>
            </a:r>
            <a:r>
              <a:rPr lang="en-US" dirty="0" err="1"/>
              <a:t>JTextField</a:t>
            </a:r>
            <a:r>
              <a:rPr lang="en-US" dirty="0"/>
              <a:t>(24);</a:t>
            </a:r>
          </a:p>
          <a:p>
            <a:pPr marL="0" indent="0">
              <a:buNone/>
            </a:pPr>
            <a:endParaRPr lang="en-US" dirty="0"/>
          </a:p>
        </p:txBody>
      </p:sp>
      <p:sp>
        <p:nvSpPr>
          <p:cNvPr id="4" name="TextBox 3">
            <a:extLst>
              <a:ext uri="{FF2B5EF4-FFF2-40B4-BE49-F238E27FC236}">
                <a16:creationId xmlns:a16="http://schemas.microsoft.com/office/drawing/2014/main" id="{36B6B511-716B-2F30-D0FD-9622F785724F}"/>
              </a:ext>
            </a:extLst>
          </p:cNvPr>
          <p:cNvSpPr txBox="1"/>
          <p:nvPr/>
        </p:nvSpPr>
        <p:spPr>
          <a:xfrm>
            <a:off x="8328073" y="1758461"/>
            <a:ext cx="3419526" cy="2308324"/>
          </a:xfrm>
          <a:prstGeom prst="rect">
            <a:avLst/>
          </a:prstGeom>
          <a:noFill/>
        </p:spPr>
        <p:txBody>
          <a:bodyPr wrap="none" rtlCol="0">
            <a:spAutoFit/>
          </a:bodyPr>
          <a:lstStyle/>
          <a:p>
            <a:r>
              <a:rPr lang="en-US" dirty="0"/>
              <a:t>        </a:t>
            </a:r>
            <a:r>
              <a:rPr lang="en-US" dirty="0" err="1"/>
              <a:t>frame.add</a:t>
            </a:r>
            <a:r>
              <a:rPr lang="en-US" dirty="0"/>
              <a:t>(</a:t>
            </a:r>
            <a:r>
              <a:rPr lang="en-US" dirty="0" err="1"/>
              <a:t>nameLabel</a:t>
            </a:r>
            <a:r>
              <a:rPr lang="en-US" dirty="0"/>
              <a:t>);</a:t>
            </a:r>
          </a:p>
          <a:p>
            <a:r>
              <a:rPr lang="en-US" dirty="0"/>
              <a:t>        </a:t>
            </a:r>
            <a:r>
              <a:rPr lang="en-US" dirty="0" err="1"/>
              <a:t>frame.add</a:t>
            </a:r>
            <a:r>
              <a:rPr lang="en-US" dirty="0"/>
              <a:t>(</a:t>
            </a:r>
            <a:r>
              <a:rPr lang="en-US" dirty="0" err="1"/>
              <a:t>nameField</a:t>
            </a:r>
            <a:r>
              <a:rPr lang="en-US" dirty="0"/>
              <a:t>);</a:t>
            </a:r>
          </a:p>
          <a:p>
            <a:r>
              <a:rPr lang="en-US" dirty="0"/>
              <a:t>        </a:t>
            </a:r>
            <a:r>
              <a:rPr lang="en-US" dirty="0" err="1"/>
              <a:t>frame.add</a:t>
            </a:r>
            <a:r>
              <a:rPr lang="en-US" dirty="0"/>
              <a:t>(</a:t>
            </a:r>
            <a:r>
              <a:rPr lang="en-US" dirty="0" err="1"/>
              <a:t>emailLabel</a:t>
            </a:r>
            <a:r>
              <a:rPr lang="en-US" dirty="0"/>
              <a:t>);</a:t>
            </a:r>
          </a:p>
          <a:p>
            <a:r>
              <a:rPr lang="en-US" dirty="0"/>
              <a:t>        </a:t>
            </a:r>
            <a:r>
              <a:rPr lang="en-US" dirty="0" err="1"/>
              <a:t>frame.add</a:t>
            </a:r>
            <a:r>
              <a:rPr lang="en-US" dirty="0"/>
              <a:t>(</a:t>
            </a:r>
            <a:r>
              <a:rPr lang="en-US" dirty="0" err="1"/>
              <a:t>emailField</a:t>
            </a:r>
            <a:r>
              <a:rPr lang="en-US" dirty="0"/>
              <a:t>);</a:t>
            </a:r>
          </a:p>
          <a:p>
            <a:endParaRPr lang="en-US" dirty="0"/>
          </a:p>
          <a:p>
            <a:r>
              <a:rPr lang="en-US" dirty="0"/>
              <a:t>        </a:t>
            </a:r>
            <a:r>
              <a:rPr lang="en-US" dirty="0" err="1"/>
              <a:t>frame.setVisible</a:t>
            </a:r>
            <a:r>
              <a:rPr lang="en-US" dirty="0"/>
              <a:t>( true );</a:t>
            </a:r>
          </a:p>
          <a:p>
            <a:r>
              <a:rPr lang="en-US" dirty="0"/>
              <a:t>    }</a:t>
            </a:r>
          </a:p>
          <a:p>
            <a:r>
              <a:rPr lang="en-US" dirty="0"/>
              <a:t>}</a:t>
            </a:r>
          </a:p>
        </p:txBody>
      </p:sp>
    </p:spTree>
    <p:extLst>
      <p:ext uri="{BB962C8B-B14F-4D97-AF65-F5344CB8AC3E}">
        <p14:creationId xmlns:p14="http://schemas.microsoft.com/office/powerpoint/2010/main" val="2393066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54547C-7613-CDE5-7DF8-5FB77630CD2F}"/>
              </a:ext>
            </a:extLst>
          </p:cNvPr>
          <p:cNvSpPr>
            <a:spLocks noGrp="1"/>
          </p:cNvSpPr>
          <p:nvPr>
            <p:ph idx="1"/>
          </p:nvPr>
        </p:nvSpPr>
        <p:spPr>
          <a:xfrm>
            <a:off x="2592925" y="1805354"/>
            <a:ext cx="8915400" cy="3528646"/>
          </a:xfrm>
        </p:spPr>
        <p:txBody>
          <a:bodyPr>
            <a:noAutofit/>
          </a:bodyPr>
          <a:lstStyle/>
          <a:p>
            <a:pPr marL="0" indent="0">
              <a:buNone/>
            </a:pPr>
            <a:r>
              <a:rPr lang="en-US" sz="2400" dirty="0"/>
              <a:t>The size of a text field is dictated by the number of columns we specified in its constructor. </a:t>
            </a:r>
          </a:p>
          <a:p>
            <a:pPr marL="0" indent="0">
              <a:buNone/>
            </a:pPr>
            <a:r>
              <a:rPr lang="en-US" sz="2400" dirty="0"/>
              <a:t>That’s not the only way to initialize a text field, but it is useful when there are no other layout mechanisms dictating the width of the field. (Here the </a:t>
            </a:r>
            <a:r>
              <a:rPr lang="en-US" sz="2400" dirty="0" err="1"/>
              <a:t>FlowLayout</a:t>
            </a:r>
            <a:r>
              <a:rPr lang="en-US" sz="2400" dirty="0"/>
              <a:t> failed us a bit—the “Email:” label did not stay on the same line as the email text field. But again, more on layouts soon.)</a:t>
            </a:r>
          </a:p>
          <a:p>
            <a:pPr marL="0" indent="0">
              <a:buNone/>
            </a:pPr>
            <a:r>
              <a:rPr lang="en-US" sz="2400" dirty="0"/>
              <a:t>Go ahead and type something! You can enter and delete text; cut, copy, and paste as you’d expect; and highlight stuff inside the field with your mouse.</a:t>
            </a:r>
          </a:p>
        </p:txBody>
      </p:sp>
      <p:sp>
        <p:nvSpPr>
          <p:cNvPr id="4" name="Title 1">
            <a:extLst>
              <a:ext uri="{FF2B5EF4-FFF2-40B4-BE49-F238E27FC236}">
                <a16:creationId xmlns:a16="http://schemas.microsoft.com/office/drawing/2014/main" id="{C1A12803-7D11-A0C9-709B-A8FEA626EDDF}"/>
              </a:ext>
            </a:extLst>
          </p:cNvPr>
          <p:cNvSpPr>
            <a:spLocks noGrp="1"/>
          </p:cNvSpPr>
          <p:nvPr>
            <p:ph type="title"/>
          </p:nvPr>
        </p:nvSpPr>
        <p:spPr>
          <a:xfrm>
            <a:off x="2592925" y="624110"/>
            <a:ext cx="8911687" cy="1280890"/>
          </a:xfrm>
        </p:spPr>
        <p:txBody>
          <a:bodyPr/>
          <a:lstStyle/>
          <a:p>
            <a:pPr algn="ctr"/>
            <a:r>
              <a:rPr lang="en-US" b="1" dirty="0"/>
              <a:t>Size of a </a:t>
            </a:r>
            <a:r>
              <a:rPr lang="en-US" b="1" dirty="0" err="1"/>
              <a:t>Textfield</a:t>
            </a:r>
            <a:endParaRPr lang="en-US" b="1" dirty="0"/>
          </a:p>
        </p:txBody>
      </p:sp>
    </p:spTree>
    <p:extLst>
      <p:ext uri="{BB962C8B-B14F-4D97-AF65-F5344CB8AC3E}">
        <p14:creationId xmlns:p14="http://schemas.microsoft.com/office/powerpoint/2010/main" val="3948903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4FDCB-311C-9477-FC11-8ABA62886232}"/>
              </a:ext>
            </a:extLst>
          </p:cNvPr>
          <p:cNvSpPr>
            <a:spLocks noGrp="1"/>
          </p:cNvSpPr>
          <p:nvPr>
            <p:ph type="title"/>
          </p:nvPr>
        </p:nvSpPr>
        <p:spPr>
          <a:xfrm>
            <a:off x="2269652" y="1780965"/>
            <a:ext cx="8911687" cy="4631380"/>
          </a:xfrm>
        </p:spPr>
        <p:txBody>
          <a:bodyPr>
            <a:normAutofit fontScale="90000"/>
          </a:bodyPr>
          <a:lstStyle/>
          <a:p>
            <a:r>
              <a:rPr lang="en-US" sz="2700" dirty="0"/>
              <a:t> We can create an empty text area with a similar constructor as the one we used for </a:t>
            </a:r>
            <a:r>
              <a:rPr lang="en-US" sz="2700" dirty="0" err="1"/>
              <a:t>JTextField</a:t>
            </a:r>
            <a:r>
              <a:rPr lang="en-US" sz="2700" dirty="0"/>
              <a:t>, but this time specify the number of rows in addition to the number of columns.</a:t>
            </a:r>
            <a:br>
              <a:rPr lang="en-US" sz="2700" dirty="0"/>
            </a:br>
            <a:r>
              <a:rPr lang="en-US" sz="2700" dirty="0"/>
              <a:t> The code to add our text area to our running </a:t>
            </a:r>
            <a:r>
              <a:rPr lang="en-US" sz="2700" dirty="0" err="1"/>
              <a:t>TextInput</a:t>
            </a:r>
            <a:r>
              <a:rPr lang="en-US" sz="2700" dirty="0"/>
              <a:t> demo app is below, and the results are shown:</a:t>
            </a:r>
            <a:br>
              <a:rPr lang="en-US" sz="2700" dirty="0"/>
            </a:br>
            <a:r>
              <a:rPr lang="en-US" sz="2700" b="1" dirty="0"/>
              <a:t>    </a:t>
            </a:r>
            <a:r>
              <a:rPr lang="en-US" sz="2700" b="1" dirty="0" err="1"/>
              <a:t>JLabel</a:t>
            </a:r>
            <a:r>
              <a:rPr lang="en-US" sz="2700" b="1" dirty="0"/>
              <a:t> </a:t>
            </a:r>
            <a:r>
              <a:rPr lang="en-US" sz="2700" b="1" dirty="0" err="1"/>
              <a:t>bodyLabel</a:t>
            </a:r>
            <a:r>
              <a:rPr lang="en-US" sz="2700" b="1" dirty="0"/>
              <a:t> = new </a:t>
            </a:r>
            <a:r>
              <a:rPr lang="en-US" sz="2700" b="1" dirty="0" err="1"/>
              <a:t>JLabel</a:t>
            </a:r>
            <a:r>
              <a:rPr lang="en-US" sz="2700" b="1" dirty="0"/>
              <a:t>("Body:");</a:t>
            </a:r>
            <a:br>
              <a:rPr lang="en-US" sz="2700" b="1" dirty="0"/>
            </a:br>
            <a:r>
              <a:rPr lang="en-US" sz="2700" b="1" dirty="0"/>
              <a:t>    </a:t>
            </a:r>
            <a:r>
              <a:rPr lang="en-US" sz="2700" b="1" dirty="0" err="1"/>
              <a:t>JTextArea</a:t>
            </a:r>
            <a:r>
              <a:rPr lang="en-US" sz="2700" b="1" dirty="0"/>
              <a:t> </a:t>
            </a:r>
            <a:r>
              <a:rPr lang="en-US" sz="2700" b="1" dirty="0" err="1"/>
              <a:t>bodyArea</a:t>
            </a:r>
            <a:r>
              <a:rPr lang="en-US" sz="2700" b="1" dirty="0"/>
              <a:t> = new </a:t>
            </a:r>
            <a:r>
              <a:rPr lang="en-US" sz="2700" b="1" dirty="0" err="1"/>
              <a:t>JTextArea</a:t>
            </a:r>
            <a:r>
              <a:rPr lang="en-US" sz="2700" b="1" dirty="0"/>
              <a:t>(10,30)</a:t>
            </a:r>
            <a:br>
              <a:rPr lang="en-US" sz="2700" b="1" dirty="0"/>
            </a:br>
            <a:br>
              <a:rPr lang="en-US" sz="2700" dirty="0"/>
            </a:br>
            <a:r>
              <a:rPr lang="en-US" sz="2700" dirty="0"/>
              <a:t>//After the </a:t>
            </a:r>
            <a:r>
              <a:rPr lang="en-US" sz="2700" dirty="0" err="1"/>
              <a:t>the</a:t>
            </a:r>
            <a:r>
              <a:rPr lang="en-US" sz="2700" dirty="0"/>
              <a:t> other objects already added, add:</a:t>
            </a:r>
            <a:br>
              <a:rPr lang="en-US" sz="2700" dirty="0"/>
            </a:br>
            <a:r>
              <a:rPr lang="en-US" sz="2700" b="1" dirty="0"/>
              <a:t>    </a:t>
            </a:r>
            <a:r>
              <a:rPr lang="en-US" sz="2700" b="1" dirty="0" err="1"/>
              <a:t>frame.add</a:t>
            </a:r>
            <a:r>
              <a:rPr lang="en-US" sz="2700" b="1" dirty="0"/>
              <a:t>(</a:t>
            </a:r>
            <a:r>
              <a:rPr lang="en-US" sz="2700" b="1" dirty="0" err="1"/>
              <a:t>bodyLabel</a:t>
            </a:r>
            <a:r>
              <a:rPr lang="en-US" sz="2700" b="1" dirty="0"/>
              <a:t>);</a:t>
            </a:r>
            <a:br>
              <a:rPr lang="en-US" sz="2700" b="1" dirty="0"/>
            </a:br>
            <a:r>
              <a:rPr lang="en-US" sz="2700" b="1" dirty="0"/>
              <a:t>    </a:t>
            </a:r>
            <a:r>
              <a:rPr lang="en-US" sz="2700" b="1" dirty="0" err="1"/>
              <a:t>frame.add</a:t>
            </a:r>
            <a:r>
              <a:rPr lang="en-US" sz="2700" b="1" dirty="0"/>
              <a:t>(</a:t>
            </a:r>
            <a:r>
              <a:rPr lang="en-US" sz="2700" b="1" dirty="0" err="1"/>
              <a:t>bodyArea</a:t>
            </a:r>
            <a:r>
              <a:rPr lang="en-US" sz="2700" b="1" dirty="0"/>
              <a:t>);</a:t>
            </a:r>
            <a:br>
              <a:rPr lang="en-US" sz="2700" dirty="0"/>
            </a:br>
            <a:endParaRPr lang="en-US" b="1" dirty="0"/>
          </a:p>
        </p:txBody>
      </p:sp>
      <p:sp>
        <p:nvSpPr>
          <p:cNvPr id="3" name="Content Placeholder 2">
            <a:extLst>
              <a:ext uri="{FF2B5EF4-FFF2-40B4-BE49-F238E27FC236}">
                <a16:creationId xmlns:a16="http://schemas.microsoft.com/office/drawing/2014/main" id="{3AF6F634-EDAA-F3E7-6BE6-387B4850A72B}"/>
              </a:ext>
            </a:extLst>
          </p:cNvPr>
          <p:cNvSpPr>
            <a:spLocks noGrp="1"/>
          </p:cNvSpPr>
          <p:nvPr>
            <p:ph idx="1"/>
          </p:nvPr>
        </p:nvSpPr>
        <p:spPr>
          <a:xfrm>
            <a:off x="2386012" y="445655"/>
            <a:ext cx="8915400" cy="1156855"/>
          </a:xfrm>
        </p:spPr>
        <p:txBody>
          <a:bodyPr>
            <a:noAutofit/>
          </a:bodyPr>
          <a:lstStyle/>
          <a:p>
            <a:pPr marL="0" indent="0" algn="ctr">
              <a:buNone/>
            </a:pPr>
            <a:r>
              <a:rPr lang="en-US" sz="3600" b="1" dirty="0"/>
              <a:t>Text Areas</a:t>
            </a:r>
          </a:p>
        </p:txBody>
      </p:sp>
    </p:spTree>
    <p:extLst>
      <p:ext uri="{BB962C8B-B14F-4D97-AF65-F5344CB8AC3E}">
        <p14:creationId xmlns:p14="http://schemas.microsoft.com/office/powerpoint/2010/main" val="13313971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BFDBD-C77F-BE5F-2DF5-66EB00D9EC19}"/>
              </a:ext>
            </a:extLst>
          </p:cNvPr>
          <p:cNvSpPr>
            <a:spLocks noGrp="1"/>
          </p:cNvSpPr>
          <p:nvPr>
            <p:ph type="title"/>
          </p:nvPr>
        </p:nvSpPr>
        <p:spPr/>
        <p:txBody>
          <a:bodyPr/>
          <a:lstStyle/>
          <a:p>
            <a:pPr algn="ctr"/>
            <a:r>
              <a:rPr lang="en-US" b="1" dirty="0"/>
              <a:t>Add a Text Area</a:t>
            </a:r>
            <a:endParaRPr lang="en-US" dirty="0"/>
          </a:p>
        </p:txBody>
      </p:sp>
      <p:sp>
        <p:nvSpPr>
          <p:cNvPr id="3" name="Content Placeholder 2">
            <a:extLst>
              <a:ext uri="{FF2B5EF4-FFF2-40B4-BE49-F238E27FC236}">
                <a16:creationId xmlns:a16="http://schemas.microsoft.com/office/drawing/2014/main" id="{128C52EB-C629-2437-D76C-0210942770ED}"/>
              </a:ext>
            </a:extLst>
          </p:cNvPr>
          <p:cNvSpPr>
            <a:spLocks noGrp="1"/>
          </p:cNvSpPr>
          <p:nvPr>
            <p:ph idx="1"/>
          </p:nvPr>
        </p:nvSpPr>
        <p:spPr/>
        <p:txBody>
          <a:bodyPr>
            <a:noAutofit/>
          </a:bodyPr>
          <a:lstStyle/>
          <a:p>
            <a:pPr marL="0" indent="0">
              <a:buNone/>
            </a:pPr>
            <a:r>
              <a:rPr lang="en-US" sz="2400" dirty="0"/>
              <a:t>Use your </a:t>
            </a:r>
            <a:r>
              <a:rPr lang="en-US" sz="2400" dirty="0" err="1"/>
              <a:t>TextInputs</a:t>
            </a:r>
            <a:r>
              <a:rPr lang="en-US" sz="2400" dirty="0"/>
              <a:t> Program.  Add the code shown.  </a:t>
            </a:r>
          </a:p>
          <a:p>
            <a:pPr marL="0" indent="0">
              <a:buNone/>
            </a:pPr>
            <a:r>
              <a:rPr lang="en-US" sz="2400" dirty="0"/>
              <a:t>Also set the size to 400, 300.  Run your code.</a:t>
            </a:r>
          </a:p>
          <a:p>
            <a:pPr marL="0" indent="0">
              <a:buNone/>
            </a:pPr>
            <a:r>
              <a:rPr lang="en-US" sz="2400" dirty="0"/>
              <a:t>You can easily see we have room for multiple lines of text. </a:t>
            </a:r>
          </a:p>
          <a:p>
            <a:pPr marL="0" indent="0">
              <a:buNone/>
            </a:pPr>
            <a:r>
              <a:rPr lang="en-US" sz="2400" dirty="0"/>
              <a:t>Try entering text.  What happens if you type past the end of a line? You may get an odd text area that expanded to the size of our window and beyond</a:t>
            </a:r>
          </a:p>
          <a:p>
            <a:pPr marL="0" indent="0">
              <a:buNone/>
            </a:pPr>
            <a:r>
              <a:rPr lang="en-US" sz="2400" dirty="0"/>
              <a:t>What happens when you press the Return key? </a:t>
            </a:r>
          </a:p>
          <a:p>
            <a:pPr marL="0" indent="0">
              <a:buNone/>
            </a:pPr>
            <a:r>
              <a:rPr lang="en-US" sz="2400" dirty="0"/>
              <a:t>Hopefully, you get the behaviors you’re familiar with. </a:t>
            </a:r>
          </a:p>
        </p:txBody>
      </p:sp>
    </p:spTree>
    <p:extLst>
      <p:ext uri="{BB962C8B-B14F-4D97-AF65-F5344CB8AC3E}">
        <p14:creationId xmlns:p14="http://schemas.microsoft.com/office/powerpoint/2010/main" val="156630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AA17-72AD-5C1E-67CB-AC003E4AAFCD}"/>
              </a:ext>
            </a:extLst>
          </p:cNvPr>
          <p:cNvSpPr>
            <a:spLocks noGrp="1"/>
          </p:cNvSpPr>
          <p:nvPr>
            <p:ph type="title"/>
          </p:nvPr>
        </p:nvSpPr>
        <p:spPr/>
        <p:txBody>
          <a:bodyPr/>
          <a:lstStyle/>
          <a:p>
            <a:pPr algn="ctr"/>
            <a:r>
              <a:rPr lang="en-US" b="1" dirty="0"/>
              <a:t>Set </a:t>
            </a:r>
            <a:r>
              <a:rPr lang="en-US" b="1" dirty="0" err="1"/>
              <a:t>TextArea</a:t>
            </a:r>
            <a:r>
              <a:rPr lang="en-US" b="1" dirty="0"/>
              <a:t> Properties</a:t>
            </a:r>
          </a:p>
        </p:txBody>
      </p:sp>
      <p:sp>
        <p:nvSpPr>
          <p:cNvPr id="3" name="Content Placeholder 2">
            <a:extLst>
              <a:ext uri="{FF2B5EF4-FFF2-40B4-BE49-F238E27FC236}">
                <a16:creationId xmlns:a16="http://schemas.microsoft.com/office/drawing/2014/main" id="{AC12462A-5509-DFF0-5153-59BA55F42AE3}"/>
              </a:ext>
            </a:extLst>
          </p:cNvPr>
          <p:cNvSpPr>
            <a:spLocks noGrp="1"/>
          </p:cNvSpPr>
          <p:nvPr>
            <p:ph idx="1"/>
          </p:nvPr>
        </p:nvSpPr>
        <p:spPr/>
        <p:txBody>
          <a:bodyPr>
            <a:normAutofit/>
          </a:bodyPr>
          <a:lstStyle/>
          <a:p>
            <a:pPr marL="0" indent="0">
              <a:buNone/>
            </a:pPr>
            <a:r>
              <a:rPr lang="en-US" sz="2400" dirty="0"/>
              <a:t>We’ll see how to adjust those behaviors below, but we do want to point out you still have access to its content just like you do with a text field.</a:t>
            </a:r>
          </a:p>
          <a:p>
            <a:pPr marL="0" indent="0">
              <a:buNone/>
            </a:pPr>
            <a:r>
              <a:rPr lang="en-US" sz="2400" dirty="0" err="1"/>
              <a:t>TextArea</a:t>
            </a:r>
            <a:r>
              <a:rPr lang="en-US" sz="2400" dirty="0"/>
              <a:t> has wrap properties that you can set:</a:t>
            </a:r>
          </a:p>
          <a:p>
            <a:pPr marL="0" indent="0">
              <a:buNone/>
            </a:pPr>
            <a:r>
              <a:rPr lang="en-US" sz="2400" dirty="0" err="1"/>
              <a:t>bodyArea.setLineWrap</a:t>
            </a:r>
            <a:r>
              <a:rPr lang="en-US" sz="2400" dirty="0"/>
              <a:t>(true);  //makes it wrap</a:t>
            </a:r>
          </a:p>
          <a:p>
            <a:pPr marL="0" indent="0">
              <a:buNone/>
            </a:pPr>
            <a:r>
              <a:rPr lang="en-US" sz="2400" dirty="0" err="1"/>
              <a:t>bodyArea.setWrapStyleWord</a:t>
            </a:r>
            <a:r>
              <a:rPr lang="en-US" sz="2400" dirty="0"/>
              <a:t>(true);  //doesn’t break words in the middle</a:t>
            </a:r>
          </a:p>
          <a:p>
            <a:pPr marL="0" indent="0">
              <a:buNone/>
            </a:pPr>
            <a:r>
              <a:rPr lang="en-US" sz="2400" dirty="0"/>
              <a:t>Run your program and try it again!</a:t>
            </a:r>
          </a:p>
          <a:p>
            <a:pPr marL="0" indent="0">
              <a:buNone/>
            </a:pPr>
            <a:endParaRPr lang="en-US" sz="2400" dirty="0"/>
          </a:p>
        </p:txBody>
      </p:sp>
    </p:spTree>
    <p:extLst>
      <p:ext uri="{BB962C8B-B14F-4D97-AF65-F5344CB8AC3E}">
        <p14:creationId xmlns:p14="http://schemas.microsoft.com/office/powerpoint/2010/main" val="393792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242C6E0-C208-AB6B-4F02-54D29D0A05A7}"/>
              </a:ext>
            </a:extLst>
          </p:cNvPr>
          <p:cNvSpPr>
            <a:spLocks noGrp="1"/>
          </p:cNvSpPr>
          <p:nvPr>
            <p:ph type="sldNum" sz="quarter" idx="11"/>
          </p:nvPr>
        </p:nvSpPr>
        <p:spPr/>
        <p:txBody>
          <a:bodyPr/>
          <a:lstStyle/>
          <a:p>
            <a:fld id="{366E641B-D603-4419-ADC9-9B920DE47062}" type="slidenum">
              <a:rPr lang="en-US" altLang="en-US"/>
              <a:pPr/>
              <a:t>35</a:t>
            </a:fld>
            <a:endParaRPr lang="en-US" altLang="en-US"/>
          </a:p>
        </p:txBody>
      </p:sp>
      <p:sp>
        <p:nvSpPr>
          <p:cNvPr id="394242" name="Rectangle 2">
            <a:extLst>
              <a:ext uri="{FF2B5EF4-FFF2-40B4-BE49-F238E27FC236}">
                <a16:creationId xmlns:a16="http://schemas.microsoft.com/office/drawing/2014/main" id="{25A9160C-6C17-B545-A592-2DFE0B0261E3}"/>
              </a:ext>
            </a:extLst>
          </p:cNvPr>
          <p:cNvSpPr>
            <a:spLocks noGrp="1" noChangeArrowheads="1"/>
          </p:cNvSpPr>
          <p:nvPr>
            <p:ph type="title"/>
          </p:nvPr>
        </p:nvSpPr>
        <p:spPr>
          <a:xfrm>
            <a:off x="2436811" y="380513"/>
            <a:ext cx="7772400" cy="1428750"/>
          </a:xfrm>
          <a:noFill/>
          <a:ln/>
        </p:spPr>
        <p:txBody>
          <a:bodyPr/>
          <a:lstStyle/>
          <a:p>
            <a:pPr algn="ctr"/>
            <a:r>
              <a:rPr lang="en-US" altLang="en-US" sz="4200" dirty="0" err="1">
                <a:latin typeface="Courier New" panose="02070309020205020404" pitchFamily="49" charset="0"/>
              </a:rPr>
              <a:t>JTextArea</a:t>
            </a:r>
            <a:r>
              <a:rPr lang="en-US" altLang="en-US" dirty="0"/>
              <a:t> Properties</a:t>
            </a:r>
          </a:p>
        </p:txBody>
      </p:sp>
      <p:sp>
        <p:nvSpPr>
          <p:cNvPr id="394243" name="Rectangle 3">
            <a:extLst>
              <a:ext uri="{FF2B5EF4-FFF2-40B4-BE49-F238E27FC236}">
                <a16:creationId xmlns:a16="http://schemas.microsoft.com/office/drawing/2014/main" id="{ABA6D245-9DCB-B7B5-2CA0-167B675B4360}"/>
              </a:ext>
            </a:extLst>
          </p:cNvPr>
          <p:cNvSpPr>
            <a:spLocks noGrp="1" noChangeArrowheads="1"/>
          </p:cNvSpPr>
          <p:nvPr>
            <p:ph type="body" idx="1"/>
          </p:nvPr>
        </p:nvSpPr>
        <p:spPr>
          <a:xfrm>
            <a:off x="2678723" y="1723292"/>
            <a:ext cx="7620000" cy="4876800"/>
          </a:xfrm>
          <a:noFill/>
          <a:ln/>
        </p:spPr>
        <p:txBody>
          <a:bodyPr>
            <a:normAutofit/>
          </a:bodyPr>
          <a:lstStyle/>
          <a:p>
            <a:pPr marL="0" indent="0">
              <a:lnSpc>
                <a:spcPct val="70000"/>
              </a:lnSpc>
              <a:buNone/>
            </a:pPr>
            <a:r>
              <a:rPr lang="en-US" altLang="en-US" sz="2400" b="1" dirty="0"/>
              <a:t>text</a:t>
            </a:r>
          </a:p>
          <a:p>
            <a:pPr marL="0" indent="0">
              <a:lnSpc>
                <a:spcPct val="70000"/>
              </a:lnSpc>
              <a:spcBef>
                <a:spcPct val="50000"/>
              </a:spcBef>
              <a:buNone/>
            </a:pPr>
            <a:r>
              <a:rPr lang="en-US" altLang="en-US" sz="2400" b="1" dirty="0"/>
              <a:t>editable</a:t>
            </a:r>
          </a:p>
          <a:p>
            <a:pPr marL="0" indent="0">
              <a:lnSpc>
                <a:spcPct val="70000"/>
              </a:lnSpc>
              <a:spcBef>
                <a:spcPct val="50000"/>
              </a:spcBef>
              <a:buNone/>
            </a:pPr>
            <a:r>
              <a:rPr lang="en-US" altLang="en-US" sz="2400" b="1" dirty="0"/>
              <a:t>columns</a:t>
            </a:r>
          </a:p>
          <a:p>
            <a:pPr marL="0" indent="0">
              <a:lnSpc>
                <a:spcPct val="70000"/>
              </a:lnSpc>
              <a:spcBef>
                <a:spcPct val="50000"/>
              </a:spcBef>
              <a:buNone/>
            </a:pPr>
            <a:r>
              <a:rPr lang="en-US" altLang="en-US" sz="2400" b="1" dirty="0" err="1"/>
              <a:t>lineWrap</a:t>
            </a:r>
            <a:endParaRPr lang="en-US" altLang="en-US" sz="2400" b="1" dirty="0"/>
          </a:p>
          <a:p>
            <a:pPr marL="0" indent="0">
              <a:lnSpc>
                <a:spcPct val="70000"/>
              </a:lnSpc>
              <a:spcBef>
                <a:spcPct val="50000"/>
              </a:spcBef>
              <a:buNone/>
            </a:pPr>
            <a:r>
              <a:rPr lang="en-US" altLang="en-US" sz="2400" b="1" dirty="0" err="1"/>
              <a:t>wrapStyleWord</a:t>
            </a:r>
            <a:endParaRPr lang="en-US" altLang="en-US" sz="2400" b="1" dirty="0"/>
          </a:p>
          <a:p>
            <a:pPr marL="0" indent="0">
              <a:lnSpc>
                <a:spcPct val="70000"/>
              </a:lnSpc>
              <a:spcBef>
                <a:spcPct val="50000"/>
              </a:spcBef>
              <a:buNone/>
            </a:pPr>
            <a:r>
              <a:rPr lang="en-US" altLang="en-US" sz="2400" b="1" dirty="0"/>
              <a:t>rows</a:t>
            </a:r>
          </a:p>
          <a:p>
            <a:pPr marL="0" indent="0">
              <a:lnSpc>
                <a:spcPct val="70000"/>
              </a:lnSpc>
              <a:spcBef>
                <a:spcPct val="50000"/>
              </a:spcBef>
              <a:buNone/>
            </a:pPr>
            <a:r>
              <a:rPr lang="en-US" altLang="en-US" sz="2400" b="1" dirty="0" err="1"/>
              <a:t>lineCount</a:t>
            </a:r>
            <a:endParaRPr lang="en-US" altLang="en-US" sz="2400" b="1" dirty="0"/>
          </a:p>
          <a:p>
            <a:pPr marL="0" indent="0">
              <a:lnSpc>
                <a:spcPct val="70000"/>
              </a:lnSpc>
              <a:spcBef>
                <a:spcPct val="50000"/>
              </a:spcBef>
              <a:buNone/>
            </a:pPr>
            <a:r>
              <a:rPr lang="en-US" altLang="en-US" sz="2400" b="1" dirty="0" err="1"/>
              <a:t>tabSize</a:t>
            </a:r>
            <a:endParaRPr lang="en-US" altLang="en-US" sz="2400"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5D00A-92FB-5708-758F-124743E59833}"/>
              </a:ext>
            </a:extLst>
          </p:cNvPr>
          <p:cNvSpPr>
            <a:spLocks noGrp="1"/>
          </p:cNvSpPr>
          <p:nvPr>
            <p:ph type="title"/>
          </p:nvPr>
        </p:nvSpPr>
        <p:spPr/>
        <p:txBody>
          <a:bodyPr/>
          <a:lstStyle/>
          <a:p>
            <a:pPr algn="ctr"/>
            <a:r>
              <a:rPr lang="en-US" b="1" dirty="0"/>
              <a:t>Text Scrolling</a:t>
            </a:r>
          </a:p>
        </p:txBody>
      </p:sp>
      <p:sp>
        <p:nvSpPr>
          <p:cNvPr id="3" name="Content Placeholder 2">
            <a:extLst>
              <a:ext uri="{FF2B5EF4-FFF2-40B4-BE49-F238E27FC236}">
                <a16:creationId xmlns:a16="http://schemas.microsoft.com/office/drawing/2014/main" id="{001E46B4-987C-A516-2A9A-36E53053339A}"/>
              </a:ext>
            </a:extLst>
          </p:cNvPr>
          <p:cNvSpPr>
            <a:spLocks noGrp="1"/>
          </p:cNvSpPr>
          <p:nvPr>
            <p:ph idx="1"/>
          </p:nvPr>
        </p:nvSpPr>
        <p:spPr>
          <a:xfrm>
            <a:off x="1961139" y="1540189"/>
            <a:ext cx="8915400" cy="3777622"/>
          </a:xfrm>
        </p:spPr>
        <p:txBody>
          <a:bodyPr>
            <a:normAutofit/>
          </a:bodyPr>
          <a:lstStyle/>
          <a:p>
            <a:pPr marL="0" indent="0">
              <a:buNone/>
            </a:pPr>
            <a:r>
              <a:rPr lang="en-US" sz="2400" dirty="0"/>
              <a:t>We’ve fixed what happens if we have too many characters for one line, but what happens if we have too many rows? On its own, </a:t>
            </a:r>
            <a:r>
              <a:rPr lang="en-US" sz="2400" dirty="0" err="1"/>
              <a:t>JTextArea</a:t>
            </a:r>
            <a:r>
              <a:rPr lang="en-US" sz="2400" dirty="0"/>
              <a:t> does that odd “grow until we can’t” trick.</a:t>
            </a:r>
          </a:p>
          <a:p>
            <a:pPr marL="0" indent="0">
              <a:buNone/>
            </a:pPr>
            <a:r>
              <a:rPr lang="en-US" sz="2400" dirty="0"/>
              <a:t>Add a Scroll Bar:</a:t>
            </a:r>
          </a:p>
          <a:p>
            <a:pPr marL="0" indent="0">
              <a:buNone/>
            </a:pPr>
            <a:r>
              <a:rPr lang="en-US" sz="2400" b="1" dirty="0" err="1"/>
              <a:t>frame.add</a:t>
            </a:r>
            <a:r>
              <a:rPr lang="en-US" sz="2400" b="1" dirty="0"/>
              <a:t>(new </a:t>
            </a:r>
          </a:p>
          <a:p>
            <a:pPr marL="0" indent="0">
              <a:buNone/>
            </a:pPr>
            <a:r>
              <a:rPr lang="en-US" sz="2400" b="1" dirty="0" err="1"/>
              <a:t>JScrollPane</a:t>
            </a:r>
            <a:r>
              <a:rPr lang="en-US" sz="2400" b="1" dirty="0"/>
              <a:t>(</a:t>
            </a:r>
            <a:r>
              <a:rPr lang="en-US" sz="2400" b="1" dirty="0" err="1"/>
              <a:t>bodyArea</a:t>
            </a:r>
            <a:r>
              <a:rPr lang="en-US" sz="2400" b="1" dirty="0"/>
              <a:t>);</a:t>
            </a:r>
          </a:p>
          <a:p>
            <a:pPr marL="0" indent="0">
              <a:buNone/>
            </a:pPr>
            <a:r>
              <a:rPr lang="en-US" sz="2400" dirty="0"/>
              <a:t>Run your </a:t>
            </a:r>
            <a:r>
              <a:rPr lang="en-US" sz="2400" dirty="0" err="1"/>
              <a:t>program,add</a:t>
            </a:r>
            <a:r>
              <a:rPr lang="en-US" sz="2400" dirty="0"/>
              <a:t> a lot of items, </a:t>
            </a:r>
          </a:p>
          <a:p>
            <a:pPr marL="0" indent="0">
              <a:buNone/>
            </a:pPr>
            <a:r>
              <a:rPr lang="en-US" sz="2400" dirty="0"/>
              <a:t>And watch the scroll bar appear.</a:t>
            </a:r>
          </a:p>
        </p:txBody>
      </p:sp>
      <p:pic>
        <p:nvPicPr>
          <p:cNvPr id="5" name="Picture 4">
            <a:extLst>
              <a:ext uri="{FF2B5EF4-FFF2-40B4-BE49-F238E27FC236}">
                <a16:creationId xmlns:a16="http://schemas.microsoft.com/office/drawing/2014/main" id="{D2017B02-807A-D4D7-4D9A-AF1B432C40D4}"/>
              </a:ext>
            </a:extLst>
          </p:cNvPr>
          <p:cNvPicPr>
            <a:picLocks noChangeAspect="1"/>
          </p:cNvPicPr>
          <p:nvPr/>
        </p:nvPicPr>
        <p:blipFill>
          <a:blip r:embed="rId2"/>
          <a:stretch>
            <a:fillRect/>
          </a:stretch>
        </p:blipFill>
        <p:spPr>
          <a:xfrm>
            <a:off x="7827449" y="3267510"/>
            <a:ext cx="3677163" cy="2724530"/>
          </a:xfrm>
          <a:prstGeom prst="rect">
            <a:avLst/>
          </a:prstGeom>
        </p:spPr>
      </p:pic>
    </p:spTree>
    <p:extLst>
      <p:ext uri="{BB962C8B-B14F-4D97-AF65-F5344CB8AC3E}">
        <p14:creationId xmlns:p14="http://schemas.microsoft.com/office/powerpoint/2010/main" val="652475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4043B-93A1-C3EC-CDB4-9876C4B10CA6}"/>
              </a:ext>
            </a:extLst>
          </p:cNvPr>
          <p:cNvSpPr>
            <a:spLocks noGrp="1"/>
          </p:cNvSpPr>
          <p:nvPr>
            <p:ph type="title"/>
          </p:nvPr>
        </p:nvSpPr>
        <p:spPr/>
        <p:txBody>
          <a:bodyPr/>
          <a:lstStyle/>
          <a:p>
            <a:pPr algn="ctr"/>
            <a:r>
              <a:rPr lang="en-US" b="1" dirty="0" err="1"/>
              <a:t>JSlider</a:t>
            </a:r>
            <a:endParaRPr lang="en-US" b="1" dirty="0"/>
          </a:p>
        </p:txBody>
      </p:sp>
      <p:sp>
        <p:nvSpPr>
          <p:cNvPr id="3" name="Text Placeholder 2">
            <a:extLst>
              <a:ext uri="{FF2B5EF4-FFF2-40B4-BE49-F238E27FC236}">
                <a16:creationId xmlns:a16="http://schemas.microsoft.com/office/drawing/2014/main" id="{63F424FE-00F2-4835-1E75-704A3A4406E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21734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E897-6640-52F9-BA27-C9EDE23F4482}"/>
              </a:ext>
            </a:extLst>
          </p:cNvPr>
          <p:cNvSpPr>
            <a:spLocks noGrp="1"/>
          </p:cNvSpPr>
          <p:nvPr>
            <p:ph type="title"/>
          </p:nvPr>
        </p:nvSpPr>
        <p:spPr/>
        <p:txBody>
          <a:bodyPr/>
          <a:lstStyle/>
          <a:p>
            <a:pPr algn="ctr"/>
            <a:r>
              <a:rPr lang="en-US" b="1" dirty="0"/>
              <a:t>What is a Slider?</a:t>
            </a:r>
          </a:p>
        </p:txBody>
      </p:sp>
      <p:sp>
        <p:nvSpPr>
          <p:cNvPr id="3" name="Content Placeholder 2">
            <a:extLst>
              <a:ext uri="{FF2B5EF4-FFF2-40B4-BE49-F238E27FC236}">
                <a16:creationId xmlns:a16="http://schemas.microsoft.com/office/drawing/2014/main" id="{7C80A473-C23F-A8FF-621A-45EB76C28CA3}"/>
              </a:ext>
            </a:extLst>
          </p:cNvPr>
          <p:cNvSpPr>
            <a:spLocks noGrp="1"/>
          </p:cNvSpPr>
          <p:nvPr>
            <p:ph idx="1"/>
          </p:nvPr>
        </p:nvSpPr>
        <p:spPr>
          <a:xfrm>
            <a:off x="2882289" y="1540189"/>
            <a:ext cx="8915400" cy="3777622"/>
          </a:xfrm>
        </p:spPr>
        <p:txBody>
          <a:bodyPr>
            <a:noAutofit/>
          </a:bodyPr>
          <a:lstStyle/>
          <a:p>
            <a:pPr marL="0" indent="0">
              <a:buNone/>
            </a:pPr>
            <a:r>
              <a:rPr lang="en-US" sz="2400" dirty="0"/>
              <a:t>Sliders are a nifty, efficient input component when you have a range of values.</a:t>
            </a:r>
          </a:p>
          <a:p>
            <a:pPr marL="0" indent="0">
              <a:buNone/>
            </a:pPr>
            <a:r>
              <a:rPr lang="en-US" sz="2400" dirty="0"/>
              <a:t> You have probably seen sliders in things like font size selectors, color pickers (think the ranges of red, green, and blue), zoom selectors, etc. </a:t>
            </a:r>
          </a:p>
          <a:p>
            <a:pPr marL="0" indent="0">
              <a:buNone/>
            </a:pPr>
            <a:r>
              <a:rPr lang="en-US" sz="2400" dirty="0"/>
              <a:t>The next slide shows how to create a slider in place.</a:t>
            </a:r>
          </a:p>
        </p:txBody>
      </p:sp>
    </p:spTree>
    <p:extLst>
      <p:ext uri="{BB962C8B-B14F-4D97-AF65-F5344CB8AC3E}">
        <p14:creationId xmlns:p14="http://schemas.microsoft.com/office/powerpoint/2010/main" val="7895536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560FE-CF01-9AFB-C24F-83C83C37C26B}"/>
              </a:ext>
            </a:extLst>
          </p:cNvPr>
          <p:cNvSpPr>
            <a:spLocks noGrp="1"/>
          </p:cNvSpPr>
          <p:nvPr>
            <p:ph type="title"/>
          </p:nvPr>
        </p:nvSpPr>
        <p:spPr/>
        <p:txBody>
          <a:bodyPr/>
          <a:lstStyle/>
          <a:p>
            <a:r>
              <a:rPr lang="en-US" dirty="0"/>
              <a:t>To Create a new Slider</a:t>
            </a:r>
          </a:p>
        </p:txBody>
      </p:sp>
      <p:sp>
        <p:nvSpPr>
          <p:cNvPr id="3" name="Content Placeholder 2">
            <a:extLst>
              <a:ext uri="{FF2B5EF4-FFF2-40B4-BE49-F238E27FC236}">
                <a16:creationId xmlns:a16="http://schemas.microsoft.com/office/drawing/2014/main" id="{9C123B1F-B359-95B6-FE04-29C66AD352F5}"/>
              </a:ext>
            </a:extLst>
          </p:cNvPr>
          <p:cNvSpPr>
            <a:spLocks noGrp="1"/>
          </p:cNvSpPr>
          <p:nvPr>
            <p:ph idx="1"/>
          </p:nvPr>
        </p:nvSpPr>
        <p:spPr>
          <a:xfrm>
            <a:off x="2085736" y="1668674"/>
            <a:ext cx="8915400" cy="3777622"/>
          </a:xfrm>
          <a:solidFill>
            <a:schemeClr val="bg1"/>
          </a:solidFill>
        </p:spPr>
        <p:txBody>
          <a:bodyPr>
            <a:normAutofit/>
          </a:bodyPr>
          <a:lstStyle/>
          <a:p>
            <a:pPr marL="0" indent="0">
              <a:buNone/>
            </a:pPr>
            <a:r>
              <a:rPr lang="en-US" sz="2400" dirty="0"/>
              <a:t>To create a new slider, you typically provide three values: the minimum (0 for our angle slider), the maximum (180), and the initial value (we’ll go for the middle at 90). </a:t>
            </a:r>
          </a:p>
          <a:p>
            <a:pPr marL="0" indent="0">
              <a:buNone/>
            </a:pPr>
            <a:r>
              <a:rPr lang="en-US" sz="2400" dirty="0"/>
              <a:t>Add a Slider to the </a:t>
            </a:r>
            <a:r>
              <a:rPr lang="en-US" sz="2400" dirty="0" err="1"/>
              <a:t>TextInputs</a:t>
            </a:r>
            <a:r>
              <a:rPr lang="en-US" sz="2400" dirty="0"/>
              <a:t> program, after the email </a:t>
            </a:r>
            <a:r>
              <a:rPr lang="en-US" sz="2400" dirty="0" err="1"/>
              <a:t>textfield</a:t>
            </a:r>
            <a:r>
              <a:rPr lang="en-US" sz="2400" dirty="0"/>
              <a:t>.</a:t>
            </a:r>
          </a:p>
          <a:p>
            <a:pPr marL="0" indent="0">
              <a:buNone/>
            </a:pPr>
            <a:r>
              <a:rPr lang="en-US" sz="2400" dirty="0"/>
              <a:t>Create the Slider Object</a:t>
            </a:r>
          </a:p>
          <a:p>
            <a:pPr marL="0" indent="0">
              <a:buNone/>
            </a:pPr>
            <a:r>
              <a:rPr lang="en-US" sz="2400" dirty="0" err="1"/>
              <a:t>JSlider</a:t>
            </a:r>
            <a:r>
              <a:rPr lang="en-US" sz="2400" dirty="0"/>
              <a:t> slider = new </a:t>
            </a:r>
            <a:r>
              <a:rPr lang="en-US" sz="2400" dirty="0" err="1"/>
              <a:t>JSlider</a:t>
            </a:r>
            <a:r>
              <a:rPr lang="en-US" sz="2400" dirty="0"/>
              <a:t>(0, 180, 90);</a:t>
            </a:r>
          </a:p>
          <a:p>
            <a:pPr marL="0" indent="0">
              <a:buNone/>
            </a:pPr>
            <a:r>
              <a:rPr lang="en-US" sz="2400" dirty="0"/>
              <a:t>Add the Slider to the frame</a:t>
            </a:r>
          </a:p>
          <a:p>
            <a:pPr marL="0" indent="0">
              <a:buNone/>
            </a:pPr>
            <a:r>
              <a:rPr lang="en-US" sz="2400" dirty="0"/>
              <a:t>Run your program and there is the slider:</a:t>
            </a:r>
          </a:p>
        </p:txBody>
      </p:sp>
      <p:pic>
        <p:nvPicPr>
          <p:cNvPr id="5" name="Picture 4">
            <a:extLst>
              <a:ext uri="{FF2B5EF4-FFF2-40B4-BE49-F238E27FC236}">
                <a16:creationId xmlns:a16="http://schemas.microsoft.com/office/drawing/2014/main" id="{99448FCA-6ED5-81A1-FA0F-779C84DE7EDD}"/>
              </a:ext>
            </a:extLst>
          </p:cNvPr>
          <p:cNvPicPr>
            <a:picLocks noChangeAspect="1"/>
          </p:cNvPicPr>
          <p:nvPr/>
        </p:nvPicPr>
        <p:blipFill>
          <a:blip r:embed="rId2"/>
          <a:stretch>
            <a:fillRect/>
          </a:stretch>
        </p:blipFill>
        <p:spPr>
          <a:xfrm>
            <a:off x="8310551" y="3817534"/>
            <a:ext cx="3591426" cy="2743583"/>
          </a:xfrm>
          <a:prstGeom prst="rect">
            <a:avLst/>
          </a:prstGeom>
          <a:noFill/>
          <a:ln w="15875">
            <a:solidFill>
              <a:schemeClr val="tx1"/>
            </a:solidFill>
          </a:ln>
        </p:spPr>
      </p:pic>
    </p:spTree>
    <p:extLst>
      <p:ext uri="{BB962C8B-B14F-4D97-AF65-F5344CB8AC3E}">
        <p14:creationId xmlns:p14="http://schemas.microsoft.com/office/powerpoint/2010/main" val="2705026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3C56-8955-FA22-D9B2-0A3C8390290F}"/>
              </a:ext>
            </a:extLst>
          </p:cNvPr>
          <p:cNvSpPr>
            <a:spLocks noGrp="1"/>
          </p:cNvSpPr>
          <p:nvPr>
            <p:ph type="title"/>
          </p:nvPr>
        </p:nvSpPr>
        <p:spPr/>
        <p:txBody>
          <a:bodyPr/>
          <a:lstStyle/>
          <a:p>
            <a:pPr algn="ctr"/>
            <a:r>
              <a:rPr lang="en-US" b="1" dirty="0" err="1"/>
              <a:t>JList</a:t>
            </a:r>
            <a:endParaRPr lang="en-US" b="1" dirty="0"/>
          </a:p>
        </p:txBody>
      </p:sp>
      <p:sp>
        <p:nvSpPr>
          <p:cNvPr id="3" name="Text Placeholder 2">
            <a:extLst>
              <a:ext uri="{FF2B5EF4-FFF2-40B4-BE49-F238E27FC236}">
                <a16:creationId xmlns:a16="http://schemas.microsoft.com/office/drawing/2014/main" id="{0343CB9B-6916-A1C6-EE18-8AEECD71EB3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429670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F104F-7AB5-24E5-8621-42D2204E6295}"/>
              </a:ext>
            </a:extLst>
          </p:cNvPr>
          <p:cNvSpPr>
            <a:spLocks noGrp="1"/>
          </p:cNvSpPr>
          <p:nvPr>
            <p:ph type="title"/>
          </p:nvPr>
        </p:nvSpPr>
        <p:spPr/>
        <p:txBody>
          <a:bodyPr/>
          <a:lstStyle/>
          <a:p>
            <a:pPr algn="ctr"/>
            <a:r>
              <a:rPr lang="en-US" b="1" dirty="0"/>
              <a:t>Why use </a:t>
            </a:r>
            <a:r>
              <a:rPr lang="en-US" b="1" dirty="0" err="1"/>
              <a:t>Jlist</a:t>
            </a:r>
            <a:r>
              <a:rPr lang="en-US" b="1" dirty="0"/>
              <a:t>?</a:t>
            </a:r>
          </a:p>
        </p:txBody>
      </p:sp>
      <p:sp>
        <p:nvSpPr>
          <p:cNvPr id="3" name="Content Placeholder 2">
            <a:extLst>
              <a:ext uri="{FF2B5EF4-FFF2-40B4-BE49-F238E27FC236}">
                <a16:creationId xmlns:a16="http://schemas.microsoft.com/office/drawing/2014/main" id="{E919C6A4-F8BC-D4B3-FC91-D2B1D3FA940F}"/>
              </a:ext>
            </a:extLst>
          </p:cNvPr>
          <p:cNvSpPr>
            <a:spLocks noGrp="1"/>
          </p:cNvSpPr>
          <p:nvPr>
            <p:ph idx="1"/>
          </p:nvPr>
        </p:nvSpPr>
        <p:spPr>
          <a:xfrm>
            <a:off x="2694719" y="1699846"/>
            <a:ext cx="8915400" cy="3777622"/>
          </a:xfrm>
        </p:spPr>
        <p:txBody>
          <a:bodyPr>
            <a:noAutofit/>
          </a:bodyPr>
          <a:lstStyle/>
          <a:p>
            <a:pPr marL="0" indent="0">
              <a:buNone/>
            </a:pPr>
            <a:r>
              <a:rPr lang="en-US" sz="2400" dirty="0"/>
              <a:t>If you have a range of values but those values are not simple, contiguous integers, the “list” UI element is a great choice. </a:t>
            </a:r>
          </a:p>
          <a:p>
            <a:pPr marL="0" indent="0">
              <a:buNone/>
            </a:pPr>
            <a:r>
              <a:rPr lang="en-US" sz="2400" dirty="0" err="1"/>
              <a:t>JList</a:t>
            </a:r>
            <a:r>
              <a:rPr lang="en-US" sz="2400" dirty="0"/>
              <a:t> is the Swing implementation of this input type. </a:t>
            </a:r>
          </a:p>
          <a:p>
            <a:pPr marL="0" indent="0">
              <a:buNone/>
            </a:pPr>
            <a:r>
              <a:rPr lang="en-US" sz="2400" dirty="0"/>
              <a:t>You can set it to allow single or multiple selections, and if you dig deeper into Swing’s features, you can produce custom views that display the items in your list with extra information or details. </a:t>
            </a:r>
          </a:p>
          <a:p>
            <a:pPr marL="0" indent="0">
              <a:buNone/>
            </a:pPr>
            <a:r>
              <a:rPr lang="en-US" sz="2400" dirty="0"/>
              <a:t>For example, you can make lists of icons, or icons and text, or multiline text, etc., etc.</a:t>
            </a:r>
          </a:p>
        </p:txBody>
      </p:sp>
    </p:spTree>
    <p:extLst>
      <p:ext uri="{BB962C8B-B14F-4D97-AF65-F5344CB8AC3E}">
        <p14:creationId xmlns:p14="http://schemas.microsoft.com/office/powerpoint/2010/main" val="24335113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CC25-E213-A433-6770-D68A02E4F4E1}"/>
              </a:ext>
            </a:extLst>
          </p:cNvPr>
          <p:cNvSpPr>
            <a:spLocks noGrp="1"/>
          </p:cNvSpPr>
          <p:nvPr>
            <p:ph type="title"/>
          </p:nvPr>
        </p:nvSpPr>
        <p:spPr/>
        <p:txBody>
          <a:bodyPr/>
          <a:lstStyle/>
          <a:p>
            <a:pPr algn="ctr"/>
            <a:r>
              <a:rPr lang="en-US" b="1" dirty="0" err="1"/>
              <a:t>JList</a:t>
            </a:r>
            <a:r>
              <a:rPr lang="en-US" b="1" dirty="0"/>
              <a:t> needs Information</a:t>
            </a:r>
          </a:p>
        </p:txBody>
      </p:sp>
      <p:sp>
        <p:nvSpPr>
          <p:cNvPr id="3" name="Content Placeholder 2">
            <a:extLst>
              <a:ext uri="{FF2B5EF4-FFF2-40B4-BE49-F238E27FC236}">
                <a16:creationId xmlns:a16="http://schemas.microsoft.com/office/drawing/2014/main" id="{7F452DD0-777B-6C6A-A518-67BB6D7109AC}"/>
              </a:ext>
            </a:extLst>
          </p:cNvPr>
          <p:cNvSpPr>
            <a:spLocks noGrp="1"/>
          </p:cNvSpPr>
          <p:nvPr>
            <p:ph idx="1"/>
          </p:nvPr>
        </p:nvSpPr>
        <p:spPr>
          <a:xfrm>
            <a:off x="2765058" y="1540189"/>
            <a:ext cx="8915400" cy="3777622"/>
          </a:xfrm>
        </p:spPr>
        <p:txBody>
          <a:bodyPr>
            <a:noAutofit/>
          </a:bodyPr>
          <a:lstStyle/>
          <a:p>
            <a:pPr marL="0" indent="0">
              <a:buNone/>
            </a:pPr>
            <a:r>
              <a:rPr lang="en-US" sz="2400" dirty="0"/>
              <a:t>Unlike the other components we’ve seen so far, </a:t>
            </a:r>
            <a:r>
              <a:rPr lang="en-US" sz="2400" dirty="0" err="1"/>
              <a:t>JList</a:t>
            </a:r>
            <a:r>
              <a:rPr lang="en-US" sz="2400" dirty="0"/>
              <a:t> requires a little more information to get started. </a:t>
            </a:r>
          </a:p>
          <a:p>
            <a:pPr marL="0" indent="0">
              <a:buNone/>
            </a:pPr>
            <a:r>
              <a:rPr lang="en-US" sz="2400" dirty="0"/>
              <a:t>To make a useful list component, you need to use one of the constructors that takes the data you intend to show. </a:t>
            </a:r>
          </a:p>
          <a:p>
            <a:pPr marL="0" indent="0">
              <a:buNone/>
            </a:pPr>
            <a:r>
              <a:rPr lang="en-US" sz="2400" dirty="0"/>
              <a:t>The simplest such constructor accepts an Object array. </a:t>
            </a:r>
          </a:p>
          <a:p>
            <a:pPr marL="0" indent="0">
              <a:buNone/>
            </a:pPr>
            <a:r>
              <a:rPr lang="en-US" sz="2400" dirty="0"/>
              <a:t>While you can pass an array of strange objects, the default behavior of </a:t>
            </a:r>
            <a:r>
              <a:rPr lang="en-US" sz="2400" dirty="0" err="1"/>
              <a:t>JList</a:t>
            </a:r>
            <a:r>
              <a:rPr lang="en-US" sz="2400" dirty="0"/>
              <a:t> will be to show the output of your objects’ </a:t>
            </a:r>
            <a:r>
              <a:rPr lang="en-US" sz="2400" dirty="0" err="1"/>
              <a:t>toString</a:t>
            </a:r>
            <a:r>
              <a:rPr lang="en-US" sz="2400" dirty="0"/>
              <a:t>() method in the list. </a:t>
            </a:r>
          </a:p>
          <a:p>
            <a:pPr marL="0" indent="0">
              <a:buNone/>
            </a:pPr>
            <a:r>
              <a:rPr lang="en-US" sz="2400" dirty="0"/>
              <a:t>Using an array of String objects is very common and produces the expected results. </a:t>
            </a:r>
          </a:p>
        </p:txBody>
      </p:sp>
    </p:spTree>
    <p:extLst>
      <p:ext uri="{BB962C8B-B14F-4D97-AF65-F5344CB8AC3E}">
        <p14:creationId xmlns:p14="http://schemas.microsoft.com/office/powerpoint/2010/main" val="109865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A671-6859-CD7E-C0E4-B322127F25BA}"/>
              </a:ext>
            </a:extLst>
          </p:cNvPr>
          <p:cNvSpPr>
            <a:spLocks noGrp="1"/>
          </p:cNvSpPr>
          <p:nvPr>
            <p:ph type="title"/>
          </p:nvPr>
        </p:nvSpPr>
        <p:spPr>
          <a:xfrm>
            <a:off x="1885950" y="624110"/>
            <a:ext cx="10115549" cy="1280890"/>
          </a:xfrm>
        </p:spPr>
        <p:txBody>
          <a:bodyPr>
            <a:normAutofit fontScale="90000"/>
          </a:bodyPr>
          <a:lstStyle/>
          <a:p>
            <a:r>
              <a:rPr lang="en-US" dirty="0"/>
              <a:t>Open a new file on Notepad++.  Call it </a:t>
            </a:r>
            <a:r>
              <a:rPr lang="en-US" dirty="0" err="1"/>
              <a:t>JListDemo</a:t>
            </a:r>
            <a:br>
              <a:rPr lang="en-US" dirty="0"/>
            </a:br>
            <a:endParaRPr lang="en-US" dirty="0"/>
          </a:p>
        </p:txBody>
      </p:sp>
      <p:sp>
        <p:nvSpPr>
          <p:cNvPr id="3" name="Content Placeholder 2">
            <a:extLst>
              <a:ext uri="{FF2B5EF4-FFF2-40B4-BE49-F238E27FC236}">
                <a16:creationId xmlns:a16="http://schemas.microsoft.com/office/drawing/2014/main" id="{8BD6108C-71B1-228A-529E-C23DB2080C22}"/>
              </a:ext>
            </a:extLst>
          </p:cNvPr>
          <p:cNvSpPr>
            <a:spLocks noGrp="1"/>
          </p:cNvSpPr>
          <p:nvPr>
            <p:ph idx="1"/>
          </p:nvPr>
        </p:nvSpPr>
        <p:spPr>
          <a:xfrm>
            <a:off x="2589212" y="1228435"/>
            <a:ext cx="8915400" cy="5514109"/>
          </a:xfrm>
        </p:spPr>
        <p:txBody>
          <a:bodyPr>
            <a:normAutofit fontScale="92500" lnSpcReduction="20000"/>
          </a:bodyPr>
          <a:lstStyle/>
          <a:p>
            <a:pPr marL="0" indent="0">
              <a:buNone/>
            </a:pPr>
            <a:r>
              <a:rPr lang="en-US" dirty="0"/>
              <a:t>import </a:t>
            </a:r>
            <a:r>
              <a:rPr lang="en-US" dirty="0" err="1"/>
              <a:t>javax.swing</a:t>
            </a:r>
            <a:r>
              <a:rPr lang="en-US" dirty="0"/>
              <a:t>.*;</a:t>
            </a:r>
          </a:p>
          <a:p>
            <a:pPr marL="0" indent="0">
              <a:buNone/>
            </a:pPr>
            <a:r>
              <a:rPr lang="en-US" dirty="0"/>
              <a:t>import </a:t>
            </a:r>
            <a:r>
              <a:rPr lang="en-US" dirty="0" err="1"/>
              <a:t>java.awt</a:t>
            </a:r>
            <a:r>
              <a:rPr lang="en-US" dirty="0"/>
              <a:t>.*;</a:t>
            </a:r>
          </a:p>
          <a:p>
            <a:pPr marL="0" indent="0">
              <a:buNone/>
            </a:pPr>
            <a:endParaRPr lang="en-US" dirty="0"/>
          </a:p>
          <a:p>
            <a:pPr marL="0" indent="0">
              <a:buNone/>
            </a:pPr>
            <a:r>
              <a:rPr lang="en-US" dirty="0"/>
              <a:t>public class </a:t>
            </a:r>
            <a:r>
              <a:rPr lang="en-US" dirty="0" err="1"/>
              <a:t>JListDemo</a:t>
            </a: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JFrame</a:t>
            </a:r>
            <a:r>
              <a:rPr lang="en-US" dirty="0"/>
              <a:t> frame = new </a:t>
            </a:r>
            <a:r>
              <a:rPr lang="en-US" dirty="0" err="1"/>
              <a:t>JFrame</a:t>
            </a:r>
            <a:r>
              <a:rPr lang="en-US" dirty="0"/>
              <a:t>( "</a:t>
            </a:r>
            <a:r>
              <a:rPr lang="en-US" dirty="0" err="1"/>
              <a:t>JTextField</a:t>
            </a:r>
            <a:r>
              <a:rPr lang="en-US" dirty="0"/>
              <a:t> Examples" );</a:t>
            </a:r>
          </a:p>
          <a:p>
            <a:pPr marL="0" indent="0">
              <a:buNone/>
            </a:pPr>
            <a:r>
              <a:rPr lang="en-US" dirty="0"/>
              <a:t>        	</a:t>
            </a:r>
            <a:r>
              <a:rPr lang="en-US" dirty="0" err="1"/>
              <a:t>frame.setLayout</a:t>
            </a:r>
            <a:r>
              <a:rPr lang="en-US" dirty="0"/>
              <a:t>(new </a:t>
            </a:r>
            <a:r>
              <a:rPr lang="en-US" dirty="0" err="1"/>
              <a:t>FlowLayout</a:t>
            </a:r>
            <a:r>
              <a:rPr lang="en-US" dirty="0"/>
              <a:t>());</a:t>
            </a:r>
          </a:p>
          <a:p>
            <a:pPr marL="0" indent="0">
              <a:buNone/>
            </a:pPr>
            <a:r>
              <a:rPr lang="en-US" dirty="0"/>
              <a:t>       	 	</a:t>
            </a:r>
            <a:r>
              <a:rPr lang="en-US" dirty="0" err="1"/>
              <a:t>frame.setDefaultCloseOperation</a:t>
            </a:r>
            <a:r>
              <a:rPr lang="en-US" dirty="0"/>
              <a:t>(</a:t>
            </a:r>
            <a:r>
              <a:rPr lang="en-US" dirty="0" err="1"/>
              <a:t>JFrame.EXIT_ON_CLOSE</a:t>
            </a:r>
            <a:r>
              <a:rPr lang="en-US" dirty="0"/>
              <a:t>);</a:t>
            </a:r>
          </a:p>
          <a:p>
            <a:pPr marL="0" indent="0">
              <a:buNone/>
            </a:pPr>
            <a:r>
              <a:rPr lang="en-US" dirty="0"/>
              <a:t>		</a:t>
            </a:r>
            <a:r>
              <a:rPr lang="en-US" dirty="0" err="1"/>
              <a:t>frame.setLocationRelativeTo</a:t>
            </a:r>
            <a:r>
              <a:rPr lang="en-US" dirty="0"/>
              <a:t>(null);</a:t>
            </a:r>
          </a:p>
          <a:p>
            <a:pPr marL="0" indent="0">
              <a:buNone/>
            </a:pPr>
            <a:r>
              <a:rPr lang="en-US" dirty="0"/>
              <a:t>        	</a:t>
            </a:r>
            <a:r>
              <a:rPr lang="en-US" dirty="0" err="1"/>
              <a:t>frame.setSize</a:t>
            </a:r>
            <a:r>
              <a:rPr lang="en-US" dirty="0"/>
              <a:t>( 400, 200 );		</a:t>
            </a:r>
          </a:p>
          <a:p>
            <a:pPr marL="0" indent="0">
              <a:buNone/>
            </a:pPr>
            <a:r>
              <a:rPr lang="en-US" dirty="0"/>
              <a:t>		String[] cities = new String[] { "Atlanta", "Boston", "Chicago",  "Denver" };  </a:t>
            </a:r>
          </a:p>
          <a:p>
            <a:pPr marL="0" indent="0">
              <a:buNone/>
            </a:pPr>
            <a:r>
              <a:rPr lang="en-US" dirty="0"/>
              <a:t>		</a:t>
            </a:r>
            <a:r>
              <a:rPr lang="en-US" dirty="0" err="1"/>
              <a:t>JList</a:t>
            </a:r>
            <a:r>
              <a:rPr lang="en-US" dirty="0"/>
              <a:t> </a:t>
            </a:r>
            <a:r>
              <a:rPr lang="en-US" dirty="0" err="1"/>
              <a:t>cityList</a:t>
            </a:r>
            <a:r>
              <a:rPr lang="en-US" dirty="0"/>
              <a:t> = new </a:t>
            </a:r>
            <a:r>
              <a:rPr lang="en-US" dirty="0" err="1"/>
              <a:t>JList</a:t>
            </a:r>
            <a:r>
              <a:rPr lang="en-US" dirty="0"/>
              <a:t>&lt;String&gt;(cities);	</a:t>
            </a:r>
          </a:p>
          <a:p>
            <a:pPr marL="0" indent="0">
              <a:buNone/>
            </a:pPr>
            <a:r>
              <a:rPr lang="en-US" dirty="0"/>
              <a:t>		</a:t>
            </a:r>
            <a:r>
              <a:rPr lang="en-US" dirty="0" err="1"/>
              <a:t>frame.add</a:t>
            </a:r>
            <a:r>
              <a:rPr lang="en-US" dirty="0"/>
              <a:t>(</a:t>
            </a:r>
            <a:r>
              <a:rPr lang="en-US" dirty="0" err="1"/>
              <a:t>cityList</a:t>
            </a:r>
            <a:r>
              <a:rPr lang="en-US" dirty="0"/>
              <a:t>);		</a:t>
            </a:r>
          </a:p>
          <a:p>
            <a:pPr marL="0" indent="0">
              <a:buNone/>
            </a:pPr>
            <a:r>
              <a:rPr lang="en-US" dirty="0"/>
              <a:t>		</a:t>
            </a:r>
            <a:r>
              <a:rPr lang="en-US" dirty="0" err="1"/>
              <a:t>frame.setVisible</a:t>
            </a:r>
            <a:r>
              <a:rPr lang="en-US" dirty="0"/>
              <a:t>(true);</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74262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7F90F-4BFF-3065-DBBE-DF0BFD310F6C}"/>
              </a:ext>
            </a:extLst>
          </p:cNvPr>
          <p:cNvSpPr>
            <a:spLocks noGrp="1"/>
          </p:cNvSpPr>
          <p:nvPr>
            <p:ph type="title"/>
          </p:nvPr>
        </p:nvSpPr>
        <p:spPr/>
        <p:txBody>
          <a:bodyPr/>
          <a:lstStyle/>
          <a:p>
            <a:pPr algn="ctr"/>
            <a:r>
              <a:rPr lang="en-US" b="1" dirty="0"/>
              <a:t>Run your project</a:t>
            </a:r>
          </a:p>
        </p:txBody>
      </p:sp>
      <p:sp>
        <p:nvSpPr>
          <p:cNvPr id="3" name="Content Placeholder 2">
            <a:extLst>
              <a:ext uri="{FF2B5EF4-FFF2-40B4-BE49-F238E27FC236}">
                <a16:creationId xmlns:a16="http://schemas.microsoft.com/office/drawing/2014/main" id="{6CC31420-127A-7496-41EA-580108086CA4}"/>
              </a:ext>
            </a:extLst>
          </p:cNvPr>
          <p:cNvSpPr>
            <a:spLocks noGrp="1"/>
          </p:cNvSpPr>
          <p:nvPr>
            <p:ph idx="1"/>
          </p:nvPr>
        </p:nvSpPr>
        <p:spPr/>
        <p:txBody>
          <a:bodyPr/>
          <a:lstStyle/>
          <a:p>
            <a:pPr marL="0" indent="0">
              <a:buNone/>
            </a:pPr>
            <a:r>
              <a:rPr lang="en-US" sz="2400" dirty="0"/>
              <a:t>See your </a:t>
            </a:r>
            <a:r>
              <a:rPr lang="en-US" sz="2400" dirty="0" err="1"/>
              <a:t>JList</a:t>
            </a:r>
            <a:r>
              <a:rPr lang="en-US" sz="2400" dirty="0"/>
              <a:t>:</a:t>
            </a:r>
          </a:p>
          <a:p>
            <a:pPr marL="0" indent="0">
              <a:buNone/>
            </a:pPr>
            <a:endParaRPr lang="en-US" dirty="0"/>
          </a:p>
        </p:txBody>
      </p:sp>
      <p:pic>
        <p:nvPicPr>
          <p:cNvPr id="5" name="Picture 4">
            <a:extLst>
              <a:ext uri="{FF2B5EF4-FFF2-40B4-BE49-F238E27FC236}">
                <a16:creationId xmlns:a16="http://schemas.microsoft.com/office/drawing/2014/main" id="{BCAAD97B-F94D-6406-26A1-39489C2B7A2E}"/>
              </a:ext>
            </a:extLst>
          </p:cNvPr>
          <p:cNvPicPr>
            <a:picLocks noChangeAspect="1"/>
          </p:cNvPicPr>
          <p:nvPr/>
        </p:nvPicPr>
        <p:blipFill>
          <a:blip r:embed="rId2"/>
          <a:stretch>
            <a:fillRect/>
          </a:stretch>
        </p:blipFill>
        <p:spPr>
          <a:xfrm>
            <a:off x="4606913" y="3060251"/>
            <a:ext cx="4572639" cy="2405399"/>
          </a:xfrm>
          <a:prstGeom prst="rect">
            <a:avLst/>
          </a:prstGeom>
        </p:spPr>
      </p:pic>
    </p:spTree>
    <p:extLst>
      <p:ext uri="{BB962C8B-B14F-4D97-AF65-F5344CB8AC3E}">
        <p14:creationId xmlns:p14="http://schemas.microsoft.com/office/powerpoint/2010/main" val="23449556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ED5E-296B-4105-7D61-730D405455BE}"/>
              </a:ext>
            </a:extLst>
          </p:cNvPr>
          <p:cNvSpPr>
            <a:spLocks noGrp="1"/>
          </p:cNvSpPr>
          <p:nvPr>
            <p:ph type="title"/>
          </p:nvPr>
        </p:nvSpPr>
        <p:spPr/>
        <p:txBody>
          <a:bodyPr/>
          <a:lstStyle/>
          <a:p>
            <a:pPr algn="ctr"/>
            <a:r>
              <a:rPr lang="en-US" b="1" dirty="0" err="1"/>
              <a:t>JPanel</a:t>
            </a:r>
            <a:endParaRPr lang="en-US" b="1" dirty="0"/>
          </a:p>
        </p:txBody>
      </p:sp>
      <p:sp>
        <p:nvSpPr>
          <p:cNvPr id="3" name="Content Placeholder 2">
            <a:extLst>
              <a:ext uri="{FF2B5EF4-FFF2-40B4-BE49-F238E27FC236}">
                <a16:creationId xmlns:a16="http://schemas.microsoft.com/office/drawing/2014/main" id="{5B3252B5-6594-9ED3-E00F-75D1A2253570}"/>
              </a:ext>
            </a:extLst>
          </p:cNvPr>
          <p:cNvSpPr>
            <a:spLocks noGrp="1"/>
          </p:cNvSpPr>
          <p:nvPr>
            <p:ph idx="1"/>
          </p:nvPr>
        </p:nvSpPr>
        <p:spPr/>
        <p:txBody>
          <a:bodyPr/>
          <a:lstStyle/>
          <a:p>
            <a:pPr marL="0" indent="0">
              <a:buNone/>
            </a:pPr>
            <a:r>
              <a:rPr lang="en-US" dirty="0"/>
              <a:t>The </a:t>
            </a:r>
            <a:r>
              <a:rPr lang="en-US" dirty="0" err="1"/>
              <a:t>JPanel</a:t>
            </a:r>
            <a:r>
              <a:rPr lang="en-US" dirty="0"/>
              <a:t> class is the go-to container in Swing. It is a component just like </a:t>
            </a:r>
            <a:r>
              <a:rPr lang="en-US" dirty="0" err="1"/>
              <a:t>JButton</a:t>
            </a:r>
            <a:r>
              <a:rPr lang="en-US" dirty="0"/>
              <a:t> or </a:t>
            </a:r>
            <a:r>
              <a:rPr lang="en-US" dirty="0" err="1"/>
              <a:t>JLabel</a:t>
            </a:r>
            <a:r>
              <a:rPr lang="en-US" dirty="0"/>
              <a:t>, so your panels can contain other panels. </a:t>
            </a:r>
          </a:p>
          <a:p>
            <a:pPr marL="0" indent="0">
              <a:buNone/>
            </a:pPr>
            <a:r>
              <a:rPr lang="en-US" dirty="0"/>
              <a:t>Such nesting often plays a big role in the layout of an application. For example, you could create a </a:t>
            </a:r>
            <a:r>
              <a:rPr lang="en-US" dirty="0" err="1"/>
              <a:t>JPanel</a:t>
            </a:r>
            <a:r>
              <a:rPr lang="en-US" dirty="0"/>
              <a:t> to house the formatting buttons of a text editor in a “toolbar” so that it is easy to move that toolbar around according to user preferences.</a:t>
            </a:r>
          </a:p>
          <a:p>
            <a:pPr marL="0" indent="0">
              <a:buNone/>
            </a:pPr>
            <a:endParaRPr lang="en-US" dirty="0"/>
          </a:p>
          <a:p>
            <a:pPr marL="0" indent="0">
              <a:buNone/>
            </a:pPr>
            <a:r>
              <a:rPr lang="en-US" dirty="0" err="1"/>
              <a:t>JPanel</a:t>
            </a:r>
            <a:r>
              <a:rPr lang="en-US" dirty="0"/>
              <a:t> gives you the ability to add and remove components from the screen. (More accurately, those add/remove methods are inherited from the Container class, but we access them through our </a:t>
            </a:r>
            <a:r>
              <a:rPr lang="en-US" dirty="0" err="1"/>
              <a:t>JPanel</a:t>
            </a:r>
            <a:r>
              <a:rPr lang="en-US" dirty="0"/>
              <a:t> objects.) </a:t>
            </a:r>
          </a:p>
        </p:txBody>
      </p:sp>
    </p:spTree>
    <p:extLst>
      <p:ext uri="{BB962C8B-B14F-4D97-AF65-F5344CB8AC3E}">
        <p14:creationId xmlns:p14="http://schemas.microsoft.com/office/powerpoint/2010/main" val="2950878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483</TotalTime>
  <Words>3275</Words>
  <Application>Microsoft Office PowerPoint</Application>
  <PresentationFormat>Widescreen</PresentationFormat>
  <Paragraphs>312</Paragraphs>
  <Slides>45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Courier New</vt:lpstr>
      <vt:lpstr>Noto Serif</vt:lpstr>
      <vt:lpstr>Wingdings 3</vt:lpstr>
      <vt:lpstr>Wisp</vt:lpstr>
      <vt:lpstr>Swing Components</vt:lpstr>
      <vt:lpstr>JLabels</vt:lpstr>
      <vt:lpstr>JLabels</vt:lpstr>
      <vt:lpstr>class Labels </vt:lpstr>
      <vt:lpstr>Add our Label</vt:lpstr>
      <vt:lpstr>Now compile and run your project</vt:lpstr>
      <vt:lpstr>Set the Layout Manager for the Window</vt:lpstr>
      <vt:lpstr>Now compile and run your project</vt:lpstr>
      <vt:lpstr>Location of Window</vt:lpstr>
      <vt:lpstr>Set the Action on Close</vt:lpstr>
      <vt:lpstr>Operations</vt:lpstr>
      <vt:lpstr>Our Choice</vt:lpstr>
      <vt:lpstr>The Result</vt:lpstr>
      <vt:lpstr>Let’s do more!</vt:lpstr>
      <vt:lpstr>PowerPoint Presentation</vt:lpstr>
      <vt:lpstr>Run your program and see:</vt:lpstr>
      <vt:lpstr>Set the Labels background colors</vt:lpstr>
      <vt:lpstr>PowerPoint Presentation</vt:lpstr>
      <vt:lpstr>Now compile and run your project</vt:lpstr>
      <vt:lpstr>Change the style of the text, and its location in the label</vt:lpstr>
      <vt:lpstr>PowerPoint Presentation</vt:lpstr>
      <vt:lpstr>PowerPoint Presentation</vt:lpstr>
      <vt:lpstr>Buttons</vt:lpstr>
      <vt:lpstr>Buttons</vt:lpstr>
      <vt:lpstr>Buttons React to Being Pressed</vt:lpstr>
      <vt:lpstr>JPanel</vt:lpstr>
      <vt:lpstr>Text Components</vt:lpstr>
      <vt:lpstr>Text Components </vt:lpstr>
      <vt:lpstr>JTextFields</vt:lpstr>
      <vt:lpstr>Create a new  Program, TextInputs</vt:lpstr>
      <vt:lpstr>Size of a Textfield</vt:lpstr>
      <vt:lpstr> We can create an empty text area with a similar constructor as the one we used for JTextField, but this time specify the number of rows in addition to the number of columns.  The code to add our text area to our running TextInput demo app is below, and the results are shown:     JLabel bodyLabel = new JLabel("Body:");     JTextArea bodyArea = new JTextArea(10,30)  //After the the other objects already added, add:     frame.add(bodyLabel);     frame.add(bodyArea); </vt:lpstr>
      <vt:lpstr>Add a Text Area</vt:lpstr>
      <vt:lpstr>Set TextArea Properties</vt:lpstr>
      <vt:lpstr>JTextArea Properties</vt:lpstr>
      <vt:lpstr>Text Scrolling</vt:lpstr>
      <vt:lpstr>JSlider</vt:lpstr>
      <vt:lpstr>What is a Slider?</vt:lpstr>
      <vt:lpstr>To Create a new Slider</vt:lpstr>
      <vt:lpstr>JList</vt:lpstr>
      <vt:lpstr>Why use Jlist?</vt:lpstr>
      <vt:lpstr>JList needs Information</vt:lpstr>
      <vt:lpstr>Open a new file on Notepad++.  Call it JListDemo </vt:lpstr>
      <vt:lpstr>Run your project</vt:lpstr>
      <vt:lpstr>JPanel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Desktop Applications</dc:title>
  <dc:creator>Ivonne Nelson</dc:creator>
  <cp:lastModifiedBy>NELSON, IVONNE</cp:lastModifiedBy>
  <cp:revision>9</cp:revision>
  <dcterms:created xsi:type="dcterms:W3CDTF">2022-12-26T23:15:39Z</dcterms:created>
  <dcterms:modified xsi:type="dcterms:W3CDTF">2024-06-23T20:55:45Z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2024-06-23T20:55:45Z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14dd6272-7e04-440c-932d-6ad4e55f4585</vt:lpwstr>
  </property>
  <property fmtid="{D5CDD505-2E9C-101B-9397-08002B2CF9AE}" pid="8" name="MSIP_Label_d8bb7484-22c2-4b98-9fb8-3ab13d821527_ContentBits">
    <vt:lpwstr>0</vt:lpwstr>
  </property>
</Properties>
</file>