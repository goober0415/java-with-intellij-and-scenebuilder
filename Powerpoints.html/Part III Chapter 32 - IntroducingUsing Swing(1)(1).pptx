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sldIdLst>
    <p:sldId id="256" r:id="rId2"/>
    <p:sldId id="339" r:id="rId3"/>
    <p:sldId id="340" r:id="rId4"/>
    <p:sldId id="257" r:id="rId5"/>
    <p:sldId id="341" r:id="rId6"/>
    <p:sldId id="342" r:id="rId7"/>
    <p:sldId id="343" r:id="rId8"/>
    <p:sldId id="344" r:id="rId9"/>
    <p:sldId id="345" r:id="rId10"/>
    <p:sldId id="346" r:id="rId11"/>
    <p:sldId id="348" r:id="rId12"/>
    <p:sldId id="354" r:id="rId13"/>
    <p:sldId id="347" r:id="rId14"/>
    <p:sldId id="349" r:id="rId15"/>
    <p:sldId id="350" r:id="rId16"/>
    <p:sldId id="351" r:id="rId17"/>
    <p:sldId id="338" r:id="rId18"/>
    <p:sldId id="259" r:id="rId19"/>
    <p:sldId id="260" r:id="rId20"/>
    <p:sldId id="265" r:id="rId21"/>
    <p:sldId id="266" r:id="rId22"/>
    <p:sldId id="267" r:id="rId23"/>
    <p:sldId id="268" r:id="rId24"/>
    <p:sldId id="269" r:id="rId25"/>
    <p:sldId id="352" r:id="rId26"/>
    <p:sldId id="353" r:id="rId27"/>
    <p:sldId id="270" r:id="rId28"/>
    <p:sldId id="322" r:id="rId29"/>
    <p:sldId id="328" r:id="rId30"/>
    <p:sldId id="324" r:id="rId31"/>
    <p:sldId id="323" r:id="rId32"/>
    <p:sldId id="325" r:id="rId33"/>
    <p:sldId id="326" r:id="rId34"/>
    <p:sldId id="357" r:id="rId35"/>
    <p:sldId id="358" r:id="rId36"/>
    <p:sldId id="359" r:id="rId37"/>
    <p:sldId id="360" r:id="rId38"/>
    <p:sldId id="355" r:id="rId39"/>
    <p:sldId id="356"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90" y="12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514A22-E9D2-42BB-8BEF-6FCEE1308049}" type="doc">
      <dgm:prSet loTypeId="urn:microsoft.com/office/officeart/2005/8/layout/hProcess9" loCatId="process" qsTypeId="urn:microsoft.com/office/officeart/2005/8/quickstyle/simple1" qsCatId="simple" csTypeId="urn:microsoft.com/office/officeart/2005/8/colors/accent4_2" csCatId="accent4"/>
      <dgm:spPr/>
      <dgm:t>
        <a:bodyPr/>
        <a:lstStyle/>
        <a:p>
          <a:endParaRPr lang="en-US"/>
        </a:p>
      </dgm:t>
    </dgm:pt>
    <dgm:pt modelId="{FFF50D97-3295-4637-A2D2-4633E06E607E}">
      <dgm:prSet/>
      <dgm:spPr/>
      <dgm:t>
        <a:bodyPr/>
        <a:lstStyle/>
        <a:p>
          <a:r>
            <a:rPr lang="en-US" dirty="0"/>
            <a:t>Object</a:t>
          </a:r>
        </a:p>
      </dgm:t>
    </dgm:pt>
    <dgm:pt modelId="{2905DC77-DFA0-4CE7-A835-C9FED29B4723}" type="parTrans" cxnId="{FD0F71F5-1867-4C57-B6ED-5C63B9F50F9B}">
      <dgm:prSet/>
      <dgm:spPr/>
      <dgm:t>
        <a:bodyPr/>
        <a:lstStyle/>
        <a:p>
          <a:endParaRPr lang="en-US"/>
        </a:p>
      </dgm:t>
    </dgm:pt>
    <dgm:pt modelId="{6AF12222-845D-4242-A19E-798C65DAFCF2}" type="sibTrans" cxnId="{FD0F71F5-1867-4C57-B6ED-5C63B9F50F9B}">
      <dgm:prSet/>
      <dgm:spPr/>
      <dgm:t>
        <a:bodyPr/>
        <a:lstStyle/>
        <a:p>
          <a:endParaRPr lang="en-US"/>
        </a:p>
      </dgm:t>
    </dgm:pt>
    <dgm:pt modelId="{86C9BE92-43FF-4352-A17F-20BB848FAC7C}">
      <dgm:prSet/>
      <dgm:spPr/>
      <dgm:t>
        <a:bodyPr/>
        <a:lstStyle/>
        <a:p>
          <a:r>
            <a:rPr lang="en-US"/>
            <a:t>Component</a:t>
          </a:r>
        </a:p>
      </dgm:t>
    </dgm:pt>
    <dgm:pt modelId="{C120794C-C7D0-46F0-9C7F-98117F90BEAE}" type="parTrans" cxnId="{182503EF-A036-44E7-A2EE-2D2A4B682F2A}">
      <dgm:prSet/>
      <dgm:spPr/>
      <dgm:t>
        <a:bodyPr/>
        <a:lstStyle/>
        <a:p>
          <a:endParaRPr lang="en-US"/>
        </a:p>
      </dgm:t>
    </dgm:pt>
    <dgm:pt modelId="{11096737-6DBB-4805-A057-0D5F978A61A2}" type="sibTrans" cxnId="{182503EF-A036-44E7-A2EE-2D2A4B682F2A}">
      <dgm:prSet/>
      <dgm:spPr/>
      <dgm:t>
        <a:bodyPr/>
        <a:lstStyle/>
        <a:p>
          <a:endParaRPr lang="en-US"/>
        </a:p>
      </dgm:t>
    </dgm:pt>
    <dgm:pt modelId="{7C2A5BAE-3BDC-4C11-92F2-511311540A22}">
      <dgm:prSet/>
      <dgm:spPr/>
      <dgm:t>
        <a:bodyPr/>
        <a:lstStyle/>
        <a:p>
          <a:r>
            <a:rPr lang="en-US"/>
            <a:t>Container</a:t>
          </a:r>
        </a:p>
      </dgm:t>
    </dgm:pt>
    <dgm:pt modelId="{AA3B3205-262F-4078-9C99-7F6C721ADC7B}" type="parTrans" cxnId="{0ECCF32B-AB73-4BAE-99A3-32CBE7CB42B1}">
      <dgm:prSet/>
      <dgm:spPr/>
      <dgm:t>
        <a:bodyPr/>
        <a:lstStyle/>
        <a:p>
          <a:endParaRPr lang="en-US"/>
        </a:p>
      </dgm:t>
    </dgm:pt>
    <dgm:pt modelId="{F11FEAB1-BA37-4720-9E2D-C7675FD1ECD9}" type="sibTrans" cxnId="{0ECCF32B-AB73-4BAE-99A3-32CBE7CB42B1}">
      <dgm:prSet/>
      <dgm:spPr/>
      <dgm:t>
        <a:bodyPr/>
        <a:lstStyle/>
        <a:p>
          <a:endParaRPr lang="en-US"/>
        </a:p>
      </dgm:t>
    </dgm:pt>
    <dgm:pt modelId="{3BFAF07F-55C2-4451-B853-D65F40360E7F}">
      <dgm:prSet/>
      <dgm:spPr/>
      <dgm:t>
        <a:bodyPr/>
        <a:lstStyle/>
        <a:p>
          <a:r>
            <a:rPr lang="en-US"/>
            <a:t>Window</a:t>
          </a:r>
        </a:p>
      </dgm:t>
    </dgm:pt>
    <dgm:pt modelId="{C150F151-5AA8-4C61-B776-B9C83FFE11E6}" type="parTrans" cxnId="{38298DC2-4FE3-4513-9F10-0836D721606B}">
      <dgm:prSet/>
      <dgm:spPr/>
      <dgm:t>
        <a:bodyPr/>
        <a:lstStyle/>
        <a:p>
          <a:endParaRPr lang="en-US"/>
        </a:p>
      </dgm:t>
    </dgm:pt>
    <dgm:pt modelId="{650290C6-F855-4DD4-B3EE-E24ED05B2B73}" type="sibTrans" cxnId="{38298DC2-4FE3-4513-9F10-0836D721606B}">
      <dgm:prSet/>
      <dgm:spPr/>
      <dgm:t>
        <a:bodyPr/>
        <a:lstStyle/>
        <a:p>
          <a:endParaRPr lang="en-US"/>
        </a:p>
      </dgm:t>
    </dgm:pt>
    <dgm:pt modelId="{0FB818EF-6B23-4846-9680-5DFE6E72F16F}">
      <dgm:prSet/>
      <dgm:spPr/>
      <dgm:t>
        <a:bodyPr/>
        <a:lstStyle/>
        <a:p>
          <a:r>
            <a:rPr lang="en-US"/>
            <a:t>Frame</a:t>
          </a:r>
        </a:p>
      </dgm:t>
    </dgm:pt>
    <dgm:pt modelId="{A23991EF-EDF4-4ED1-98F0-D9AF4C9D5366}" type="parTrans" cxnId="{53A690AE-61BB-4DAF-889F-962D0768E66F}">
      <dgm:prSet/>
      <dgm:spPr/>
      <dgm:t>
        <a:bodyPr/>
        <a:lstStyle/>
        <a:p>
          <a:endParaRPr lang="en-US"/>
        </a:p>
      </dgm:t>
    </dgm:pt>
    <dgm:pt modelId="{D0D07122-9A15-4A3D-A909-991F748B2C68}" type="sibTrans" cxnId="{53A690AE-61BB-4DAF-889F-962D0768E66F}">
      <dgm:prSet/>
      <dgm:spPr/>
      <dgm:t>
        <a:bodyPr/>
        <a:lstStyle/>
        <a:p>
          <a:endParaRPr lang="en-US"/>
        </a:p>
      </dgm:t>
    </dgm:pt>
    <dgm:pt modelId="{CDCECE0A-463B-4D96-93F9-67F0FE27ACF6}">
      <dgm:prSet/>
      <dgm:spPr/>
      <dgm:t>
        <a:bodyPr/>
        <a:lstStyle/>
        <a:p>
          <a:r>
            <a:rPr lang="en-US"/>
            <a:t>JFrame</a:t>
          </a:r>
        </a:p>
      </dgm:t>
    </dgm:pt>
    <dgm:pt modelId="{2EC571A3-35BA-480A-95B2-B5484BA6C62A}" type="parTrans" cxnId="{970373C7-6E3A-40C1-A41B-DE4C10940B7A}">
      <dgm:prSet/>
      <dgm:spPr/>
      <dgm:t>
        <a:bodyPr/>
        <a:lstStyle/>
        <a:p>
          <a:endParaRPr lang="en-US"/>
        </a:p>
      </dgm:t>
    </dgm:pt>
    <dgm:pt modelId="{50661331-9EB5-40E4-8CF6-CFE35E139C4A}" type="sibTrans" cxnId="{970373C7-6E3A-40C1-A41B-DE4C10940B7A}">
      <dgm:prSet/>
      <dgm:spPr/>
      <dgm:t>
        <a:bodyPr/>
        <a:lstStyle/>
        <a:p>
          <a:endParaRPr lang="en-US"/>
        </a:p>
      </dgm:t>
    </dgm:pt>
    <dgm:pt modelId="{56659CAD-F4AA-495C-9017-7D6136A02645}" type="pres">
      <dgm:prSet presAssocID="{72514A22-E9D2-42BB-8BEF-6FCEE1308049}" presName="CompostProcess" presStyleCnt="0">
        <dgm:presLayoutVars>
          <dgm:dir/>
          <dgm:resizeHandles val="exact"/>
        </dgm:presLayoutVars>
      </dgm:prSet>
      <dgm:spPr/>
    </dgm:pt>
    <dgm:pt modelId="{BBE64D56-8083-4675-A74B-5C38DBBD90F1}" type="pres">
      <dgm:prSet presAssocID="{72514A22-E9D2-42BB-8BEF-6FCEE1308049}" presName="arrow" presStyleLbl="bgShp" presStyleIdx="0" presStyleCnt="1" custLinFactNeighborX="751" custLinFactNeighborY="-1411"/>
      <dgm:spPr/>
    </dgm:pt>
    <dgm:pt modelId="{ED52C4C6-EF72-49BF-87B7-F0519B0308D6}" type="pres">
      <dgm:prSet presAssocID="{72514A22-E9D2-42BB-8BEF-6FCEE1308049}" presName="linearProcess" presStyleCnt="0"/>
      <dgm:spPr/>
    </dgm:pt>
    <dgm:pt modelId="{42983C4C-982B-4935-99A3-322AD57877F1}" type="pres">
      <dgm:prSet presAssocID="{FFF50D97-3295-4637-A2D2-4633E06E607E}" presName="textNode" presStyleLbl="node1" presStyleIdx="0" presStyleCnt="6">
        <dgm:presLayoutVars>
          <dgm:bulletEnabled val="1"/>
        </dgm:presLayoutVars>
      </dgm:prSet>
      <dgm:spPr/>
    </dgm:pt>
    <dgm:pt modelId="{B197ED9F-C710-49E9-974A-DDD2C4F40846}" type="pres">
      <dgm:prSet presAssocID="{6AF12222-845D-4242-A19E-798C65DAFCF2}" presName="sibTrans" presStyleCnt="0"/>
      <dgm:spPr/>
    </dgm:pt>
    <dgm:pt modelId="{F5B18333-9439-40C1-AAA7-673BD5A067E6}" type="pres">
      <dgm:prSet presAssocID="{86C9BE92-43FF-4352-A17F-20BB848FAC7C}" presName="textNode" presStyleLbl="node1" presStyleIdx="1" presStyleCnt="6">
        <dgm:presLayoutVars>
          <dgm:bulletEnabled val="1"/>
        </dgm:presLayoutVars>
      </dgm:prSet>
      <dgm:spPr/>
    </dgm:pt>
    <dgm:pt modelId="{BFDA592E-AD99-4077-8E51-2B0F24E4F566}" type="pres">
      <dgm:prSet presAssocID="{11096737-6DBB-4805-A057-0D5F978A61A2}" presName="sibTrans" presStyleCnt="0"/>
      <dgm:spPr/>
    </dgm:pt>
    <dgm:pt modelId="{6C8B480C-8F2F-46E5-AE18-F17141BC7062}" type="pres">
      <dgm:prSet presAssocID="{7C2A5BAE-3BDC-4C11-92F2-511311540A22}" presName="textNode" presStyleLbl="node1" presStyleIdx="2" presStyleCnt="6">
        <dgm:presLayoutVars>
          <dgm:bulletEnabled val="1"/>
        </dgm:presLayoutVars>
      </dgm:prSet>
      <dgm:spPr/>
    </dgm:pt>
    <dgm:pt modelId="{C2ADE9B8-72B7-4774-9C17-BFDFCD833874}" type="pres">
      <dgm:prSet presAssocID="{F11FEAB1-BA37-4720-9E2D-C7675FD1ECD9}" presName="sibTrans" presStyleCnt="0"/>
      <dgm:spPr/>
    </dgm:pt>
    <dgm:pt modelId="{745B5521-4E79-4113-8197-112E41689D92}" type="pres">
      <dgm:prSet presAssocID="{3BFAF07F-55C2-4451-B853-D65F40360E7F}" presName="textNode" presStyleLbl="node1" presStyleIdx="3" presStyleCnt="6">
        <dgm:presLayoutVars>
          <dgm:bulletEnabled val="1"/>
        </dgm:presLayoutVars>
      </dgm:prSet>
      <dgm:spPr/>
    </dgm:pt>
    <dgm:pt modelId="{358DEA33-BC46-4A94-ADBD-B2D3500EA839}" type="pres">
      <dgm:prSet presAssocID="{650290C6-F855-4DD4-B3EE-E24ED05B2B73}" presName="sibTrans" presStyleCnt="0"/>
      <dgm:spPr/>
    </dgm:pt>
    <dgm:pt modelId="{989092CF-EFAF-4B6B-B061-6A34B879C6F2}" type="pres">
      <dgm:prSet presAssocID="{0FB818EF-6B23-4846-9680-5DFE6E72F16F}" presName="textNode" presStyleLbl="node1" presStyleIdx="4" presStyleCnt="6">
        <dgm:presLayoutVars>
          <dgm:bulletEnabled val="1"/>
        </dgm:presLayoutVars>
      </dgm:prSet>
      <dgm:spPr/>
    </dgm:pt>
    <dgm:pt modelId="{A052CD2C-E0DE-48C0-9521-CE5ABBF31A03}" type="pres">
      <dgm:prSet presAssocID="{D0D07122-9A15-4A3D-A909-991F748B2C68}" presName="sibTrans" presStyleCnt="0"/>
      <dgm:spPr/>
    </dgm:pt>
    <dgm:pt modelId="{9393E54E-DB6F-4F20-A0DF-244382ED8835}" type="pres">
      <dgm:prSet presAssocID="{CDCECE0A-463B-4D96-93F9-67F0FE27ACF6}" presName="textNode" presStyleLbl="node1" presStyleIdx="5" presStyleCnt="6">
        <dgm:presLayoutVars>
          <dgm:bulletEnabled val="1"/>
        </dgm:presLayoutVars>
      </dgm:prSet>
      <dgm:spPr/>
    </dgm:pt>
  </dgm:ptLst>
  <dgm:cxnLst>
    <dgm:cxn modelId="{2488CD11-5B31-462D-AB5A-0767BA8BE937}" type="presOf" srcId="{CDCECE0A-463B-4D96-93F9-67F0FE27ACF6}" destId="{9393E54E-DB6F-4F20-A0DF-244382ED8835}" srcOrd="0" destOrd="0" presId="urn:microsoft.com/office/officeart/2005/8/layout/hProcess9"/>
    <dgm:cxn modelId="{3725761E-B96B-41F3-8C03-22B8B9A686AD}" type="presOf" srcId="{86C9BE92-43FF-4352-A17F-20BB848FAC7C}" destId="{F5B18333-9439-40C1-AAA7-673BD5A067E6}" srcOrd="0" destOrd="0" presId="urn:microsoft.com/office/officeart/2005/8/layout/hProcess9"/>
    <dgm:cxn modelId="{F552E323-B2BF-4706-A381-DCAFF11B6EAB}" type="presOf" srcId="{0FB818EF-6B23-4846-9680-5DFE6E72F16F}" destId="{989092CF-EFAF-4B6B-B061-6A34B879C6F2}" srcOrd="0" destOrd="0" presId="urn:microsoft.com/office/officeart/2005/8/layout/hProcess9"/>
    <dgm:cxn modelId="{0ECCF32B-AB73-4BAE-99A3-32CBE7CB42B1}" srcId="{72514A22-E9D2-42BB-8BEF-6FCEE1308049}" destId="{7C2A5BAE-3BDC-4C11-92F2-511311540A22}" srcOrd="2" destOrd="0" parTransId="{AA3B3205-262F-4078-9C99-7F6C721ADC7B}" sibTransId="{F11FEAB1-BA37-4720-9E2D-C7675FD1ECD9}"/>
    <dgm:cxn modelId="{14090E2F-8A18-434C-B722-CF44316D0785}" type="presOf" srcId="{3BFAF07F-55C2-4451-B853-D65F40360E7F}" destId="{745B5521-4E79-4113-8197-112E41689D92}" srcOrd="0" destOrd="0" presId="urn:microsoft.com/office/officeart/2005/8/layout/hProcess9"/>
    <dgm:cxn modelId="{2FF1A98C-1DA4-4F43-9D0D-9C2196698E1D}" type="presOf" srcId="{72514A22-E9D2-42BB-8BEF-6FCEE1308049}" destId="{56659CAD-F4AA-495C-9017-7D6136A02645}" srcOrd="0" destOrd="0" presId="urn:microsoft.com/office/officeart/2005/8/layout/hProcess9"/>
    <dgm:cxn modelId="{53A690AE-61BB-4DAF-889F-962D0768E66F}" srcId="{72514A22-E9D2-42BB-8BEF-6FCEE1308049}" destId="{0FB818EF-6B23-4846-9680-5DFE6E72F16F}" srcOrd="4" destOrd="0" parTransId="{A23991EF-EDF4-4ED1-98F0-D9AF4C9D5366}" sibTransId="{D0D07122-9A15-4A3D-A909-991F748B2C68}"/>
    <dgm:cxn modelId="{1BE798B7-2DED-4FDC-A7CC-553B79CEE6D4}" type="presOf" srcId="{7C2A5BAE-3BDC-4C11-92F2-511311540A22}" destId="{6C8B480C-8F2F-46E5-AE18-F17141BC7062}" srcOrd="0" destOrd="0" presId="urn:microsoft.com/office/officeart/2005/8/layout/hProcess9"/>
    <dgm:cxn modelId="{38298DC2-4FE3-4513-9F10-0836D721606B}" srcId="{72514A22-E9D2-42BB-8BEF-6FCEE1308049}" destId="{3BFAF07F-55C2-4451-B853-D65F40360E7F}" srcOrd="3" destOrd="0" parTransId="{C150F151-5AA8-4C61-B776-B9C83FFE11E6}" sibTransId="{650290C6-F855-4DD4-B3EE-E24ED05B2B73}"/>
    <dgm:cxn modelId="{970373C7-6E3A-40C1-A41B-DE4C10940B7A}" srcId="{72514A22-E9D2-42BB-8BEF-6FCEE1308049}" destId="{CDCECE0A-463B-4D96-93F9-67F0FE27ACF6}" srcOrd="5" destOrd="0" parTransId="{2EC571A3-35BA-480A-95B2-B5484BA6C62A}" sibTransId="{50661331-9EB5-40E4-8CF6-CFE35E139C4A}"/>
    <dgm:cxn modelId="{5C8015D1-CC84-4B61-A177-48AAFF826AE2}" type="presOf" srcId="{FFF50D97-3295-4637-A2D2-4633E06E607E}" destId="{42983C4C-982B-4935-99A3-322AD57877F1}" srcOrd="0" destOrd="0" presId="urn:microsoft.com/office/officeart/2005/8/layout/hProcess9"/>
    <dgm:cxn modelId="{182503EF-A036-44E7-A2EE-2D2A4B682F2A}" srcId="{72514A22-E9D2-42BB-8BEF-6FCEE1308049}" destId="{86C9BE92-43FF-4352-A17F-20BB848FAC7C}" srcOrd="1" destOrd="0" parTransId="{C120794C-C7D0-46F0-9C7F-98117F90BEAE}" sibTransId="{11096737-6DBB-4805-A057-0D5F978A61A2}"/>
    <dgm:cxn modelId="{FD0F71F5-1867-4C57-B6ED-5C63B9F50F9B}" srcId="{72514A22-E9D2-42BB-8BEF-6FCEE1308049}" destId="{FFF50D97-3295-4637-A2D2-4633E06E607E}" srcOrd="0" destOrd="0" parTransId="{2905DC77-DFA0-4CE7-A835-C9FED29B4723}" sibTransId="{6AF12222-845D-4242-A19E-798C65DAFCF2}"/>
    <dgm:cxn modelId="{5798423E-EC3B-4E25-B2EA-457AF7CCC341}" type="presParOf" srcId="{56659CAD-F4AA-495C-9017-7D6136A02645}" destId="{BBE64D56-8083-4675-A74B-5C38DBBD90F1}" srcOrd="0" destOrd="0" presId="urn:microsoft.com/office/officeart/2005/8/layout/hProcess9"/>
    <dgm:cxn modelId="{A43CBF7D-C36B-4A4E-9367-FA97215E097D}" type="presParOf" srcId="{56659CAD-F4AA-495C-9017-7D6136A02645}" destId="{ED52C4C6-EF72-49BF-87B7-F0519B0308D6}" srcOrd="1" destOrd="0" presId="urn:microsoft.com/office/officeart/2005/8/layout/hProcess9"/>
    <dgm:cxn modelId="{59BA76A2-76E0-4E9C-BAE8-3BE15A72A410}" type="presParOf" srcId="{ED52C4C6-EF72-49BF-87B7-F0519B0308D6}" destId="{42983C4C-982B-4935-99A3-322AD57877F1}" srcOrd="0" destOrd="0" presId="urn:microsoft.com/office/officeart/2005/8/layout/hProcess9"/>
    <dgm:cxn modelId="{1F930AE3-12ED-442D-AB02-02F4325C6485}" type="presParOf" srcId="{ED52C4C6-EF72-49BF-87B7-F0519B0308D6}" destId="{B197ED9F-C710-49E9-974A-DDD2C4F40846}" srcOrd="1" destOrd="0" presId="urn:microsoft.com/office/officeart/2005/8/layout/hProcess9"/>
    <dgm:cxn modelId="{A621BB1E-9FFD-401C-A715-D597D21A9A65}" type="presParOf" srcId="{ED52C4C6-EF72-49BF-87B7-F0519B0308D6}" destId="{F5B18333-9439-40C1-AAA7-673BD5A067E6}" srcOrd="2" destOrd="0" presId="urn:microsoft.com/office/officeart/2005/8/layout/hProcess9"/>
    <dgm:cxn modelId="{4A25F624-999F-466A-9B89-A0E146F712D9}" type="presParOf" srcId="{ED52C4C6-EF72-49BF-87B7-F0519B0308D6}" destId="{BFDA592E-AD99-4077-8E51-2B0F24E4F566}" srcOrd="3" destOrd="0" presId="urn:microsoft.com/office/officeart/2005/8/layout/hProcess9"/>
    <dgm:cxn modelId="{50CBCD25-D3C3-457B-AC70-BA0C6B7E5996}" type="presParOf" srcId="{ED52C4C6-EF72-49BF-87B7-F0519B0308D6}" destId="{6C8B480C-8F2F-46E5-AE18-F17141BC7062}" srcOrd="4" destOrd="0" presId="urn:microsoft.com/office/officeart/2005/8/layout/hProcess9"/>
    <dgm:cxn modelId="{E56F5DD9-E2AE-405C-A616-AADFC9D844AF}" type="presParOf" srcId="{ED52C4C6-EF72-49BF-87B7-F0519B0308D6}" destId="{C2ADE9B8-72B7-4774-9C17-BFDFCD833874}" srcOrd="5" destOrd="0" presId="urn:microsoft.com/office/officeart/2005/8/layout/hProcess9"/>
    <dgm:cxn modelId="{AE0572B2-90AF-4136-A681-DEFD87F26B05}" type="presParOf" srcId="{ED52C4C6-EF72-49BF-87B7-F0519B0308D6}" destId="{745B5521-4E79-4113-8197-112E41689D92}" srcOrd="6" destOrd="0" presId="urn:microsoft.com/office/officeart/2005/8/layout/hProcess9"/>
    <dgm:cxn modelId="{264EB42F-5576-410B-AD6A-3AF49766D180}" type="presParOf" srcId="{ED52C4C6-EF72-49BF-87B7-F0519B0308D6}" destId="{358DEA33-BC46-4A94-ADBD-B2D3500EA839}" srcOrd="7" destOrd="0" presId="urn:microsoft.com/office/officeart/2005/8/layout/hProcess9"/>
    <dgm:cxn modelId="{EF83B7D8-F75E-4421-8DDF-125A5D05EC1C}" type="presParOf" srcId="{ED52C4C6-EF72-49BF-87B7-F0519B0308D6}" destId="{989092CF-EFAF-4B6B-B061-6A34B879C6F2}" srcOrd="8" destOrd="0" presId="urn:microsoft.com/office/officeart/2005/8/layout/hProcess9"/>
    <dgm:cxn modelId="{87AB97B7-2F36-48A2-B464-F238D44D0102}" type="presParOf" srcId="{ED52C4C6-EF72-49BF-87B7-F0519B0308D6}" destId="{A052CD2C-E0DE-48C0-9521-CE5ABBF31A03}" srcOrd="9" destOrd="0" presId="urn:microsoft.com/office/officeart/2005/8/layout/hProcess9"/>
    <dgm:cxn modelId="{AE9187F3-1033-470F-98B2-95976D8FF5B5}" type="presParOf" srcId="{ED52C4C6-EF72-49BF-87B7-F0519B0308D6}" destId="{9393E54E-DB6F-4F20-A0DF-244382ED8835}" srcOrd="1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E64D56-8083-4675-A74B-5C38DBBD90F1}">
      <dsp:nvSpPr>
        <dsp:cNvPr id="0" name=""/>
        <dsp:cNvSpPr/>
      </dsp:nvSpPr>
      <dsp:spPr>
        <a:xfrm>
          <a:off x="725566" y="0"/>
          <a:ext cx="7578090" cy="3754804"/>
        </a:xfrm>
        <a:prstGeom prst="rightArrow">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983C4C-982B-4935-99A3-322AD57877F1}">
      <dsp:nvSpPr>
        <dsp:cNvPr id="0" name=""/>
        <dsp:cNvSpPr/>
      </dsp:nvSpPr>
      <dsp:spPr>
        <a:xfrm>
          <a:off x="5143" y="1126441"/>
          <a:ext cx="1382972" cy="1501921"/>
        </a:xfrm>
        <a:prstGeom prst="roundRec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Object</a:t>
          </a:r>
        </a:p>
      </dsp:txBody>
      <dsp:txXfrm>
        <a:off x="72654" y="1193952"/>
        <a:ext cx="1247950" cy="1366899"/>
      </dsp:txXfrm>
    </dsp:sp>
    <dsp:sp modelId="{F5B18333-9439-40C1-AAA7-673BD5A067E6}">
      <dsp:nvSpPr>
        <dsp:cNvPr id="0" name=""/>
        <dsp:cNvSpPr/>
      </dsp:nvSpPr>
      <dsp:spPr>
        <a:xfrm>
          <a:off x="1509571" y="1126441"/>
          <a:ext cx="1382972" cy="1501921"/>
        </a:xfrm>
        <a:prstGeom prst="roundRec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Component</a:t>
          </a:r>
        </a:p>
      </dsp:txBody>
      <dsp:txXfrm>
        <a:off x="1577082" y="1193952"/>
        <a:ext cx="1247950" cy="1366899"/>
      </dsp:txXfrm>
    </dsp:sp>
    <dsp:sp modelId="{6C8B480C-8F2F-46E5-AE18-F17141BC7062}">
      <dsp:nvSpPr>
        <dsp:cNvPr id="0" name=""/>
        <dsp:cNvSpPr/>
      </dsp:nvSpPr>
      <dsp:spPr>
        <a:xfrm>
          <a:off x="3013999" y="1126441"/>
          <a:ext cx="1382972" cy="1501921"/>
        </a:xfrm>
        <a:prstGeom prst="roundRec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Container</a:t>
          </a:r>
        </a:p>
      </dsp:txBody>
      <dsp:txXfrm>
        <a:off x="3081510" y="1193952"/>
        <a:ext cx="1247950" cy="1366899"/>
      </dsp:txXfrm>
    </dsp:sp>
    <dsp:sp modelId="{745B5521-4E79-4113-8197-112E41689D92}">
      <dsp:nvSpPr>
        <dsp:cNvPr id="0" name=""/>
        <dsp:cNvSpPr/>
      </dsp:nvSpPr>
      <dsp:spPr>
        <a:xfrm>
          <a:off x="4518427" y="1126441"/>
          <a:ext cx="1382972" cy="1501921"/>
        </a:xfrm>
        <a:prstGeom prst="roundRec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Window</a:t>
          </a:r>
        </a:p>
      </dsp:txBody>
      <dsp:txXfrm>
        <a:off x="4585938" y="1193952"/>
        <a:ext cx="1247950" cy="1366899"/>
      </dsp:txXfrm>
    </dsp:sp>
    <dsp:sp modelId="{989092CF-EFAF-4B6B-B061-6A34B879C6F2}">
      <dsp:nvSpPr>
        <dsp:cNvPr id="0" name=""/>
        <dsp:cNvSpPr/>
      </dsp:nvSpPr>
      <dsp:spPr>
        <a:xfrm>
          <a:off x="6022855" y="1126441"/>
          <a:ext cx="1382972" cy="1501921"/>
        </a:xfrm>
        <a:prstGeom prst="roundRec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Frame</a:t>
          </a:r>
        </a:p>
      </dsp:txBody>
      <dsp:txXfrm>
        <a:off x="6090366" y="1193952"/>
        <a:ext cx="1247950" cy="1366899"/>
      </dsp:txXfrm>
    </dsp:sp>
    <dsp:sp modelId="{9393E54E-DB6F-4F20-A0DF-244382ED8835}">
      <dsp:nvSpPr>
        <dsp:cNvPr id="0" name=""/>
        <dsp:cNvSpPr/>
      </dsp:nvSpPr>
      <dsp:spPr>
        <a:xfrm>
          <a:off x="7527283" y="1126441"/>
          <a:ext cx="1382972" cy="1501921"/>
        </a:xfrm>
        <a:prstGeom prst="roundRec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JFrame</a:t>
          </a:r>
        </a:p>
      </dsp:txBody>
      <dsp:txXfrm>
        <a:off x="7594794" y="1193952"/>
        <a:ext cx="1247950" cy="1366899"/>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E63E1E-1618-4E94-B3C1-4AAE252A0250}" type="datetimeFigureOut">
              <a:rPr lang="en-US" smtClean="0"/>
              <a:t>6/23/2024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F5940D-AA7C-4EDD-B52A-7436EA427891}" type="slidenum">
              <a:rPr lang="en-US" smtClean="0"/>
              <a:t>‹#›</a:t>
            </a:fld>
            <a:endParaRPr lang="en-US"/>
          </a:p>
        </p:txBody>
      </p:sp>
    </p:spTree>
    <p:extLst>
      <p:ext uri="{BB962C8B-B14F-4D97-AF65-F5344CB8AC3E}">
        <p14:creationId xmlns:p14="http://schemas.microsoft.com/office/powerpoint/2010/main" val="271223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F5940D-AA7C-4EDD-B52A-7436EA427891}" type="slidenum">
              <a:rPr lang="en-US" smtClean="0"/>
              <a:t>19</a:t>
            </a:fld>
            <a:endParaRPr lang="en-US"/>
          </a:p>
        </p:txBody>
      </p:sp>
    </p:spTree>
    <p:extLst>
      <p:ext uri="{BB962C8B-B14F-4D97-AF65-F5344CB8AC3E}">
        <p14:creationId xmlns:p14="http://schemas.microsoft.com/office/powerpoint/2010/main" val="3604085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F5940D-AA7C-4EDD-B52A-7436EA427891}" type="slidenum">
              <a:rPr lang="en-US" smtClean="0"/>
              <a:t>21</a:t>
            </a:fld>
            <a:endParaRPr lang="en-US"/>
          </a:p>
        </p:txBody>
      </p:sp>
    </p:spTree>
    <p:extLst>
      <p:ext uri="{BB962C8B-B14F-4D97-AF65-F5344CB8AC3E}">
        <p14:creationId xmlns:p14="http://schemas.microsoft.com/office/powerpoint/2010/main" val="439249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FED46C2-14E8-4538-B470-7589A44A8EEA}"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3526031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ED46C2-14E8-4538-B470-7589A44A8EEA}"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2090954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ED46C2-14E8-4538-B470-7589A44A8EEA}"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1314717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FED46C2-14E8-4538-B470-7589A44A8EEA}" type="datetimeFigureOut">
              <a:rPr lang="en-US" smtClean="0"/>
              <a:t>6/23/2024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1672640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ED46C2-14E8-4538-B470-7589A44A8EEA}" type="datetimeFigureOut">
              <a:rPr lang="en-US" smtClean="0"/>
              <a:t>6/23/2024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3541962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ED46C2-14E8-4538-B470-7589A44A8EEA}" type="datetimeFigureOut">
              <a:rPr lang="en-US" smtClean="0"/>
              <a:t>6/23/2024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3095872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ED46C2-14E8-4538-B470-7589A44A8EEA}" type="datetimeFigureOut">
              <a:rPr lang="en-US" smtClean="0"/>
              <a:t>6/23/2024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3988679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ED46C2-14E8-4538-B470-7589A44A8EEA}" type="datetimeFigureOut">
              <a:rPr lang="en-US" smtClean="0"/>
              <a:t>6/23/2024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914137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ED46C2-14E8-4538-B470-7589A44A8EEA}" type="datetimeFigureOut">
              <a:rPr lang="en-US" smtClean="0"/>
              <a:t>6/23/2024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1535563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ED46C2-14E8-4538-B470-7589A44A8EEA}"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1360664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ED46C2-14E8-4538-B470-7589A44A8EEA}"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5C1507D-E28A-4883-B3EF-4EB47AD6AD77}"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331431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FED46C2-14E8-4538-B470-7589A44A8EEA}" type="datetimeFigureOut">
              <a:rPr lang="en-US" smtClean="0"/>
              <a:t>6/23/2024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14418834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FED46C2-14E8-4538-B470-7589A44A8EEA}" type="datetimeFigureOut">
              <a:rPr lang="en-US" smtClean="0"/>
              <a:t>6/23/2024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5C1507D-E28A-4883-B3EF-4EB47AD6AD77}"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772168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FED46C2-14E8-4538-B470-7589A44A8EEA}" type="datetimeFigureOut">
              <a:rPr lang="en-US" smtClean="0"/>
              <a:t>6/23/2024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14417237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ED46C2-14E8-4538-B470-7589A44A8EEA}"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7976107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ED46C2-14E8-4538-B470-7589A44A8EEA}"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2025749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FED46C2-14E8-4538-B470-7589A44A8EEA}" type="datetimeFigureOut">
              <a:rPr lang="en-US" smtClean="0"/>
              <a:t>6/23/2024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5C1507D-E28A-4883-B3EF-4EB47AD6AD77}" type="slidenum">
              <a:rPr lang="en-US" smtClean="0"/>
              <a:t>‹#›</a:t>
            </a:fld>
            <a:endParaRPr lang="en-US"/>
          </a:p>
        </p:txBody>
      </p:sp>
    </p:spTree>
    <p:extLst>
      <p:ext uri="{BB962C8B-B14F-4D97-AF65-F5344CB8AC3E}">
        <p14:creationId xmlns:p14="http://schemas.microsoft.com/office/powerpoint/2010/main" val="39927899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4B2A1-C43B-D371-1C41-F80370898D9A}"/>
              </a:ext>
            </a:extLst>
          </p:cNvPr>
          <p:cNvSpPr>
            <a:spLocks noGrp="1"/>
          </p:cNvSpPr>
          <p:nvPr>
            <p:ph type="ctrTitle"/>
          </p:nvPr>
        </p:nvSpPr>
        <p:spPr/>
        <p:txBody>
          <a:bodyPr/>
          <a:lstStyle/>
          <a:p>
            <a:pPr algn="ctr"/>
            <a:r>
              <a:rPr lang="en-US" b="1" dirty="0"/>
              <a:t>Introducing Swing</a:t>
            </a:r>
          </a:p>
        </p:txBody>
      </p:sp>
      <p:sp>
        <p:nvSpPr>
          <p:cNvPr id="3" name="Subtitle 2">
            <a:extLst>
              <a:ext uri="{FF2B5EF4-FFF2-40B4-BE49-F238E27FC236}">
                <a16:creationId xmlns:a16="http://schemas.microsoft.com/office/drawing/2014/main" id="{054301AE-8B26-3BE2-54C6-FC63BC2BC4E2}"/>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597682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2316E-B3EE-3CC0-8DDF-0016011843BB}"/>
              </a:ext>
            </a:extLst>
          </p:cNvPr>
          <p:cNvSpPr>
            <a:spLocks noGrp="1"/>
          </p:cNvSpPr>
          <p:nvPr>
            <p:ph type="title"/>
          </p:nvPr>
        </p:nvSpPr>
        <p:spPr/>
        <p:txBody>
          <a:bodyPr/>
          <a:lstStyle/>
          <a:p>
            <a:pPr algn="ctr"/>
            <a:r>
              <a:rPr lang="en-US" b="1" dirty="0"/>
              <a:t>The Origins of Swing</a:t>
            </a:r>
          </a:p>
        </p:txBody>
      </p:sp>
      <p:sp>
        <p:nvSpPr>
          <p:cNvPr id="3" name="Content Placeholder 2">
            <a:extLst>
              <a:ext uri="{FF2B5EF4-FFF2-40B4-BE49-F238E27FC236}">
                <a16:creationId xmlns:a16="http://schemas.microsoft.com/office/drawing/2014/main" id="{2F4029FC-EBA5-8FA5-9EF6-D46722ABE4BE}"/>
              </a:ext>
            </a:extLst>
          </p:cNvPr>
          <p:cNvSpPr>
            <a:spLocks noGrp="1"/>
          </p:cNvSpPr>
          <p:nvPr>
            <p:ph idx="1"/>
          </p:nvPr>
        </p:nvSpPr>
        <p:spPr>
          <a:xfrm>
            <a:off x="2712779" y="1540189"/>
            <a:ext cx="8915400" cy="3777622"/>
          </a:xfrm>
        </p:spPr>
        <p:txBody>
          <a:bodyPr>
            <a:noAutofit/>
          </a:bodyPr>
          <a:lstStyle/>
          <a:p>
            <a:pPr marL="0" indent="0">
              <a:buNone/>
            </a:pPr>
            <a:r>
              <a:rPr lang="en-US" sz="2400" dirty="0"/>
              <a:t>Swing did not exist in the early days of Java. Rather, it was a response to deficiencies present in Java’s original GUI subsystem: the Abstract Window Toolkit. </a:t>
            </a:r>
          </a:p>
          <a:p>
            <a:pPr marL="0" indent="0">
              <a:buNone/>
            </a:pPr>
            <a:r>
              <a:rPr lang="en-US" sz="2400" dirty="0"/>
              <a:t>The AWT defines a basic set of controls, windows, and dialog boxes that support a usable, but limited graphical interface. One reason for the limited nature of the AWT is that it translates its various visual components into their corresponding, platform-specific equivalents, or peers. </a:t>
            </a:r>
          </a:p>
          <a:p>
            <a:pPr marL="0" indent="0">
              <a:buNone/>
            </a:pPr>
            <a:r>
              <a:rPr lang="en-US" sz="2400" dirty="0"/>
              <a:t>This means that the look and feel of a component is defined by the platform, not by Java. Because the AWT components use native code resources, they are referred to as heavyweight.</a:t>
            </a:r>
          </a:p>
        </p:txBody>
      </p:sp>
    </p:spTree>
    <p:extLst>
      <p:ext uri="{BB962C8B-B14F-4D97-AF65-F5344CB8AC3E}">
        <p14:creationId xmlns:p14="http://schemas.microsoft.com/office/powerpoint/2010/main" val="4172910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E98FD-8966-1BFD-48C1-046456276D7E}"/>
              </a:ext>
            </a:extLst>
          </p:cNvPr>
          <p:cNvSpPr>
            <a:spLocks noGrp="1"/>
          </p:cNvSpPr>
          <p:nvPr>
            <p:ph type="title"/>
          </p:nvPr>
        </p:nvSpPr>
        <p:spPr>
          <a:xfrm>
            <a:off x="2592925" y="339237"/>
            <a:ext cx="8911687" cy="1057077"/>
          </a:xfrm>
        </p:spPr>
        <p:txBody>
          <a:bodyPr>
            <a:normAutofit/>
          </a:bodyPr>
          <a:lstStyle/>
          <a:p>
            <a:pPr algn="ctr"/>
            <a:r>
              <a:rPr lang="en-US" b="1" dirty="0"/>
              <a:t>Problems with AWT</a:t>
            </a:r>
          </a:p>
        </p:txBody>
      </p:sp>
      <p:sp>
        <p:nvSpPr>
          <p:cNvPr id="3" name="Content Placeholder 2">
            <a:extLst>
              <a:ext uri="{FF2B5EF4-FFF2-40B4-BE49-F238E27FC236}">
                <a16:creationId xmlns:a16="http://schemas.microsoft.com/office/drawing/2014/main" id="{B4156725-9091-B81C-7487-E70BA20A3538}"/>
              </a:ext>
            </a:extLst>
          </p:cNvPr>
          <p:cNvSpPr>
            <a:spLocks noGrp="1"/>
          </p:cNvSpPr>
          <p:nvPr>
            <p:ph idx="1"/>
          </p:nvPr>
        </p:nvSpPr>
        <p:spPr>
          <a:xfrm>
            <a:off x="2918320" y="1396313"/>
            <a:ext cx="8915400" cy="5122449"/>
          </a:xfrm>
        </p:spPr>
        <p:txBody>
          <a:bodyPr>
            <a:normAutofit/>
          </a:bodyPr>
          <a:lstStyle/>
          <a:p>
            <a:pPr marL="0" indent="0">
              <a:buNone/>
            </a:pPr>
            <a:r>
              <a:rPr lang="en-US" sz="2400" dirty="0"/>
              <a:t>The use of native peers led to several problems:</a:t>
            </a:r>
          </a:p>
          <a:p>
            <a:pPr marL="0" indent="0">
              <a:buNone/>
            </a:pPr>
            <a:r>
              <a:rPr lang="en-US" sz="2400" dirty="0"/>
              <a:t> First, because of variations between operating systems, a component might look, or even act, differently on different platforms. This potential variability threatened the overarching philosophy of Java: write once, run anywhere. </a:t>
            </a:r>
          </a:p>
          <a:p>
            <a:pPr marL="0" indent="0">
              <a:buNone/>
            </a:pPr>
            <a:r>
              <a:rPr lang="en-US" sz="2400" dirty="0"/>
              <a:t> Second, the look and feel of each component was fixed (because it is defined by the platform) and could not be (easily) changed. </a:t>
            </a:r>
          </a:p>
          <a:p>
            <a:pPr marL="0" indent="0">
              <a:buNone/>
            </a:pPr>
            <a:r>
              <a:rPr lang="en-US" sz="2400" dirty="0"/>
              <a:t> Third, the use of heavyweight components caused some frustrating restrictions. For example, a heavyweight component was always opaque.</a:t>
            </a:r>
          </a:p>
        </p:txBody>
      </p:sp>
    </p:spTree>
    <p:extLst>
      <p:ext uri="{BB962C8B-B14F-4D97-AF65-F5344CB8AC3E}">
        <p14:creationId xmlns:p14="http://schemas.microsoft.com/office/powerpoint/2010/main" val="888913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6B496-E1FE-F422-1425-A60636196BFE}"/>
              </a:ext>
            </a:extLst>
          </p:cNvPr>
          <p:cNvSpPr>
            <a:spLocks noGrp="1"/>
          </p:cNvSpPr>
          <p:nvPr>
            <p:ph type="title"/>
          </p:nvPr>
        </p:nvSpPr>
        <p:spPr/>
        <p:txBody>
          <a:bodyPr/>
          <a:lstStyle/>
          <a:p>
            <a:pPr algn="ctr"/>
            <a:r>
              <a:rPr lang="en-US" b="1" dirty="0"/>
              <a:t>Enter Swing</a:t>
            </a:r>
          </a:p>
        </p:txBody>
      </p:sp>
      <p:sp>
        <p:nvSpPr>
          <p:cNvPr id="3" name="Content Placeholder 2">
            <a:extLst>
              <a:ext uri="{FF2B5EF4-FFF2-40B4-BE49-F238E27FC236}">
                <a16:creationId xmlns:a16="http://schemas.microsoft.com/office/drawing/2014/main" id="{BF917C84-A9C3-A602-0700-F1DF194CBC5F}"/>
              </a:ext>
            </a:extLst>
          </p:cNvPr>
          <p:cNvSpPr>
            <a:spLocks noGrp="1"/>
          </p:cNvSpPr>
          <p:nvPr>
            <p:ph idx="1"/>
          </p:nvPr>
        </p:nvSpPr>
        <p:spPr>
          <a:xfrm>
            <a:off x="2379784" y="1346616"/>
            <a:ext cx="9523412" cy="5511383"/>
          </a:xfrm>
        </p:spPr>
        <p:txBody>
          <a:bodyPr>
            <a:noAutofit/>
          </a:bodyPr>
          <a:lstStyle/>
          <a:p>
            <a:pPr marL="0" lvl="0" indent="0">
              <a:buNone/>
            </a:pPr>
            <a:r>
              <a:rPr lang="en-US" sz="2400" dirty="0"/>
              <a:t>In 1997, Sun introduced a set of more-portable GUI components and put them in a new GUI library named Swing.  The primary Swing package is </a:t>
            </a:r>
            <a:r>
              <a:rPr lang="en-US" sz="2400" dirty="0" err="1"/>
              <a:t>javax.swing</a:t>
            </a:r>
            <a:r>
              <a:rPr lang="en-US" sz="2400" dirty="0"/>
              <a:t>. </a:t>
            </a:r>
          </a:p>
          <a:p>
            <a:pPr marL="0" lvl="0" indent="0">
              <a:buNone/>
            </a:pPr>
            <a:r>
              <a:rPr lang="en-US" sz="2400" dirty="0"/>
              <a:t>Swing does not replace AWT. Instead, Swing is built on the foundation of the AWT. </a:t>
            </a:r>
          </a:p>
          <a:p>
            <a:pPr marL="0" lvl="0" indent="0">
              <a:buNone/>
            </a:pPr>
            <a:r>
              <a:rPr lang="en-US" sz="2400" dirty="0"/>
              <a:t>The Swing library adds lots of functionality to the AWT, but it does not replace the AWT entirely.  Java GUI application programmers use both libraries - Swing &amp; AWT.  </a:t>
            </a:r>
          </a:p>
          <a:p>
            <a:pPr marL="0" lvl="0" indent="0">
              <a:buNone/>
            </a:pPr>
            <a:r>
              <a:rPr lang="en-US" sz="2400" dirty="0"/>
              <a:t>Swing addresses the limitations of AWT with  are two key Swing features:</a:t>
            </a:r>
          </a:p>
          <a:p>
            <a:pPr marL="457200" lvl="0" indent="-457200">
              <a:buAutoNum type="arabicPeriod"/>
            </a:pPr>
            <a:r>
              <a:rPr lang="en-US" sz="2400" dirty="0"/>
              <a:t>Swing Components Are Lightweight</a:t>
            </a:r>
          </a:p>
          <a:p>
            <a:pPr marL="457200" lvl="0" indent="-457200">
              <a:buAutoNum type="arabicPeriod"/>
            </a:pPr>
            <a:r>
              <a:rPr lang="en-US" sz="2400" dirty="0"/>
              <a:t>Swing Supports a Pluggable Look and Feel</a:t>
            </a:r>
          </a:p>
          <a:p>
            <a:pPr marL="0" lvl="0" indent="0">
              <a:buNone/>
            </a:pPr>
            <a:endParaRPr lang="en-US" sz="2400" dirty="0"/>
          </a:p>
        </p:txBody>
      </p:sp>
    </p:spTree>
    <p:extLst>
      <p:ext uri="{BB962C8B-B14F-4D97-AF65-F5344CB8AC3E}">
        <p14:creationId xmlns:p14="http://schemas.microsoft.com/office/powerpoint/2010/main" val="1650063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F1633-087E-DBAA-4262-9A06E88E5E70}"/>
              </a:ext>
            </a:extLst>
          </p:cNvPr>
          <p:cNvSpPr>
            <a:spLocks noGrp="1"/>
          </p:cNvSpPr>
          <p:nvPr>
            <p:ph type="title"/>
          </p:nvPr>
        </p:nvSpPr>
        <p:spPr/>
        <p:txBody>
          <a:bodyPr/>
          <a:lstStyle/>
          <a:p>
            <a:pPr algn="ctr"/>
            <a:r>
              <a:rPr lang="en-US" b="1" dirty="0"/>
              <a:t>Swing Components Are Lightweight</a:t>
            </a:r>
          </a:p>
        </p:txBody>
      </p:sp>
      <p:sp>
        <p:nvSpPr>
          <p:cNvPr id="3" name="Content Placeholder 2">
            <a:extLst>
              <a:ext uri="{FF2B5EF4-FFF2-40B4-BE49-F238E27FC236}">
                <a16:creationId xmlns:a16="http://schemas.microsoft.com/office/drawing/2014/main" id="{656D51E8-1FCF-F017-375F-F6DCDE98BF1E}"/>
              </a:ext>
            </a:extLst>
          </p:cNvPr>
          <p:cNvSpPr>
            <a:spLocks noGrp="1"/>
          </p:cNvSpPr>
          <p:nvPr>
            <p:ph idx="1"/>
          </p:nvPr>
        </p:nvSpPr>
        <p:spPr>
          <a:xfrm>
            <a:off x="2688066" y="2120956"/>
            <a:ext cx="8915400" cy="3777622"/>
          </a:xfrm>
        </p:spPr>
        <p:txBody>
          <a:bodyPr>
            <a:normAutofit/>
          </a:bodyPr>
          <a:lstStyle/>
          <a:p>
            <a:pPr marL="0" indent="0">
              <a:buNone/>
            </a:pPr>
            <a:r>
              <a:rPr lang="en-US" sz="2400" dirty="0"/>
              <a:t>Swing components are lightweight. This means that they are written entirely in Java and do not map directly to platform-specific peers. </a:t>
            </a:r>
          </a:p>
          <a:p>
            <a:pPr marL="0" indent="0">
              <a:buNone/>
            </a:pPr>
            <a:r>
              <a:rPr lang="en-US" sz="2400" dirty="0"/>
              <a:t>Thus, lightweight components are more efficient and more flexible. Furthermore, because lightweight components do not translate into native peers, the look and feel of each component is determined by Swing, not by the underlying operating system. </a:t>
            </a:r>
          </a:p>
          <a:p>
            <a:pPr marL="0" indent="0">
              <a:buNone/>
            </a:pPr>
            <a:r>
              <a:rPr lang="en-US" sz="2400" dirty="0"/>
              <a:t>As a result, each component will work in a consistent manner across all platforms.</a:t>
            </a:r>
          </a:p>
          <a:p>
            <a:pPr marL="457200" indent="-457200">
              <a:buAutoNum type="arabicPeriod"/>
            </a:pPr>
            <a:endParaRPr lang="en-US" sz="2400" dirty="0"/>
          </a:p>
        </p:txBody>
      </p:sp>
    </p:spTree>
    <p:extLst>
      <p:ext uri="{BB962C8B-B14F-4D97-AF65-F5344CB8AC3E}">
        <p14:creationId xmlns:p14="http://schemas.microsoft.com/office/powerpoint/2010/main" val="4029612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B2F09-8DC6-EFD1-84BB-2255AFDC2D79}"/>
              </a:ext>
            </a:extLst>
          </p:cNvPr>
          <p:cNvSpPr>
            <a:spLocks noGrp="1"/>
          </p:cNvSpPr>
          <p:nvPr>
            <p:ph type="title"/>
          </p:nvPr>
        </p:nvSpPr>
        <p:spPr>
          <a:xfrm>
            <a:off x="2592925" y="624110"/>
            <a:ext cx="8911687" cy="1280890"/>
          </a:xfrm>
        </p:spPr>
        <p:txBody>
          <a:bodyPr/>
          <a:lstStyle/>
          <a:p>
            <a:pPr algn="ctr"/>
            <a:r>
              <a:rPr lang="en-US" b="1" dirty="0"/>
              <a:t>Swing Supports a Pluggable Look and Feel</a:t>
            </a:r>
          </a:p>
        </p:txBody>
      </p:sp>
      <p:sp>
        <p:nvSpPr>
          <p:cNvPr id="3" name="Content Placeholder 2">
            <a:extLst>
              <a:ext uri="{FF2B5EF4-FFF2-40B4-BE49-F238E27FC236}">
                <a16:creationId xmlns:a16="http://schemas.microsoft.com/office/drawing/2014/main" id="{8453B417-20F3-C0B2-B94C-C24012B05294}"/>
              </a:ext>
            </a:extLst>
          </p:cNvPr>
          <p:cNvSpPr>
            <a:spLocks noGrp="1"/>
          </p:cNvSpPr>
          <p:nvPr>
            <p:ph idx="1"/>
          </p:nvPr>
        </p:nvSpPr>
        <p:spPr>
          <a:xfrm>
            <a:off x="2700422" y="1750540"/>
            <a:ext cx="8915400" cy="4674973"/>
          </a:xfrm>
        </p:spPr>
        <p:txBody>
          <a:bodyPr>
            <a:noAutofit/>
          </a:bodyPr>
          <a:lstStyle/>
          <a:p>
            <a:pPr marL="0" indent="0">
              <a:buNone/>
            </a:pPr>
            <a:r>
              <a:rPr lang="en-US" sz="2400" dirty="0"/>
              <a:t> Because each Swing component is rendered by Java code rather than by native peers, the look and feel of a component is under the control of Swing. </a:t>
            </a:r>
          </a:p>
          <a:p>
            <a:pPr marL="0" indent="0">
              <a:buNone/>
            </a:pPr>
            <a:r>
              <a:rPr lang="en-US" sz="2400" dirty="0"/>
              <a:t>This fact means that it is possible to separate the look and feel of a component from the logic of the component. Separating out the look and feel provides a significant advantage: it is possible to change the way that a component is rendered without affecting any of its other aspects.</a:t>
            </a:r>
          </a:p>
          <a:p>
            <a:pPr marL="0" indent="0">
              <a:buNone/>
            </a:pPr>
            <a:r>
              <a:rPr lang="en-US" sz="2400" dirty="0"/>
              <a:t>So, it is possible to define entire sets of look-and-feels that represent different GUI styles. To use a specific style, its look and feel is simply “plugged in.” Once this is done, all components are automatically rendered using that style.</a:t>
            </a:r>
          </a:p>
        </p:txBody>
      </p:sp>
    </p:spTree>
    <p:extLst>
      <p:ext uri="{BB962C8B-B14F-4D97-AF65-F5344CB8AC3E}">
        <p14:creationId xmlns:p14="http://schemas.microsoft.com/office/powerpoint/2010/main" val="2523541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D222C-0661-7283-B65D-D02A92B9CE44}"/>
              </a:ext>
            </a:extLst>
          </p:cNvPr>
          <p:cNvSpPr>
            <a:spLocks noGrp="1"/>
          </p:cNvSpPr>
          <p:nvPr>
            <p:ph type="title"/>
          </p:nvPr>
        </p:nvSpPr>
        <p:spPr/>
        <p:txBody>
          <a:bodyPr/>
          <a:lstStyle/>
          <a:p>
            <a:pPr algn="ctr"/>
            <a:r>
              <a:rPr lang="en-US" b="1" dirty="0"/>
              <a:t>The MVC Connection</a:t>
            </a:r>
          </a:p>
        </p:txBody>
      </p:sp>
      <p:sp>
        <p:nvSpPr>
          <p:cNvPr id="3" name="Content Placeholder 2">
            <a:extLst>
              <a:ext uri="{FF2B5EF4-FFF2-40B4-BE49-F238E27FC236}">
                <a16:creationId xmlns:a16="http://schemas.microsoft.com/office/drawing/2014/main" id="{F83A2DC1-432E-A91F-17C2-577BC7352BF9}"/>
              </a:ext>
            </a:extLst>
          </p:cNvPr>
          <p:cNvSpPr>
            <a:spLocks noGrp="1"/>
          </p:cNvSpPr>
          <p:nvPr>
            <p:ph idx="1"/>
          </p:nvPr>
        </p:nvSpPr>
        <p:spPr>
          <a:xfrm>
            <a:off x="2592925" y="1639330"/>
            <a:ext cx="8915400" cy="3777622"/>
          </a:xfrm>
        </p:spPr>
        <p:txBody>
          <a:bodyPr>
            <a:noAutofit/>
          </a:bodyPr>
          <a:lstStyle/>
          <a:p>
            <a:pPr marL="0" indent="0">
              <a:buNone/>
            </a:pPr>
            <a:r>
              <a:rPr lang="en-US" sz="2400" dirty="0"/>
              <a:t>MVC means Model – View – Controller, a  commonly used component architecture pattern.</a:t>
            </a:r>
          </a:p>
          <a:p>
            <a:pPr marL="0" indent="0">
              <a:buNone/>
            </a:pPr>
            <a:r>
              <a:rPr lang="en-US" sz="2400" dirty="0"/>
              <a:t>In general, a visual component is a composite of three distinct aspects:</a:t>
            </a:r>
          </a:p>
          <a:p>
            <a:pPr marL="457200" lvl="1" indent="0">
              <a:spcBef>
                <a:spcPts val="200"/>
              </a:spcBef>
              <a:buNone/>
            </a:pPr>
            <a:r>
              <a:rPr lang="en-US" sz="2400" dirty="0"/>
              <a:t>• The way that the component looks when rendered on the screen (View)</a:t>
            </a:r>
          </a:p>
          <a:p>
            <a:pPr marL="0" indent="0">
              <a:spcBef>
                <a:spcPts val="200"/>
              </a:spcBef>
              <a:buNone/>
            </a:pPr>
            <a:endParaRPr lang="en-US" sz="2400" dirty="0"/>
          </a:p>
          <a:p>
            <a:pPr marL="457200" lvl="1" indent="0">
              <a:spcBef>
                <a:spcPts val="200"/>
              </a:spcBef>
              <a:buNone/>
            </a:pPr>
            <a:r>
              <a:rPr lang="en-US" sz="2400" dirty="0"/>
              <a:t>• The way that the component reacts to the user  (Controller)</a:t>
            </a:r>
          </a:p>
          <a:p>
            <a:pPr marL="0" indent="0">
              <a:spcBef>
                <a:spcPts val="200"/>
              </a:spcBef>
              <a:buNone/>
            </a:pPr>
            <a:endParaRPr lang="en-US" sz="2400" dirty="0"/>
          </a:p>
          <a:p>
            <a:pPr marL="457200" lvl="1" indent="0">
              <a:spcBef>
                <a:spcPts val="200"/>
              </a:spcBef>
              <a:buNone/>
            </a:pPr>
            <a:r>
              <a:rPr lang="en-US" sz="2400" dirty="0"/>
              <a:t>• The state information associated with the component (Model)</a:t>
            </a:r>
          </a:p>
        </p:txBody>
      </p:sp>
    </p:spTree>
    <p:extLst>
      <p:ext uri="{BB962C8B-B14F-4D97-AF65-F5344CB8AC3E}">
        <p14:creationId xmlns:p14="http://schemas.microsoft.com/office/powerpoint/2010/main" val="10392025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B8E13-9DB3-FE15-6F33-91C27FC74F5D}"/>
              </a:ext>
            </a:extLst>
          </p:cNvPr>
          <p:cNvSpPr>
            <a:spLocks noGrp="1"/>
          </p:cNvSpPr>
          <p:nvPr>
            <p:ph type="title"/>
          </p:nvPr>
        </p:nvSpPr>
        <p:spPr/>
        <p:txBody>
          <a:bodyPr/>
          <a:lstStyle/>
          <a:p>
            <a:pPr algn="ctr"/>
            <a:r>
              <a:rPr lang="en-US" b="1" dirty="0"/>
              <a:t>Swing’s version of MVC</a:t>
            </a:r>
          </a:p>
        </p:txBody>
      </p:sp>
      <p:sp>
        <p:nvSpPr>
          <p:cNvPr id="3" name="Content Placeholder 2">
            <a:extLst>
              <a:ext uri="{FF2B5EF4-FFF2-40B4-BE49-F238E27FC236}">
                <a16:creationId xmlns:a16="http://schemas.microsoft.com/office/drawing/2014/main" id="{B95DED37-A6EF-5BB5-DFC9-DD349545FF6E}"/>
              </a:ext>
            </a:extLst>
          </p:cNvPr>
          <p:cNvSpPr>
            <a:spLocks noGrp="1"/>
          </p:cNvSpPr>
          <p:nvPr>
            <p:ph idx="1"/>
          </p:nvPr>
        </p:nvSpPr>
        <p:spPr>
          <a:xfrm>
            <a:off x="2609401" y="1701112"/>
            <a:ext cx="8915400" cy="4532777"/>
          </a:xfrm>
        </p:spPr>
        <p:txBody>
          <a:bodyPr>
            <a:normAutofit/>
          </a:bodyPr>
          <a:lstStyle/>
          <a:p>
            <a:pPr marL="0" indent="0">
              <a:buNone/>
            </a:pPr>
            <a:r>
              <a:rPr lang="en-US" sz="2400" dirty="0"/>
              <a:t>Although the MVC architecture and the principles behind it are conceptually sound, the high level of separation between the view and the controller is not beneficial for Swing components.</a:t>
            </a:r>
          </a:p>
          <a:p>
            <a:pPr marL="0" indent="0">
              <a:buNone/>
            </a:pPr>
            <a:r>
              <a:rPr lang="en-US" sz="2400" dirty="0"/>
              <a:t> Instead, Swing uses a modified version of MVC that combines the view and the controller into a single logical entity called the UI delegate. </a:t>
            </a:r>
          </a:p>
          <a:p>
            <a:pPr marL="0" indent="0">
              <a:buNone/>
            </a:pPr>
            <a:r>
              <a:rPr lang="en-US" sz="2400" dirty="0"/>
              <a:t>For this reason, Swing’s approach is called either the Model-Delegate architecture or the Separable Model architecture.</a:t>
            </a:r>
          </a:p>
          <a:p>
            <a:pPr marL="0" indent="0">
              <a:buNone/>
            </a:pPr>
            <a:r>
              <a:rPr lang="en-US" sz="2400" dirty="0"/>
              <a:t> Therefore, although Swing’s component architecture is based on MVC, it does not use a classical implementation of it.</a:t>
            </a:r>
          </a:p>
        </p:txBody>
      </p:sp>
    </p:spTree>
    <p:extLst>
      <p:ext uri="{BB962C8B-B14F-4D97-AF65-F5344CB8AC3E}">
        <p14:creationId xmlns:p14="http://schemas.microsoft.com/office/powerpoint/2010/main" val="2641027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FE50D-17B3-3B6B-5F4C-E24DA3ADA0C8}"/>
              </a:ext>
            </a:extLst>
          </p:cNvPr>
          <p:cNvSpPr>
            <a:spLocks noGrp="1"/>
          </p:cNvSpPr>
          <p:nvPr>
            <p:ph type="title"/>
          </p:nvPr>
        </p:nvSpPr>
        <p:spPr/>
        <p:txBody>
          <a:bodyPr/>
          <a:lstStyle/>
          <a:p>
            <a:pPr algn="ctr"/>
            <a:r>
              <a:rPr lang="en-US" b="1" dirty="0"/>
              <a:t>Components and Containers</a:t>
            </a:r>
          </a:p>
        </p:txBody>
      </p:sp>
      <p:sp>
        <p:nvSpPr>
          <p:cNvPr id="3" name="Content Placeholder 2">
            <a:extLst>
              <a:ext uri="{FF2B5EF4-FFF2-40B4-BE49-F238E27FC236}">
                <a16:creationId xmlns:a16="http://schemas.microsoft.com/office/drawing/2014/main" id="{F7093080-C54D-6087-34E8-2F1E3A73B8B4}"/>
              </a:ext>
            </a:extLst>
          </p:cNvPr>
          <p:cNvSpPr>
            <a:spLocks noGrp="1"/>
          </p:cNvSpPr>
          <p:nvPr>
            <p:ph idx="1"/>
          </p:nvPr>
        </p:nvSpPr>
        <p:spPr>
          <a:xfrm>
            <a:off x="2592925" y="1342480"/>
            <a:ext cx="8915400" cy="5120103"/>
          </a:xfrm>
        </p:spPr>
        <p:txBody>
          <a:bodyPr>
            <a:noAutofit/>
          </a:bodyPr>
          <a:lstStyle/>
          <a:p>
            <a:pPr marL="0" indent="0">
              <a:buNone/>
            </a:pPr>
            <a:r>
              <a:rPr lang="en-US" sz="2400" dirty="0"/>
              <a:t>A Swing GUI consists of two key items: components and containers. However, this distinction is mostly conceptual because all containers are also components! </a:t>
            </a:r>
          </a:p>
          <a:p>
            <a:pPr marL="0" indent="0">
              <a:buNone/>
            </a:pPr>
            <a:r>
              <a:rPr lang="en-US" sz="2400" dirty="0"/>
              <a:t>The difference between the two is found in their intended purpose: </a:t>
            </a:r>
          </a:p>
          <a:p>
            <a:pPr marL="0" indent="0">
              <a:buNone/>
            </a:pPr>
            <a:r>
              <a:rPr lang="en-US" sz="2400" dirty="0"/>
              <a:t>	A component is an independent visual control, such as a push button or slider.</a:t>
            </a:r>
          </a:p>
          <a:p>
            <a:pPr marL="0" indent="0">
              <a:buNone/>
            </a:pPr>
            <a:r>
              <a:rPr lang="en-US" sz="2400" dirty="0"/>
              <a:t>	 A container holds a group of components. </a:t>
            </a:r>
          </a:p>
          <a:p>
            <a:pPr marL="0" indent="0">
              <a:buNone/>
            </a:pPr>
            <a:r>
              <a:rPr lang="en-US" sz="2400" dirty="0"/>
              <a:t>Thus, a container is a special type of component that is designed to hold other components. Furthermore, in order for a component to be displayed, it must be held within a container.</a:t>
            </a:r>
          </a:p>
          <a:p>
            <a:pPr marL="0" indent="0">
              <a:buNone/>
            </a:pPr>
            <a:r>
              <a:rPr lang="en-US" sz="2400" dirty="0"/>
              <a:t> Thus, all Swing GUIs will have at least one container. </a:t>
            </a:r>
          </a:p>
        </p:txBody>
      </p:sp>
    </p:spTree>
    <p:extLst>
      <p:ext uri="{BB962C8B-B14F-4D97-AF65-F5344CB8AC3E}">
        <p14:creationId xmlns:p14="http://schemas.microsoft.com/office/powerpoint/2010/main" val="3595177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2860C-A497-8E1F-E4D6-244A477AF837}"/>
              </a:ext>
            </a:extLst>
          </p:cNvPr>
          <p:cNvSpPr>
            <a:spLocks noGrp="1"/>
          </p:cNvSpPr>
          <p:nvPr>
            <p:ph type="title"/>
          </p:nvPr>
        </p:nvSpPr>
        <p:spPr>
          <a:xfrm>
            <a:off x="2592925" y="675625"/>
            <a:ext cx="8911687" cy="1280890"/>
          </a:xfrm>
        </p:spPr>
        <p:txBody>
          <a:bodyPr/>
          <a:lstStyle/>
          <a:p>
            <a:pPr algn="ctr"/>
            <a:r>
              <a:rPr lang="en-US" dirty="0"/>
              <a:t>Components</a:t>
            </a:r>
          </a:p>
        </p:txBody>
      </p:sp>
      <p:sp>
        <p:nvSpPr>
          <p:cNvPr id="3" name="Content Placeholder 2">
            <a:extLst>
              <a:ext uri="{FF2B5EF4-FFF2-40B4-BE49-F238E27FC236}">
                <a16:creationId xmlns:a16="http://schemas.microsoft.com/office/drawing/2014/main" id="{EDA0DF12-03D7-D201-3F67-193C35B3BB86}"/>
              </a:ext>
            </a:extLst>
          </p:cNvPr>
          <p:cNvSpPr>
            <a:spLocks noGrp="1"/>
          </p:cNvSpPr>
          <p:nvPr>
            <p:ph idx="1"/>
          </p:nvPr>
        </p:nvSpPr>
        <p:spPr/>
        <p:txBody>
          <a:bodyPr>
            <a:normAutofit/>
          </a:bodyPr>
          <a:lstStyle/>
          <a:p>
            <a:pPr marL="0" indent="0">
              <a:buNone/>
            </a:pPr>
            <a:r>
              <a:rPr lang="en-US" sz="2400" dirty="0"/>
              <a:t>In general, Swing components are derived from the </a:t>
            </a:r>
            <a:r>
              <a:rPr lang="en-US" sz="2400" dirty="0" err="1"/>
              <a:t>JComponent</a:t>
            </a:r>
            <a:r>
              <a:rPr lang="en-US" sz="2400" dirty="0"/>
              <a:t> class. (The only exceptions to this are the four top-level containers.</a:t>
            </a:r>
          </a:p>
          <a:p>
            <a:pPr marL="0" indent="0">
              <a:buNone/>
            </a:pPr>
            <a:r>
              <a:rPr lang="en-US" sz="2400" dirty="0"/>
              <a:t>All of Swing’s components are represented by classes defined within the package </a:t>
            </a:r>
            <a:r>
              <a:rPr lang="en-US" sz="2400" dirty="0" err="1"/>
              <a:t>javax.swing</a:t>
            </a:r>
            <a:r>
              <a:rPr lang="en-US" sz="2400" dirty="0"/>
              <a:t>.</a:t>
            </a:r>
          </a:p>
        </p:txBody>
      </p:sp>
    </p:spTree>
    <p:extLst>
      <p:ext uri="{BB962C8B-B14F-4D97-AF65-F5344CB8AC3E}">
        <p14:creationId xmlns:p14="http://schemas.microsoft.com/office/powerpoint/2010/main" val="3241305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B514-C54C-A783-3FFB-21FA4953E1C2}"/>
              </a:ext>
            </a:extLst>
          </p:cNvPr>
          <p:cNvSpPr>
            <a:spLocks noGrp="1"/>
          </p:cNvSpPr>
          <p:nvPr>
            <p:ph type="title"/>
          </p:nvPr>
        </p:nvSpPr>
        <p:spPr/>
        <p:txBody>
          <a:bodyPr/>
          <a:lstStyle/>
          <a:p>
            <a:pPr algn="ctr"/>
            <a:r>
              <a:rPr lang="en-US" b="1" dirty="0"/>
              <a:t>Components</a:t>
            </a:r>
          </a:p>
        </p:txBody>
      </p:sp>
      <p:sp>
        <p:nvSpPr>
          <p:cNvPr id="3" name="Content Placeholder 2">
            <a:extLst>
              <a:ext uri="{FF2B5EF4-FFF2-40B4-BE49-F238E27FC236}">
                <a16:creationId xmlns:a16="http://schemas.microsoft.com/office/drawing/2014/main" id="{FB9A9062-3960-7428-BC7C-5858EC71ED07}"/>
              </a:ext>
            </a:extLst>
          </p:cNvPr>
          <p:cNvSpPr>
            <a:spLocks noGrp="1"/>
          </p:cNvSpPr>
          <p:nvPr>
            <p:ph sz="half" idx="1"/>
          </p:nvPr>
        </p:nvSpPr>
        <p:spPr>
          <a:xfrm>
            <a:off x="1691006" y="1709772"/>
            <a:ext cx="4313864" cy="3777622"/>
          </a:xfrm>
        </p:spPr>
        <p:txBody>
          <a:bodyPr/>
          <a:lstStyle/>
          <a:p>
            <a:pPr marL="0" indent="0">
              <a:buNone/>
            </a:pPr>
            <a:r>
              <a:rPr lang="en-US" dirty="0"/>
              <a:t>In general, Swing components are derived from the </a:t>
            </a:r>
            <a:r>
              <a:rPr lang="en-US" dirty="0" err="1"/>
              <a:t>JComponent</a:t>
            </a:r>
            <a:r>
              <a:rPr lang="en-US" dirty="0"/>
              <a:t> class. (The only exceptions to this are the four top-level containers.</a:t>
            </a:r>
          </a:p>
          <a:p>
            <a:pPr marL="0" indent="0">
              <a:buNone/>
            </a:pPr>
            <a:r>
              <a:rPr lang="en-US" dirty="0"/>
              <a:t>All of Swing’s components are represented by classes defined within the package </a:t>
            </a:r>
            <a:r>
              <a:rPr lang="en-US" dirty="0" err="1"/>
              <a:t>javax.swing</a:t>
            </a:r>
            <a:r>
              <a:rPr lang="en-US" dirty="0"/>
              <a:t>.  -&gt;</a:t>
            </a:r>
          </a:p>
          <a:p>
            <a:pPr marL="0" indent="0">
              <a:buNone/>
            </a:pPr>
            <a:r>
              <a:rPr lang="en-US" dirty="0"/>
              <a:t>Notice that all component classes begin with the letter J. For example, the class for a label is </a:t>
            </a:r>
            <a:r>
              <a:rPr lang="en-US" dirty="0" err="1"/>
              <a:t>JLabel</a:t>
            </a:r>
            <a:r>
              <a:rPr lang="en-US" dirty="0"/>
              <a:t>;</a:t>
            </a:r>
          </a:p>
        </p:txBody>
      </p:sp>
      <p:pic>
        <p:nvPicPr>
          <p:cNvPr id="6" name="Content Placeholder 5">
            <a:extLst>
              <a:ext uri="{FF2B5EF4-FFF2-40B4-BE49-F238E27FC236}">
                <a16:creationId xmlns:a16="http://schemas.microsoft.com/office/drawing/2014/main" id="{437FF092-23FE-263C-FCAD-BC3EE2A57BF0}"/>
              </a:ext>
            </a:extLst>
          </p:cNvPr>
          <p:cNvPicPr>
            <a:picLocks noGrp="1" noChangeAspect="1"/>
          </p:cNvPicPr>
          <p:nvPr>
            <p:ph sz="half" idx="2"/>
          </p:nvPr>
        </p:nvPicPr>
        <p:blipFill>
          <a:blip r:embed="rId2"/>
          <a:stretch>
            <a:fillRect/>
          </a:stretch>
        </p:blipFill>
        <p:spPr>
          <a:xfrm>
            <a:off x="6096000" y="1833340"/>
            <a:ext cx="5973009" cy="3191320"/>
          </a:xfrm>
        </p:spPr>
      </p:pic>
    </p:spTree>
    <p:extLst>
      <p:ext uri="{BB962C8B-B14F-4D97-AF65-F5344CB8AC3E}">
        <p14:creationId xmlns:p14="http://schemas.microsoft.com/office/powerpoint/2010/main" val="1622614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2E383-0047-AFA9-99D4-8E159B81D7E8}"/>
              </a:ext>
            </a:extLst>
          </p:cNvPr>
          <p:cNvSpPr>
            <a:spLocks noGrp="1"/>
          </p:cNvSpPr>
          <p:nvPr>
            <p:ph type="title"/>
          </p:nvPr>
        </p:nvSpPr>
        <p:spPr/>
        <p:txBody>
          <a:bodyPr/>
          <a:lstStyle/>
          <a:p>
            <a:pPr algn="ctr"/>
            <a:r>
              <a:rPr lang="en-US" b="1" dirty="0"/>
              <a:t>Most Commonly Used Components</a:t>
            </a:r>
          </a:p>
        </p:txBody>
      </p:sp>
      <p:pic>
        <p:nvPicPr>
          <p:cNvPr id="9" name="Content Placeholder 8">
            <a:extLst>
              <a:ext uri="{FF2B5EF4-FFF2-40B4-BE49-F238E27FC236}">
                <a16:creationId xmlns:a16="http://schemas.microsoft.com/office/drawing/2014/main" id="{311904CB-A8E4-2D77-25AC-41C1FCA3E953}"/>
              </a:ext>
            </a:extLst>
          </p:cNvPr>
          <p:cNvPicPr>
            <a:picLocks noGrp="1" noChangeAspect="1"/>
          </p:cNvPicPr>
          <p:nvPr>
            <p:ph idx="1"/>
          </p:nvPr>
        </p:nvPicPr>
        <p:blipFill>
          <a:blip r:embed="rId2"/>
          <a:stretch>
            <a:fillRect/>
          </a:stretch>
        </p:blipFill>
        <p:spPr>
          <a:xfrm>
            <a:off x="1299428" y="2235826"/>
            <a:ext cx="10553091" cy="3090940"/>
          </a:xfrm>
        </p:spPr>
      </p:pic>
    </p:spTree>
    <p:extLst>
      <p:ext uri="{BB962C8B-B14F-4D97-AF65-F5344CB8AC3E}">
        <p14:creationId xmlns:p14="http://schemas.microsoft.com/office/powerpoint/2010/main" val="1843387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46A4-54DE-3E47-ED65-DB376A1168C8}"/>
              </a:ext>
            </a:extLst>
          </p:cNvPr>
          <p:cNvSpPr>
            <a:spLocks noGrp="1"/>
          </p:cNvSpPr>
          <p:nvPr>
            <p:ph type="title"/>
          </p:nvPr>
        </p:nvSpPr>
        <p:spPr/>
        <p:txBody>
          <a:bodyPr/>
          <a:lstStyle/>
          <a:p>
            <a:pPr algn="ctr"/>
            <a:r>
              <a:rPr lang="en-US" b="1" dirty="0"/>
              <a:t>Containers</a:t>
            </a:r>
          </a:p>
        </p:txBody>
      </p:sp>
      <p:sp>
        <p:nvSpPr>
          <p:cNvPr id="3" name="Content Placeholder 2">
            <a:extLst>
              <a:ext uri="{FF2B5EF4-FFF2-40B4-BE49-F238E27FC236}">
                <a16:creationId xmlns:a16="http://schemas.microsoft.com/office/drawing/2014/main" id="{9091FF28-449D-E0EE-5A65-4B93995B24C2}"/>
              </a:ext>
            </a:extLst>
          </p:cNvPr>
          <p:cNvSpPr>
            <a:spLocks noGrp="1"/>
          </p:cNvSpPr>
          <p:nvPr>
            <p:ph idx="1"/>
          </p:nvPr>
        </p:nvSpPr>
        <p:spPr>
          <a:xfrm>
            <a:off x="2799277" y="1664042"/>
            <a:ext cx="8915400" cy="4569847"/>
          </a:xfrm>
        </p:spPr>
        <p:txBody>
          <a:bodyPr>
            <a:normAutofit/>
          </a:bodyPr>
          <a:lstStyle/>
          <a:p>
            <a:pPr marL="0" indent="0">
              <a:buNone/>
            </a:pPr>
            <a:r>
              <a:rPr lang="en-US" sz="2400" dirty="0"/>
              <a:t>Swing defines two types of containers. They are top-level and lightweight containers.</a:t>
            </a:r>
          </a:p>
          <a:p>
            <a:pPr marL="0" indent="0">
              <a:buNone/>
            </a:pPr>
            <a:r>
              <a:rPr lang="en-US" sz="2400" dirty="0"/>
              <a:t> Examples of the first type, top-level containers: </a:t>
            </a:r>
            <a:r>
              <a:rPr lang="en-US" sz="2400" dirty="0" err="1"/>
              <a:t>JFrame</a:t>
            </a:r>
            <a:r>
              <a:rPr lang="en-US" sz="2400" dirty="0"/>
              <a:t>, </a:t>
            </a:r>
            <a:r>
              <a:rPr lang="en-US" sz="2400" dirty="0" err="1"/>
              <a:t>JApplet</a:t>
            </a:r>
            <a:r>
              <a:rPr lang="en-US" sz="2400" dirty="0"/>
              <a:t>, </a:t>
            </a:r>
            <a:r>
              <a:rPr lang="en-US" sz="2400" dirty="0" err="1"/>
              <a:t>JWindow</a:t>
            </a:r>
            <a:r>
              <a:rPr lang="en-US" sz="2400" dirty="0"/>
              <a:t>, and </a:t>
            </a:r>
            <a:r>
              <a:rPr lang="en-US" sz="2400" dirty="0" err="1"/>
              <a:t>JDialog</a:t>
            </a:r>
            <a:r>
              <a:rPr lang="en-US" sz="2400" dirty="0"/>
              <a:t>. </a:t>
            </a:r>
          </a:p>
          <a:p>
            <a:pPr marL="0" indent="0">
              <a:buNone/>
            </a:pPr>
            <a:r>
              <a:rPr lang="en-US" sz="2400" dirty="0"/>
              <a:t>These containers do not inherit </a:t>
            </a:r>
            <a:r>
              <a:rPr lang="en-US" sz="2400" dirty="0" err="1"/>
              <a:t>JComponent</a:t>
            </a:r>
            <a:r>
              <a:rPr lang="en-US" sz="2400" dirty="0"/>
              <a:t>. </a:t>
            </a:r>
          </a:p>
          <a:p>
            <a:pPr marL="0" indent="0">
              <a:buNone/>
            </a:pPr>
            <a:r>
              <a:rPr lang="en-US" sz="2400" dirty="0"/>
              <a:t>They do, however, inherit the AWT classes Component and Container. </a:t>
            </a:r>
          </a:p>
          <a:p>
            <a:pPr marL="0" indent="0">
              <a:buNone/>
            </a:pPr>
            <a:r>
              <a:rPr lang="en-US" sz="2400" dirty="0"/>
              <a:t>Unlike Swing’s other components, which are lightweight, the top-level containers are heavyweight. This makes the top-level containers a special case in the Swing component library.</a:t>
            </a:r>
          </a:p>
        </p:txBody>
      </p:sp>
    </p:spTree>
    <p:extLst>
      <p:ext uri="{BB962C8B-B14F-4D97-AF65-F5344CB8AC3E}">
        <p14:creationId xmlns:p14="http://schemas.microsoft.com/office/powerpoint/2010/main" val="2568767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27C42-5E4D-280F-4D22-51331FCDE56A}"/>
              </a:ext>
            </a:extLst>
          </p:cNvPr>
          <p:cNvSpPr>
            <a:spLocks noGrp="1"/>
          </p:cNvSpPr>
          <p:nvPr>
            <p:ph type="title"/>
          </p:nvPr>
        </p:nvSpPr>
        <p:spPr/>
        <p:txBody>
          <a:bodyPr/>
          <a:lstStyle/>
          <a:p>
            <a:pPr algn="ctr"/>
            <a:r>
              <a:rPr lang="en-US" b="1" dirty="0"/>
              <a:t>Top-Level Containers</a:t>
            </a:r>
          </a:p>
        </p:txBody>
      </p:sp>
      <p:sp>
        <p:nvSpPr>
          <p:cNvPr id="3" name="Content Placeholder 2">
            <a:extLst>
              <a:ext uri="{FF2B5EF4-FFF2-40B4-BE49-F238E27FC236}">
                <a16:creationId xmlns:a16="http://schemas.microsoft.com/office/drawing/2014/main" id="{F808363D-9BEE-9487-0B7F-FEBE63815C61}"/>
              </a:ext>
            </a:extLst>
          </p:cNvPr>
          <p:cNvSpPr>
            <a:spLocks noGrp="1"/>
          </p:cNvSpPr>
          <p:nvPr>
            <p:ph idx="1"/>
          </p:nvPr>
        </p:nvSpPr>
        <p:spPr/>
        <p:txBody>
          <a:bodyPr>
            <a:normAutofit/>
          </a:bodyPr>
          <a:lstStyle/>
          <a:p>
            <a:pPr marL="0" indent="0">
              <a:buNone/>
            </a:pPr>
            <a:r>
              <a:rPr lang="en-US" sz="2400" dirty="0"/>
              <a:t>A top-level container must be at the top of a containment hierarchy. </a:t>
            </a:r>
          </a:p>
          <a:p>
            <a:pPr marL="0" indent="0">
              <a:buNone/>
            </a:pPr>
            <a:r>
              <a:rPr lang="en-US" sz="2400" dirty="0"/>
              <a:t>A top-level container is not contained within any other container.</a:t>
            </a:r>
          </a:p>
          <a:p>
            <a:pPr marL="0" indent="0">
              <a:buNone/>
            </a:pPr>
            <a:r>
              <a:rPr lang="en-US" sz="2400" dirty="0"/>
              <a:t> Furthermore, every containment hierarchy must begin with a top-level container. </a:t>
            </a:r>
          </a:p>
          <a:p>
            <a:pPr marL="0" indent="0">
              <a:buNone/>
            </a:pPr>
            <a:r>
              <a:rPr lang="en-US" sz="2400" dirty="0"/>
              <a:t>The one most commonly used for applications is </a:t>
            </a:r>
            <a:r>
              <a:rPr lang="en-US" sz="2400" dirty="0" err="1"/>
              <a:t>JFrame</a:t>
            </a:r>
            <a:r>
              <a:rPr lang="en-US" sz="2400" dirty="0"/>
              <a:t>. </a:t>
            </a:r>
          </a:p>
        </p:txBody>
      </p:sp>
    </p:spTree>
    <p:extLst>
      <p:ext uri="{BB962C8B-B14F-4D97-AF65-F5344CB8AC3E}">
        <p14:creationId xmlns:p14="http://schemas.microsoft.com/office/powerpoint/2010/main" val="26844678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848D3-4607-F8EB-EA0F-D4F8EE387D0D}"/>
              </a:ext>
            </a:extLst>
          </p:cNvPr>
          <p:cNvSpPr>
            <a:spLocks noGrp="1"/>
          </p:cNvSpPr>
          <p:nvPr>
            <p:ph type="title"/>
          </p:nvPr>
        </p:nvSpPr>
        <p:spPr/>
        <p:txBody>
          <a:bodyPr/>
          <a:lstStyle/>
          <a:p>
            <a:pPr algn="ctr"/>
            <a:r>
              <a:rPr lang="en-US" b="1" dirty="0"/>
              <a:t>Lightweight Containers</a:t>
            </a:r>
          </a:p>
        </p:txBody>
      </p:sp>
      <p:sp>
        <p:nvSpPr>
          <p:cNvPr id="3" name="Content Placeholder 2">
            <a:extLst>
              <a:ext uri="{FF2B5EF4-FFF2-40B4-BE49-F238E27FC236}">
                <a16:creationId xmlns:a16="http://schemas.microsoft.com/office/drawing/2014/main" id="{DF2DD8F9-E930-5BB7-A5A7-E49A87C9FCAF}"/>
              </a:ext>
            </a:extLst>
          </p:cNvPr>
          <p:cNvSpPr>
            <a:spLocks noGrp="1"/>
          </p:cNvSpPr>
          <p:nvPr>
            <p:ph idx="1"/>
          </p:nvPr>
        </p:nvSpPr>
        <p:spPr>
          <a:xfrm>
            <a:off x="2730880" y="1540189"/>
            <a:ext cx="8915400" cy="4912126"/>
          </a:xfrm>
        </p:spPr>
        <p:txBody>
          <a:bodyPr>
            <a:normAutofit/>
          </a:bodyPr>
          <a:lstStyle/>
          <a:p>
            <a:pPr marL="0" indent="0">
              <a:buNone/>
            </a:pPr>
            <a:r>
              <a:rPr lang="en-US" sz="2400" dirty="0"/>
              <a:t>The second type of containers supported by Swing are lightweight containers. </a:t>
            </a:r>
          </a:p>
          <a:p>
            <a:pPr marL="0" indent="0">
              <a:buNone/>
            </a:pPr>
            <a:r>
              <a:rPr lang="en-US" sz="2400" dirty="0"/>
              <a:t>Lightweight containers do inherit </a:t>
            </a:r>
            <a:r>
              <a:rPr lang="en-US" sz="2400" dirty="0" err="1"/>
              <a:t>JComponent</a:t>
            </a:r>
            <a:r>
              <a:rPr lang="en-US" sz="2400" dirty="0"/>
              <a:t>. An example of a lightweight container is </a:t>
            </a:r>
            <a:r>
              <a:rPr lang="en-US" sz="2400" dirty="0" err="1"/>
              <a:t>JPanel</a:t>
            </a:r>
            <a:r>
              <a:rPr lang="en-US" sz="2400" dirty="0"/>
              <a:t>, which is a general-purpose container. </a:t>
            </a:r>
          </a:p>
          <a:p>
            <a:pPr marL="0" indent="0">
              <a:buNone/>
            </a:pPr>
            <a:r>
              <a:rPr lang="en-US" sz="2400" dirty="0"/>
              <a:t>Lightweight containers are often used to organize and manage groups of related components because a lightweight container can be contained within another container. </a:t>
            </a:r>
          </a:p>
          <a:p>
            <a:pPr marL="0" indent="0">
              <a:buNone/>
            </a:pPr>
            <a:r>
              <a:rPr lang="en-US" sz="2400" dirty="0"/>
              <a:t>Thus, you can use lightweight containers such as </a:t>
            </a:r>
            <a:r>
              <a:rPr lang="en-US" sz="2400" dirty="0" err="1"/>
              <a:t>JPanel</a:t>
            </a:r>
            <a:r>
              <a:rPr lang="en-US" sz="2400" dirty="0"/>
              <a:t> to create subgroups of related controls that are contained within an outer container.</a:t>
            </a:r>
          </a:p>
        </p:txBody>
      </p:sp>
    </p:spTree>
    <p:extLst>
      <p:ext uri="{BB962C8B-B14F-4D97-AF65-F5344CB8AC3E}">
        <p14:creationId xmlns:p14="http://schemas.microsoft.com/office/powerpoint/2010/main" val="2974056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AA15D-D706-6318-8CB1-86BFD3996DC9}"/>
              </a:ext>
            </a:extLst>
          </p:cNvPr>
          <p:cNvSpPr>
            <a:spLocks noGrp="1"/>
          </p:cNvSpPr>
          <p:nvPr>
            <p:ph type="title"/>
          </p:nvPr>
        </p:nvSpPr>
        <p:spPr/>
        <p:txBody>
          <a:bodyPr/>
          <a:lstStyle/>
          <a:p>
            <a:pPr algn="ctr"/>
            <a:r>
              <a:rPr lang="en-US" b="1" dirty="0"/>
              <a:t>Swing Packages</a:t>
            </a:r>
          </a:p>
        </p:txBody>
      </p:sp>
      <p:sp>
        <p:nvSpPr>
          <p:cNvPr id="3" name="Content Placeholder 2">
            <a:extLst>
              <a:ext uri="{FF2B5EF4-FFF2-40B4-BE49-F238E27FC236}">
                <a16:creationId xmlns:a16="http://schemas.microsoft.com/office/drawing/2014/main" id="{96952864-6E6D-9A06-BB2A-040E94893447}"/>
              </a:ext>
            </a:extLst>
          </p:cNvPr>
          <p:cNvSpPr>
            <a:spLocks noGrp="1"/>
          </p:cNvSpPr>
          <p:nvPr>
            <p:ph idx="1"/>
          </p:nvPr>
        </p:nvSpPr>
        <p:spPr>
          <a:xfrm>
            <a:off x="2589212" y="1468192"/>
            <a:ext cx="8915400" cy="5142673"/>
          </a:xfrm>
        </p:spPr>
        <p:txBody>
          <a:bodyPr>
            <a:noAutofit/>
          </a:bodyPr>
          <a:lstStyle/>
          <a:p>
            <a:pPr marL="0" indent="0">
              <a:buNone/>
            </a:pPr>
            <a:r>
              <a:rPr lang="en-US" sz="2400" dirty="0"/>
              <a:t>Swing makes use of many packages. Currently, these are the packages defined by Swing.</a:t>
            </a:r>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dirty="0"/>
              <a:t>Beginning with the JDK 9, the Swing packages are part of the </a:t>
            </a:r>
            <a:r>
              <a:rPr lang="en-US" sz="2400" dirty="0" err="1"/>
              <a:t>java.desktop</a:t>
            </a:r>
            <a:r>
              <a:rPr lang="en-US" sz="2400" dirty="0"/>
              <a:t> module.</a:t>
            </a:r>
          </a:p>
        </p:txBody>
      </p:sp>
      <p:pic>
        <p:nvPicPr>
          <p:cNvPr id="5" name="Picture 4">
            <a:extLst>
              <a:ext uri="{FF2B5EF4-FFF2-40B4-BE49-F238E27FC236}">
                <a16:creationId xmlns:a16="http://schemas.microsoft.com/office/drawing/2014/main" id="{64E90D09-1F2D-2E8C-8711-0D2631F784FA}"/>
              </a:ext>
            </a:extLst>
          </p:cNvPr>
          <p:cNvPicPr>
            <a:picLocks noChangeAspect="1"/>
          </p:cNvPicPr>
          <p:nvPr/>
        </p:nvPicPr>
        <p:blipFill>
          <a:blip r:embed="rId2"/>
          <a:stretch>
            <a:fillRect/>
          </a:stretch>
        </p:blipFill>
        <p:spPr>
          <a:xfrm>
            <a:off x="3779590" y="2243173"/>
            <a:ext cx="5992061" cy="1333686"/>
          </a:xfrm>
          <a:prstGeom prst="rect">
            <a:avLst/>
          </a:prstGeom>
        </p:spPr>
      </p:pic>
    </p:spTree>
    <p:extLst>
      <p:ext uri="{BB962C8B-B14F-4D97-AF65-F5344CB8AC3E}">
        <p14:creationId xmlns:p14="http://schemas.microsoft.com/office/powerpoint/2010/main" val="9398819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B4F37-B4C7-CD9C-7844-44F0A696A15A}"/>
              </a:ext>
            </a:extLst>
          </p:cNvPr>
          <p:cNvSpPr>
            <a:spLocks noGrp="1"/>
          </p:cNvSpPr>
          <p:nvPr>
            <p:ph type="title"/>
          </p:nvPr>
        </p:nvSpPr>
        <p:spPr>
          <a:xfrm>
            <a:off x="2592925" y="401371"/>
            <a:ext cx="8911687" cy="1280890"/>
          </a:xfrm>
        </p:spPr>
        <p:txBody>
          <a:bodyPr/>
          <a:lstStyle/>
          <a:p>
            <a:pPr algn="ctr"/>
            <a:r>
              <a:rPr lang="en-US" b="1" dirty="0"/>
              <a:t>The main Swing package</a:t>
            </a:r>
          </a:p>
        </p:txBody>
      </p:sp>
      <p:sp>
        <p:nvSpPr>
          <p:cNvPr id="3" name="Content Placeholder 2">
            <a:extLst>
              <a:ext uri="{FF2B5EF4-FFF2-40B4-BE49-F238E27FC236}">
                <a16:creationId xmlns:a16="http://schemas.microsoft.com/office/drawing/2014/main" id="{307BACB3-0689-E967-BB44-DBA3EC1C002F}"/>
              </a:ext>
            </a:extLst>
          </p:cNvPr>
          <p:cNvSpPr>
            <a:spLocks noGrp="1"/>
          </p:cNvSpPr>
          <p:nvPr>
            <p:ph idx="1"/>
          </p:nvPr>
        </p:nvSpPr>
        <p:spPr>
          <a:xfrm>
            <a:off x="2478831" y="1270137"/>
            <a:ext cx="9577754" cy="4583724"/>
          </a:xfrm>
        </p:spPr>
        <p:txBody>
          <a:bodyPr>
            <a:noAutofit/>
          </a:bodyPr>
          <a:lstStyle/>
          <a:p>
            <a:pPr marL="0" indent="0">
              <a:buNone/>
            </a:pPr>
            <a:r>
              <a:rPr lang="en-US" sz="2400" dirty="0"/>
              <a:t>The main package is </a:t>
            </a:r>
            <a:r>
              <a:rPr lang="en-US" sz="2400" dirty="0" err="1"/>
              <a:t>javax.swing</a:t>
            </a:r>
            <a:r>
              <a:rPr lang="en-US" sz="2400" dirty="0"/>
              <a:t>. This package must be imported into any program that uses Swing. It contains the classes that implement the basic Swing components, such as push buttons, labels, and check boxes.</a:t>
            </a:r>
          </a:p>
          <a:p>
            <a:pPr marL="0" indent="0">
              <a:buNone/>
            </a:pPr>
            <a:r>
              <a:rPr lang="en-US" sz="2400" dirty="0"/>
              <a:t>We can use * as a wildcard for all of the classes on that level. </a:t>
            </a:r>
          </a:p>
          <a:p>
            <a:pPr marL="0" indent="0">
              <a:buNone/>
            </a:pPr>
            <a:r>
              <a:rPr lang="en-US" sz="2400" dirty="0"/>
              <a:t>Using  * </a:t>
            </a:r>
            <a:r>
              <a:rPr lang="en-US" sz="2400" u="sng" dirty="0"/>
              <a:t>does not </a:t>
            </a:r>
            <a:r>
              <a:rPr lang="en-US" sz="2400" dirty="0"/>
              <a:t>include classes on the next level down.</a:t>
            </a:r>
          </a:p>
          <a:p>
            <a:pPr marL="0" indent="0">
              <a:buNone/>
            </a:pPr>
            <a:r>
              <a:rPr lang="en-US" sz="2400" dirty="0"/>
              <a:t>All swing components names begin with a J</a:t>
            </a:r>
          </a:p>
          <a:p>
            <a:pPr marL="0" indent="0">
              <a:buNone/>
            </a:pPr>
            <a:r>
              <a:rPr lang="en-US" sz="2400" dirty="0"/>
              <a:t>So.. We would import </a:t>
            </a:r>
            <a:r>
              <a:rPr lang="en-US" sz="2400" dirty="0" err="1"/>
              <a:t>javax.swing.JLabel</a:t>
            </a:r>
            <a:r>
              <a:rPr lang="en-US" sz="2400" dirty="0"/>
              <a:t>; or </a:t>
            </a:r>
            <a:r>
              <a:rPr lang="en-US" sz="2400" dirty="0" err="1"/>
              <a:t>javax.swing</a:t>
            </a:r>
            <a:r>
              <a:rPr lang="en-US" sz="2400" dirty="0"/>
              <a:t>.*;</a:t>
            </a:r>
          </a:p>
        </p:txBody>
      </p:sp>
    </p:spTree>
    <p:extLst>
      <p:ext uri="{BB962C8B-B14F-4D97-AF65-F5344CB8AC3E}">
        <p14:creationId xmlns:p14="http://schemas.microsoft.com/office/powerpoint/2010/main" val="13548494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16C72-7F14-F6F3-EA80-B04AE5F49A0B}"/>
              </a:ext>
            </a:extLst>
          </p:cNvPr>
          <p:cNvSpPr>
            <a:spLocks noGrp="1"/>
          </p:cNvSpPr>
          <p:nvPr>
            <p:ph type="title"/>
          </p:nvPr>
        </p:nvSpPr>
        <p:spPr>
          <a:xfrm>
            <a:off x="2592925" y="577217"/>
            <a:ext cx="8911687" cy="1280890"/>
          </a:xfrm>
        </p:spPr>
        <p:txBody>
          <a:bodyPr/>
          <a:lstStyle/>
          <a:p>
            <a:pPr algn="ctr"/>
            <a:r>
              <a:rPr lang="en-US" b="1" dirty="0"/>
              <a:t>GUI Application using Swing</a:t>
            </a:r>
          </a:p>
        </p:txBody>
      </p:sp>
      <p:graphicFrame>
        <p:nvGraphicFramePr>
          <p:cNvPr id="4" name="Content Placeholder 3">
            <a:extLst>
              <a:ext uri="{FF2B5EF4-FFF2-40B4-BE49-F238E27FC236}">
                <a16:creationId xmlns:a16="http://schemas.microsoft.com/office/drawing/2014/main" id="{54558FF0-5140-BDAA-659C-9973059B0B12}"/>
              </a:ext>
            </a:extLst>
          </p:cNvPr>
          <p:cNvGraphicFramePr>
            <a:graphicFrameLocks noGrp="1"/>
          </p:cNvGraphicFramePr>
          <p:nvPr>
            <p:ph idx="1"/>
            <p:extLst>
              <p:ext uri="{D42A27DB-BD31-4B8C-83A1-F6EECF244321}">
                <p14:modId xmlns:p14="http://schemas.microsoft.com/office/powerpoint/2010/main" val="4141760696"/>
              </p:ext>
            </p:extLst>
          </p:nvPr>
        </p:nvGraphicFramePr>
        <p:xfrm>
          <a:off x="2592925" y="2753558"/>
          <a:ext cx="8915400" cy="37548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1">
            <a:extLst>
              <a:ext uri="{FF2B5EF4-FFF2-40B4-BE49-F238E27FC236}">
                <a16:creationId xmlns:a16="http://schemas.microsoft.com/office/drawing/2014/main" id="{B8DD2584-16FC-6FCE-7A2D-10740D4C00DD}"/>
              </a:ext>
            </a:extLst>
          </p:cNvPr>
          <p:cNvSpPr txBox="1">
            <a:spLocks/>
          </p:cNvSpPr>
          <p:nvPr/>
        </p:nvSpPr>
        <p:spPr>
          <a:xfrm>
            <a:off x="3014956" y="1688834"/>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en-US" sz="2400" b="1" dirty="0"/>
          </a:p>
        </p:txBody>
      </p:sp>
      <p:sp>
        <p:nvSpPr>
          <p:cNvPr id="6" name="TextBox 5">
            <a:extLst>
              <a:ext uri="{FF2B5EF4-FFF2-40B4-BE49-F238E27FC236}">
                <a16:creationId xmlns:a16="http://schemas.microsoft.com/office/drawing/2014/main" id="{5F084577-E27F-C3B9-688D-B48A5BF7AE54}"/>
              </a:ext>
            </a:extLst>
          </p:cNvPr>
          <p:cNvSpPr txBox="1"/>
          <p:nvPr/>
        </p:nvSpPr>
        <p:spPr>
          <a:xfrm>
            <a:off x="2001815" y="1553229"/>
            <a:ext cx="9845965" cy="1200329"/>
          </a:xfrm>
          <a:prstGeom prst="rect">
            <a:avLst/>
          </a:prstGeom>
          <a:noFill/>
        </p:spPr>
        <p:txBody>
          <a:bodyPr wrap="none" rtlCol="0">
            <a:spAutoFit/>
          </a:bodyPr>
          <a:lstStyle/>
          <a:p>
            <a:pPr lvl="0" algn="ctr"/>
            <a:r>
              <a:rPr lang="en-US" sz="2400" dirty="0"/>
              <a:t>The first step to creating a GUI Application is to create a window.</a:t>
            </a:r>
          </a:p>
          <a:p>
            <a:pPr algn="ctr"/>
            <a:r>
              <a:rPr lang="en-US" sz="2400" dirty="0"/>
              <a:t>We will use the </a:t>
            </a:r>
            <a:r>
              <a:rPr lang="en-US" sz="2400" dirty="0" err="1"/>
              <a:t>JFrame</a:t>
            </a:r>
            <a:r>
              <a:rPr lang="en-US" sz="2400" dirty="0"/>
              <a:t> class in the </a:t>
            </a:r>
            <a:r>
              <a:rPr lang="en-US" sz="2400" dirty="0" err="1"/>
              <a:t>javax.swing</a:t>
            </a:r>
            <a:r>
              <a:rPr lang="en-US" sz="2400" dirty="0"/>
              <a:t> package.</a:t>
            </a:r>
          </a:p>
          <a:p>
            <a:pPr lvl="0" algn="ctr"/>
            <a:endParaRPr lang="en-US" sz="2400" dirty="0"/>
          </a:p>
        </p:txBody>
      </p:sp>
      <p:sp>
        <p:nvSpPr>
          <p:cNvPr id="7" name="Rectangle: Rounded Corners 6">
            <a:extLst>
              <a:ext uri="{FF2B5EF4-FFF2-40B4-BE49-F238E27FC236}">
                <a16:creationId xmlns:a16="http://schemas.microsoft.com/office/drawing/2014/main" id="{297A531C-D188-D210-9258-780BD124E326}"/>
              </a:ext>
            </a:extLst>
          </p:cNvPr>
          <p:cNvSpPr/>
          <p:nvPr/>
        </p:nvSpPr>
        <p:spPr>
          <a:xfrm>
            <a:off x="5310553" y="2460226"/>
            <a:ext cx="2649416" cy="802830"/>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a:p>
            <a:pPr algn="ctr"/>
            <a:r>
              <a:rPr lang="en-US" dirty="0">
                <a:solidFill>
                  <a:schemeClr val="bg1"/>
                </a:solidFill>
              </a:rPr>
              <a:t>All of these are AWT </a:t>
            </a:r>
            <a:r>
              <a:rPr lang="en-US" dirty="0">
                <a:solidFill>
                  <a:schemeClr val="accent5">
                    <a:lumMod val="75000"/>
                  </a:schemeClr>
                </a:solidFill>
              </a:rPr>
              <a:t>are AWT</a:t>
            </a:r>
          </a:p>
        </p:txBody>
      </p:sp>
      <p:sp>
        <p:nvSpPr>
          <p:cNvPr id="8" name="Right Brace 7">
            <a:extLst>
              <a:ext uri="{FF2B5EF4-FFF2-40B4-BE49-F238E27FC236}">
                <a16:creationId xmlns:a16="http://schemas.microsoft.com/office/drawing/2014/main" id="{15F69D76-8522-F396-BED4-488D9D5DBC5E}"/>
              </a:ext>
            </a:extLst>
          </p:cNvPr>
          <p:cNvSpPr/>
          <p:nvPr/>
        </p:nvSpPr>
        <p:spPr>
          <a:xfrm rot="16200000">
            <a:off x="6707117" y="806964"/>
            <a:ext cx="501060" cy="5521574"/>
          </a:xfrm>
          <a:prstGeom prst="rightBrace">
            <a:avLst>
              <a:gd name="adj1" fmla="val 0"/>
              <a:gd name="adj2" fmla="val 50000"/>
            </a:avLst>
          </a:prstGeom>
          <a:ln>
            <a:solidFill>
              <a:schemeClr val="accent4">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9616152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19FB1C-981F-2DD3-1C6D-6F8B964BA33C}"/>
              </a:ext>
            </a:extLst>
          </p:cNvPr>
          <p:cNvSpPr>
            <a:spLocks noGrp="1"/>
          </p:cNvSpPr>
          <p:nvPr>
            <p:ph type="title"/>
          </p:nvPr>
        </p:nvSpPr>
        <p:spPr>
          <a:xfrm>
            <a:off x="649224" y="645106"/>
            <a:ext cx="3650279" cy="1259894"/>
          </a:xfrm>
        </p:spPr>
        <p:txBody>
          <a:bodyPr>
            <a:normAutofit/>
          </a:bodyPr>
          <a:lstStyle/>
          <a:p>
            <a:r>
              <a:rPr lang="en-US" b="1" dirty="0" err="1"/>
              <a:t>Compoment</a:t>
            </a:r>
            <a:r>
              <a:rPr lang="en-US" b="1" dirty="0"/>
              <a:t> Hierarchies</a:t>
            </a:r>
            <a:endParaRPr lang="en-US" b="1"/>
          </a:p>
        </p:txBody>
      </p:sp>
      <p:sp>
        <p:nvSpPr>
          <p:cNvPr id="12" name="Rectangle 11">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C5A3784D-0849-11C8-9B12-C3D6E30A4927}"/>
              </a:ext>
            </a:extLst>
          </p:cNvPr>
          <p:cNvSpPr>
            <a:spLocks noGrp="1"/>
          </p:cNvSpPr>
          <p:nvPr>
            <p:ph idx="1"/>
          </p:nvPr>
        </p:nvSpPr>
        <p:spPr>
          <a:xfrm>
            <a:off x="712023" y="2097623"/>
            <a:ext cx="3650278" cy="3759253"/>
          </a:xfrm>
        </p:spPr>
        <p:txBody>
          <a:bodyPr>
            <a:noAutofit/>
          </a:bodyPr>
          <a:lstStyle/>
          <a:p>
            <a:pPr marL="0" indent="0">
              <a:lnSpc>
                <a:spcPct val="90000"/>
              </a:lnSpc>
              <a:buNone/>
            </a:pPr>
            <a:r>
              <a:rPr lang="en-US" sz="2400" dirty="0"/>
              <a:t>As you can see, Container and </a:t>
            </a:r>
            <a:r>
              <a:rPr lang="en-US" sz="2400" dirty="0" err="1"/>
              <a:t>JComponent</a:t>
            </a:r>
            <a:r>
              <a:rPr lang="en-US" sz="2400" dirty="0"/>
              <a:t> sit at the top of the Swing class hierarchy.</a:t>
            </a:r>
          </a:p>
          <a:p>
            <a:pPr marL="0" indent="0">
              <a:lnSpc>
                <a:spcPct val="90000"/>
              </a:lnSpc>
              <a:buNone/>
            </a:pPr>
            <a:r>
              <a:rPr lang="en-US" sz="2400" dirty="0"/>
              <a:t>You will find several common attributes and methods in these classes as you read the Swing documentation.</a:t>
            </a:r>
          </a:p>
        </p:txBody>
      </p:sp>
      <p:pic>
        <p:nvPicPr>
          <p:cNvPr id="5" name="Picture 4">
            <a:extLst>
              <a:ext uri="{FF2B5EF4-FFF2-40B4-BE49-F238E27FC236}">
                <a16:creationId xmlns:a16="http://schemas.microsoft.com/office/drawing/2014/main" id="{B71B84D5-5283-554A-7F00-ABE4E5236E6B}"/>
              </a:ext>
            </a:extLst>
          </p:cNvPr>
          <p:cNvPicPr>
            <a:picLocks noChangeAspect="1"/>
          </p:cNvPicPr>
          <p:nvPr/>
        </p:nvPicPr>
        <p:blipFill>
          <a:blip r:embed="rId3"/>
          <a:stretch>
            <a:fillRect/>
          </a:stretch>
        </p:blipFill>
        <p:spPr>
          <a:xfrm>
            <a:off x="4619543" y="1032630"/>
            <a:ext cx="6953577" cy="4467673"/>
          </a:xfrm>
          <a:prstGeom prst="rect">
            <a:avLst/>
          </a:prstGeom>
          <a:solidFill>
            <a:schemeClr val="accent1"/>
          </a:solidFill>
        </p:spPr>
      </p:pic>
      <p:sp>
        <p:nvSpPr>
          <p:cNvPr id="14"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1847619-166D-4773-17C3-BB134DE852A4}"/>
              </a:ext>
            </a:extLst>
          </p:cNvPr>
          <p:cNvPicPr>
            <a:picLocks noChangeAspect="1"/>
          </p:cNvPicPr>
          <p:nvPr/>
        </p:nvPicPr>
        <p:blipFill>
          <a:blip r:embed="rId4"/>
          <a:stretch>
            <a:fillRect/>
          </a:stretch>
        </p:blipFill>
        <p:spPr>
          <a:xfrm>
            <a:off x="4119661" y="370565"/>
            <a:ext cx="2172003" cy="657317"/>
          </a:xfrm>
          <a:prstGeom prst="rect">
            <a:avLst/>
          </a:prstGeom>
          <a:ln w="15875">
            <a:solidFill>
              <a:schemeClr val="tx1"/>
            </a:solidFill>
          </a:ln>
        </p:spPr>
      </p:pic>
      <p:sp>
        <p:nvSpPr>
          <p:cNvPr id="8" name="TextBox 7">
            <a:extLst>
              <a:ext uri="{FF2B5EF4-FFF2-40B4-BE49-F238E27FC236}">
                <a16:creationId xmlns:a16="http://schemas.microsoft.com/office/drawing/2014/main" id="{3F5D624A-3BED-67DC-38FD-5BF84079B049}"/>
              </a:ext>
            </a:extLst>
          </p:cNvPr>
          <p:cNvSpPr txBox="1"/>
          <p:nvPr/>
        </p:nvSpPr>
        <p:spPr>
          <a:xfrm>
            <a:off x="5205662" y="5825370"/>
            <a:ext cx="5750292" cy="461665"/>
          </a:xfrm>
          <a:prstGeom prst="rect">
            <a:avLst/>
          </a:prstGeom>
          <a:noFill/>
        </p:spPr>
        <p:txBody>
          <a:bodyPr wrap="none" rtlCol="0">
            <a:spAutoFit/>
          </a:bodyPr>
          <a:lstStyle/>
          <a:p>
            <a:r>
              <a:rPr lang="en-US" sz="2400" dirty="0"/>
              <a:t>Very Partial List of Swing Components</a:t>
            </a:r>
          </a:p>
        </p:txBody>
      </p:sp>
      <p:sp>
        <p:nvSpPr>
          <p:cNvPr id="9" name="Rectangle: Rounded Corners 8">
            <a:extLst>
              <a:ext uri="{FF2B5EF4-FFF2-40B4-BE49-F238E27FC236}">
                <a16:creationId xmlns:a16="http://schemas.microsoft.com/office/drawing/2014/main" id="{24D06535-CB7F-4229-8929-38E8411C3A70}"/>
              </a:ext>
            </a:extLst>
          </p:cNvPr>
          <p:cNvSpPr/>
          <p:nvPr/>
        </p:nvSpPr>
        <p:spPr>
          <a:xfrm>
            <a:off x="6291663" y="4725685"/>
            <a:ext cx="1281445" cy="51799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chemeClr val="tx1"/>
                </a:solidFill>
              </a:rPr>
              <a:t>JButton</a:t>
            </a:r>
            <a:endParaRPr lang="en-US" sz="2000" b="1" dirty="0">
              <a:solidFill>
                <a:schemeClr val="tx1"/>
              </a:solidFill>
            </a:endParaRPr>
          </a:p>
        </p:txBody>
      </p:sp>
    </p:spTree>
    <p:extLst>
      <p:ext uri="{BB962C8B-B14F-4D97-AF65-F5344CB8AC3E}">
        <p14:creationId xmlns:p14="http://schemas.microsoft.com/office/powerpoint/2010/main" val="9181429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BE289-C499-9DDE-AEEA-721E1A781400}"/>
              </a:ext>
            </a:extLst>
          </p:cNvPr>
          <p:cNvSpPr>
            <a:spLocks noGrp="1"/>
          </p:cNvSpPr>
          <p:nvPr>
            <p:ph type="title"/>
          </p:nvPr>
        </p:nvSpPr>
        <p:spPr/>
        <p:txBody>
          <a:bodyPr>
            <a:normAutofit fontScale="90000"/>
          </a:bodyPr>
          <a:lstStyle/>
          <a:p>
            <a:r>
              <a:rPr lang="en-US" b="1" dirty="0"/>
              <a:t>Your Window Class should extend </a:t>
            </a:r>
            <a:r>
              <a:rPr lang="en-US" b="1" dirty="0" err="1"/>
              <a:t>JFrame</a:t>
            </a:r>
            <a:br>
              <a:rPr lang="en-US" dirty="0"/>
            </a:br>
            <a:endParaRPr lang="en-US" dirty="0"/>
          </a:p>
        </p:txBody>
      </p:sp>
      <p:sp>
        <p:nvSpPr>
          <p:cNvPr id="3" name="Content Placeholder 2">
            <a:extLst>
              <a:ext uri="{FF2B5EF4-FFF2-40B4-BE49-F238E27FC236}">
                <a16:creationId xmlns:a16="http://schemas.microsoft.com/office/drawing/2014/main" id="{5B1B198D-0D66-E130-CD70-C4FD3BFAF000}"/>
              </a:ext>
            </a:extLst>
          </p:cNvPr>
          <p:cNvSpPr>
            <a:spLocks noGrp="1"/>
          </p:cNvSpPr>
          <p:nvPr>
            <p:ph idx="1"/>
          </p:nvPr>
        </p:nvSpPr>
        <p:spPr>
          <a:xfrm>
            <a:off x="2589212" y="1540189"/>
            <a:ext cx="8915400" cy="3777622"/>
          </a:xfrm>
        </p:spPr>
        <p:txBody>
          <a:bodyPr>
            <a:noAutofit/>
          </a:bodyPr>
          <a:lstStyle/>
          <a:p>
            <a:pPr marL="0" indent="0">
              <a:buNone/>
            </a:pPr>
            <a:r>
              <a:rPr lang="en-US" sz="2400" dirty="0"/>
              <a:t>It is called a </a:t>
            </a:r>
            <a:r>
              <a:rPr lang="en-US" sz="2400" i="1" dirty="0"/>
              <a:t>container</a:t>
            </a:r>
            <a:r>
              <a:rPr lang="en-US" sz="2400" dirty="0"/>
              <a:t> class because it contains things like labels, buttons, menus, etc.</a:t>
            </a:r>
          </a:p>
          <a:p>
            <a:pPr marL="0" indent="0">
              <a:buNone/>
            </a:pPr>
            <a:r>
              <a:rPr lang="en-US" sz="2400" dirty="0"/>
              <a:t>It implements all the standard window features such as</a:t>
            </a:r>
          </a:p>
          <a:p>
            <a:pPr marL="457200" lvl="1" indent="0">
              <a:buNone/>
            </a:pPr>
            <a:r>
              <a:rPr lang="en-US" sz="2400" dirty="0"/>
              <a:t>a border, </a:t>
            </a:r>
          </a:p>
          <a:p>
            <a:pPr marL="457200" lvl="1" indent="0">
              <a:buNone/>
            </a:pPr>
            <a:r>
              <a:rPr lang="en-US" sz="2400" dirty="0"/>
              <a:t>a title bar, </a:t>
            </a:r>
          </a:p>
          <a:p>
            <a:pPr marL="457200" lvl="1" indent="0">
              <a:buNone/>
            </a:pPr>
            <a:r>
              <a:rPr lang="en-US" sz="2400" dirty="0"/>
              <a:t>a minimize button, </a:t>
            </a:r>
          </a:p>
          <a:p>
            <a:pPr marL="457200" lvl="1" indent="0">
              <a:buNone/>
            </a:pPr>
            <a:r>
              <a:rPr lang="en-US" sz="2400" dirty="0"/>
              <a:t>a close-window button (the "X"), </a:t>
            </a:r>
          </a:p>
          <a:p>
            <a:pPr marL="457200" lvl="1" indent="0">
              <a:buNone/>
            </a:pPr>
            <a:r>
              <a:rPr lang="en-US" sz="2400" dirty="0"/>
              <a:t>the ability to resize the window, </a:t>
            </a:r>
          </a:p>
          <a:p>
            <a:pPr marL="457200" lvl="1" indent="0">
              <a:buNone/>
            </a:pPr>
            <a:r>
              <a:rPr lang="en-US" sz="2400" dirty="0"/>
              <a:t>And more</a:t>
            </a:r>
          </a:p>
          <a:p>
            <a:pPr marL="457200" lvl="1" indent="0">
              <a:buNone/>
            </a:pPr>
            <a:endParaRPr lang="en-US" sz="2400" dirty="0"/>
          </a:p>
          <a:p>
            <a:pPr marL="0" indent="0">
              <a:buNone/>
            </a:pPr>
            <a:r>
              <a:rPr lang="en-US" sz="2400" dirty="0"/>
              <a:t> </a:t>
            </a:r>
          </a:p>
          <a:p>
            <a:pPr marL="0" indent="0">
              <a:buNone/>
            </a:pPr>
            <a:endParaRPr lang="en-US" sz="2400" dirty="0"/>
          </a:p>
        </p:txBody>
      </p:sp>
    </p:spTree>
    <p:extLst>
      <p:ext uri="{BB962C8B-B14F-4D97-AF65-F5344CB8AC3E}">
        <p14:creationId xmlns:p14="http://schemas.microsoft.com/office/powerpoint/2010/main" val="1715624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0F92D-B9AF-A412-4E99-EAE8CD23E68A}"/>
              </a:ext>
            </a:extLst>
          </p:cNvPr>
          <p:cNvSpPr>
            <a:spLocks noGrp="1"/>
          </p:cNvSpPr>
          <p:nvPr>
            <p:ph type="title"/>
          </p:nvPr>
        </p:nvSpPr>
        <p:spPr>
          <a:xfrm>
            <a:off x="2534310" y="858571"/>
            <a:ext cx="8911687" cy="1280890"/>
          </a:xfrm>
        </p:spPr>
        <p:txBody>
          <a:bodyPr/>
          <a:lstStyle/>
          <a:p>
            <a:pPr algn="ctr"/>
            <a:r>
              <a:rPr lang="en-US" b="1" dirty="0"/>
              <a:t>Common </a:t>
            </a:r>
            <a:r>
              <a:rPr lang="en-US" b="1" dirty="0" err="1"/>
              <a:t>JFrame</a:t>
            </a:r>
            <a:r>
              <a:rPr lang="en-US" b="1" dirty="0"/>
              <a:t> Methods</a:t>
            </a:r>
            <a:br>
              <a:rPr lang="en-US" dirty="0"/>
            </a:br>
            <a:endParaRPr lang="en-US" dirty="0"/>
          </a:p>
        </p:txBody>
      </p:sp>
      <p:graphicFrame>
        <p:nvGraphicFramePr>
          <p:cNvPr id="4" name="Table 4">
            <a:extLst>
              <a:ext uri="{FF2B5EF4-FFF2-40B4-BE49-F238E27FC236}">
                <a16:creationId xmlns:a16="http://schemas.microsoft.com/office/drawing/2014/main" id="{2C0F722A-4557-E7FF-D654-2DA58BC75470}"/>
              </a:ext>
            </a:extLst>
          </p:cNvPr>
          <p:cNvGraphicFramePr>
            <a:graphicFrameLocks noGrp="1"/>
          </p:cNvGraphicFramePr>
          <p:nvPr>
            <p:ph idx="1"/>
            <p:extLst>
              <p:ext uri="{D42A27DB-BD31-4B8C-83A1-F6EECF244321}">
                <p14:modId xmlns:p14="http://schemas.microsoft.com/office/powerpoint/2010/main" val="2322170406"/>
              </p:ext>
            </p:extLst>
          </p:nvPr>
        </p:nvGraphicFramePr>
        <p:xfrm>
          <a:off x="1649052" y="1660966"/>
          <a:ext cx="10353065" cy="3876040"/>
        </p:xfrm>
        <a:graphic>
          <a:graphicData uri="http://schemas.openxmlformats.org/drawingml/2006/table">
            <a:tbl>
              <a:tblPr firstRow="1" bandRow="1">
                <a:tableStyleId>{17292A2E-F333-43FB-9621-5CBBE7FDCDCB}</a:tableStyleId>
              </a:tblPr>
              <a:tblGrid>
                <a:gridCol w="3178542">
                  <a:extLst>
                    <a:ext uri="{9D8B030D-6E8A-4147-A177-3AD203B41FA5}">
                      <a16:colId xmlns:a16="http://schemas.microsoft.com/office/drawing/2014/main" val="1178648010"/>
                    </a:ext>
                  </a:extLst>
                </a:gridCol>
                <a:gridCol w="7174523">
                  <a:extLst>
                    <a:ext uri="{9D8B030D-6E8A-4147-A177-3AD203B41FA5}">
                      <a16:colId xmlns:a16="http://schemas.microsoft.com/office/drawing/2014/main" val="691796993"/>
                    </a:ext>
                  </a:extLst>
                </a:gridCol>
              </a:tblGrid>
              <a:tr h="370840">
                <a:tc>
                  <a:txBody>
                    <a:bodyPr/>
                    <a:lstStyle/>
                    <a:p>
                      <a:r>
                        <a:rPr lang="en-US" dirty="0"/>
                        <a:t>name</a:t>
                      </a:r>
                    </a:p>
                  </a:txBody>
                  <a:tcPr/>
                </a:tc>
                <a:tc>
                  <a:txBody>
                    <a:bodyPr/>
                    <a:lstStyle/>
                    <a:p>
                      <a:r>
                        <a:rPr lang="en-US" dirty="0"/>
                        <a:t>function</a:t>
                      </a:r>
                    </a:p>
                  </a:txBody>
                  <a:tcPr/>
                </a:tc>
                <a:extLst>
                  <a:ext uri="{0D108BD9-81ED-4DB2-BD59-A6C34878D82A}">
                    <a16:rowId xmlns:a16="http://schemas.microsoft.com/office/drawing/2014/main" val="2850215713"/>
                  </a:ext>
                </a:extLst>
              </a:tr>
              <a:tr h="370840">
                <a:tc>
                  <a:txBody>
                    <a:bodyPr/>
                    <a:lstStyle/>
                    <a:p>
                      <a:r>
                        <a:rPr lang="en-US" dirty="0" err="1"/>
                        <a:t>setTitle</a:t>
                      </a:r>
                      <a:endParaRPr lang="en-US" dirty="0"/>
                    </a:p>
                  </a:txBody>
                  <a:tcPr/>
                </a:tc>
                <a:tc>
                  <a:txBody>
                    <a:bodyPr/>
                    <a:lstStyle/>
                    <a:p>
                      <a:r>
                        <a:rPr lang="en-US" dirty="0"/>
                        <a:t>Displays a title in the current window</a:t>
                      </a:r>
                    </a:p>
                  </a:txBody>
                  <a:tcPr/>
                </a:tc>
                <a:extLst>
                  <a:ext uri="{0D108BD9-81ED-4DB2-BD59-A6C34878D82A}">
                    <a16:rowId xmlns:a16="http://schemas.microsoft.com/office/drawing/2014/main" val="493407009"/>
                  </a:ext>
                </a:extLst>
              </a:tr>
              <a:tr h="370840">
                <a:tc>
                  <a:txBody>
                    <a:bodyPr/>
                    <a:lstStyle/>
                    <a:p>
                      <a:r>
                        <a:rPr lang="en-US" dirty="0" err="1"/>
                        <a:t>setSize</a:t>
                      </a:r>
                      <a:endParaRPr lang="en-US" dirty="0"/>
                    </a:p>
                  </a:txBody>
                  <a:tcPr/>
                </a:tc>
                <a:tc>
                  <a:txBody>
                    <a:bodyPr/>
                    <a:lstStyle/>
                    <a:p>
                      <a:r>
                        <a:rPr lang="en-US" dirty="0"/>
                        <a:t>Sets width and height dimensions of the window in pixels</a:t>
                      </a:r>
                    </a:p>
                  </a:txBody>
                  <a:tcPr/>
                </a:tc>
                <a:extLst>
                  <a:ext uri="{0D108BD9-81ED-4DB2-BD59-A6C34878D82A}">
                    <a16:rowId xmlns:a16="http://schemas.microsoft.com/office/drawing/2014/main" val="1420137473"/>
                  </a:ext>
                </a:extLst>
              </a:tr>
              <a:tr h="370840">
                <a:tc>
                  <a:txBody>
                    <a:bodyPr/>
                    <a:lstStyle/>
                    <a:p>
                      <a:r>
                        <a:rPr lang="en-US" dirty="0" err="1"/>
                        <a:t>setLayout</a:t>
                      </a:r>
                      <a:r>
                        <a:rPr lang="en-US" dirty="0"/>
                        <a:t>(new </a:t>
                      </a:r>
                      <a:r>
                        <a:rPr lang="en-US" dirty="0" err="1"/>
                        <a:t>Flowlayout</a:t>
                      </a:r>
                      <a:r>
                        <a:rPr lang="en-US" dirty="0"/>
                        <a:t>())</a:t>
                      </a:r>
                    </a:p>
                  </a:txBody>
                  <a:tcPr/>
                </a:tc>
                <a:tc>
                  <a:txBody>
                    <a:bodyPr/>
                    <a:lstStyle/>
                    <a:p>
                      <a:r>
                        <a:rPr lang="en-US" dirty="0"/>
                        <a:t>Assigns a specified layout manager to the current window</a:t>
                      </a:r>
                    </a:p>
                  </a:txBody>
                  <a:tcPr/>
                </a:tc>
                <a:extLst>
                  <a:ext uri="{0D108BD9-81ED-4DB2-BD59-A6C34878D82A}">
                    <a16:rowId xmlns:a16="http://schemas.microsoft.com/office/drawing/2014/main" val="1285399485"/>
                  </a:ext>
                </a:extLst>
              </a:tr>
              <a:tr h="370840">
                <a:tc>
                  <a:txBody>
                    <a:bodyPr/>
                    <a:lstStyle/>
                    <a:p>
                      <a:r>
                        <a:rPr lang="en-US" dirty="0" err="1"/>
                        <a:t>setDefaultCloseOperation</a:t>
                      </a:r>
                      <a:r>
                        <a:rPr lang="en-US" dirty="0"/>
                        <a:t>(EXIT_ON_CLOSE)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Enables the close-window button (the "X" in the top-right corner) to work properly. Default is to hide the window.</a:t>
                      </a:r>
                    </a:p>
                  </a:txBody>
                  <a:tcPr/>
                </a:tc>
                <a:extLst>
                  <a:ext uri="{0D108BD9-81ED-4DB2-BD59-A6C34878D82A}">
                    <a16:rowId xmlns:a16="http://schemas.microsoft.com/office/drawing/2014/main" val="672650367"/>
                  </a:ext>
                </a:extLst>
              </a:tr>
              <a:tr h="370840">
                <a:tc>
                  <a:txBody>
                    <a:bodyPr/>
                    <a:lstStyle/>
                    <a:p>
                      <a:r>
                        <a:rPr lang="en-US" dirty="0" err="1"/>
                        <a:t>setLocationRelativeTo</a:t>
                      </a:r>
                      <a:r>
                        <a:rPr lang="en-US" dirty="0"/>
                        <a:t>(null)</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Displays the window in the middle of the screen</a:t>
                      </a:r>
                    </a:p>
                  </a:txBody>
                  <a:tcPr/>
                </a:tc>
                <a:extLst>
                  <a:ext uri="{0D108BD9-81ED-4DB2-BD59-A6C34878D82A}">
                    <a16:rowId xmlns:a16="http://schemas.microsoft.com/office/drawing/2014/main" val="3598821070"/>
                  </a:ext>
                </a:extLst>
              </a:tr>
              <a:tr h="370840">
                <a:tc>
                  <a:txBody>
                    <a:bodyPr/>
                    <a:lstStyle/>
                    <a:p>
                      <a:r>
                        <a:rPr lang="en-US" dirty="0"/>
                        <a:t>Add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Adds a </a:t>
                      </a:r>
                      <a:r>
                        <a:rPr lang="en-US" sz="1800" dirty="0"/>
                        <a:t>specified component to the current window</a:t>
                      </a:r>
                      <a:endParaRPr lang="en-US" dirty="0"/>
                    </a:p>
                  </a:txBody>
                  <a:tcPr/>
                </a:tc>
                <a:extLst>
                  <a:ext uri="{0D108BD9-81ED-4DB2-BD59-A6C34878D82A}">
                    <a16:rowId xmlns:a16="http://schemas.microsoft.com/office/drawing/2014/main" val="2660839572"/>
                  </a:ext>
                </a:extLst>
              </a:tr>
              <a:tr h="370840">
                <a:tc>
                  <a:txBody>
                    <a:bodyPr/>
                    <a:lstStyle/>
                    <a:p>
                      <a:r>
                        <a:rPr lang="en-US" dirty="0" err="1"/>
                        <a:t>setVisible</a:t>
                      </a:r>
                      <a:r>
                        <a:rPr lang="en-US" dirty="0"/>
                        <a:t>(false)</a:t>
                      </a:r>
                    </a:p>
                  </a:txBody>
                  <a:tcPr/>
                </a:tc>
                <a:tc>
                  <a:txBody>
                    <a:bodyPr/>
                    <a:lstStyle/>
                    <a:p>
                      <a:r>
                        <a:rPr lang="en-US" dirty="0"/>
                        <a:t>Hides the window</a:t>
                      </a:r>
                    </a:p>
                  </a:txBody>
                  <a:tcPr/>
                </a:tc>
                <a:extLst>
                  <a:ext uri="{0D108BD9-81ED-4DB2-BD59-A6C34878D82A}">
                    <a16:rowId xmlns:a16="http://schemas.microsoft.com/office/drawing/2014/main" val="3216265807"/>
                  </a:ext>
                </a:extLst>
              </a:tr>
              <a:tr h="370840">
                <a:tc>
                  <a:txBody>
                    <a:bodyPr/>
                    <a:lstStyle/>
                    <a:p>
                      <a:r>
                        <a:rPr lang="en-US" dirty="0" err="1"/>
                        <a:t>setVisible</a:t>
                      </a:r>
                      <a:r>
                        <a:rPr lang="en-US" dirty="0"/>
                        <a:t>(true)</a:t>
                      </a:r>
                    </a:p>
                  </a:txBody>
                  <a:tcPr/>
                </a:tc>
                <a:tc>
                  <a:txBody>
                    <a:bodyPr/>
                    <a:lstStyle/>
                    <a:p>
                      <a:r>
                        <a:rPr lang="en-US" dirty="0"/>
                        <a:t>Displays the window.  Call this </a:t>
                      </a:r>
                      <a:r>
                        <a:rPr lang="en-US" b="1" dirty="0"/>
                        <a:t>after</a:t>
                      </a:r>
                      <a:r>
                        <a:rPr lang="en-US" dirty="0"/>
                        <a:t> you have added all of the components!</a:t>
                      </a:r>
                    </a:p>
                  </a:txBody>
                  <a:tcPr/>
                </a:tc>
                <a:extLst>
                  <a:ext uri="{0D108BD9-81ED-4DB2-BD59-A6C34878D82A}">
                    <a16:rowId xmlns:a16="http://schemas.microsoft.com/office/drawing/2014/main" val="1868004958"/>
                  </a:ext>
                </a:extLst>
              </a:tr>
            </a:tbl>
          </a:graphicData>
        </a:graphic>
      </p:graphicFrame>
    </p:spTree>
    <p:extLst>
      <p:ext uri="{BB962C8B-B14F-4D97-AF65-F5344CB8AC3E}">
        <p14:creationId xmlns:p14="http://schemas.microsoft.com/office/powerpoint/2010/main" val="4216904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7BE10-4CBB-ADFA-350C-014F0175765B}"/>
              </a:ext>
            </a:extLst>
          </p:cNvPr>
          <p:cNvSpPr>
            <a:spLocks noGrp="1"/>
          </p:cNvSpPr>
          <p:nvPr>
            <p:ph type="title"/>
          </p:nvPr>
        </p:nvSpPr>
        <p:spPr/>
        <p:txBody>
          <a:bodyPr/>
          <a:lstStyle/>
          <a:p>
            <a:pPr algn="ctr"/>
            <a:r>
              <a:rPr lang="en-US" b="1" dirty="0"/>
              <a:t>A Simple Window</a:t>
            </a:r>
          </a:p>
        </p:txBody>
      </p:sp>
      <p:pic>
        <p:nvPicPr>
          <p:cNvPr id="7" name="Content Placeholder 6">
            <a:extLst>
              <a:ext uri="{FF2B5EF4-FFF2-40B4-BE49-F238E27FC236}">
                <a16:creationId xmlns:a16="http://schemas.microsoft.com/office/drawing/2014/main" id="{85D97BC7-BB59-6AF9-1710-7675117B8B30}"/>
              </a:ext>
            </a:extLst>
          </p:cNvPr>
          <p:cNvPicPr>
            <a:picLocks noGrp="1" noChangeAspect="1"/>
          </p:cNvPicPr>
          <p:nvPr>
            <p:ph idx="1"/>
          </p:nvPr>
        </p:nvPicPr>
        <p:blipFill>
          <a:blip r:embed="rId2"/>
          <a:stretch>
            <a:fillRect/>
          </a:stretch>
        </p:blipFill>
        <p:spPr>
          <a:xfrm>
            <a:off x="4987597" y="2133600"/>
            <a:ext cx="4118632" cy="3778250"/>
          </a:xfrm>
        </p:spPr>
      </p:pic>
    </p:spTree>
    <p:extLst>
      <p:ext uri="{BB962C8B-B14F-4D97-AF65-F5344CB8AC3E}">
        <p14:creationId xmlns:p14="http://schemas.microsoft.com/office/powerpoint/2010/main" val="3828209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B00F9-29E6-4824-E7F5-8A25949928B8}"/>
              </a:ext>
            </a:extLst>
          </p:cNvPr>
          <p:cNvSpPr>
            <a:spLocks noGrp="1"/>
          </p:cNvSpPr>
          <p:nvPr>
            <p:ph type="title"/>
          </p:nvPr>
        </p:nvSpPr>
        <p:spPr>
          <a:xfrm>
            <a:off x="2592925" y="211015"/>
            <a:ext cx="8911687" cy="1280890"/>
          </a:xfrm>
        </p:spPr>
        <p:txBody>
          <a:bodyPr/>
          <a:lstStyle/>
          <a:p>
            <a:pPr algn="ctr"/>
            <a:r>
              <a:rPr lang="en-US" b="1" dirty="0"/>
              <a:t>Code to Create the Simple Window</a:t>
            </a:r>
          </a:p>
        </p:txBody>
      </p:sp>
      <p:sp>
        <p:nvSpPr>
          <p:cNvPr id="3" name="Content Placeholder 2">
            <a:extLst>
              <a:ext uri="{FF2B5EF4-FFF2-40B4-BE49-F238E27FC236}">
                <a16:creationId xmlns:a16="http://schemas.microsoft.com/office/drawing/2014/main" id="{31C85E0B-F525-B44B-FEDB-3ED3BC55F534}"/>
              </a:ext>
            </a:extLst>
          </p:cNvPr>
          <p:cNvSpPr>
            <a:spLocks noGrp="1"/>
          </p:cNvSpPr>
          <p:nvPr>
            <p:ph idx="1"/>
          </p:nvPr>
        </p:nvSpPr>
        <p:spPr>
          <a:xfrm>
            <a:off x="3022966" y="1491905"/>
            <a:ext cx="8571157" cy="4706590"/>
          </a:xfrm>
        </p:spPr>
        <p:txBody>
          <a:bodyPr>
            <a:noAutofit/>
          </a:bodyPr>
          <a:lstStyle/>
          <a:p>
            <a:pPr marL="342900" lvl="0" indent="-342900" eaLnBrk="0" fontAlgn="base" hangingPunct="0">
              <a:lnSpc>
                <a:spcPct val="75000"/>
              </a:lnSpc>
              <a:spcBef>
                <a:spcPct val="0"/>
              </a:spcBef>
              <a:spcAft>
                <a:spcPct val="0"/>
              </a:spcAft>
              <a:buNone/>
            </a:pPr>
            <a:r>
              <a:rPr lang="en-US" altLang="en-US" sz="2400" kern="0" dirty="0">
                <a:solidFill>
                  <a:srgbClr val="000000"/>
                </a:solidFill>
                <a:latin typeface="Abadi" panose="020B0604020202020204" pitchFamily="34" charset="0"/>
              </a:rPr>
              <a:t>import </a:t>
            </a:r>
            <a:r>
              <a:rPr lang="en-US" altLang="en-US" sz="2400" kern="0" dirty="0" err="1">
                <a:solidFill>
                  <a:srgbClr val="000000"/>
                </a:solidFill>
                <a:latin typeface="Abadi" panose="020B0604020202020204" pitchFamily="34" charset="0"/>
              </a:rPr>
              <a:t>javax.swing</a:t>
            </a:r>
            <a:r>
              <a:rPr lang="en-US" altLang="en-US" sz="2400" kern="0" dirty="0">
                <a:solidFill>
                  <a:srgbClr val="000000"/>
                </a:solidFill>
                <a:latin typeface="Abadi" panose="020B0604020202020204" pitchFamily="34" charset="0"/>
              </a:rPr>
              <a:t>.*; // for </a:t>
            </a:r>
            <a:r>
              <a:rPr lang="en-US" altLang="en-US" sz="2400" kern="0" dirty="0" err="1">
                <a:solidFill>
                  <a:srgbClr val="000000"/>
                </a:solidFill>
                <a:latin typeface="Abadi" panose="020B0604020202020204" pitchFamily="34" charset="0"/>
              </a:rPr>
              <a:t>JFrame</a:t>
            </a:r>
            <a:r>
              <a:rPr lang="en-US" altLang="en-US" sz="2400" kern="0" dirty="0">
                <a:solidFill>
                  <a:srgbClr val="000000"/>
                </a:solidFill>
                <a:latin typeface="Abadi" panose="020B0604020202020204" pitchFamily="34" charset="0"/>
              </a:rPr>
              <a:t> &amp; </a:t>
            </a:r>
            <a:r>
              <a:rPr lang="en-US" altLang="en-US" sz="2400" kern="0" dirty="0" err="1">
                <a:solidFill>
                  <a:srgbClr val="000000"/>
                </a:solidFill>
                <a:latin typeface="Abadi" panose="020B0604020202020204" pitchFamily="34" charset="0"/>
              </a:rPr>
              <a:t>Jlabel</a:t>
            </a:r>
            <a:endParaRPr lang="en-US" altLang="en-US" sz="2400" kern="0" dirty="0">
              <a:solidFill>
                <a:srgbClr val="000000"/>
              </a:solidFill>
              <a:latin typeface="Abadi" panose="020B0604020202020204" pitchFamily="34" charset="0"/>
            </a:endParaRPr>
          </a:p>
          <a:p>
            <a:pPr marL="342900" lvl="0" indent="-342900" eaLnBrk="0" fontAlgn="base" hangingPunct="0">
              <a:lnSpc>
                <a:spcPct val="75000"/>
              </a:lnSpc>
              <a:spcBef>
                <a:spcPct val="0"/>
              </a:spcBef>
              <a:spcAft>
                <a:spcPct val="0"/>
              </a:spcAft>
              <a:buNone/>
            </a:pPr>
            <a:endParaRPr lang="en-US" altLang="en-US" sz="2400" kern="0" dirty="0">
              <a:solidFill>
                <a:srgbClr val="000000"/>
              </a:solidFill>
              <a:latin typeface="Abadi" panose="020B0604020202020204" pitchFamily="34" charset="0"/>
            </a:endParaRPr>
          </a:p>
          <a:p>
            <a:pPr marL="342900" lvl="0" indent="-342900" eaLnBrk="0" fontAlgn="base" hangingPunct="0">
              <a:lnSpc>
                <a:spcPct val="75000"/>
              </a:lnSpc>
              <a:spcBef>
                <a:spcPct val="0"/>
              </a:spcBef>
              <a:spcAft>
                <a:spcPct val="0"/>
              </a:spcAft>
              <a:buNone/>
            </a:pPr>
            <a:r>
              <a:rPr lang="en-US" altLang="en-US" sz="2400" kern="0" dirty="0">
                <a:solidFill>
                  <a:srgbClr val="000000"/>
                </a:solidFill>
                <a:latin typeface="Abadi" panose="020B0604020202020204" pitchFamily="34" charset="0"/>
              </a:rPr>
              <a:t> public class </a:t>
            </a:r>
            <a:r>
              <a:rPr lang="en-US" altLang="en-US" sz="2400" kern="0" dirty="0" err="1">
                <a:solidFill>
                  <a:srgbClr val="000000"/>
                </a:solidFill>
                <a:latin typeface="Abadi" panose="020B0604020202020204" pitchFamily="34" charset="0"/>
              </a:rPr>
              <a:t>HelloJavaAgain</a:t>
            </a:r>
            <a:r>
              <a:rPr lang="en-US" altLang="en-US" sz="2400" kern="0" dirty="0">
                <a:solidFill>
                  <a:srgbClr val="000000"/>
                </a:solidFill>
                <a:latin typeface="Abadi" panose="020B0604020202020204" pitchFamily="34" charset="0"/>
              </a:rPr>
              <a:t> {  </a:t>
            </a:r>
          </a:p>
          <a:p>
            <a:pPr marL="342900" lvl="0" indent="-342900" eaLnBrk="0" fontAlgn="base" hangingPunct="0">
              <a:lnSpc>
                <a:spcPct val="75000"/>
              </a:lnSpc>
              <a:spcBef>
                <a:spcPct val="0"/>
              </a:spcBef>
              <a:spcAft>
                <a:spcPct val="0"/>
              </a:spcAft>
              <a:buNone/>
            </a:pPr>
            <a:endParaRPr lang="en-US" altLang="en-US" sz="2400" kern="0" dirty="0">
              <a:solidFill>
                <a:srgbClr val="000000"/>
              </a:solidFill>
              <a:latin typeface="Abadi" panose="020B0604020202020204" pitchFamily="34" charset="0"/>
            </a:endParaRPr>
          </a:p>
          <a:p>
            <a:pPr marL="342900" lvl="0" indent="-342900" eaLnBrk="0" fontAlgn="base" hangingPunct="0">
              <a:lnSpc>
                <a:spcPct val="75000"/>
              </a:lnSpc>
              <a:spcBef>
                <a:spcPct val="0"/>
              </a:spcBef>
              <a:spcAft>
                <a:spcPct val="0"/>
              </a:spcAft>
              <a:buNone/>
            </a:pPr>
            <a:r>
              <a:rPr lang="en-US" altLang="en-US" sz="2400" kern="0" dirty="0">
                <a:solidFill>
                  <a:srgbClr val="000000"/>
                </a:solidFill>
                <a:latin typeface="Abadi" panose="020B0604020202020204" pitchFamily="34" charset="0"/>
              </a:rPr>
              <a:t>	public static void main( String[] </a:t>
            </a:r>
            <a:r>
              <a:rPr lang="en-US" altLang="en-US" sz="2400" kern="0" dirty="0" err="1">
                <a:solidFill>
                  <a:srgbClr val="000000"/>
                </a:solidFill>
                <a:latin typeface="Abadi" panose="020B0604020202020204" pitchFamily="34" charset="0"/>
              </a:rPr>
              <a:t>args</a:t>
            </a:r>
            <a:r>
              <a:rPr lang="en-US" altLang="en-US" sz="2400" kern="0" dirty="0">
                <a:solidFill>
                  <a:srgbClr val="000000"/>
                </a:solidFill>
                <a:latin typeface="Abadi" panose="020B0604020202020204" pitchFamily="34" charset="0"/>
              </a:rPr>
              <a:t> ) {</a:t>
            </a:r>
          </a:p>
          <a:p>
            <a:pPr marL="342900" lvl="0" indent="-342900" eaLnBrk="0" fontAlgn="base" hangingPunct="0">
              <a:lnSpc>
                <a:spcPct val="75000"/>
              </a:lnSpc>
              <a:spcBef>
                <a:spcPct val="0"/>
              </a:spcBef>
              <a:spcAft>
                <a:spcPct val="0"/>
              </a:spcAft>
              <a:buNone/>
            </a:pPr>
            <a:r>
              <a:rPr lang="en-US" altLang="en-US" sz="2400" kern="0" dirty="0">
                <a:solidFill>
                  <a:srgbClr val="000000"/>
                </a:solidFill>
                <a:latin typeface="Abadi" panose="020B0604020202020204" pitchFamily="34" charset="0"/>
              </a:rPr>
              <a:t>     </a:t>
            </a:r>
            <a:r>
              <a:rPr lang="en-US" altLang="en-US" sz="2400" kern="0" dirty="0" err="1">
                <a:solidFill>
                  <a:srgbClr val="000000"/>
                </a:solidFill>
                <a:latin typeface="Abadi" panose="020B0604020202020204" pitchFamily="34" charset="0"/>
              </a:rPr>
              <a:t>JFrame</a:t>
            </a:r>
            <a:r>
              <a:rPr lang="en-US" altLang="en-US" sz="2400" kern="0" dirty="0">
                <a:solidFill>
                  <a:srgbClr val="000000"/>
                </a:solidFill>
                <a:latin typeface="Abadi" panose="020B0604020202020204" pitchFamily="34" charset="0"/>
              </a:rPr>
              <a:t> frame = new </a:t>
            </a:r>
            <a:r>
              <a:rPr lang="en-US" altLang="en-US" sz="2400" kern="0" dirty="0" err="1">
                <a:solidFill>
                  <a:srgbClr val="000000"/>
                </a:solidFill>
                <a:latin typeface="Abadi" panose="020B0604020202020204" pitchFamily="34" charset="0"/>
              </a:rPr>
              <a:t>JFrame</a:t>
            </a:r>
            <a:r>
              <a:rPr lang="en-US" altLang="en-US" sz="2400" kern="0" dirty="0">
                <a:solidFill>
                  <a:srgbClr val="000000"/>
                </a:solidFill>
                <a:latin typeface="Abadi" panose="020B0604020202020204" pitchFamily="34" charset="0"/>
              </a:rPr>
              <a:t>( "Hello, Java!" );</a:t>
            </a:r>
          </a:p>
          <a:p>
            <a:pPr marL="342900" lvl="0" indent="-342900" eaLnBrk="0" fontAlgn="base" hangingPunct="0">
              <a:lnSpc>
                <a:spcPct val="75000"/>
              </a:lnSpc>
              <a:spcBef>
                <a:spcPct val="0"/>
              </a:spcBef>
              <a:spcAft>
                <a:spcPct val="0"/>
              </a:spcAft>
              <a:buNone/>
            </a:pPr>
            <a:r>
              <a:rPr lang="en-US" altLang="en-US" sz="2400" kern="0" dirty="0">
                <a:solidFill>
                  <a:srgbClr val="000000"/>
                </a:solidFill>
                <a:latin typeface="Abadi" panose="020B0604020202020204" pitchFamily="34" charset="0"/>
              </a:rPr>
              <a:t>        		 		  		</a:t>
            </a:r>
            <a:r>
              <a:rPr lang="en-US" altLang="en-US" sz="2400" kern="0" dirty="0" err="1">
                <a:solidFill>
                  <a:srgbClr val="000000"/>
                </a:solidFill>
                <a:latin typeface="Abadi" panose="020B0604020202020204" pitchFamily="34" charset="0"/>
              </a:rPr>
              <a:t>frame.setDefaultCloseOperation</a:t>
            </a:r>
            <a:r>
              <a:rPr lang="en-US" altLang="en-US" sz="2400" kern="0" dirty="0">
                <a:solidFill>
                  <a:srgbClr val="000000"/>
                </a:solidFill>
                <a:latin typeface="Abadi" panose="020B0604020202020204" pitchFamily="34" charset="0"/>
              </a:rPr>
              <a:t>(</a:t>
            </a:r>
            <a:r>
              <a:rPr lang="en-US" altLang="en-US" sz="2400" kern="0" dirty="0" err="1">
                <a:solidFill>
                  <a:srgbClr val="000000"/>
                </a:solidFill>
                <a:latin typeface="Abadi" panose="020B0604020202020204" pitchFamily="34" charset="0"/>
              </a:rPr>
              <a:t>JFrame.EXIT_ON_CLOSE</a:t>
            </a:r>
            <a:r>
              <a:rPr lang="en-US" altLang="en-US" sz="2400" kern="0" dirty="0">
                <a:solidFill>
                  <a:srgbClr val="000000"/>
                </a:solidFill>
                <a:latin typeface="Abadi" panose="020B0604020202020204" pitchFamily="34" charset="0"/>
              </a:rPr>
              <a:t>);</a:t>
            </a:r>
          </a:p>
          <a:p>
            <a:pPr marL="342900" lvl="0" indent="-342900" eaLnBrk="0" fontAlgn="base" hangingPunct="0">
              <a:lnSpc>
                <a:spcPct val="75000"/>
              </a:lnSpc>
              <a:spcBef>
                <a:spcPct val="0"/>
              </a:spcBef>
              <a:spcAft>
                <a:spcPct val="0"/>
              </a:spcAft>
              <a:buNone/>
            </a:pPr>
            <a:r>
              <a:rPr lang="en-US" altLang="en-US" sz="2400" kern="0" dirty="0">
                <a:solidFill>
                  <a:srgbClr val="000000"/>
                </a:solidFill>
                <a:latin typeface="Abadi" panose="020B0604020202020204" pitchFamily="34" charset="0"/>
              </a:rPr>
              <a:t>     </a:t>
            </a:r>
            <a:r>
              <a:rPr lang="en-US" altLang="en-US" sz="2400" kern="0" dirty="0" err="1">
                <a:solidFill>
                  <a:srgbClr val="000000"/>
                </a:solidFill>
                <a:latin typeface="Abadi" panose="020B0604020202020204" pitchFamily="34" charset="0"/>
              </a:rPr>
              <a:t>frame.setSize</a:t>
            </a:r>
            <a:r>
              <a:rPr lang="en-US" altLang="en-US" sz="2400" kern="0" dirty="0">
                <a:solidFill>
                  <a:srgbClr val="000000"/>
                </a:solidFill>
                <a:latin typeface="Abadi" panose="020B0604020202020204" pitchFamily="34" charset="0"/>
              </a:rPr>
              <a:t>( 300, 300 );</a:t>
            </a:r>
          </a:p>
          <a:p>
            <a:pPr marL="342900" lvl="0" indent="-342900" eaLnBrk="0" fontAlgn="base" hangingPunct="0">
              <a:lnSpc>
                <a:spcPct val="75000"/>
              </a:lnSpc>
              <a:spcBef>
                <a:spcPct val="0"/>
              </a:spcBef>
              <a:spcAft>
                <a:spcPct val="0"/>
              </a:spcAft>
              <a:buNone/>
            </a:pPr>
            <a:endParaRPr lang="en-US" altLang="en-US" sz="2400" kern="0" dirty="0">
              <a:solidFill>
                <a:srgbClr val="000000"/>
              </a:solidFill>
              <a:latin typeface="Abadi" panose="020B0604020202020204" pitchFamily="34" charset="0"/>
            </a:endParaRPr>
          </a:p>
          <a:p>
            <a:pPr marL="342900" lvl="0" indent="-342900" eaLnBrk="0" fontAlgn="base" hangingPunct="0">
              <a:lnSpc>
                <a:spcPct val="75000"/>
              </a:lnSpc>
              <a:spcBef>
                <a:spcPct val="0"/>
              </a:spcBef>
              <a:spcAft>
                <a:spcPct val="0"/>
              </a:spcAft>
              <a:buNone/>
            </a:pPr>
            <a:r>
              <a:rPr lang="en-US" altLang="en-US" sz="2400" kern="0" dirty="0">
                <a:solidFill>
                  <a:srgbClr val="000000"/>
                </a:solidFill>
                <a:latin typeface="Abadi" panose="020B0604020202020204" pitchFamily="34" charset="0"/>
              </a:rPr>
              <a:t>     </a:t>
            </a:r>
            <a:r>
              <a:rPr lang="en-US" altLang="en-US" sz="2400" kern="0" dirty="0" err="1">
                <a:solidFill>
                  <a:srgbClr val="000000"/>
                </a:solidFill>
                <a:latin typeface="Abadi" panose="020B0604020202020204" pitchFamily="34" charset="0"/>
              </a:rPr>
              <a:t>JLabel</a:t>
            </a:r>
            <a:r>
              <a:rPr lang="en-US" altLang="en-US" sz="2400" kern="0" dirty="0">
                <a:solidFill>
                  <a:srgbClr val="000000"/>
                </a:solidFill>
                <a:latin typeface="Abadi" panose="020B0604020202020204" pitchFamily="34" charset="0"/>
              </a:rPr>
              <a:t> label = new </a:t>
            </a:r>
            <a:r>
              <a:rPr lang="en-US" altLang="en-US" sz="2400" kern="0" dirty="0" err="1">
                <a:solidFill>
                  <a:srgbClr val="000000"/>
                </a:solidFill>
                <a:latin typeface="Abadi" panose="020B0604020202020204" pitchFamily="34" charset="0"/>
              </a:rPr>
              <a:t>JLabel</a:t>
            </a:r>
            <a:r>
              <a:rPr lang="en-US" altLang="en-US" sz="2400" kern="0" dirty="0">
                <a:solidFill>
                  <a:srgbClr val="000000"/>
                </a:solidFill>
                <a:latin typeface="Abadi" panose="020B0604020202020204" pitchFamily="34" charset="0"/>
              </a:rPr>
              <a:t>("Hello, Java!", </a:t>
            </a:r>
            <a:r>
              <a:rPr lang="en-US" altLang="en-US" sz="2400" kern="0" dirty="0" err="1">
                <a:solidFill>
                  <a:srgbClr val="000000"/>
                </a:solidFill>
                <a:latin typeface="Abadi" panose="020B0604020202020204" pitchFamily="34" charset="0"/>
              </a:rPr>
              <a:t>JLabel.CENTER</a:t>
            </a:r>
            <a:r>
              <a:rPr lang="en-US" altLang="en-US" sz="2400" kern="0" dirty="0">
                <a:solidFill>
                  <a:srgbClr val="000000"/>
                </a:solidFill>
                <a:latin typeface="Abadi" panose="020B0604020202020204" pitchFamily="34" charset="0"/>
              </a:rPr>
              <a:t> );</a:t>
            </a:r>
          </a:p>
          <a:p>
            <a:pPr marL="342900" lvl="0" indent="-342900" eaLnBrk="0" fontAlgn="base" hangingPunct="0">
              <a:lnSpc>
                <a:spcPct val="75000"/>
              </a:lnSpc>
              <a:spcBef>
                <a:spcPct val="0"/>
              </a:spcBef>
              <a:spcAft>
                <a:spcPct val="0"/>
              </a:spcAft>
              <a:buNone/>
            </a:pPr>
            <a:r>
              <a:rPr lang="en-US" altLang="en-US" sz="2400" kern="0" dirty="0">
                <a:solidFill>
                  <a:srgbClr val="000000"/>
                </a:solidFill>
                <a:latin typeface="Abadi" panose="020B0604020202020204" pitchFamily="34" charset="0"/>
              </a:rPr>
              <a:t>     </a:t>
            </a:r>
            <a:r>
              <a:rPr lang="en-US" altLang="en-US" sz="2400" kern="0" dirty="0" err="1">
                <a:solidFill>
                  <a:srgbClr val="000000"/>
                </a:solidFill>
                <a:latin typeface="Abadi" panose="020B0604020202020204" pitchFamily="34" charset="0"/>
              </a:rPr>
              <a:t>frame.add</a:t>
            </a:r>
            <a:r>
              <a:rPr lang="en-US" altLang="en-US" sz="2400" kern="0" dirty="0">
                <a:solidFill>
                  <a:srgbClr val="000000"/>
                </a:solidFill>
                <a:latin typeface="Abadi" panose="020B0604020202020204" pitchFamily="34" charset="0"/>
              </a:rPr>
              <a:t>(label);</a:t>
            </a:r>
          </a:p>
          <a:p>
            <a:pPr marL="342900" lvl="0" indent="-342900" eaLnBrk="0" fontAlgn="base" hangingPunct="0">
              <a:lnSpc>
                <a:spcPct val="75000"/>
              </a:lnSpc>
              <a:spcBef>
                <a:spcPct val="0"/>
              </a:spcBef>
              <a:spcAft>
                <a:spcPct val="0"/>
              </a:spcAft>
              <a:buNone/>
            </a:pPr>
            <a:endParaRPr lang="en-US" altLang="en-US" sz="2400" kern="0" dirty="0">
              <a:solidFill>
                <a:srgbClr val="000000"/>
              </a:solidFill>
              <a:latin typeface="Abadi" panose="020B0604020202020204" pitchFamily="34" charset="0"/>
            </a:endParaRPr>
          </a:p>
          <a:p>
            <a:pPr marL="342900" lvl="0" indent="-342900" eaLnBrk="0" fontAlgn="base" hangingPunct="0">
              <a:lnSpc>
                <a:spcPct val="75000"/>
              </a:lnSpc>
              <a:spcBef>
                <a:spcPct val="0"/>
              </a:spcBef>
              <a:spcAft>
                <a:spcPct val="0"/>
              </a:spcAft>
              <a:buNone/>
            </a:pPr>
            <a:r>
              <a:rPr lang="en-US" altLang="en-US" sz="2400" kern="0" dirty="0">
                <a:solidFill>
                  <a:srgbClr val="000000"/>
                </a:solidFill>
                <a:latin typeface="Abadi" panose="020B0604020202020204" pitchFamily="34" charset="0"/>
              </a:rPr>
              <a:t>     </a:t>
            </a:r>
            <a:r>
              <a:rPr lang="en-US" altLang="en-US" sz="2400" kern="0" dirty="0" err="1">
                <a:solidFill>
                  <a:srgbClr val="000000"/>
                </a:solidFill>
                <a:latin typeface="Abadi" panose="020B0604020202020204" pitchFamily="34" charset="0"/>
              </a:rPr>
              <a:t>frame.setVisible</a:t>
            </a:r>
            <a:r>
              <a:rPr lang="en-US" altLang="en-US" sz="2400" kern="0" dirty="0">
                <a:solidFill>
                  <a:srgbClr val="000000"/>
                </a:solidFill>
                <a:latin typeface="Abadi" panose="020B0604020202020204" pitchFamily="34" charset="0"/>
              </a:rPr>
              <a:t>( true );</a:t>
            </a:r>
          </a:p>
          <a:p>
            <a:pPr marL="342900" lvl="0" indent="-342900" eaLnBrk="0" fontAlgn="base" hangingPunct="0">
              <a:lnSpc>
                <a:spcPct val="75000"/>
              </a:lnSpc>
              <a:spcBef>
                <a:spcPct val="0"/>
              </a:spcBef>
              <a:spcAft>
                <a:spcPct val="0"/>
              </a:spcAft>
              <a:buNone/>
            </a:pPr>
            <a:r>
              <a:rPr lang="en-US" altLang="en-US" sz="2400" kern="0" dirty="0">
                <a:solidFill>
                  <a:srgbClr val="000000"/>
                </a:solidFill>
                <a:latin typeface="Abadi" panose="020B0604020202020204" pitchFamily="34" charset="0"/>
              </a:rPr>
              <a:t>    }</a:t>
            </a:r>
          </a:p>
          <a:p>
            <a:pPr marL="342900" lvl="0" indent="-342900" eaLnBrk="0" fontAlgn="base" hangingPunct="0">
              <a:lnSpc>
                <a:spcPct val="75000"/>
              </a:lnSpc>
              <a:spcBef>
                <a:spcPct val="0"/>
              </a:spcBef>
              <a:spcAft>
                <a:spcPct val="0"/>
              </a:spcAft>
              <a:buNone/>
            </a:pPr>
            <a:r>
              <a:rPr lang="en-US" altLang="en-US" sz="2400" kern="0" dirty="0">
                <a:solidFill>
                  <a:srgbClr val="000000"/>
                </a:solidFill>
                <a:latin typeface="Abadi" panose="020B0604020202020204" pitchFamily="34" charset="0"/>
              </a:rPr>
              <a:t> }</a:t>
            </a:r>
          </a:p>
          <a:p>
            <a:pPr marL="342900" lvl="0" indent="-342900" eaLnBrk="0" fontAlgn="base" hangingPunct="0">
              <a:lnSpc>
                <a:spcPct val="75000"/>
              </a:lnSpc>
              <a:spcBef>
                <a:spcPct val="0"/>
              </a:spcBef>
              <a:spcAft>
                <a:spcPct val="0"/>
              </a:spcAft>
              <a:buNone/>
            </a:pPr>
            <a:endParaRPr lang="en-US" altLang="en-US" sz="2400" kern="0" dirty="0">
              <a:solidFill>
                <a:srgbClr val="000000"/>
              </a:solidFill>
              <a:latin typeface="Abadi" panose="020B0604020202020204" pitchFamily="34" charset="0"/>
            </a:endParaRPr>
          </a:p>
          <a:p>
            <a:pPr marL="342900" lvl="0" indent="-342900" eaLnBrk="0" fontAlgn="base" hangingPunct="0">
              <a:lnSpc>
                <a:spcPct val="75000"/>
              </a:lnSpc>
              <a:spcBef>
                <a:spcPct val="0"/>
              </a:spcBef>
              <a:spcAft>
                <a:spcPct val="0"/>
              </a:spcAft>
              <a:buNone/>
            </a:pPr>
            <a:endParaRPr lang="en-US" altLang="en-US" sz="2400" kern="0" dirty="0">
              <a:solidFill>
                <a:srgbClr val="000000"/>
              </a:solidFill>
              <a:latin typeface="Abadi" panose="020B0604020202020204" pitchFamily="34" charset="0"/>
            </a:endParaRPr>
          </a:p>
        </p:txBody>
      </p:sp>
      <p:sp>
        <p:nvSpPr>
          <p:cNvPr id="8" name="TextBox 7">
            <a:extLst>
              <a:ext uri="{FF2B5EF4-FFF2-40B4-BE49-F238E27FC236}">
                <a16:creationId xmlns:a16="http://schemas.microsoft.com/office/drawing/2014/main" id="{27CDA82D-C2A5-9116-81FA-7E03CD3CE227}"/>
              </a:ext>
            </a:extLst>
          </p:cNvPr>
          <p:cNvSpPr txBox="1"/>
          <p:nvPr/>
        </p:nvSpPr>
        <p:spPr>
          <a:xfrm>
            <a:off x="1865625" y="6185320"/>
            <a:ext cx="10059154" cy="461665"/>
          </a:xfrm>
          <a:prstGeom prst="rect">
            <a:avLst/>
          </a:prstGeom>
          <a:noFill/>
        </p:spPr>
        <p:txBody>
          <a:bodyPr wrap="square">
            <a:spAutoFit/>
          </a:bodyPr>
          <a:lstStyle/>
          <a:p>
            <a:r>
              <a:rPr lang="en-US" sz="2400" dirty="0"/>
              <a:t>The string passed to the </a:t>
            </a:r>
            <a:r>
              <a:rPr lang="en-US" sz="2400" dirty="0" err="1"/>
              <a:t>JFrame</a:t>
            </a:r>
            <a:r>
              <a:rPr lang="en-US" sz="2400" dirty="0"/>
              <a:t> constructor is the title of the window. </a:t>
            </a:r>
          </a:p>
        </p:txBody>
      </p:sp>
    </p:spTree>
    <p:extLst>
      <p:ext uri="{BB962C8B-B14F-4D97-AF65-F5344CB8AC3E}">
        <p14:creationId xmlns:p14="http://schemas.microsoft.com/office/powerpoint/2010/main" val="27979981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C6921-D1BF-EFAE-04B9-EE345BE34E2C}"/>
              </a:ext>
            </a:extLst>
          </p:cNvPr>
          <p:cNvSpPr>
            <a:spLocks noGrp="1"/>
          </p:cNvSpPr>
          <p:nvPr>
            <p:ph type="title"/>
          </p:nvPr>
        </p:nvSpPr>
        <p:spPr>
          <a:xfrm>
            <a:off x="1910862" y="495156"/>
            <a:ext cx="9781320" cy="1280890"/>
          </a:xfrm>
        </p:spPr>
        <p:txBody>
          <a:bodyPr/>
          <a:lstStyle/>
          <a:p>
            <a:pPr algn="ctr"/>
            <a:r>
              <a:rPr lang="en-US" b="1" dirty="0"/>
              <a:t>What Else do we know about the Window?</a:t>
            </a:r>
          </a:p>
        </p:txBody>
      </p:sp>
      <p:sp>
        <p:nvSpPr>
          <p:cNvPr id="3" name="Content Placeholder 2">
            <a:extLst>
              <a:ext uri="{FF2B5EF4-FFF2-40B4-BE49-F238E27FC236}">
                <a16:creationId xmlns:a16="http://schemas.microsoft.com/office/drawing/2014/main" id="{16C57550-A8C1-3A88-CBE8-EC3048DD6EA7}"/>
              </a:ext>
            </a:extLst>
          </p:cNvPr>
          <p:cNvSpPr>
            <a:spLocks noGrp="1"/>
          </p:cNvSpPr>
          <p:nvPr>
            <p:ph idx="1"/>
          </p:nvPr>
        </p:nvSpPr>
        <p:spPr>
          <a:xfrm>
            <a:off x="2639316" y="1419616"/>
            <a:ext cx="8915400" cy="3777622"/>
          </a:xfrm>
        </p:spPr>
        <p:txBody>
          <a:bodyPr>
            <a:normAutofit lnSpcReduction="10000"/>
          </a:bodyPr>
          <a:lstStyle/>
          <a:p>
            <a:pPr marL="0" indent="0">
              <a:buNone/>
            </a:pPr>
            <a:r>
              <a:rPr lang="en-US" sz="2400" dirty="0"/>
              <a:t>We have completed the process of creating and adding a Window with a </a:t>
            </a:r>
            <a:r>
              <a:rPr lang="en-US" sz="2400" dirty="0" err="1"/>
              <a:t>JLabel</a:t>
            </a:r>
            <a:r>
              <a:rPr lang="en-US" sz="2400" dirty="0"/>
              <a:t> on it.  The steps for the </a:t>
            </a:r>
            <a:r>
              <a:rPr lang="en-US" sz="2400" dirty="0" err="1"/>
              <a:t>Jlabel</a:t>
            </a:r>
            <a:r>
              <a:rPr lang="en-US" sz="2400" dirty="0"/>
              <a:t> are:</a:t>
            </a:r>
          </a:p>
          <a:p>
            <a:pPr marL="457200" indent="-457200">
              <a:buFont typeface="+mj-lt"/>
              <a:buAutoNum type="arabicPeriod"/>
            </a:pPr>
            <a:r>
              <a:rPr lang="en-US" sz="2400" dirty="0"/>
              <a:t>Instantiate the object.</a:t>
            </a:r>
          </a:p>
          <a:p>
            <a:pPr marL="457200" indent="-457200">
              <a:buFont typeface="+mj-lt"/>
              <a:buAutoNum type="arabicPeriod"/>
            </a:pPr>
            <a:r>
              <a:rPr lang="en-US" sz="2400" dirty="0"/>
              <a:t>Set specifics like size or title or text or color or…</a:t>
            </a:r>
          </a:p>
          <a:p>
            <a:pPr marL="457200" indent="-457200">
              <a:buFont typeface="+mj-lt"/>
              <a:buAutoNum type="arabicPeriod"/>
            </a:pPr>
            <a:r>
              <a:rPr lang="en-US" sz="2400" dirty="0"/>
              <a:t>Add the object to the </a:t>
            </a:r>
            <a:r>
              <a:rPr lang="en-US" sz="2400" dirty="0" err="1"/>
              <a:t>JFrame</a:t>
            </a:r>
            <a:r>
              <a:rPr lang="en-US" sz="2400" dirty="0"/>
              <a:t> (container)</a:t>
            </a:r>
          </a:p>
          <a:p>
            <a:pPr marL="457200" indent="-457200">
              <a:buFont typeface="+mj-lt"/>
              <a:buAutoNum type="arabicPeriod"/>
            </a:pPr>
            <a:r>
              <a:rPr lang="en-US" sz="2400" dirty="0"/>
              <a:t>Set the Window to visible.</a:t>
            </a:r>
          </a:p>
          <a:p>
            <a:pPr marL="457200" indent="-457200">
              <a:buFont typeface="+mj-lt"/>
              <a:buAutoNum type="arabicPeriod"/>
            </a:pPr>
            <a:endParaRPr lang="en-US" sz="2400" dirty="0"/>
          </a:p>
          <a:p>
            <a:pPr marL="0" indent="0">
              <a:buNone/>
            </a:pPr>
            <a:r>
              <a:rPr lang="en-US" sz="2400" dirty="0"/>
              <a:t>This is the foundation of every Swing application.</a:t>
            </a:r>
          </a:p>
        </p:txBody>
      </p:sp>
    </p:spTree>
    <p:extLst>
      <p:ext uri="{BB962C8B-B14F-4D97-AF65-F5344CB8AC3E}">
        <p14:creationId xmlns:p14="http://schemas.microsoft.com/office/powerpoint/2010/main" val="1567004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9AF21-18EF-DBC3-4494-506442173621}"/>
              </a:ext>
            </a:extLst>
          </p:cNvPr>
          <p:cNvSpPr>
            <a:spLocks noGrp="1"/>
          </p:cNvSpPr>
          <p:nvPr>
            <p:ph type="title"/>
          </p:nvPr>
        </p:nvSpPr>
        <p:spPr/>
        <p:txBody>
          <a:bodyPr/>
          <a:lstStyle/>
          <a:p>
            <a:pPr algn="ctr"/>
            <a:r>
              <a:rPr lang="en-US" b="1" dirty="0"/>
              <a:t>Closing the Window</a:t>
            </a:r>
          </a:p>
        </p:txBody>
      </p:sp>
      <p:sp>
        <p:nvSpPr>
          <p:cNvPr id="3" name="Content Placeholder 2">
            <a:extLst>
              <a:ext uri="{FF2B5EF4-FFF2-40B4-BE49-F238E27FC236}">
                <a16:creationId xmlns:a16="http://schemas.microsoft.com/office/drawing/2014/main" id="{144126C4-E183-61D3-C571-9579CF085AEF}"/>
              </a:ext>
            </a:extLst>
          </p:cNvPr>
          <p:cNvSpPr>
            <a:spLocks noGrp="1"/>
          </p:cNvSpPr>
          <p:nvPr>
            <p:ph idx="1"/>
          </p:nvPr>
        </p:nvSpPr>
        <p:spPr/>
        <p:txBody>
          <a:bodyPr>
            <a:normAutofit/>
          </a:bodyPr>
          <a:lstStyle/>
          <a:p>
            <a:pPr marL="0" indent="0">
              <a:buNone/>
            </a:pPr>
            <a:r>
              <a:rPr lang="en-US" sz="2400" dirty="0"/>
              <a:t>Unlike a Frame, a </a:t>
            </a:r>
            <a:r>
              <a:rPr lang="en-US" sz="2400" dirty="0" err="1"/>
              <a:t>JFrame</a:t>
            </a:r>
            <a:r>
              <a:rPr lang="en-US" sz="2400" dirty="0"/>
              <a:t> has some notion of how to respond when the user attempts to close the window</a:t>
            </a:r>
          </a:p>
          <a:p>
            <a:pPr marL="0" indent="0">
              <a:buNone/>
            </a:pPr>
            <a:r>
              <a:rPr lang="en-US" sz="2400" dirty="0"/>
              <a:t>The default behavior is to simply HIDE the </a:t>
            </a:r>
            <a:r>
              <a:rPr lang="en-US" sz="2400" dirty="0" err="1"/>
              <a:t>JFrame</a:t>
            </a:r>
            <a:r>
              <a:rPr lang="en-US" sz="2400" dirty="0"/>
              <a:t> when the user closes the window. </a:t>
            </a:r>
          </a:p>
          <a:p>
            <a:pPr marL="0" indent="0">
              <a:buNone/>
            </a:pPr>
            <a:r>
              <a:rPr lang="en-US" sz="2400" dirty="0"/>
              <a:t>To change the default behavior, you can invoke any of the methods on the following slide.</a:t>
            </a:r>
          </a:p>
          <a:p>
            <a:pPr marL="0" indent="0">
              <a:buNone/>
            </a:pPr>
            <a:r>
              <a:rPr lang="en-US" sz="2400" dirty="0"/>
              <a:t>The most commonly used method is  </a:t>
            </a:r>
            <a:r>
              <a:rPr lang="en-US" sz="2400" dirty="0" err="1"/>
              <a:t>setDefaultCloseOperation</a:t>
            </a:r>
            <a:r>
              <a:rPr lang="en-US" sz="2400" dirty="0"/>
              <a:t>(</a:t>
            </a:r>
            <a:r>
              <a:rPr lang="en-US" sz="2400" dirty="0" err="1"/>
              <a:t>JFrame.EXIT_ON_CLOSE</a:t>
            </a:r>
            <a:r>
              <a:rPr lang="en-US" sz="2400" dirty="0"/>
              <a:t>);</a:t>
            </a:r>
          </a:p>
          <a:p>
            <a:pPr marL="0" indent="0">
              <a:buNone/>
            </a:pPr>
            <a:endParaRPr lang="en-US" sz="2400" dirty="0"/>
          </a:p>
        </p:txBody>
      </p:sp>
    </p:spTree>
    <p:extLst>
      <p:ext uri="{BB962C8B-B14F-4D97-AF65-F5344CB8AC3E}">
        <p14:creationId xmlns:p14="http://schemas.microsoft.com/office/powerpoint/2010/main" val="11562973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6F34B-B3B9-C46C-B693-6C88B5F6B795}"/>
              </a:ext>
            </a:extLst>
          </p:cNvPr>
          <p:cNvSpPr>
            <a:spLocks noGrp="1"/>
          </p:cNvSpPr>
          <p:nvPr>
            <p:ph type="title"/>
          </p:nvPr>
        </p:nvSpPr>
        <p:spPr/>
        <p:txBody>
          <a:bodyPr/>
          <a:lstStyle/>
          <a:p>
            <a:pPr algn="ctr"/>
            <a:r>
              <a:rPr lang="en-US" dirty="0" err="1"/>
              <a:t>setDefaultCloseOperation</a:t>
            </a:r>
            <a:r>
              <a:rPr lang="en-US" dirty="0"/>
              <a:t>(int operation);</a:t>
            </a:r>
          </a:p>
        </p:txBody>
      </p:sp>
      <p:sp>
        <p:nvSpPr>
          <p:cNvPr id="3" name="Content Placeholder 2">
            <a:extLst>
              <a:ext uri="{FF2B5EF4-FFF2-40B4-BE49-F238E27FC236}">
                <a16:creationId xmlns:a16="http://schemas.microsoft.com/office/drawing/2014/main" id="{4E8D6C95-A559-7574-3F58-1915E6F9ECB6}"/>
              </a:ext>
            </a:extLst>
          </p:cNvPr>
          <p:cNvSpPr>
            <a:spLocks noGrp="1"/>
          </p:cNvSpPr>
          <p:nvPr>
            <p:ph idx="1"/>
          </p:nvPr>
        </p:nvSpPr>
        <p:spPr>
          <a:xfrm>
            <a:off x="2589212" y="1511165"/>
            <a:ext cx="8915400" cy="4957011"/>
          </a:xfrm>
        </p:spPr>
        <p:txBody>
          <a:bodyPr>
            <a:normAutofit/>
          </a:bodyPr>
          <a:lstStyle/>
          <a:p>
            <a:pPr marL="0" indent="0" algn="ctr">
              <a:buNone/>
            </a:pPr>
            <a:r>
              <a:rPr lang="en-US" sz="2800" b="1" dirty="0"/>
              <a:t>Operations</a:t>
            </a:r>
          </a:p>
          <a:p>
            <a:pPr marL="0" indent="0">
              <a:buNone/>
            </a:pPr>
            <a:r>
              <a:rPr lang="en-US" sz="2400" b="1" dirty="0"/>
              <a:t>DO_NOTHING_ON_CLOSE </a:t>
            </a:r>
            <a:r>
              <a:rPr lang="en-US" sz="2400" dirty="0"/>
              <a:t>Don't do anything; require the program to handle the operation in the </a:t>
            </a:r>
            <a:r>
              <a:rPr lang="en-US" sz="2400" dirty="0" err="1"/>
              <a:t>windowClosing</a:t>
            </a:r>
            <a:r>
              <a:rPr lang="en-US" sz="2400" dirty="0"/>
              <a:t> method of a registered </a:t>
            </a:r>
            <a:r>
              <a:rPr lang="en-US" sz="2400" dirty="0" err="1"/>
              <a:t>WindowListener</a:t>
            </a:r>
            <a:r>
              <a:rPr lang="en-US" sz="2400" dirty="0"/>
              <a:t> object.</a:t>
            </a:r>
          </a:p>
          <a:p>
            <a:pPr marL="0" indent="0">
              <a:buNone/>
            </a:pPr>
            <a:r>
              <a:rPr lang="en-US" sz="2400" b="1" dirty="0"/>
              <a:t>HIDE_ON_CLOSE </a:t>
            </a:r>
            <a:r>
              <a:rPr lang="en-US" sz="2400" dirty="0"/>
              <a:t>(Default): Automatically hide the frame after invoking any registered </a:t>
            </a:r>
            <a:r>
              <a:rPr lang="en-US" sz="2400" dirty="0" err="1"/>
              <a:t>WindowListener</a:t>
            </a:r>
            <a:r>
              <a:rPr lang="en-US" sz="2400" dirty="0"/>
              <a:t> objects.</a:t>
            </a:r>
          </a:p>
          <a:p>
            <a:pPr marL="0" indent="0">
              <a:buNone/>
            </a:pPr>
            <a:r>
              <a:rPr lang="en-US" sz="2400" b="1" dirty="0"/>
              <a:t>DISPOSE_ON_CLOSE : </a:t>
            </a:r>
            <a:r>
              <a:rPr lang="en-US" sz="2400" dirty="0"/>
              <a:t>Automatically hide and dispose the frame after invoking registered </a:t>
            </a:r>
            <a:r>
              <a:rPr lang="en-US" sz="2400" dirty="0" err="1"/>
              <a:t>WindowListener</a:t>
            </a:r>
            <a:r>
              <a:rPr lang="en-US" sz="2400" dirty="0"/>
              <a:t> objects.</a:t>
            </a:r>
          </a:p>
          <a:p>
            <a:pPr marL="0" indent="0">
              <a:buNone/>
            </a:pPr>
            <a:r>
              <a:rPr lang="en-US" sz="2400" b="1" dirty="0"/>
              <a:t>EXIT_ON_CLOSE </a:t>
            </a:r>
            <a:r>
              <a:rPr lang="en-US" sz="2400" dirty="0"/>
              <a:t>(defined in </a:t>
            </a:r>
            <a:r>
              <a:rPr lang="en-US" sz="2400" dirty="0" err="1"/>
              <a:t>JFrame</a:t>
            </a:r>
            <a:r>
              <a:rPr lang="en-US" sz="2400" dirty="0"/>
              <a:t>): Exit the application using the System exit method. Use this only in applications.</a:t>
            </a:r>
          </a:p>
          <a:p>
            <a:pPr marL="0" indent="0">
              <a:buNone/>
            </a:pPr>
            <a:endParaRPr lang="en-US" sz="2400" b="1" dirty="0"/>
          </a:p>
        </p:txBody>
      </p:sp>
    </p:spTree>
    <p:extLst>
      <p:ext uri="{BB962C8B-B14F-4D97-AF65-F5344CB8AC3E}">
        <p14:creationId xmlns:p14="http://schemas.microsoft.com/office/powerpoint/2010/main" val="41468935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CD215-C498-0AFB-204A-D904B94F0E9A}"/>
              </a:ext>
            </a:extLst>
          </p:cNvPr>
          <p:cNvSpPr>
            <a:spLocks noGrp="1"/>
          </p:cNvSpPr>
          <p:nvPr>
            <p:ph type="title"/>
          </p:nvPr>
        </p:nvSpPr>
        <p:spPr/>
        <p:txBody>
          <a:bodyPr/>
          <a:lstStyle/>
          <a:p>
            <a:pPr algn="ctr"/>
            <a:r>
              <a:rPr lang="en-US" b="1" dirty="0"/>
              <a:t>The Content Pane</a:t>
            </a:r>
          </a:p>
        </p:txBody>
      </p:sp>
      <p:sp>
        <p:nvSpPr>
          <p:cNvPr id="3" name="Content Placeholder 2">
            <a:extLst>
              <a:ext uri="{FF2B5EF4-FFF2-40B4-BE49-F238E27FC236}">
                <a16:creationId xmlns:a16="http://schemas.microsoft.com/office/drawing/2014/main" id="{F8D67F2E-4534-9380-2A75-D603BBFC79C7}"/>
              </a:ext>
            </a:extLst>
          </p:cNvPr>
          <p:cNvSpPr>
            <a:spLocks noGrp="1"/>
          </p:cNvSpPr>
          <p:nvPr>
            <p:ph idx="1"/>
          </p:nvPr>
        </p:nvSpPr>
        <p:spPr>
          <a:xfrm>
            <a:off x="2589212" y="1540188"/>
            <a:ext cx="8915400" cy="4985872"/>
          </a:xfrm>
        </p:spPr>
        <p:txBody>
          <a:bodyPr>
            <a:noAutofit/>
          </a:bodyPr>
          <a:lstStyle/>
          <a:p>
            <a:pPr marL="0" indent="0">
              <a:buNone/>
            </a:pPr>
            <a:r>
              <a:rPr lang="en-US" sz="2400" dirty="0" err="1"/>
              <a:t>JFrames</a:t>
            </a:r>
            <a:r>
              <a:rPr lang="en-US" sz="2400" dirty="0"/>
              <a:t> have a content pane, which holds all of the non-menu components. These components are sized and positioned by the layout manager when </a:t>
            </a:r>
            <a:r>
              <a:rPr lang="en-US" sz="2400" dirty="0" err="1"/>
              <a:t>JFrame's</a:t>
            </a:r>
            <a:r>
              <a:rPr lang="en-US" sz="2400" dirty="0"/>
              <a:t> pack() method is called.</a:t>
            </a:r>
          </a:p>
          <a:p>
            <a:pPr marL="0" indent="0" eaLnBrk="1" hangingPunct="1">
              <a:buNone/>
            </a:pPr>
            <a:r>
              <a:rPr lang="en-US" altLang="en-US" sz="2400" dirty="0"/>
              <a:t>As a convenience, add and its variants (remove and </a:t>
            </a:r>
            <a:r>
              <a:rPr lang="en-US" altLang="en-US" sz="2400" dirty="0" err="1"/>
              <a:t>setLayout</a:t>
            </a:r>
            <a:r>
              <a:rPr lang="en-US" altLang="en-US" sz="2400" dirty="0"/>
              <a:t>)  have been </a:t>
            </a:r>
            <a:r>
              <a:rPr lang="en-US" altLang="en-US" sz="2400" i="1" dirty="0"/>
              <a:t>overridden</a:t>
            </a:r>
            <a:r>
              <a:rPr lang="en-US" altLang="en-US" sz="2400" dirty="0"/>
              <a:t> to forward to the </a:t>
            </a:r>
            <a:r>
              <a:rPr lang="en-US" altLang="en-US" sz="2400" dirty="0" err="1"/>
              <a:t>contentPane</a:t>
            </a:r>
            <a:r>
              <a:rPr lang="en-US" altLang="en-US" sz="2400" dirty="0"/>
              <a:t> as necessary. This means you can write:</a:t>
            </a:r>
          </a:p>
          <a:p>
            <a:pPr marL="273050" lvl="1" indent="0" eaLnBrk="1" hangingPunct="1">
              <a:buNone/>
            </a:pPr>
            <a:r>
              <a:rPr lang="en-US" altLang="en-US" sz="2400" b="1" dirty="0" err="1"/>
              <a:t>frame.add</a:t>
            </a:r>
            <a:r>
              <a:rPr lang="en-US" altLang="en-US" sz="2400" b="1" dirty="0"/>
              <a:t>(child);</a:t>
            </a:r>
          </a:p>
          <a:p>
            <a:pPr marL="273050" lvl="1" indent="0">
              <a:buNone/>
            </a:pPr>
            <a:r>
              <a:rPr lang="en-US" altLang="en-US" sz="2400" dirty="0"/>
              <a:t>And the child will be added to the </a:t>
            </a:r>
            <a:r>
              <a:rPr lang="en-US" altLang="en-US" sz="2400" dirty="0" err="1"/>
              <a:t>contentPane</a:t>
            </a:r>
            <a:r>
              <a:rPr lang="en-US" altLang="en-US" sz="2400" dirty="0"/>
              <a:t>. The content pane will always be non-null. Attempting to set it to null will cause the </a:t>
            </a:r>
            <a:r>
              <a:rPr lang="en-US" altLang="en-US" sz="2400" dirty="0" err="1"/>
              <a:t>JFrame</a:t>
            </a:r>
            <a:r>
              <a:rPr lang="en-US" altLang="en-US" sz="2400" dirty="0"/>
              <a:t> to throw an exception. </a:t>
            </a:r>
          </a:p>
          <a:p>
            <a:pPr marL="273050" lvl="1" indent="0">
              <a:buNone/>
            </a:pPr>
            <a:r>
              <a:rPr lang="en-US" altLang="en-US" sz="2400" dirty="0"/>
              <a:t>The default content pane will have a </a:t>
            </a:r>
            <a:r>
              <a:rPr lang="en-US" altLang="en-US" sz="2400" dirty="0" err="1"/>
              <a:t>BorderLayout</a:t>
            </a:r>
            <a:r>
              <a:rPr lang="en-US" altLang="en-US" sz="2400" dirty="0"/>
              <a:t> manager set on it.</a:t>
            </a:r>
          </a:p>
          <a:p>
            <a:pPr marL="273050" lvl="1" indent="0" eaLnBrk="1" hangingPunct="1">
              <a:buNone/>
            </a:pPr>
            <a:endParaRPr lang="en-US" altLang="en-US" sz="2400" dirty="0"/>
          </a:p>
          <a:p>
            <a:pPr marL="0" indent="0">
              <a:buNone/>
            </a:pPr>
            <a:endParaRPr lang="en-US" sz="2400" dirty="0"/>
          </a:p>
        </p:txBody>
      </p:sp>
    </p:spTree>
    <p:extLst>
      <p:ext uri="{BB962C8B-B14F-4D97-AF65-F5344CB8AC3E}">
        <p14:creationId xmlns:p14="http://schemas.microsoft.com/office/powerpoint/2010/main" val="10911180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C6268126-6373-CE98-E31D-DDFEC3DE84B4}"/>
              </a:ext>
            </a:extLst>
          </p:cNvPr>
          <p:cNvSpPr>
            <a:spLocks noGrp="1" noChangeArrowheads="1"/>
          </p:cNvSpPr>
          <p:nvPr>
            <p:ph type="title"/>
          </p:nvPr>
        </p:nvSpPr>
        <p:spPr>
          <a:xfrm>
            <a:off x="2209800" y="228600"/>
            <a:ext cx="9144000" cy="685800"/>
          </a:xfrm>
        </p:spPr>
        <p:txBody>
          <a:bodyPr>
            <a:normAutofit fontScale="90000"/>
          </a:bodyPr>
          <a:lstStyle/>
          <a:p>
            <a:pPr eaLnBrk="1" hangingPunct="1"/>
            <a:r>
              <a:rPr lang="en-US" altLang="en-US" dirty="0"/>
              <a:t>Content Pane Delegation in JDK 1.5 and greater</a:t>
            </a:r>
            <a:endParaRPr lang="en-US" altLang="en-US" b="1" dirty="0">
              <a:latin typeface="Courier"/>
            </a:endParaRPr>
          </a:p>
        </p:txBody>
      </p:sp>
      <p:sp>
        <p:nvSpPr>
          <p:cNvPr id="28675" name="Slide Number Placeholder 4">
            <a:extLst>
              <a:ext uri="{FF2B5EF4-FFF2-40B4-BE49-F238E27FC236}">
                <a16:creationId xmlns:a16="http://schemas.microsoft.com/office/drawing/2014/main" id="{92A8B3CD-4DCF-2E67-6E44-79D8ADB8EB4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E9127F00-37F6-45A3-B260-699015B05BBB}" type="slidenum">
              <a:rPr lang="en-US" altLang="en-US" sz="1400">
                <a:solidFill>
                  <a:srgbClr val="FFFFFF"/>
                </a:solidFill>
                <a:latin typeface="Times New Roman" panose="02020603050405020304" pitchFamily="18" charset="0"/>
              </a:rPr>
              <a:pPr>
                <a:spcBef>
                  <a:spcPct val="0"/>
                </a:spcBef>
                <a:buClrTx/>
                <a:buSzTx/>
                <a:buFontTx/>
                <a:buNone/>
              </a:pPr>
              <a:t>28</a:t>
            </a:fld>
            <a:endParaRPr lang="en-US" altLang="en-US" sz="1400">
              <a:solidFill>
                <a:srgbClr val="FFFFFF"/>
              </a:solidFill>
              <a:latin typeface="Times New Roman" panose="02020603050405020304" pitchFamily="18" charset="0"/>
            </a:endParaRPr>
          </a:p>
        </p:txBody>
      </p:sp>
      <p:sp>
        <p:nvSpPr>
          <p:cNvPr id="28676" name="Text Box 3">
            <a:extLst>
              <a:ext uri="{FF2B5EF4-FFF2-40B4-BE49-F238E27FC236}">
                <a16:creationId xmlns:a16="http://schemas.microsoft.com/office/drawing/2014/main" id="{C5E11717-2137-86CB-3EA1-23C743A9F37C}"/>
              </a:ext>
            </a:extLst>
          </p:cNvPr>
          <p:cNvSpPr txBox="1">
            <a:spLocks noChangeArrowheads="1"/>
          </p:cNvSpPr>
          <p:nvPr/>
        </p:nvSpPr>
        <p:spPr bwMode="auto">
          <a:xfrm>
            <a:off x="4800600" y="1219201"/>
            <a:ext cx="5715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a:latin typeface="Courier New" panose="02070309020205020404" pitchFamily="49" charset="0"/>
              </a:rPr>
              <a:t>// Add a button into the frame</a:t>
            </a:r>
          </a:p>
          <a:p>
            <a:pPr eaLnBrk="1" hangingPunct="1">
              <a:spcBef>
                <a:spcPct val="0"/>
              </a:spcBef>
              <a:buClrTx/>
              <a:buSzTx/>
              <a:buFontTx/>
              <a:buNone/>
            </a:pPr>
            <a:r>
              <a:rPr lang="en-US" altLang="en-US" b="1">
                <a:latin typeface="Courier New" panose="02070309020205020404" pitchFamily="49" charset="0"/>
              </a:rPr>
              <a:t>frame.getContentPane().add(</a:t>
            </a:r>
          </a:p>
          <a:p>
            <a:pPr eaLnBrk="1" hangingPunct="1">
              <a:spcBef>
                <a:spcPct val="0"/>
              </a:spcBef>
              <a:buClrTx/>
              <a:buSzTx/>
              <a:buFontTx/>
              <a:buNone/>
            </a:pPr>
            <a:r>
              <a:rPr lang="en-US" altLang="en-US" b="1">
                <a:latin typeface="Courier New" panose="02070309020205020404" pitchFamily="49" charset="0"/>
              </a:rPr>
              <a:t>  new JButton("OK"));</a:t>
            </a:r>
            <a:endParaRPr lang="en-US" altLang="en-US">
              <a:latin typeface="Times New Roman" panose="02020603050405020304" pitchFamily="18" charset="0"/>
            </a:endParaRPr>
          </a:p>
        </p:txBody>
      </p:sp>
      <p:sp>
        <p:nvSpPr>
          <p:cNvPr id="28677" name="Rectangle 6">
            <a:extLst>
              <a:ext uri="{FF2B5EF4-FFF2-40B4-BE49-F238E27FC236}">
                <a16:creationId xmlns:a16="http://schemas.microsoft.com/office/drawing/2014/main" id="{05D739E1-1ECD-E561-C252-8329A259B21D}"/>
              </a:ext>
            </a:extLst>
          </p:cNvPr>
          <p:cNvSpPr>
            <a:spLocks noChangeArrowheads="1"/>
          </p:cNvSpPr>
          <p:nvPr/>
        </p:nvSpPr>
        <p:spPr bwMode="auto">
          <a:xfrm>
            <a:off x="5057775" y="2690814"/>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a:latin typeface="Times New Roman" panose="02020603050405020304" pitchFamily="18" charset="0"/>
            </a:endParaRPr>
          </a:p>
        </p:txBody>
      </p:sp>
      <p:sp>
        <p:nvSpPr>
          <p:cNvPr id="28678" name="Text Box 9">
            <a:extLst>
              <a:ext uri="{FF2B5EF4-FFF2-40B4-BE49-F238E27FC236}">
                <a16:creationId xmlns:a16="http://schemas.microsoft.com/office/drawing/2014/main" id="{469B4C02-F23E-D89B-85D6-8F052D037B7C}"/>
              </a:ext>
            </a:extLst>
          </p:cNvPr>
          <p:cNvSpPr txBox="1">
            <a:spLocks noChangeArrowheads="1"/>
          </p:cNvSpPr>
          <p:nvPr/>
        </p:nvSpPr>
        <p:spPr bwMode="auto">
          <a:xfrm>
            <a:off x="2133600" y="1752600"/>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a:latin typeface="Times New Roman" panose="02020603050405020304" pitchFamily="18" charset="0"/>
              </a:rPr>
              <a:t>Title bar</a:t>
            </a:r>
          </a:p>
        </p:txBody>
      </p:sp>
      <p:sp>
        <p:nvSpPr>
          <p:cNvPr id="28679" name="Text Box 10">
            <a:extLst>
              <a:ext uri="{FF2B5EF4-FFF2-40B4-BE49-F238E27FC236}">
                <a16:creationId xmlns:a16="http://schemas.microsoft.com/office/drawing/2014/main" id="{3411A1E3-72CB-BC74-7C45-34C301F186D8}"/>
              </a:ext>
            </a:extLst>
          </p:cNvPr>
          <p:cNvSpPr txBox="1">
            <a:spLocks noChangeArrowheads="1"/>
          </p:cNvSpPr>
          <p:nvPr/>
        </p:nvSpPr>
        <p:spPr bwMode="auto">
          <a:xfrm>
            <a:off x="1905000" y="4495800"/>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a:latin typeface="Times New Roman" panose="02020603050405020304" pitchFamily="18" charset="0"/>
              </a:rPr>
              <a:t>Content pane</a:t>
            </a:r>
          </a:p>
        </p:txBody>
      </p:sp>
      <p:sp>
        <p:nvSpPr>
          <p:cNvPr id="28680" name="Text Box 12">
            <a:extLst>
              <a:ext uri="{FF2B5EF4-FFF2-40B4-BE49-F238E27FC236}">
                <a16:creationId xmlns:a16="http://schemas.microsoft.com/office/drawing/2014/main" id="{8D92A0C9-209D-9B20-82A9-2FD3DD6A0D9A}"/>
              </a:ext>
            </a:extLst>
          </p:cNvPr>
          <p:cNvSpPr txBox="1">
            <a:spLocks noChangeArrowheads="1"/>
          </p:cNvSpPr>
          <p:nvPr/>
        </p:nvSpPr>
        <p:spPr bwMode="auto">
          <a:xfrm>
            <a:off x="4572000" y="4191001"/>
            <a:ext cx="5715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dirty="0">
                <a:latin typeface="Courier New" panose="02070309020205020404" pitchFamily="49" charset="0"/>
              </a:rPr>
              <a:t>// Add a button into the frame</a:t>
            </a:r>
          </a:p>
          <a:p>
            <a:pPr eaLnBrk="1" hangingPunct="1">
              <a:spcBef>
                <a:spcPct val="0"/>
              </a:spcBef>
              <a:buClrTx/>
              <a:buSzTx/>
              <a:buFontTx/>
              <a:buNone/>
            </a:pPr>
            <a:r>
              <a:rPr lang="en-US" altLang="en-US" b="1" dirty="0" err="1">
                <a:latin typeface="Courier New" panose="02070309020205020404" pitchFamily="49" charset="0"/>
              </a:rPr>
              <a:t>frame.add</a:t>
            </a:r>
            <a:r>
              <a:rPr lang="en-US" altLang="en-US" b="1" dirty="0">
                <a:latin typeface="Courier New" panose="02070309020205020404" pitchFamily="49" charset="0"/>
              </a:rPr>
              <a:t>(</a:t>
            </a:r>
          </a:p>
          <a:p>
            <a:pPr eaLnBrk="1" hangingPunct="1">
              <a:spcBef>
                <a:spcPct val="0"/>
              </a:spcBef>
              <a:buClrTx/>
              <a:buSzTx/>
              <a:buFontTx/>
              <a:buNone/>
            </a:pPr>
            <a:r>
              <a:rPr lang="en-US" altLang="en-US" b="1" dirty="0">
                <a:latin typeface="Courier New" panose="02070309020205020404" pitchFamily="49" charset="0"/>
              </a:rPr>
              <a:t>  new </a:t>
            </a:r>
            <a:r>
              <a:rPr lang="en-US" altLang="en-US" b="1" dirty="0" err="1">
                <a:latin typeface="Courier New" panose="02070309020205020404" pitchFamily="49" charset="0"/>
              </a:rPr>
              <a:t>JButton</a:t>
            </a:r>
            <a:r>
              <a:rPr lang="en-US" altLang="en-US" b="1" dirty="0">
                <a:latin typeface="Courier New" panose="02070309020205020404" pitchFamily="49" charset="0"/>
              </a:rPr>
              <a:t>("OK"));</a:t>
            </a:r>
            <a:endParaRPr lang="en-US" altLang="en-US" dirty="0">
              <a:latin typeface="Times New Roman" panose="02020603050405020304" pitchFamily="18" charset="0"/>
            </a:endParaRPr>
          </a:p>
        </p:txBody>
      </p:sp>
      <p:sp>
        <p:nvSpPr>
          <p:cNvPr id="28681" name="Line 13">
            <a:extLst>
              <a:ext uri="{FF2B5EF4-FFF2-40B4-BE49-F238E27FC236}">
                <a16:creationId xmlns:a16="http://schemas.microsoft.com/office/drawing/2014/main" id="{AD513766-825A-2A09-AABB-E0E821674B8D}"/>
              </a:ext>
            </a:extLst>
          </p:cNvPr>
          <p:cNvSpPr>
            <a:spLocks noChangeShapeType="1"/>
          </p:cNvSpPr>
          <p:nvPr/>
        </p:nvSpPr>
        <p:spPr bwMode="auto">
          <a:xfrm flipH="1">
            <a:off x="7162800" y="2514600"/>
            <a:ext cx="0" cy="1447800"/>
          </a:xfrm>
          <a:prstGeom prst="line">
            <a:avLst/>
          </a:prstGeom>
          <a:noFill/>
          <a:ln w="12700">
            <a:solidFill>
              <a:srgbClr val="FF0000"/>
            </a:solidFill>
            <a:round/>
            <a:headEnd type="stealth"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2" name="Line 14">
            <a:extLst>
              <a:ext uri="{FF2B5EF4-FFF2-40B4-BE49-F238E27FC236}">
                <a16:creationId xmlns:a16="http://schemas.microsoft.com/office/drawing/2014/main" id="{EDA90759-57E3-894A-D9E8-416536B9664F}"/>
              </a:ext>
            </a:extLst>
          </p:cNvPr>
          <p:cNvSpPr>
            <a:spLocks noChangeShapeType="1"/>
          </p:cNvSpPr>
          <p:nvPr/>
        </p:nvSpPr>
        <p:spPr bwMode="auto">
          <a:xfrm flipH="1">
            <a:off x="7467600" y="2514600"/>
            <a:ext cx="0" cy="1447800"/>
          </a:xfrm>
          <a:prstGeom prst="line">
            <a:avLst/>
          </a:prstGeom>
          <a:noFill/>
          <a:ln w="12700">
            <a:solidFill>
              <a:srgbClr val="FF0000"/>
            </a:solidFill>
            <a:round/>
            <a:headEnd type="stealth"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8683" name="Picture 15">
            <a:extLst>
              <a:ext uri="{FF2B5EF4-FFF2-40B4-BE49-F238E27FC236}">
                <a16:creationId xmlns:a16="http://schemas.microsoft.com/office/drawing/2014/main" id="{B81BDBE6-3F59-6E7B-EE84-3331090ABE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1" y="2438401"/>
            <a:ext cx="2193925"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684" name="Line 11">
            <a:extLst>
              <a:ext uri="{FF2B5EF4-FFF2-40B4-BE49-F238E27FC236}">
                <a16:creationId xmlns:a16="http://schemas.microsoft.com/office/drawing/2014/main" id="{90A2C01E-0AB9-28C0-51B7-0BAB4F642F64}"/>
              </a:ext>
            </a:extLst>
          </p:cNvPr>
          <p:cNvSpPr>
            <a:spLocks noChangeShapeType="1"/>
          </p:cNvSpPr>
          <p:nvPr/>
        </p:nvSpPr>
        <p:spPr bwMode="auto">
          <a:xfrm flipH="1">
            <a:off x="2971800" y="3200400"/>
            <a:ext cx="533400" cy="1295400"/>
          </a:xfrm>
          <a:prstGeom prst="line">
            <a:avLst/>
          </a:prstGeom>
          <a:noFill/>
          <a:ln w="12700">
            <a:solidFill>
              <a:srgbClr val="FF0000"/>
            </a:solidFill>
            <a:round/>
            <a:headEnd type="stealth"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5" name="Line 8">
            <a:extLst>
              <a:ext uri="{FF2B5EF4-FFF2-40B4-BE49-F238E27FC236}">
                <a16:creationId xmlns:a16="http://schemas.microsoft.com/office/drawing/2014/main" id="{E8330660-5303-3724-C7C3-1C481A895674}"/>
              </a:ext>
            </a:extLst>
          </p:cNvPr>
          <p:cNvSpPr>
            <a:spLocks noChangeShapeType="1"/>
          </p:cNvSpPr>
          <p:nvPr/>
        </p:nvSpPr>
        <p:spPr bwMode="auto">
          <a:xfrm flipV="1">
            <a:off x="2743200" y="2133600"/>
            <a:ext cx="0" cy="381000"/>
          </a:xfrm>
          <a:prstGeom prst="line">
            <a:avLst/>
          </a:prstGeom>
          <a:noFill/>
          <a:ln w="12700">
            <a:solidFill>
              <a:srgbClr val="FF0000"/>
            </a:solidFill>
            <a:round/>
            <a:headEnd type="stealth"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2CA0D-502F-615E-4D2F-487F168DF189}"/>
              </a:ext>
            </a:extLst>
          </p:cNvPr>
          <p:cNvSpPr>
            <a:spLocks noGrp="1"/>
          </p:cNvSpPr>
          <p:nvPr>
            <p:ph type="title"/>
          </p:nvPr>
        </p:nvSpPr>
        <p:spPr/>
        <p:txBody>
          <a:bodyPr/>
          <a:lstStyle/>
          <a:p>
            <a:pPr algn="ctr"/>
            <a:r>
              <a:rPr lang="en-US" b="1" dirty="0"/>
              <a:t>To Change the Background Color of the </a:t>
            </a:r>
            <a:r>
              <a:rPr lang="en-US" b="1" dirty="0" err="1"/>
              <a:t>JFrame</a:t>
            </a:r>
            <a:endParaRPr lang="en-US" b="1" dirty="0"/>
          </a:p>
        </p:txBody>
      </p:sp>
      <p:sp>
        <p:nvSpPr>
          <p:cNvPr id="3" name="Content Placeholder 2">
            <a:extLst>
              <a:ext uri="{FF2B5EF4-FFF2-40B4-BE49-F238E27FC236}">
                <a16:creationId xmlns:a16="http://schemas.microsoft.com/office/drawing/2014/main" id="{DAED3CDB-954B-DA10-8044-8F56296CF7FC}"/>
              </a:ext>
            </a:extLst>
          </p:cNvPr>
          <p:cNvSpPr>
            <a:spLocks noGrp="1"/>
          </p:cNvSpPr>
          <p:nvPr>
            <p:ph idx="1"/>
          </p:nvPr>
        </p:nvSpPr>
        <p:spPr/>
        <p:txBody>
          <a:bodyPr>
            <a:normAutofit/>
          </a:bodyPr>
          <a:lstStyle/>
          <a:p>
            <a:pPr marL="0" indent="0">
              <a:buNone/>
            </a:pPr>
            <a:r>
              <a:rPr lang="en-US" sz="2400" dirty="0"/>
              <a:t>You will need to use </a:t>
            </a:r>
            <a:r>
              <a:rPr lang="en-US" sz="2400" dirty="0" err="1"/>
              <a:t>getContentPane</a:t>
            </a:r>
            <a:r>
              <a:rPr lang="en-US" sz="2400" dirty="0"/>
              <a:t>() to se the background color of your </a:t>
            </a:r>
            <a:r>
              <a:rPr lang="en-US" sz="2400" dirty="0" err="1"/>
              <a:t>JFrame</a:t>
            </a:r>
            <a:r>
              <a:rPr lang="en-US" sz="2400" dirty="0"/>
              <a:t>: </a:t>
            </a:r>
          </a:p>
          <a:p>
            <a:pPr marL="0" indent="0">
              <a:buNone/>
            </a:pPr>
            <a:r>
              <a:rPr lang="en-US" sz="2400" dirty="0"/>
              <a:t> </a:t>
            </a:r>
            <a:r>
              <a:rPr lang="en-US" sz="2400" b="1" dirty="0" err="1"/>
              <a:t>frame.getContentPane</a:t>
            </a:r>
            <a:r>
              <a:rPr lang="en-US" sz="2400" b="1" dirty="0"/>
              <a:t>().</a:t>
            </a:r>
            <a:r>
              <a:rPr lang="en-US" sz="2400" b="1" dirty="0" err="1"/>
              <a:t>setBackground</a:t>
            </a:r>
            <a:r>
              <a:rPr lang="en-US" sz="2400" b="1" dirty="0"/>
              <a:t>(</a:t>
            </a:r>
            <a:r>
              <a:rPr lang="en-US" sz="2400" b="1" dirty="0" err="1"/>
              <a:t>Color.PINK</a:t>
            </a:r>
            <a:r>
              <a:rPr lang="en-US" sz="2400" b="1" dirty="0"/>
              <a:t>);</a:t>
            </a:r>
          </a:p>
          <a:p>
            <a:pPr marL="0" indent="0">
              <a:buNone/>
            </a:pPr>
            <a:endParaRPr lang="en-US" sz="2400" dirty="0"/>
          </a:p>
        </p:txBody>
      </p:sp>
      <p:pic>
        <p:nvPicPr>
          <p:cNvPr id="5" name="Picture 4">
            <a:extLst>
              <a:ext uri="{FF2B5EF4-FFF2-40B4-BE49-F238E27FC236}">
                <a16:creationId xmlns:a16="http://schemas.microsoft.com/office/drawing/2014/main" id="{A5266394-43F9-6D72-D050-CCFC30F0CF39}"/>
              </a:ext>
            </a:extLst>
          </p:cNvPr>
          <p:cNvPicPr>
            <a:picLocks noChangeAspect="1"/>
          </p:cNvPicPr>
          <p:nvPr/>
        </p:nvPicPr>
        <p:blipFill>
          <a:blip r:embed="rId2"/>
          <a:stretch>
            <a:fillRect/>
          </a:stretch>
        </p:blipFill>
        <p:spPr>
          <a:xfrm>
            <a:off x="4761511" y="4101219"/>
            <a:ext cx="3677163" cy="1810003"/>
          </a:xfrm>
          <a:prstGeom prst="rect">
            <a:avLst/>
          </a:prstGeom>
        </p:spPr>
      </p:pic>
    </p:spTree>
    <p:extLst>
      <p:ext uri="{BB962C8B-B14F-4D97-AF65-F5344CB8AC3E}">
        <p14:creationId xmlns:p14="http://schemas.microsoft.com/office/powerpoint/2010/main" val="11280137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5747-60C5-A34B-7C59-BC9B08266FCB}"/>
              </a:ext>
            </a:extLst>
          </p:cNvPr>
          <p:cNvSpPr>
            <a:spLocks noGrp="1"/>
          </p:cNvSpPr>
          <p:nvPr>
            <p:ph type="title"/>
          </p:nvPr>
        </p:nvSpPr>
        <p:spPr/>
        <p:txBody>
          <a:bodyPr/>
          <a:lstStyle/>
          <a:p>
            <a:pPr algn="ctr"/>
            <a:r>
              <a:rPr lang="en-US" b="1" dirty="0"/>
              <a:t>What does the pack() method do?</a:t>
            </a:r>
          </a:p>
        </p:txBody>
      </p:sp>
      <p:sp>
        <p:nvSpPr>
          <p:cNvPr id="3" name="Content Placeholder 2">
            <a:extLst>
              <a:ext uri="{FF2B5EF4-FFF2-40B4-BE49-F238E27FC236}">
                <a16:creationId xmlns:a16="http://schemas.microsoft.com/office/drawing/2014/main" id="{D8EA8AFF-BB11-21E2-DE15-DDF2D7079934}"/>
              </a:ext>
            </a:extLst>
          </p:cNvPr>
          <p:cNvSpPr>
            <a:spLocks noGrp="1"/>
          </p:cNvSpPr>
          <p:nvPr>
            <p:ph idx="1"/>
          </p:nvPr>
        </p:nvSpPr>
        <p:spPr>
          <a:xfrm>
            <a:off x="1999790" y="1557163"/>
            <a:ext cx="4972812" cy="5221224"/>
          </a:xfrm>
          <a:ln w="19050">
            <a:solidFill>
              <a:schemeClr val="tx1"/>
            </a:solidFill>
          </a:ln>
        </p:spPr>
        <p:txBody>
          <a:bodyPr>
            <a:normAutofit fontScale="92500" lnSpcReduction="10000"/>
          </a:bodyPr>
          <a:lstStyle/>
          <a:p>
            <a:pPr marL="0" indent="0">
              <a:buNone/>
            </a:pPr>
            <a:r>
              <a:rPr lang="en-US" dirty="0"/>
              <a:t>Try this test code:</a:t>
            </a:r>
          </a:p>
          <a:p>
            <a:pPr marL="0" indent="0">
              <a:buNone/>
            </a:pPr>
            <a:r>
              <a:rPr lang="en-US" dirty="0"/>
              <a:t>import </a:t>
            </a:r>
            <a:r>
              <a:rPr lang="en-US" dirty="0" err="1"/>
              <a:t>java.awt</a:t>
            </a:r>
            <a:r>
              <a:rPr lang="en-US" dirty="0"/>
              <a:t>.*;</a:t>
            </a:r>
          </a:p>
          <a:p>
            <a:pPr marL="0" indent="0">
              <a:buNone/>
            </a:pPr>
            <a:r>
              <a:rPr lang="en-US" dirty="0"/>
              <a:t>import </a:t>
            </a:r>
            <a:r>
              <a:rPr lang="en-US" dirty="0" err="1"/>
              <a:t>javax.swing</a:t>
            </a:r>
            <a:r>
              <a:rPr lang="en-US" dirty="0"/>
              <a:t>.*;</a:t>
            </a:r>
          </a:p>
          <a:p>
            <a:pPr marL="0" indent="0">
              <a:buNone/>
            </a:pPr>
            <a:r>
              <a:rPr lang="en-US" dirty="0"/>
              <a:t>public class </a:t>
            </a:r>
            <a:r>
              <a:rPr lang="en-US" dirty="0" err="1"/>
              <a:t>TestPack</a:t>
            </a:r>
            <a:r>
              <a:rPr lang="en-US" dirty="0"/>
              <a:t> extends </a:t>
            </a:r>
            <a:r>
              <a:rPr lang="en-US" dirty="0" err="1"/>
              <a:t>JFrame</a:t>
            </a:r>
            <a:r>
              <a:rPr lang="en-US" dirty="0"/>
              <a:t> {</a:t>
            </a:r>
          </a:p>
          <a:p>
            <a:pPr marL="0" indent="0">
              <a:buNone/>
            </a:pPr>
            <a:r>
              <a:rPr lang="en-US" dirty="0"/>
              <a:t>   public </a:t>
            </a:r>
            <a:r>
              <a:rPr lang="en-US" dirty="0" err="1"/>
              <a:t>TestPack</a:t>
            </a:r>
            <a:r>
              <a:rPr lang="en-US" dirty="0"/>
              <a:t>() {</a:t>
            </a:r>
          </a:p>
          <a:p>
            <a:pPr marL="0" indent="0">
              <a:buNone/>
            </a:pPr>
            <a:r>
              <a:rPr lang="en-US" dirty="0"/>
              <a:t>      </a:t>
            </a:r>
            <a:r>
              <a:rPr lang="en-US" dirty="0" err="1"/>
              <a:t>setTitle</a:t>
            </a:r>
            <a:r>
              <a:rPr lang="en-US" dirty="0"/>
              <a:t>("Pack() method Test");</a:t>
            </a:r>
          </a:p>
          <a:p>
            <a:pPr marL="0" indent="0">
              <a:buNone/>
            </a:pPr>
            <a:r>
              <a:rPr lang="en-US" dirty="0"/>
              <a:t>      </a:t>
            </a:r>
            <a:r>
              <a:rPr lang="en-US" dirty="0" err="1"/>
              <a:t>setLayout</a:t>
            </a:r>
            <a:r>
              <a:rPr lang="en-US" dirty="0"/>
              <a:t>(new </a:t>
            </a:r>
            <a:r>
              <a:rPr lang="en-US" dirty="0" err="1"/>
              <a:t>FlowLayout</a:t>
            </a:r>
            <a:r>
              <a:rPr lang="en-US" dirty="0"/>
              <a:t>());</a:t>
            </a:r>
          </a:p>
          <a:p>
            <a:pPr marL="0" indent="0">
              <a:buNone/>
            </a:pPr>
            <a:r>
              <a:rPr lang="en-US" dirty="0"/>
              <a:t>      </a:t>
            </a:r>
            <a:r>
              <a:rPr lang="en-US" dirty="0" err="1"/>
              <a:t>setButton</a:t>
            </a:r>
            <a:r>
              <a:rPr lang="en-US" dirty="0"/>
              <a:t>();</a:t>
            </a:r>
          </a:p>
          <a:p>
            <a:pPr marL="0" indent="0">
              <a:buNone/>
            </a:pPr>
            <a:r>
              <a:rPr lang="en-US" dirty="0"/>
              <a:t>     // pack(); // calling the pack() method</a:t>
            </a:r>
          </a:p>
          <a:p>
            <a:pPr marL="0" indent="0">
              <a:buNone/>
            </a:pPr>
            <a:r>
              <a:rPr lang="en-US" dirty="0"/>
              <a:t>      </a:t>
            </a:r>
            <a:r>
              <a:rPr lang="en-US" dirty="0" err="1"/>
              <a:t>setDefaultCloseOperation</a:t>
            </a:r>
            <a:r>
              <a:rPr lang="en-US" dirty="0"/>
              <a:t>(</a:t>
            </a:r>
            <a:r>
              <a:rPr lang="en-US" dirty="0" err="1"/>
              <a:t>JFrame.EXIT_ON_CLOSE</a:t>
            </a:r>
            <a:r>
              <a:rPr lang="en-US" dirty="0"/>
              <a:t>);</a:t>
            </a:r>
          </a:p>
          <a:p>
            <a:pPr marL="0" indent="0">
              <a:buNone/>
            </a:pPr>
            <a:r>
              <a:rPr lang="en-US" dirty="0"/>
              <a:t>      </a:t>
            </a:r>
            <a:r>
              <a:rPr lang="en-US" dirty="0" err="1"/>
              <a:t>setLocationRelativeTo</a:t>
            </a:r>
            <a:r>
              <a:rPr lang="en-US" dirty="0"/>
              <a:t>(null);</a:t>
            </a:r>
          </a:p>
          <a:p>
            <a:pPr marL="0" indent="0">
              <a:buNone/>
            </a:pPr>
            <a:r>
              <a:rPr lang="en-US" dirty="0"/>
              <a:t>      </a:t>
            </a:r>
            <a:r>
              <a:rPr lang="en-US" dirty="0" err="1"/>
              <a:t>setVisible</a:t>
            </a:r>
            <a:r>
              <a:rPr lang="en-US" dirty="0"/>
              <a:t>(true);</a:t>
            </a:r>
          </a:p>
          <a:p>
            <a:pPr marL="0" indent="0">
              <a:buNone/>
            </a:pPr>
            <a:r>
              <a:rPr lang="en-US" dirty="0"/>
              <a:t>   }</a:t>
            </a:r>
          </a:p>
        </p:txBody>
      </p:sp>
      <p:sp>
        <p:nvSpPr>
          <p:cNvPr id="4" name="TextBox 3">
            <a:extLst>
              <a:ext uri="{FF2B5EF4-FFF2-40B4-BE49-F238E27FC236}">
                <a16:creationId xmlns:a16="http://schemas.microsoft.com/office/drawing/2014/main" id="{966B6700-4754-7A28-E71B-C2CBF2BB9864}"/>
              </a:ext>
            </a:extLst>
          </p:cNvPr>
          <p:cNvSpPr txBox="1"/>
          <p:nvPr/>
        </p:nvSpPr>
        <p:spPr>
          <a:xfrm>
            <a:off x="7205472" y="1602002"/>
            <a:ext cx="4172937" cy="4247317"/>
          </a:xfrm>
          <a:prstGeom prst="rect">
            <a:avLst/>
          </a:prstGeom>
          <a:noFill/>
          <a:ln w="19050">
            <a:solidFill>
              <a:schemeClr val="tx1"/>
            </a:solidFill>
          </a:ln>
        </p:spPr>
        <p:txBody>
          <a:bodyPr wrap="none" rtlCol="0">
            <a:spAutoFit/>
          </a:bodyPr>
          <a:lstStyle/>
          <a:p>
            <a:r>
              <a:rPr lang="en-US" dirty="0"/>
              <a:t> void </a:t>
            </a:r>
            <a:r>
              <a:rPr lang="en-US" dirty="0" err="1"/>
              <a:t>setButton</a:t>
            </a:r>
            <a:r>
              <a:rPr lang="en-US" dirty="0"/>
              <a:t>() {</a:t>
            </a:r>
          </a:p>
          <a:p>
            <a:r>
              <a:rPr lang="en-US" dirty="0"/>
              <a:t>      for(int </a:t>
            </a:r>
            <a:r>
              <a:rPr lang="en-US" dirty="0" err="1"/>
              <a:t>i</a:t>
            </a:r>
            <a:r>
              <a:rPr lang="en-US" dirty="0"/>
              <a:t>=1; </a:t>
            </a:r>
            <a:r>
              <a:rPr lang="en-US" dirty="0" err="1"/>
              <a:t>i</a:t>
            </a:r>
            <a:r>
              <a:rPr lang="en-US" dirty="0"/>
              <a:t> &lt; 6; </a:t>
            </a:r>
            <a:r>
              <a:rPr lang="en-US" dirty="0" err="1"/>
              <a:t>i</a:t>
            </a:r>
            <a:r>
              <a:rPr lang="en-US" dirty="0"/>
              <a:t>++) {</a:t>
            </a:r>
          </a:p>
          <a:p>
            <a:r>
              <a:rPr lang="en-US" dirty="0"/>
              <a:t>         add(new </a:t>
            </a:r>
            <a:r>
              <a:rPr lang="en-US" dirty="0" err="1"/>
              <a:t>JButton</a:t>
            </a:r>
            <a:r>
              <a:rPr lang="en-US" dirty="0"/>
              <a:t>("Button" +</a:t>
            </a:r>
            <a:r>
              <a:rPr lang="en-US" dirty="0" err="1"/>
              <a:t>i</a:t>
            </a:r>
            <a:r>
              <a:rPr lang="en-US" dirty="0"/>
              <a:t>));</a:t>
            </a:r>
          </a:p>
          <a:p>
            <a:r>
              <a:rPr lang="en-US" dirty="0"/>
              <a:t>      }</a:t>
            </a:r>
          </a:p>
          <a:p>
            <a:r>
              <a:rPr lang="en-US" dirty="0"/>
              <a:t>   }</a:t>
            </a:r>
          </a:p>
          <a:p>
            <a:r>
              <a:rPr lang="en-US" dirty="0"/>
              <a:t>   public static void main(String </a:t>
            </a:r>
            <a:r>
              <a:rPr lang="en-US" dirty="0" err="1"/>
              <a:t>args</a:t>
            </a:r>
            <a:r>
              <a:rPr lang="en-US" dirty="0"/>
              <a:t>[]) {</a:t>
            </a:r>
          </a:p>
          <a:p>
            <a:r>
              <a:rPr lang="en-US" dirty="0"/>
              <a:t>      new </a:t>
            </a:r>
            <a:r>
              <a:rPr lang="en-US" dirty="0" err="1"/>
              <a:t>TestPack</a:t>
            </a:r>
            <a:r>
              <a:rPr lang="en-US" dirty="0"/>
              <a:t>();</a:t>
            </a:r>
          </a:p>
          <a:p>
            <a:r>
              <a:rPr lang="en-US" dirty="0"/>
              <a:t>   }</a:t>
            </a:r>
          </a:p>
          <a:p>
            <a:r>
              <a:rPr lang="en-US" dirty="0"/>
              <a:t>}</a:t>
            </a:r>
          </a:p>
          <a:p>
            <a:endParaRPr lang="en-US" dirty="0"/>
          </a:p>
          <a:p>
            <a:r>
              <a:rPr lang="en-US" dirty="0"/>
              <a:t>***************************************</a:t>
            </a:r>
          </a:p>
          <a:p>
            <a:r>
              <a:rPr lang="en-US" dirty="0"/>
              <a:t>Try it once with the pack method </a:t>
            </a:r>
          </a:p>
          <a:p>
            <a:r>
              <a:rPr lang="en-US" dirty="0"/>
              <a:t>commented out, then try it again </a:t>
            </a:r>
          </a:p>
          <a:p>
            <a:r>
              <a:rPr lang="en-US" dirty="0"/>
              <a:t>using the pack method.</a:t>
            </a:r>
          </a:p>
          <a:p>
            <a:endParaRPr lang="en-US" dirty="0"/>
          </a:p>
        </p:txBody>
      </p:sp>
    </p:spTree>
    <p:extLst>
      <p:ext uri="{BB962C8B-B14F-4D97-AF65-F5344CB8AC3E}">
        <p14:creationId xmlns:p14="http://schemas.microsoft.com/office/powerpoint/2010/main" val="8722122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83B3D-1DFB-DDD9-A6C2-8F7591CD72BA}"/>
              </a:ext>
            </a:extLst>
          </p:cNvPr>
          <p:cNvSpPr>
            <a:spLocks noGrp="1"/>
          </p:cNvSpPr>
          <p:nvPr>
            <p:ph type="title"/>
          </p:nvPr>
        </p:nvSpPr>
        <p:spPr/>
        <p:txBody>
          <a:bodyPr/>
          <a:lstStyle/>
          <a:p>
            <a:r>
              <a:rPr lang="en-US" dirty="0"/>
              <a:t>Test</a:t>
            </a:r>
          </a:p>
        </p:txBody>
      </p:sp>
      <p:sp>
        <p:nvSpPr>
          <p:cNvPr id="3" name="Content Placeholder 2">
            <a:extLst>
              <a:ext uri="{FF2B5EF4-FFF2-40B4-BE49-F238E27FC236}">
                <a16:creationId xmlns:a16="http://schemas.microsoft.com/office/drawing/2014/main" id="{E47EFD71-FBCA-22BD-C465-F2DD35892D25}"/>
              </a:ext>
            </a:extLst>
          </p:cNvPr>
          <p:cNvSpPr>
            <a:spLocks noGrp="1"/>
          </p:cNvSpPr>
          <p:nvPr>
            <p:ph idx="1"/>
          </p:nvPr>
        </p:nvSpPr>
        <p:spPr>
          <a:xfrm>
            <a:off x="2481061" y="1540188"/>
            <a:ext cx="8915400" cy="4948293"/>
          </a:xfrm>
        </p:spPr>
        <p:txBody>
          <a:bodyPr>
            <a:noAutofit/>
          </a:bodyPr>
          <a:lstStyle/>
          <a:p>
            <a:pPr marL="0" indent="0">
              <a:buNone/>
            </a:pPr>
            <a:r>
              <a:rPr lang="en-US" sz="2400" dirty="0"/>
              <a:t>I tried this code without using the pack() method and output was only one button showing:</a:t>
            </a:r>
          </a:p>
          <a:p>
            <a:pPr marL="0" indent="0">
              <a:buNone/>
            </a:pPr>
            <a:endParaRPr lang="en-US" sz="2400" dirty="0"/>
          </a:p>
          <a:p>
            <a:pPr marL="0" indent="0">
              <a:buNone/>
            </a:pPr>
            <a:endParaRPr lang="en-US" sz="2400" dirty="0"/>
          </a:p>
          <a:p>
            <a:pPr marL="0" indent="0">
              <a:buNone/>
            </a:pPr>
            <a:r>
              <a:rPr lang="en-US" sz="2400" dirty="0"/>
              <a:t>But then I pulled its sides and got whatever layout I wanted:</a:t>
            </a:r>
          </a:p>
          <a:p>
            <a:pPr marL="0" indent="0">
              <a:buNone/>
            </a:pPr>
            <a:endParaRPr lang="en-US" sz="2400" dirty="0"/>
          </a:p>
          <a:p>
            <a:pPr marL="0" indent="0">
              <a:buNone/>
            </a:pPr>
            <a:endParaRPr lang="en-US" sz="2400" dirty="0"/>
          </a:p>
          <a:p>
            <a:pPr marL="0" indent="0">
              <a:buNone/>
            </a:pPr>
            <a:r>
              <a:rPr lang="en-US" sz="2400" dirty="0"/>
              <a:t>When I added the pack method, output was: </a:t>
            </a:r>
          </a:p>
          <a:p>
            <a:pPr marL="0" indent="0">
              <a:buNone/>
            </a:pPr>
            <a:endParaRPr lang="en-US" sz="2400" dirty="0"/>
          </a:p>
          <a:p>
            <a:pPr marL="0" indent="0">
              <a:buNone/>
            </a:pPr>
            <a:endParaRPr lang="en-US" sz="2400" dirty="0"/>
          </a:p>
        </p:txBody>
      </p:sp>
      <p:pic>
        <p:nvPicPr>
          <p:cNvPr id="6" name="Picture 5">
            <a:extLst>
              <a:ext uri="{FF2B5EF4-FFF2-40B4-BE49-F238E27FC236}">
                <a16:creationId xmlns:a16="http://schemas.microsoft.com/office/drawing/2014/main" id="{DC862ADF-7CFE-A334-0F50-7A4DB6D0296B}"/>
              </a:ext>
            </a:extLst>
          </p:cNvPr>
          <p:cNvPicPr>
            <a:picLocks noChangeAspect="1"/>
          </p:cNvPicPr>
          <p:nvPr/>
        </p:nvPicPr>
        <p:blipFill>
          <a:blip r:embed="rId2"/>
          <a:stretch>
            <a:fillRect/>
          </a:stretch>
        </p:blipFill>
        <p:spPr>
          <a:xfrm>
            <a:off x="6324313" y="2432628"/>
            <a:ext cx="1536120" cy="452501"/>
          </a:xfrm>
          <a:prstGeom prst="rect">
            <a:avLst/>
          </a:prstGeom>
        </p:spPr>
      </p:pic>
      <p:pic>
        <p:nvPicPr>
          <p:cNvPr id="10" name="Picture 9">
            <a:extLst>
              <a:ext uri="{FF2B5EF4-FFF2-40B4-BE49-F238E27FC236}">
                <a16:creationId xmlns:a16="http://schemas.microsoft.com/office/drawing/2014/main" id="{2B21D85B-E006-D41C-C7A8-664195CA48E0}"/>
              </a:ext>
            </a:extLst>
          </p:cNvPr>
          <p:cNvPicPr>
            <a:picLocks noChangeAspect="1"/>
          </p:cNvPicPr>
          <p:nvPr/>
        </p:nvPicPr>
        <p:blipFill>
          <a:blip r:embed="rId3"/>
          <a:stretch>
            <a:fillRect/>
          </a:stretch>
        </p:blipFill>
        <p:spPr>
          <a:xfrm>
            <a:off x="9211782" y="4014334"/>
            <a:ext cx="2591162" cy="1105054"/>
          </a:xfrm>
          <a:prstGeom prst="rect">
            <a:avLst/>
          </a:prstGeom>
        </p:spPr>
      </p:pic>
      <p:pic>
        <p:nvPicPr>
          <p:cNvPr id="12" name="Picture 11">
            <a:extLst>
              <a:ext uri="{FF2B5EF4-FFF2-40B4-BE49-F238E27FC236}">
                <a16:creationId xmlns:a16="http://schemas.microsoft.com/office/drawing/2014/main" id="{1DE9E646-F7BD-D35E-9494-0C09413C2D0B}"/>
              </a:ext>
            </a:extLst>
          </p:cNvPr>
          <p:cNvPicPr>
            <a:picLocks noChangeAspect="1"/>
          </p:cNvPicPr>
          <p:nvPr/>
        </p:nvPicPr>
        <p:blipFill>
          <a:blip r:embed="rId4"/>
          <a:stretch>
            <a:fillRect/>
          </a:stretch>
        </p:blipFill>
        <p:spPr>
          <a:xfrm>
            <a:off x="3764111" y="5684892"/>
            <a:ext cx="4096322" cy="847843"/>
          </a:xfrm>
          <a:prstGeom prst="rect">
            <a:avLst/>
          </a:prstGeom>
        </p:spPr>
      </p:pic>
    </p:spTree>
    <p:extLst>
      <p:ext uri="{BB962C8B-B14F-4D97-AF65-F5344CB8AC3E}">
        <p14:creationId xmlns:p14="http://schemas.microsoft.com/office/powerpoint/2010/main" val="13660439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32268-57C2-0B9A-FF2D-05E5FFC750E5}"/>
              </a:ext>
            </a:extLst>
          </p:cNvPr>
          <p:cNvSpPr>
            <a:spLocks noGrp="1"/>
          </p:cNvSpPr>
          <p:nvPr>
            <p:ph type="title"/>
          </p:nvPr>
        </p:nvSpPr>
        <p:spPr/>
        <p:txBody>
          <a:bodyPr/>
          <a:lstStyle/>
          <a:p>
            <a:r>
              <a:rPr lang="en-US" dirty="0"/>
              <a:t>The Point of this Test</a:t>
            </a:r>
          </a:p>
        </p:txBody>
      </p:sp>
      <p:sp>
        <p:nvSpPr>
          <p:cNvPr id="3" name="Content Placeholder 2">
            <a:extLst>
              <a:ext uri="{FF2B5EF4-FFF2-40B4-BE49-F238E27FC236}">
                <a16:creationId xmlns:a16="http://schemas.microsoft.com/office/drawing/2014/main" id="{0F25F711-B954-436A-7EAC-B04066048F34}"/>
              </a:ext>
            </a:extLst>
          </p:cNvPr>
          <p:cNvSpPr>
            <a:spLocks noGrp="1"/>
          </p:cNvSpPr>
          <p:nvPr>
            <p:ph idx="1"/>
          </p:nvPr>
        </p:nvSpPr>
        <p:spPr>
          <a:xfrm>
            <a:off x="2970245" y="1540188"/>
            <a:ext cx="7289323" cy="4421699"/>
          </a:xfrm>
        </p:spPr>
        <p:txBody>
          <a:bodyPr/>
          <a:lstStyle/>
          <a:p>
            <a:pPr marL="0" indent="0">
              <a:buNone/>
            </a:pPr>
            <a:r>
              <a:rPr lang="en-US" dirty="0"/>
              <a:t>Notice that there is no size set on the </a:t>
            </a:r>
            <a:r>
              <a:rPr lang="en-US" dirty="0" err="1"/>
              <a:t>JFrame</a:t>
            </a:r>
            <a:r>
              <a:rPr lang="en-US" dirty="0"/>
              <a:t>.</a:t>
            </a:r>
          </a:p>
          <a:p>
            <a:pPr marL="0" indent="0">
              <a:buNone/>
            </a:pPr>
            <a:r>
              <a:rPr lang="en-US" dirty="0"/>
              <a:t>Once you set the size, packing does its thing differently.</a:t>
            </a:r>
          </a:p>
          <a:p>
            <a:pPr marL="0" indent="0">
              <a:buNone/>
            </a:pPr>
            <a:r>
              <a:rPr lang="en-US" dirty="0"/>
              <a:t>I added a size of width = 400, height = 200: </a:t>
            </a:r>
            <a:r>
              <a:rPr lang="en-US" dirty="0" err="1"/>
              <a:t>setSize</a:t>
            </a:r>
            <a:r>
              <a:rPr lang="en-US" dirty="0"/>
              <a:t>(400, 200);</a:t>
            </a:r>
          </a:p>
          <a:p>
            <a:pPr marL="0" indent="0">
              <a:buNone/>
            </a:pPr>
            <a:r>
              <a:rPr lang="en-US" dirty="0"/>
              <a:t>No packing: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With packing, it changed the width and the height so it could “pack.”:</a:t>
            </a:r>
          </a:p>
          <a:p>
            <a:pPr marL="0" indent="0">
              <a:buNone/>
            </a:pPr>
            <a:endParaRPr lang="en-US" dirty="0"/>
          </a:p>
        </p:txBody>
      </p:sp>
      <p:pic>
        <p:nvPicPr>
          <p:cNvPr id="5" name="Picture 4">
            <a:extLst>
              <a:ext uri="{FF2B5EF4-FFF2-40B4-BE49-F238E27FC236}">
                <a16:creationId xmlns:a16="http://schemas.microsoft.com/office/drawing/2014/main" id="{1BEE18B9-6ED9-D071-CCDF-87D9C8A5E698}"/>
              </a:ext>
            </a:extLst>
          </p:cNvPr>
          <p:cNvPicPr>
            <a:picLocks noChangeAspect="1"/>
          </p:cNvPicPr>
          <p:nvPr/>
        </p:nvPicPr>
        <p:blipFill>
          <a:blip r:embed="rId2"/>
          <a:stretch>
            <a:fillRect/>
          </a:stretch>
        </p:blipFill>
        <p:spPr>
          <a:xfrm>
            <a:off x="4959411" y="2730220"/>
            <a:ext cx="3648584" cy="1762371"/>
          </a:xfrm>
          <a:prstGeom prst="rect">
            <a:avLst/>
          </a:prstGeom>
        </p:spPr>
      </p:pic>
      <p:pic>
        <p:nvPicPr>
          <p:cNvPr id="7" name="Picture 6">
            <a:extLst>
              <a:ext uri="{FF2B5EF4-FFF2-40B4-BE49-F238E27FC236}">
                <a16:creationId xmlns:a16="http://schemas.microsoft.com/office/drawing/2014/main" id="{E82FC65E-5041-A959-64B2-6E3FB45A440B}"/>
              </a:ext>
            </a:extLst>
          </p:cNvPr>
          <p:cNvPicPr>
            <a:picLocks noChangeAspect="1"/>
          </p:cNvPicPr>
          <p:nvPr/>
        </p:nvPicPr>
        <p:blipFill>
          <a:blip r:embed="rId3"/>
          <a:stretch>
            <a:fillRect/>
          </a:stretch>
        </p:blipFill>
        <p:spPr>
          <a:xfrm>
            <a:off x="5024423" y="5223154"/>
            <a:ext cx="4048690" cy="647790"/>
          </a:xfrm>
          <a:prstGeom prst="rect">
            <a:avLst/>
          </a:prstGeom>
        </p:spPr>
      </p:pic>
    </p:spTree>
    <p:extLst>
      <p:ext uri="{BB962C8B-B14F-4D97-AF65-F5344CB8AC3E}">
        <p14:creationId xmlns:p14="http://schemas.microsoft.com/office/powerpoint/2010/main" val="20823461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78F5-63B6-55F9-2524-3CEB7B96EBA1}"/>
              </a:ext>
            </a:extLst>
          </p:cNvPr>
          <p:cNvSpPr>
            <a:spLocks noGrp="1"/>
          </p:cNvSpPr>
          <p:nvPr>
            <p:ph type="title"/>
          </p:nvPr>
        </p:nvSpPr>
        <p:spPr/>
        <p:txBody>
          <a:bodyPr/>
          <a:lstStyle/>
          <a:p>
            <a:r>
              <a:rPr lang="en-US" dirty="0"/>
              <a:t>Instead of </a:t>
            </a:r>
            <a:r>
              <a:rPr lang="en-US" dirty="0" err="1"/>
              <a:t>FlowLayout</a:t>
            </a:r>
            <a:r>
              <a:rPr lang="en-US" dirty="0"/>
              <a:t>, I used </a:t>
            </a:r>
            <a:r>
              <a:rPr lang="en-US" dirty="0" err="1"/>
              <a:t>GridLayout</a:t>
            </a:r>
            <a:r>
              <a:rPr lang="en-US" dirty="0"/>
              <a:t> and left the </a:t>
            </a:r>
            <a:r>
              <a:rPr lang="en-US" dirty="0" err="1"/>
              <a:t>JFrame</a:t>
            </a:r>
            <a:r>
              <a:rPr lang="en-US" dirty="0"/>
              <a:t> size.</a:t>
            </a:r>
          </a:p>
        </p:txBody>
      </p:sp>
      <p:sp>
        <p:nvSpPr>
          <p:cNvPr id="3" name="Content Placeholder 2">
            <a:extLst>
              <a:ext uri="{FF2B5EF4-FFF2-40B4-BE49-F238E27FC236}">
                <a16:creationId xmlns:a16="http://schemas.microsoft.com/office/drawing/2014/main" id="{5E1CA75F-4EA7-95C0-CFB3-66F524F5D692}"/>
              </a:ext>
            </a:extLst>
          </p:cNvPr>
          <p:cNvSpPr>
            <a:spLocks noGrp="1"/>
          </p:cNvSpPr>
          <p:nvPr>
            <p:ph idx="1"/>
          </p:nvPr>
        </p:nvSpPr>
        <p:spPr/>
        <p:txBody>
          <a:bodyPr/>
          <a:lstStyle/>
          <a:p>
            <a:pPr marL="0" indent="0">
              <a:buNone/>
            </a:pPr>
            <a:r>
              <a:rPr lang="en-US" dirty="0"/>
              <a:t>With  packing:</a:t>
            </a:r>
          </a:p>
          <a:p>
            <a:pPr marL="0" indent="0">
              <a:buNone/>
            </a:pPr>
            <a:endParaRPr lang="en-US" dirty="0"/>
          </a:p>
          <a:p>
            <a:pPr marL="0" indent="0">
              <a:buNone/>
            </a:pPr>
            <a:endParaRPr lang="en-US" dirty="0"/>
          </a:p>
          <a:p>
            <a:pPr marL="0" indent="0">
              <a:buNone/>
            </a:pPr>
            <a:endParaRPr lang="en-US" dirty="0"/>
          </a:p>
          <a:p>
            <a:pPr marL="0" indent="0">
              <a:buNone/>
            </a:pPr>
            <a:r>
              <a:rPr lang="en-US" dirty="0"/>
              <a:t>Without Packing:</a:t>
            </a:r>
          </a:p>
          <a:p>
            <a:pPr marL="0" indent="0">
              <a:buNone/>
            </a:pPr>
            <a:endParaRPr lang="en-US" dirty="0"/>
          </a:p>
        </p:txBody>
      </p:sp>
      <p:pic>
        <p:nvPicPr>
          <p:cNvPr id="5" name="Picture 4">
            <a:extLst>
              <a:ext uri="{FF2B5EF4-FFF2-40B4-BE49-F238E27FC236}">
                <a16:creationId xmlns:a16="http://schemas.microsoft.com/office/drawing/2014/main" id="{19C0F334-366C-EB75-EB40-1B498FDEB36D}"/>
              </a:ext>
            </a:extLst>
          </p:cNvPr>
          <p:cNvPicPr>
            <a:picLocks noChangeAspect="1"/>
          </p:cNvPicPr>
          <p:nvPr/>
        </p:nvPicPr>
        <p:blipFill>
          <a:blip r:embed="rId2"/>
          <a:stretch>
            <a:fillRect/>
          </a:stretch>
        </p:blipFill>
        <p:spPr>
          <a:xfrm>
            <a:off x="3647239" y="2561259"/>
            <a:ext cx="2286319" cy="971686"/>
          </a:xfrm>
          <a:prstGeom prst="rect">
            <a:avLst/>
          </a:prstGeom>
        </p:spPr>
      </p:pic>
      <p:pic>
        <p:nvPicPr>
          <p:cNvPr id="7" name="Picture 6">
            <a:extLst>
              <a:ext uri="{FF2B5EF4-FFF2-40B4-BE49-F238E27FC236}">
                <a16:creationId xmlns:a16="http://schemas.microsoft.com/office/drawing/2014/main" id="{E549A312-B4E1-63E4-21CC-E55FF31ED933}"/>
              </a:ext>
            </a:extLst>
          </p:cNvPr>
          <p:cNvPicPr>
            <a:picLocks noChangeAspect="1"/>
          </p:cNvPicPr>
          <p:nvPr/>
        </p:nvPicPr>
        <p:blipFill>
          <a:blip r:embed="rId3"/>
          <a:stretch>
            <a:fillRect/>
          </a:stretch>
        </p:blipFill>
        <p:spPr>
          <a:xfrm>
            <a:off x="3647239" y="4133088"/>
            <a:ext cx="3629532" cy="1686160"/>
          </a:xfrm>
          <a:prstGeom prst="rect">
            <a:avLst/>
          </a:prstGeom>
        </p:spPr>
      </p:pic>
    </p:spTree>
    <p:extLst>
      <p:ext uri="{BB962C8B-B14F-4D97-AF65-F5344CB8AC3E}">
        <p14:creationId xmlns:p14="http://schemas.microsoft.com/office/powerpoint/2010/main" val="20156856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05068-6FBB-1108-AAFB-C864DA1FAC5F}"/>
              </a:ext>
            </a:extLst>
          </p:cNvPr>
          <p:cNvSpPr>
            <a:spLocks noGrp="1"/>
          </p:cNvSpPr>
          <p:nvPr>
            <p:ph type="title"/>
          </p:nvPr>
        </p:nvSpPr>
        <p:spPr/>
        <p:txBody>
          <a:bodyPr/>
          <a:lstStyle/>
          <a:p>
            <a:r>
              <a:rPr lang="en-US" dirty="0"/>
              <a:t>COLOR in Swing</a:t>
            </a:r>
          </a:p>
        </p:txBody>
      </p:sp>
      <p:sp>
        <p:nvSpPr>
          <p:cNvPr id="3" name="Text Placeholder 2">
            <a:extLst>
              <a:ext uri="{FF2B5EF4-FFF2-40B4-BE49-F238E27FC236}">
                <a16:creationId xmlns:a16="http://schemas.microsoft.com/office/drawing/2014/main" id="{593E72E5-5FCE-8AF3-3CDF-C8523EEB08E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275351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3B524-2283-6DF8-7C51-710F5C0E6A86}"/>
              </a:ext>
            </a:extLst>
          </p:cNvPr>
          <p:cNvSpPr>
            <a:spLocks noGrp="1"/>
          </p:cNvSpPr>
          <p:nvPr>
            <p:ph type="title"/>
          </p:nvPr>
        </p:nvSpPr>
        <p:spPr/>
        <p:txBody>
          <a:bodyPr/>
          <a:lstStyle/>
          <a:p>
            <a:pPr algn="ctr"/>
            <a:r>
              <a:rPr lang="en-US" b="1" dirty="0"/>
              <a:t>Color</a:t>
            </a:r>
          </a:p>
        </p:txBody>
      </p:sp>
      <p:sp>
        <p:nvSpPr>
          <p:cNvPr id="3" name="Content Placeholder 2">
            <a:extLst>
              <a:ext uri="{FF2B5EF4-FFF2-40B4-BE49-F238E27FC236}">
                <a16:creationId xmlns:a16="http://schemas.microsoft.com/office/drawing/2014/main" id="{D336FE9D-6BF5-6756-F72F-FF25C42249EE}"/>
              </a:ext>
            </a:extLst>
          </p:cNvPr>
          <p:cNvSpPr>
            <a:spLocks noGrp="1"/>
          </p:cNvSpPr>
          <p:nvPr>
            <p:ph idx="1"/>
          </p:nvPr>
        </p:nvSpPr>
        <p:spPr>
          <a:xfrm>
            <a:off x="2611671" y="1540189"/>
            <a:ext cx="8915400" cy="5024240"/>
          </a:xfrm>
        </p:spPr>
        <p:txBody>
          <a:bodyPr>
            <a:normAutofit/>
          </a:bodyPr>
          <a:lstStyle/>
          <a:p>
            <a:pPr marL="0" indent="0">
              <a:buNone/>
            </a:pPr>
            <a:r>
              <a:rPr lang="en-US" sz="2400" dirty="0"/>
              <a:t>Most GUI components are comprised of two colors - foreground color is the color of the text, background color is the color of the area behind the text.</a:t>
            </a:r>
          </a:p>
          <a:p>
            <a:pPr marL="0" indent="0">
              <a:buNone/>
            </a:pPr>
            <a:r>
              <a:rPr lang="en-US" sz="2400" dirty="0"/>
              <a:t>Here's how to create a red button with white text:</a:t>
            </a:r>
          </a:p>
          <a:p>
            <a:pPr marL="0" indent="0">
              <a:buNone/>
            </a:pPr>
            <a:r>
              <a:rPr lang="en-US" sz="2400" b="1" dirty="0"/>
              <a:t>	</a:t>
            </a:r>
            <a:r>
              <a:rPr lang="en-US" sz="2400" b="1" dirty="0" err="1"/>
              <a:t>JButton</a:t>
            </a:r>
            <a:r>
              <a:rPr lang="en-US" sz="2400" b="1" dirty="0"/>
              <a:t> </a:t>
            </a:r>
            <a:r>
              <a:rPr lang="en-US" sz="2400" b="1" dirty="0" err="1"/>
              <a:t>btn</a:t>
            </a:r>
            <a:r>
              <a:rPr lang="en-US" sz="2400" b="1" dirty="0"/>
              <a:t> = new </a:t>
            </a:r>
            <a:r>
              <a:rPr lang="en-US" sz="2400" b="1" dirty="0" err="1"/>
              <a:t>JButton</a:t>
            </a:r>
            <a:r>
              <a:rPr lang="en-US" sz="2400" b="1" dirty="0"/>
              <a:t>("Click Me");</a:t>
            </a:r>
          </a:p>
          <a:p>
            <a:pPr marL="0" indent="0">
              <a:buNone/>
            </a:pPr>
            <a:r>
              <a:rPr lang="en-US" sz="2400" b="1" dirty="0"/>
              <a:t>	</a:t>
            </a:r>
            <a:r>
              <a:rPr lang="en-US" sz="2400" b="1" dirty="0" err="1"/>
              <a:t>btn.setBackground</a:t>
            </a:r>
            <a:r>
              <a:rPr lang="en-US" sz="2400" b="1" dirty="0"/>
              <a:t>(</a:t>
            </a:r>
            <a:r>
              <a:rPr lang="en-US" sz="2400" b="1" dirty="0" err="1"/>
              <a:t>Color.RED</a:t>
            </a:r>
            <a:r>
              <a:rPr lang="en-US" sz="2400" b="1" dirty="0"/>
              <a:t>);</a:t>
            </a:r>
          </a:p>
          <a:p>
            <a:pPr marL="0" indent="0">
              <a:buNone/>
            </a:pPr>
            <a:r>
              <a:rPr lang="en-US" sz="2400" b="1" dirty="0"/>
              <a:t>	</a:t>
            </a:r>
            <a:r>
              <a:rPr lang="en-US" sz="2400" b="1" dirty="0" err="1"/>
              <a:t>btn.setForeground</a:t>
            </a:r>
            <a:r>
              <a:rPr lang="en-US" sz="2400" b="1" dirty="0"/>
              <a:t>(</a:t>
            </a:r>
            <a:r>
              <a:rPr lang="en-US" sz="2400" b="1" dirty="0" err="1"/>
              <a:t>Color.WHITE</a:t>
            </a:r>
            <a:r>
              <a:rPr lang="en-US" sz="2400" b="1" dirty="0"/>
              <a:t>);</a:t>
            </a:r>
          </a:p>
          <a:p>
            <a:pPr marL="0" indent="0">
              <a:buNone/>
            </a:pPr>
            <a:r>
              <a:rPr lang="en-US" sz="2400" dirty="0"/>
              <a:t>And here's what the red-white button looks like:</a:t>
            </a:r>
          </a:p>
          <a:p>
            <a:pPr marL="0" indent="0">
              <a:buNone/>
            </a:pPr>
            <a:endParaRPr lang="en-US" sz="2400" dirty="0"/>
          </a:p>
        </p:txBody>
      </p:sp>
      <p:pic>
        <p:nvPicPr>
          <p:cNvPr id="4" name="Picture 3">
            <a:extLst>
              <a:ext uri="{FF2B5EF4-FFF2-40B4-BE49-F238E27FC236}">
                <a16:creationId xmlns:a16="http://schemas.microsoft.com/office/drawing/2014/main" id="{7456203F-B6ED-5DB5-0D64-76F75D47A396}"/>
              </a:ext>
            </a:extLst>
          </p:cNvPr>
          <p:cNvPicPr>
            <a:picLocks noChangeAspect="1"/>
          </p:cNvPicPr>
          <p:nvPr/>
        </p:nvPicPr>
        <p:blipFill>
          <a:blip r:embed="rId2"/>
          <a:stretch>
            <a:fillRect/>
          </a:stretch>
        </p:blipFill>
        <p:spPr>
          <a:xfrm>
            <a:off x="5240412" y="5537066"/>
            <a:ext cx="1828959" cy="615749"/>
          </a:xfrm>
          <a:prstGeom prst="rect">
            <a:avLst/>
          </a:prstGeom>
        </p:spPr>
      </p:pic>
    </p:spTree>
    <p:extLst>
      <p:ext uri="{BB962C8B-B14F-4D97-AF65-F5344CB8AC3E}">
        <p14:creationId xmlns:p14="http://schemas.microsoft.com/office/powerpoint/2010/main" val="36615459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AEE70-E06B-AD5B-AA6F-D86E44AC3EDE}"/>
              </a:ext>
            </a:extLst>
          </p:cNvPr>
          <p:cNvSpPr>
            <a:spLocks noGrp="1"/>
          </p:cNvSpPr>
          <p:nvPr>
            <p:ph type="title"/>
          </p:nvPr>
        </p:nvSpPr>
        <p:spPr/>
        <p:txBody>
          <a:bodyPr/>
          <a:lstStyle/>
          <a:p>
            <a:pPr algn="ctr"/>
            <a:r>
              <a:rPr lang="en-US" b="1" dirty="0"/>
              <a:t>Color Methods</a:t>
            </a:r>
          </a:p>
        </p:txBody>
      </p:sp>
      <p:sp>
        <p:nvSpPr>
          <p:cNvPr id="3" name="Content Placeholder 2">
            <a:extLst>
              <a:ext uri="{FF2B5EF4-FFF2-40B4-BE49-F238E27FC236}">
                <a16:creationId xmlns:a16="http://schemas.microsoft.com/office/drawing/2014/main" id="{C170CAC2-8C6F-4797-1377-19B98FC61386}"/>
              </a:ext>
            </a:extLst>
          </p:cNvPr>
          <p:cNvSpPr>
            <a:spLocks noGrp="1"/>
          </p:cNvSpPr>
          <p:nvPr>
            <p:ph idx="1"/>
          </p:nvPr>
        </p:nvSpPr>
        <p:spPr>
          <a:xfrm>
            <a:off x="2772092" y="1777465"/>
            <a:ext cx="8915400" cy="3777622"/>
          </a:xfrm>
        </p:spPr>
        <p:txBody>
          <a:bodyPr>
            <a:noAutofit/>
          </a:bodyPr>
          <a:lstStyle/>
          <a:p>
            <a:pPr marL="0" indent="0">
              <a:buNone/>
            </a:pPr>
            <a:r>
              <a:rPr lang="en-US" sz="2400" dirty="0"/>
              <a:t>The </a:t>
            </a:r>
            <a:r>
              <a:rPr lang="en-US" sz="2400" dirty="0" err="1"/>
              <a:t>setBackground</a:t>
            </a:r>
            <a:r>
              <a:rPr lang="en-US" sz="2400" dirty="0"/>
              <a:t> and </a:t>
            </a:r>
            <a:r>
              <a:rPr lang="en-US" sz="2400" dirty="0" err="1"/>
              <a:t>setForeground</a:t>
            </a:r>
            <a:r>
              <a:rPr lang="en-US" sz="2400" dirty="0"/>
              <a:t> methods are standard mutator methods available to most GUI components.</a:t>
            </a:r>
          </a:p>
          <a:p>
            <a:pPr marL="0" indent="0">
              <a:buNone/>
            </a:pPr>
            <a:r>
              <a:rPr lang="en-US" sz="2400" dirty="0"/>
              <a:t>Likewise, </a:t>
            </a:r>
            <a:r>
              <a:rPr lang="en-US" sz="2400" dirty="0" err="1"/>
              <a:t>getBackground</a:t>
            </a:r>
            <a:r>
              <a:rPr lang="en-US" sz="2400" dirty="0"/>
              <a:t> and </a:t>
            </a:r>
            <a:r>
              <a:rPr lang="en-US" sz="2400" dirty="0" err="1"/>
              <a:t>getForeground</a:t>
            </a:r>
            <a:r>
              <a:rPr lang="en-US" sz="2400" dirty="0"/>
              <a:t> methods are standard accessor methods available to most GUI components. Here are their API headings and descriptions:</a:t>
            </a:r>
          </a:p>
          <a:p>
            <a:pPr marL="0" indent="0">
              <a:buNone/>
            </a:pPr>
            <a:r>
              <a:rPr lang="en-US" sz="2400" dirty="0"/>
              <a:t>public Color </a:t>
            </a:r>
            <a:r>
              <a:rPr lang="en-US" sz="2400" dirty="0" err="1"/>
              <a:t>getBackground</a:t>
            </a:r>
            <a:r>
              <a:rPr lang="en-US" sz="2400" dirty="0"/>
              <a:t>()</a:t>
            </a:r>
          </a:p>
          <a:p>
            <a:pPr marL="0" indent="0">
              <a:buNone/>
            </a:pPr>
            <a:r>
              <a:rPr lang="en-US" sz="2400" dirty="0"/>
              <a:t>	Returns the component's background color.</a:t>
            </a:r>
          </a:p>
          <a:p>
            <a:pPr marL="0" indent="0">
              <a:buNone/>
            </a:pPr>
            <a:r>
              <a:rPr lang="en-US" sz="2400" dirty="0"/>
              <a:t>public Color </a:t>
            </a:r>
            <a:r>
              <a:rPr lang="en-US" sz="2400" dirty="0" err="1"/>
              <a:t>getForeground</a:t>
            </a:r>
            <a:r>
              <a:rPr lang="en-US" sz="2400" dirty="0"/>
              <a:t>()</a:t>
            </a:r>
          </a:p>
          <a:p>
            <a:pPr marL="0" indent="0">
              <a:buNone/>
            </a:pPr>
            <a:r>
              <a:rPr lang="en-US" sz="2400" dirty="0"/>
              <a:t>	Returns the component's foreground color.</a:t>
            </a:r>
          </a:p>
          <a:p>
            <a:pPr marL="0" indent="0">
              <a:buNone/>
            </a:pPr>
            <a:endParaRPr lang="en-US" sz="2400" dirty="0"/>
          </a:p>
        </p:txBody>
      </p:sp>
    </p:spTree>
    <p:extLst>
      <p:ext uri="{BB962C8B-B14F-4D97-AF65-F5344CB8AC3E}">
        <p14:creationId xmlns:p14="http://schemas.microsoft.com/office/powerpoint/2010/main" val="29577593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5F814-82E4-509E-0019-D7BDDDC68943}"/>
              </a:ext>
            </a:extLst>
          </p:cNvPr>
          <p:cNvSpPr>
            <a:spLocks noGrp="1"/>
          </p:cNvSpPr>
          <p:nvPr>
            <p:ph type="title"/>
          </p:nvPr>
        </p:nvSpPr>
        <p:spPr/>
        <p:txBody>
          <a:bodyPr/>
          <a:lstStyle/>
          <a:p>
            <a:pPr algn="ctr"/>
            <a:r>
              <a:rPr lang="en-US" b="1" dirty="0"/>
              <a:t>Example </a:t>
            </a:r>
            <a:r>
              <a:rPr lang="en-US" b="1" dirty="0" err="1"/>
              <a:t>nethods</a:t>
            </a:r>
            <a:r>
              <a:rPr lang="en-US" b="1" dirty="0"/>
              <a:t> for a </a:t>
            </a:r>
            <a:r>
              <a:rPr lang="en-US" b="1" dirty="0" err="1"/>
              <a:t>JTextField</a:t>
            </a:r>
            <a:endParaRPr lang="en-US" b="1" dirty="0"/>
          </a:p>
        </p:txBody>
      </p:sp>
      <p:sp>
        <p:nvSpPr>
          <p:cNvPr id="3" name="Content Placeholder 2">
            <a:extLst>
              <a:ext uri="{FF2B5EF4-FFF2-40B4-BE49-F238E27FC236}">
                <a16:creationId xmlns:a16="http://schemas.microsoft.com/office/drawing/2014/main" id="{7A6E22D9-8CC5-EF67-965C-FCA8B3326A1F}"/>
              </a:ext>
            </a:extLst>
          </p:cNvPr>
          <p:cNvSpPr>
            <a:spLocks noGrp="1"/>
          </p:cNvSpPr>
          <p:nvPr>
            <p:ph idx="1"/>
          </p:nvPr>
        </p:nvSpPr>
        <p:spPr/>
        <p:txBody>
          <a:bodyPr>
            <a:normAutofit/>
          </a:bodyPr>
          <a:lstStyle/>
          <a:p>
            <a:pPr marL="0" indent="0">
              <a:buNone/>
            </a:pPr>
            <a:r>
              <a:rPr lang="en-US" sz="2400" b="1" dirty="0" err="1"/>
              <a:t>JTextField</a:t>
            </a:r>
            <a:r>
              <a:rPr lang="en-US" sz="2400" b="1" dirty="0"/>
              <a:t> </a:t>
            </a:r>
            <a:r>
              <a:rPr lang="en-US" sz="2400" b="1" dirty="0" err="1"/>
              <a:t>nameBox</a:t>
            </a:r>
            <a:r>
              <a:rPr lang="en-US" sz="2400" b="1" dirty="0"/>
              <a:t> = new </a:t>
            </a:r>
            <a:r>
              <a:rPr lang="en-US" sz="2400" b="1" dirty="0" err="1"/>
              <a:t>JTextField</a:t>
            </a:r>
            <a:r>
              <a:rPr lang="en-US" sz="2400" b="1" dirty="0"/>
              <a:t>();</a:t>
            </a:r>
          </a:p>
          <a:p>
            <a:pPr marL="0" indent="0">
              <a:buNone/>
            </a:pPr>
            <a:r>
              <a:rPr lang="en-US" sz="2400" b="1" dirty="0"/>
              <a:t>Color </a:t>
            </a:r>
            <a:r>
              <a:rPr lang="en-US" sz="2400" b="1" dirty="0" err="1"/>
              <a:t>originalBackground</a:t>
            </a:r>
            <a:r>
              <a:rPr lang="en-US" sz="2400" b="1" dirty="0"/>
              <a:t> = </a:t>
            </a:r>
            <a:r>
              <a:rPr lang="en-US" sz="2400" b="1" dirty="0" err="1"/>
              <a:t>nameBox.getBackground</a:t>
            </a:r>
            <a:r>
              <a:rPr lang="en-US" sz="2400" b="1" dirty="0"/>
              <a:t>();</a:t>
            </a:r>
          </a:p>
          <a:p>
            <a:pPr marL="0" indent="0">
              <a:buNone/>
            </a:pPr>
            <a:r>
              <a:rPr lang="en-US" sz="2400" b="1" dirty="0"/>
              <a:t>Color </a:t>
            </a:r>
            <a:r>
              <a:rPr lang="en-US" sz="2400" b="1" dirty="0" err="1"/>
              <a:t>originalForeground</a:t>
            </a:r>
            <a:r>
              <a:rPr lang="en-US" sz="2400" b="1" dirty="0"/>
              <a:t> = </a:t>
            </a:r>
            <a:r>
              <a:rPr lang="en-US" sz="2400" b="1" dirty="0" err="1"/>
              <a:t>nameBox.getForeground</a:t>
            </a:r>
            <a:r>
              <a:rPr lang="en-US" sz="2400" b="1" dirty="0"/>
              <a:t>();</a:t>
            </a:r>
          </a:p>
          <a:p>
            <a:pPr marL="0" indent="0">
              <a:buNone/>
            </a:pPr>
            <a:endParaRPr lang="en-US" sz="2400" b="1" dirty="0"/>
          </a:p>
        </p:txBody>
      </p:sp>
    </p:spTree>
    <p:extLst>
      <p:ext uri="{BB962C8B-B14F-4D97-AF65-F5344CB8AC3E}">
        <p14:creationId xmlns:p14="http://schemas.microsoft.com/office/powerpoint/2010/main" val="31738253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1759A-FDDF-2164-969A-563B57988C38}"/>
              </a:ext>
            </a:extLst>
          </p:cNvPr>
          <p:cNvSpPr>
            <a:spLocks noGrp="1"/>
          </p:cNvSpPr>
          <p:nvPr>
            <p:ph type="title"/>
          </p:nvPr>
        </p:nvSpPr>
        <p:spPr/>
        <p:txBody>
          <a:bodyPr/>
          <a:lstStyle/>
          <a:p>
            <a:pPr algn="ctr"/>
            <a:r>
              <a:rPr lang="en-US" b="1" dirty="0" err="1"/>
              <a:t>Java.awt.Color</a:t>
            </a:r>
            <a:r>
              <a:rPr lang="en-US" b="1" dirty="0"/>
              <a:t>  Named Constants</a:t>
            </a:r>
          </a:p>
        </p:txBody>
      </p:sp>
      <p:pic>
        <p:nvPicPr>
          <p:cNvPr id="5" name="Content Placeholder 4">
            <a:extLst>
              <a:ext uri="{FF2B5EF4-FFF2-40B4-BE49-F238E27FC236}">
                <a16:creationId xmlns:a16="http://schemas.microsoft.com/office/drawing/2014/main" id="{F8783004-FBBB-0778-C4C8-552F44A498F4}"/>
              </a:ext>
            </a:extLst>
          </p:cNvPr>
          <p:cNvPicPr>
            <a:picLocks noGrp="1" noChangeAspect="1"/>
          </p:cNvPicPr>
          <p:nvPr>
            <p:ph idx="1"/>
          </p:nvPr>
        </p:nvPicPr>
        <p:blipFill>
          <a:blip r:embed="rId2"/>
          <a:stretch>
            <a:fillRect/>
          </a:stretch>
        </p:blipFill>
        <p:spPr>
          <a:xfrm>
            <a:off x="2483335" y="1905000"/>
            <a:ext cx="8915400" cy="3418199"/>
          </a:xfrm>
        </p:spPr>
      </p:pic>
    </p:spTree>
    <p:extLst>
      <p:ext uri="{BB962C8B-B14F-4D97-AF65-F5344CB8AC3E}">
        <p14:creationId xmlns:p14="http://schemas.microsoft.com/office/powerpoint/2010/main" val="6806621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7E87C-587F-EC00-2A35-FFA2B6460A47}"/>
              </a:ext>
            </a:extLst>
          </p:cNvPr>
          <p:cNvSpPr>
            <a:spLocks noGrp="1"/>
          </p:cNvSpPr>
          <p:nvPr>
            <p:ph type="title"/>
          </p:nvPr>
        </p:nvSpPr>
        <p:spPr/>
        <p:txBody>
          <a:bodyPr/>
          <a:lstStyle/>
          <a:p>
            <a:pPr algn="ctr"/>
            <a:r>
              <a:rPr lang="en-US" b="1" dirty="0"/>
              <a:t>Color Objects</a:t>
            </a:r>
          </a:p>
        </p:txBody>
      </p:sp>
      <p:sp>
        <p:nvSpPr>
          <p:cNvPr id="3" name="Content Placeholder 2">
            <a:extLst>
              <a:ext uri="{FF2B5EF4-FFF2-40B4-BE49-F238E27FC236}">
                <a16:creationId xmlns:a16="http://schemas.microsoft.com/office/drawing/2014/main" id="{507D5127-91A9-D515-444D-5F338EAD2FA6}"/>
              </a:ext>
            </a:extLst>
          </p:cNvPr>
          <p:cNvSpPr>
            <a:spLocks noGrp="1"/>
          </p:cNvSpPr>
          <p:nvPr>
            <p:ph idx="1"/>
          </p:nvPr>
        </p:nvSpPr>
        <p:spPr>
          <a:xfrm>
            <a:off x="2592925" y="1729339"/>
            <a:ext cx="8915400" cy="4969844"/>
          </a:xfrm>
        </p:spPr>
        <p:txBody>
          <a:bodyPr>
            <a:noAutofit/>
          </a:bodyPr>
          <a:lstStyle/>
          <a:p>
            <a:pPr marL="0" indent="0">
              <a:buNone/>
            </a:pPr>
            <a:r>
              <a:rPr lang="en-US" sz="2400" dirty="0"/>
              <a:t>To obtain a color that is not in the Color class's list of named constant colors, instantiate a Color object with a specified mixture of red, green, and blue.</a:t>
            </a:r>
          </a:p>
          <a:p>
            <a:pPr marL="0" indent="0">
              <a:buNone/>
            </a:pPr>
            <a:r>
              <a:rPr lang="en-US" sz="2400" dirty="0"/>
              <a:t>Here's the Color constructor call syntax: new Color(&lt;red 0-255&gt;, &lt;green 0-255&gt;, &lt;blue 0-255&gt;)</a:t>
            </a:r>
          </a:p>
          <a:p>
            <a:pPr marL="0" indent="0">
              <a:buNone/>
            </a:pPr>
            <a:r>
              <a:rPr lang="en-US" sz="2400" dirty="0"/>
              <a:t>Each of the three Color constructor arguments is an int value between 0 and 255. The int value represents the amount of color, with 0 indicating no color and 255 indicating the maximum amount of color</a:t>
            </a:r>
          </a:p>
          <a:p>
            <a:pPr marL="0" indent="0">
              <a:buNone/>
            </a:pPr>
            <a:r>
              <a:rPr lang="en-US" sz="2400" dirty="0"/>
              <a:t>For example, this statement sets a button's background color to purple:  </a:t>
            </a:r>
            <a:r>
              <a:rPr lang="en-US" sz="2400" dirty="0" err="1"/>
              <a:t>button.setBackground</a:t>
            </a:r>
            <a:r>
              <a:rPr lang="en-US" sz="2400" dirty="0"/>
              <a:t>(new Color(128, 0, 128));</a:t>
            </a:r>
          </a:p>
          <a:p>
            <a:pPr marL="0" indent="0">
              <a:buNone/>
            </a:pPr>
            <a:endParaRPr lang="en-US" sz="2400" dirty="0"/>
          </a:p>
        </p:txBody>
      </p:sp>
    </p:spTree>
    <p:extLst>
      <p:ext uri="{BB962C8B-B14F-4D97-AF65-F5344CB8AC3E}">
        <p14:creationId xmlns:p14="http://schemas.microsoft.com/office/powerpoint/2010/main" val="74771822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414</TotalTime>
  <Words>2735</Words>
  <Application>Microsoft Office PowerPoint</Application>
  <PresentationFormat>Widescreen</PresentationFormat>
  <Paragraphs>262</Paragraphs>
  <Slides>39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Abadi</vt:lpstr>
      <vt:lpstr>Arial</vt:lpstr>
      <vt:lpstr>Calibri</vt:lpstr>
      <vt:lpstr>Courier</vt:lpstr>
      <vt:lpstr>Courier New</vt:lpstr>
      <vt:lpstr>Times New Roman</vt:lpstr>
      <vt:lpstr>Wingdings 3</vt:lpstr>
      <vt:lpstr>Wisp</vt:lpstr>
      <vt:lpstr>Introducing Swing</vt:lpstr>
      <vt:lpstr>The Origins of Swing</vt:lpstr>
      <vt:lpstr>Problems with AWT</vt:lpstr>
      <vt:lpstr>Enter Swing</vt:lpstr>
      <vt:lpstr>Swing Components Are Lightweight</vt:lpstr>
      <vt:lpstr>Swing Supports a Pluggable Look and Feel</vt:lpstr>
      <vt:lpstr>The MVC Connection</vt:lpstr>
      <vt:lpstr>Swing’s version of MVC</vt:lpstr>
      <vt:lpstr>Components and Containers</vt:lpstr>
      <vt:lpstr>Components</vt:lpstr>
      <vt:lpstr>Components</vt:lpstr>
      <vt:lpstr>Most Commonly Used Components</vt:lpstr>
      <vt:lpstr>Containers</vt:lpstr>
      <vt:lpstr>Top-Level Containers</vt:lpstr>
      <vt:lpstr>Lightweight Containers</vt:lpstr>
      <vt:lpstr>Swing Packages</vt:lpstr>
      <vt:lpstr>The main Swing package</vt:lpstr>
      <vt:lpstr>GUI Application using Swing</vt:lpstr>
      <vt:lpstr>Compoment Hierarchies</vt:lpstr>
      <vt:lpstr>Your Window Class should extend JFrame </vt:lpstr>
      <vt:lpstr>Common JFrame Methods </vt:lpstr>
      <vt:lpstr>A Simple Window</vt:lpstr>
      <vt:lpstr>Code to Create the Simple Window</vt:lpstr>
      <vt:lpstr>What Else do we know about the Window?</vt:lpstr>
      <vt:lpstr>Closing the Window</vt:lpstr>
      <vt:lpstr>setDefaultCloseOperation(int operation);</vt:lpstr>
      <vt:lpstr>The Content Pane</vt:lpstr>
      <vt:lpstr>Content Pane Delegation in JDK 1.5 and greater</vt:lpstr>
      <vt:lpstr>To Change the Background Color of the JFrame</vt:lpstr>
      <vt:lpstr>What does the pack() method do?</vt:lpstr>
      <vt:lpstr>Test</vt:lpstr>
      <vt:lpstr>The Point of this Test</vt:lpstr>
      <vt:lpstr>Instead of FlowLayout, I used GridLayout and left the JFrame size.</vt:lpstr>
      <vt:lpstr>COLOR in Swing</vt:lpstr>
      <vt:lpstr>Color</vt:lpstr>
      <vt:lpstr>Color Methods</vt:lpstr>
      <vt:lpstr>Example nethods for a JTextField</vt:lpstr>
      <vt:lpstr>Java.awt.Color  Named Constants</vt:lpstr>
      <vt:lpstr>Color Objects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Desktop Applications</dc:title>
  <dc:creator>Ivonne Nelson</dc:creator>
  <cp:lastModifiedBy>NELSON, IVONNE</cp:lastModifiedBy>
  <cp:revision>15</cp:revision>
  <dcterms:created xsi:type="dcterms:W3CDTF">2022-12-26T23:15:39Z</dcterms:created>
  <dcterms:modified xsi:type="dcterms:W3CDTF">2024-06-23T20:21:58Z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8bb7484-22c2-4b98-9fb8-3ab13d821527_Enabled">
    <vt:lpwstr>true</vt:lpwstr>
  </property>
  <property fmtid="{D5CDD505-2E9C-101B-9397-08002B2CF9AE}" pid="3" name="MSIP_Label_d8bb7484-22c2-4b98-9fb8-3ab13d821527_SetDate">
    <vt:lpwstr>2024-06-23T19:41:27Z</vt:lpwstr>
  </property>
  <property fmtid="{D5CDD505-2E9C-101B-9397-08002B2CF9AE}" pid="4" name="MSIP_Label_d8bb7484-22c2-4b98-9fb8-3ab13d821527_Method">
    <vt:lpwstr>Standard</vt:lpwstr>
  </property>
  <property fmtid="{D5CDD505-2E9C-101B-9397-08002B2CF9AE}" pid="5" name="MSIP_Label_d8bb7484-22c2-4b98-9fb8-3ab13d821527_Name">
    <vt:lpwstr>defa4170-0d19-0005-0004-bc88714345d2</vt:lpwstr>
  </property>
  <property fmtid="{D5CDD505-2E9C-101B-9397-08002B2CF9AE}" pid="6" name="MSIP_Label_d8bb7484-22c2-4b98-9fb8-3ab13d821527_SiteId">
    <vt:lpwstr>f50e076b-86a5-45f3-87b0-3f4d0ec5e94e</vt:lpwstr>
  </property>
  <property fmtid="{D5CDD505-2E9C-101B-9397-08002B2CF9AE}" pid="7" name="MSIP_Label_d8bb7484-22c2-4b98-9fb8-3ab13d821527_ActionId">
    <vt:lpwstr>80f011fc-327e-445d-888a-a4a2f253e96e</vt:lpwstr>
  </property>
  <property fmtid="{D5CDD505-2E9C-101B-9397-08002B2CF9AE}" pid="8" name="MSIP_Label_d8bb7484-22c2-4b98-9fb8-3ab13d821527_ContentBits">
    <vt:lpwstr>0</vt:lpwstr>
  </property>
</Properties>
</file>