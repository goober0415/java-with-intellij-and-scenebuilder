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7"/>
  </p:notesMasterIdLst>
  <p:sldIdLst>
    <p:sldId id="256" r:id="rId2"/>
    <p:sldId id="258" r:id="rId3"/>
    <p:sldId id="259" r:id="rId4"/>
    <p:sldId id="261" r:id="rId5"/>
    <p:sldId id="260" r:id="rId6"/>
    <p:sldId id="262" r:id="rId7"/>
    <p:sldId id="263" r:id="rId8"/>
    <p:sldId id="264" r:id="rId9"/>
    <p:sldId id="265" r:id="rId10"/>
    <p:sldId id="347" r:id="rId11"/>
    <p:sldId id="269" r:id="rId12"/>
    <p:sldId id="270" r:id="rId13"/>
    <p:sldId id="348" r:id="rId14"/>
    <p:sldId id="326" r:id="rId15"/>
    <p:sldId id="327" r:id="rId16"/>
    <p:sldId id="328" r:id="rId17"/>
    <p:sldId id="329" r:id="rId18"/>
    <p:sldId id="330" r:id="rId19"/>
    <p:sldId id="331" r:id="rId20"/>
    <p:sldId id="279" r:id="rId21"/>
    <p:sldId id="332" r:id="rId22"/>
    <p:sldId id="333" r:id="rId23"/>
    <p:sldId id="334" r:id="rId24"/>
    <p:sldId id="335" r:id="rId25"/>
    <p:sldId id="336" r:id="rId26"/>
    <p:sldId id="337" r:id="rId27"/>
    <p:sldId id="338" r:id="rId28"/>
    <p:sldId id="339" r:id="rId29"/>
    <p:sldId id="340" r:id="rId30"/>
    <p:sldId id="342" r:id="rId31"/>
    <p:sldId id="341" r:id="rId32"/>
    <p:sldId id="343" r:id="rId33"/>
    <p:sldId id="344" r:id="rId34"/>
    <p:sldId id="345" r:id="rId35"/>
    <p:sldId id="346"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1" d="100"/>
          <a:sy n="101" d="100"/>
        </p:scale>
        <p:origin x="87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860D61-B2F9-4A27-939A-175B40F021EC}" type="datetimeFigureOut">
              <a:rPr lang="en-US" smtClean="0"/>
              <a:t>6/23/2024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DCB68F-EE66-491A-A196-8B33AA23C913}" type="slidenum">
              <a:rPr lang="en-US" smtClean="0"/>
              <a:t>‹#›</a:t>
            </a:fld>
            <a:endParaRPr lang="en-US"/>
          </a:p>
        </p:txBody>
      </p:sp>
    </p:spTree>
    <p:extLst>
      <p:ext uri="{BB962C8B-B14F-4D97-AF65-F5344CB8AC3E}">
        <p14:creationId xmlns:p14="http://schemas.microsoft.com/office/powerpoint/2010/main" val="6330596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447C5A23-9C63-4B41-A1AD-939A5FFC3C1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3B37641-F316-4A92-ACFA-F29C03D981F4}" type="slidenum">
              <a:rPr lang="en-US" altLang="en-US">
                <a:latin typeface="Tahoma" panose="020B0604030504040204" pitchFamily="34" charset="0"/>
              </a:rPr>
              <a:pPr>
                <a:spcBef>
                  <a:spcPct val="0"/>
                </a:spcBef>
              </a:pPr>
              <a:t>11</a:t>
            </a:fld>
            <a:endParaRPr lang="en-US" altLang="en-US">
              <a:latin typeface="Tahoma" panose="020B0604030504040204" pitchFamily="34" charset="0"/>
            </a:endParaRPr>
          </a:p>
        </p:txBody>
      </p:sp>
      <p:sp>
        <p:nvSpPr>
          <p:cNvPr id="32771" name="Rectangle 2">
            <a:extLst>
              <a:ext uri="{FF2B5EF4-FFF2-40B4-BE49-F238E27FC236}">
                <a16:creationId xmlns:a16="http://schemas.microsoft.com/office/drawing/2014/main" id="{C0A3CAA5-6B56-4C44-98E1-568B35FD5C39}"/>
              </a:ext>
            </a:extLst>
          </p:cNvPr>
          <p:cNvSpPr>
            <a:spLocks noGrp="1" noRot="1" noChangeAspect="1" noChangeArrowheads="1" noTextEdit="1"/>
          </p:cNvSpPr>
          <p:nvPr>
            <p:ph type="sldImg"/>
          </p:nvPr>
        </p:nvSpPr>
        <p:spPr>
          <a:xfrm>
            <a:off x="431800" y="674688"/>
            <a:ext cx="5994400" cy="3373437"/>
          </a:xfrm>
          <a:ln/>
        </p:spPr>
      </p:sp>
      <p:sp>
        <p:nvSpPr>
          <p:cNvPr id="32772" name="Rectangle 3">
            <a:extLst>
              <a:ext uri="{FF2B5EF4-FFF2-40B4-BE49-F238E27FC236}">
                <a16:creationId xmlns:a16="http://schemas.microsoft.com/office/drawing/2014/main" id="{665D82F4-7DC4-4BD0-BA3B-3B420686274A}"/>
              </a:ext>
            </a:extLst>
          </p:cNvPr>
          <p:cNvSpPr>
            <a:spLocks noGrp="1" noChangeArrowheads="1"/>
          </p:cNvSpPr>
          <p:nvPr>
            <p:ph type="body" idx="1"/>
          </p:nvPr>
        </p:nvSpPr>
        <p:spPr>
          <a:xfrm>
            <a:off x="914400" y="44958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z="1000"/>
              <a:t>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a:extLst>
              <a:ext uri="{FF2B5EF4-FFF2-40B4-BE49-F238E27FC236}">
                <a16:creationId xmlns:a16="http://schemas.microsoft.com/office/drawing/2014/main" id="{6119A52A-05F7-45EE-9D09-F45DAB62957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fld id="{7AF9AAA7-3E9F-4086-812D-37E68EC46E36}" type="slidenum">
              <a:rPr lang="en-US" altLang="en-US">
                <a:latin typeface="Tahoma" panose="020B0604030504040204" pitchFamily="34" charset="0"/>
              </a:rPr>
              <a:pPr eaLnBrk="1" hangingPunct="1">
                <a:spcBef>
                  <a:spcPct val="0"/>
                </a:spcBef>
              </a:pPr>
              <a:t>20</a:t>
            </a:fld>
            <a:endParaRPr lang="en-US" altLang="en-US">
              <a:latin typeface="Tahoma" panose="020B0604030504040204" pitchFamily="34" charset="0"/>
            </a:endParaRPr>
          </a:p>
        </p:txBody>
      </p:sp>
      <p:sp>
        <p:nvSpPr>
          <p:cNvPr id="97283" name="Rectangle 2">
            <a:extLst>
              <a:ext uri="{FF2B5EF4-FFF2-40B4-BE49-F238E27FC236}">
                <a16:creationId xmlns:a16="http://schemas.microsoft.com/office/drawing/2014/main" id="{CE7328C9-45E5-47E4-8DFB-F14FCC00034B}"/>
              </a:ext>
            </a:extLst>
          </p:cNvPr>
          <p:cNvSpPr>
            <a:spLocks noGrp="1" noRot="1" noChangeAspect="1" noChangeArrowheads="1" noTextEdit="1"/>
          </p:cNvSpPr>
          <p:nvPr>
            <p:ph type="sldImg"/>
          </p:nvPr>
        </p:nvSpPr>
        <p:spPr>
          <a:xfrm>
            <a:off x="431800" y="674688"/>
            <a:ext cx="5994400" cy="3373437"/>
          </a:xfrm>
          <a:ln/>
        </p:spPr>
      </p:sp>
      <p:sp>
        <p:nvSpPr>
          <p:cNvPr id="97284" name="Rectangle 3">
            <a:extLst>
              <a:ext uri="{FF2B5EF4-FFF2-40B4-BE49-F238E27FC236}">
                <a16:creationId xmlns:a16="http://schemas.microsoft.com/office/drawing/2014/main" id="{36CB5939-2D58-4BE0-A033-776C1D424EDE}"/>
              </a:ext>
            </a:extLst>
          </p:cNvPr>
          <p:cNvSpPr>
            <a:spLocks noGrp="1" noChangeArrowheads="1"/>
          </p:cNvSpPr>
          <p:nvPr>
            <p:ph type="body" idx="1"/>
          </p:nvPr>
        </p:nvSpPr>
        <p:spPr>
          <a:xfrm>
            <a:off x="914400" y="44958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z="1000"/>
              <a:t>1. Assuming that the code fragment is part of a complete, working program, this is what the program displays.</a:t>
            </a:r>
          </a:p>
          <a:p>
            <a:pPr marL="228600" indent="-228600" eaLnBrk="1" hangingPunct="1"/>
            <a:endParaRPr lang="en-US" altLang="en-US" sz="1000"/>
          </a:p>
          <a:p>
            <a:pPr marL="228600" indent="-228600" eaLnBrk="1" hangingPunct="1"/>
            <a:r>
              <a:rPr lang="en-US" altLang="en-US" sz="1000"/>
              <a:t>2. The six rectangles you see are the six cells, but they're also the six buttons.</a:t>
            </a:r>
          </a:p>
          <a:p>
            <a:pPr marL="228600" indent="-228600" eaLnBrk="1" hangingPunct="1"/>
            <a:r>
              <a:rPr lang="en-US" altLang="en-US" sz="1000"/>
              <a:t>The buttons are the same size as the cells because, with a GridLayout manager, components expand to fill their cells.</a:t>
            </a:r>
          </a:p>
          <a:p>
            <a:pPr marL="228600" indent="-228600" eaLnBrk="1" hangingPunct="1"/>
            <a:r>
              <a:rPr lang="en-US" altLang="en-US" sz="1000"/>
              <a:t>That should sound familiar; BorderLayout components do the same thing.</a:t>
            </a:r>
          </a:p>
          <a:p>
            <a:pPr marL="228600" indent="-228600" eaLnBrk="1" hangingPunct="1"/>
            <a:endParaRPr lang="en-US" altLang="en-US" sz="1000"/>
          </a:p>
          <a:p>
            <a:pPr marL="228600" indent="-228600" eaLnBrk="1" hangingPunct="1"/>
            <a:r>
              <a:rPr lang="en-US" altLang="en-US" sz="1000"/>
              <a:t>3. When creating a GridLayout manager, you call the GridLayout constructor with a number-of-rows argument and a number-of-columns argument.</a:t>
            </a:r>
          </a:p>
          <a:p>
            <a:pPr marL="228600" indent="-228600" eaLnBrk="1" hangingPunct="1"/>
            <a:r>
              <a:rPr lang="en-US" altLang="en-US" sz="1000"/>
              <a:t>Those two arguments require some additional explanation.</a:t>
            </a:r>
          </a:p>
          <a:p>
            <a:pPr marL="228600" indent="-228600" eaLnBrk="1" hangingPunct="1"/>
            <a:r>
              <a:rPr lang="en-US" altLang="en-US" sz="1000"/>
              <a:t>To help with the explanation, consider three different cases…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F1F6169-ECA4-4075-BAFE-BCD525823212}" type="datetimeFigureOut">
              <a:rPr lang="en-US" smtClean="0"/>
              <a:t>6/23/2024</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00452AD3-9D23-4FA1-BBC4-E7D56516133A}" type="slidenum">
              <a:rPr lang="en-US" smtClean="0"/>
              <a:t>‹#›</a:t>
            </a:fld>
            <a:endParaRPr lang="en-US"/>
          </a:p>
        </p:txBody>
      </p:sp>
    </p:spTree>
    <p:extLst>
      <p:ext uri="{BB962C8B-B14F-4D97-AF65-F5344CB8AC3E}">
        <p14:creationId xmlns:p14="http://schemas.microsoft.com/office/powerpoint/2010/main" val="18640999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1F6169-ECA4-4075-BAFE-BCD525823212}" type="datetimeFigureOut">
              <a:rPr lang="en-US" smtClean="0"/>
              <a:t>6/23/2024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0452AD3-9D23-4FA1-BBC4-E7D56516133A}" type="slidenum">
              <a:rPr lang="en-US" smtClean="0"/>
              <a:t>‹#›</a:t>
            </a:fld>
            <a:endParaRPr lang="en-US"/>
          </a:p>
        </p:txBody>
      </p:sp>
    </p:spTree>
    <p:extLst>
      <p:ext uri="{BB962C8B-B14F-4D97-AF65-F5344CB8AC3E}">
        <p14:creationId xmlns:p14="http://schemas.microsoft.com/office/powerpoint/2010/main" val="40906947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F1F6169-ECA4-4075-BAFE-BCD525823212}" type="datetimeFigureOut">
              <a:rPr lang="en-US" smtClean="0"/>
              <a:t>6/23/2024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0452AD3-9D23-4FA1-BBC4-E7D56516133A}" type="slidenum">
              <a:rPr lang="en-US" smtClean="0"/>
              <a:t>‹#›</a:t>
            </a:fld>
            <a:endParaRPr lang="en-US"/>
          </a:p>
        </p:txBody>
      </p:sp>
    </p:spTree>
    <p:extLst>
      <p:ext uri="{BB962C8B-B14F-4D97-AF65-F5344CB8AC3E}">
        <p14:creationId xmlns:p14="http://schemas.microsoft.com/office/powerpoint/2010/main" val="40751345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F1F6169-ECA4-4075-BAFE-BCD525823212}" type="datetimeFigureOut">
              <a:rPr lang="en-US" smtClean="0"/>
              <a:t>6/23/2024</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00452AD3-9D23-4FA1-BBC4-E7D56516133A}" type="slidenum">
              <a:rPr lang="en-US" smtClean="0"/>
              <a:t>‹#›</a:t>
            </a:fld>
            <a:endParaRPr lang="en-US"/>
          </a:p>
        </p:txBody>
      </p:sp>
    </p:spTree>
    <p:extLst>
      <p:ext uri="{BB962C8B-B14F-4D97-AF65-F5344CB8AC3E}">
        <p14:creationId xmlns:p14="http://schemas.microsoft.com/office/powerpoint/2010/main" val="32693518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F1F6169-ECA4-4075-BAFE-BCD525823212}" type="datetimeFigureOut">
              <a:rPr lang="en-US" smtClean="0"/>
              <a:t>6/23/2024</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00452AD3-9D23-4FA1-BBC4-E7D56516133A}" type="slidenum">
              <a:rPr lang="en-US" smtClean="0"/>
              <a:t>‹#›</a:t>
            </a:fld>
            <a:endParaRPr lang="en-US"/>
          </a:p>
        </p:txBody>
      </p:sp>
    </p:spTree>
    <p:extLst>
      <p:ext uri="{BB962C8B-B14F-4D97-AF65-F5344CB8AC3E}">
        <p14:creationId xmlns:p14="http://schemas.microsoft.com/office/powerpoint/2010/main" val="36612019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F1F6169-ECA4-4075-BAFE-BCD525823212}" type="datetimeFigureOut">
              <a:rPr lang="en-US" smtClean="0"/>
              <a:t>6/23/2024</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00452AD3-9D23-4FA1-BBC4-E7D56516133A}" type="slidenum">
              <a:rPr lang="en-US" smtClean="0"/>
              <a:t>‹#›</a:t>
            </a:fld>
            <a:endParaRPr lang="en-US"/>
          </a:p>
        </p:txBody>
      </p:sp>
    </p:spTree>
    <p:extLst>
      <p:ext uri="{BB962C8B-B14F-4D97-AF65-F5344CB8AC3E}">
        <p14:creationId xmlns:p14="http://schemas.microsoft.com/office/powerpoint/2010/main" val="2207703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F1F6169-ECA4-4075-BAFE-BCD525823212}" type="datetimeFigureOut">
              <a:rPr lang="en-US" smtClean="0"/>
              <a:t>6/23/2024</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00452AD3-9D23-4FA1-BBC4-E7D56516133A}" type="slidenum">
              <a:rPr lang="en-US" smtClean="0"/>
              <a:t>‹#›</a:t>
            </a:fld>
            <a:endParaRPr lang="en-US"/>
          </a:p>
        </p:txBody>
      </p:sp>
    </p:spTree>
    <p:extLst>
      <p:ext uri="{BB962C8B-B14F-4D97-AF65-F5344CB8AC3E}">
        <p14:creationId xmlns:p14="http://schemas.microsoft.com/office/powerpoint/2010/main" val="39881299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F1F6169-ECA4-4075-BAFE-BCD525823212}" type="datetimeFigureOut">
              <a:rPr lang="en-US" smtClean="0"/>
              <a:t>6/23/2024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00452AD3-9D23-4FA1-BBC4-E7D56516133A}" type="slidenum">
              <a:rPr lang="en-US" smtClean="0"/>
              <a:t>‹#›</a:t>
            </a:fld>
            <a:endParaRPr lang="en-US"/>
          </a:p>
        </p:txBody>
      </p:sp>
    </p:spTree>
    <p:extLst>
      <p:ext uri="{BB962C8B-B14F-4D97-AF65-F5344CB8AC3E}">
        <p14:creationId xmlns:p14="http://schemas.microsoft.com/office/powerpoint/2010/main" val="8611677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F1F6169-ECA4-4075-BAFE-BCD525823212}" type="datetimeFigureOut">
              <a:rPr lang="en-US" smtClean="0"/>
              <a:t>6/23/2024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0452AD3-9D23-4FA1-BBC4-E7D56516133A}" type="slidenum">
              <a:rPr lang="en-US" smtClean="0"/>
              <a:t>‹#›</a:t>
            </a:fld>
            <a:endParaRPr lang="en-US"/>
          </a:p>
        </p:txBody>
      </p:sp>
    </p:spTree>
    <p:extLst>
      <p:ext uri="{BB962C8B-B14F-4D97-AF65-F5344CB8AC3E}">
        <p14:creationId xmlns:p14="http://schemas.microsoft.com/office/powerpoint/2010/main" val="5913038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F1F6169-ECA4-4075-BAFE-BCD525823212}" type="datetimeFigureOut">
              <a:rPr lang="en-US" smtClean="0"/>
              <a:t>6/23/2024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0452AD3-9D23-4FA1-BBC4-E7D56516133A}" type="slidenum">
              <a:rPr lang="en-US" smtClean="0"/>
              <a:t>‹#›</a:t>
            </a:fld>
            <a:endParaRPr lang="en-US"/>
          </a:p>
        </p:txBody>
      </p:sp>
    </p:spTree>
    <p:extLst>
      <p:ext uri="{BB962C8B-B14F-4D97-AF65-F5344CB8AC3E}">
        <p14:creationId xmlns:p14="http://schemas.microsoft.com/office/powerpoint/2010/main" val="21837700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F1F6169-ECA4-4075-BAFE-BCD525823212}" type="datetimeFigureOut">
              <a:rPr lang="en-US" smtClean="0"/>
              <a:t>6/23/2024</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0452AD3-9D23-4FA1-BBC4-E7D56516133A}"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9401708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CF1F6169-ECA4-4075-BAFE-BCD525823212}" type="datetimeFigureOut">
              <a:rPr lang="en-US" smtClean="0"/>
              <a:t>6/23/2024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0452AD3-9D23-4FA1-BBC4-E7D56516133A}" type="slidenum">
              <a:rPr lang="en-US" smtClean="0"/>
              <a:t>‹#›</a:t>
            </a:fld>
            <a:endParaRPr lang="en-US"/>
          </a:p>
        </p:txBody>
      </p:sp>
    </p:spTree>
    <p:extLst>
      <p:ext uri="{BB962C8B-B14F-4D97-AF65-F5344CB8AC3E}">
        <p14:creationId xmlns:p14="http://schemas.microsoft.com/office/powerpoint/2010/main" val="11185397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CF1F6169-ECA4-4075-BAFE-BCD525823212}" type="datetimeFigureOut">
              <a:rPr lang="en-US" smtClean="0"/>
              <a:t>6/23/2024</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0452AD3-9D23-4FA1-BBC4-E7D56516133A}"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9963668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CF1F6169-ECA4-4075-BAFE-BCD525823212}" type="datetimeFigureOut">
              <a:rPr lang="en-US" smtClean="0"/>
              <a:t>6/23/2024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0452AD3-9D23-4FA1-BBC4-E7D56516133A}" type="slidenum">
              <a:rPr lang="en-US" smtClean="0"/>
              <a:t>‹#›</a:t>
            </a:fld>
            <a:endParaRPr lang="en-US"/>
          </a:p>
        </p:txBody>
      </p:sp>
    </p:spTree>
    <p:extLst>
      <p:ext uri="{BB962C8B-B14F-4D97-AF65-F5344CB8AC3E}">
        <p14:creationId xmlns:p14="http://schemas.microsoft.com/office/powerpoint/2010/main" val="19602085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1F6169-ECA4-4075-BAFE-BCD525823212}" type="datetimeFigureOut">
              <a:rPr lang="en-US" smtClean="0"/>
              <a:t>6/23/2024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0452AD3-9D23-4FA1-BBC4-E7D56516133A}" type="slidenum">
              <a:rPr lang="en-US" smtClean="0"/>
              <a:t>‹#›</a:t>
            </a:fld>
            <a:endParaRPr lang="en-US"/>
          </a:p>
        </p:txBody>
      </p:sp>
    </p:spTree>
    <p:extLst>
      <p:ext uri="{BB962C8B-B14F-4D97-AF65-F5344CB8AC3E}">
        <p14:creationId xmlns:p14="http://schemas.microsoft.com/office/powerpoint/2010/main" val="41109147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1F6169-ECA4-4075-BAFE-BCD525823212}" type="datetimeFigureOut">
              <a:rPr lang="en-US" smtClean="0"/>
              <a:t>6/23/2024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0452AD3-9D23-4FA1-BBC4-E7D56516133A}" type="slidenum">
              <a:rPr lang="en-US" smtClean="0"/>
              <a:t>‹#›</a:t>
            </a:fld>
            <a:endParaRPr lang="en-US"/>
          </a:p>
        </p:txBody>
      </p:sp>
    </p:spTree>
    <p:extLst>
      <p:ext uri="{BB962C8B-B14F-4D97-AF65-F5344CB8AC3E}">
        <p14:creationId xmlns:p14="http://schemas.microsoft.com/office/powerpoint/2010/main" val="11544756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34584" y="341313"/>
            <a:ext cx="9438216" cy="754062"/>
          </a:xfrm>
        </p:spPr>
        <p:txBody>
          <a:bodyPr/>
          <a:lstStyle/>
          <a:p>
            <a:r>
              <a:rPr lang="en-US"/>
              <a:t>Click to edit Master title style</a:t>
            </a:r>
          </a:p>
        </p:txBody>
      </p:sp>
      <p:sp>
        <p:nvSpPr>
          <p:cNvPr id="3" name="Text Placeholder 2"/>
          <p:cNvSpPr>
            <a:spLocks noGrp="1"/>
          </p:cNvSpPr>
          <p:nvPr>
            <p:ph type="body" sz="half" idx="1"/>
          </p:nvPr>
        </p:nvSpPr>
        <p:spPr>
          <a:xfrm>
            <a:off x="1016000" y="1524000"/>
            <a:ext cx="53594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578600" y="1524000"/>
            <a:ext cx="5361517"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4">
            <a:extLst>
              <a:ext uri="{FF2B5EF4-FFF2-40B4-BE49-F238E27FC236}">
                <a16:creationId xmlns:a16="http://schemas.microsoft.com/office/drawing/2014/main" id="{CB62CB73-7429-4BFB-B1BD-0DC8B68B41BA}"/>
              </a:ext>
            </a:extLst>
          </p:cNvPr>
          <p:cNvSpPr>
            <a:spLocks noGrp="1" noChangeArrowheads="1"/>
          </p:cNvSpPr>
          <p:nvPr>
            <p:ph type="ftr" sz="quarter" idx="10"/>
          </p:nvPr>
        </p:nvSpPr>
        <p:spPr>
          <a:ln/>
        </p:spPr>
        <p:txBody>
          <a:bodyPr/>
          <a:lstStyle>
            <a:lvl1pPr>
              <a:defRPr/>
            </a:lvl1pPr>
          </a:lstStyle>
          <a:p>
            <a:pPr>
              <a:defRPr/>
            </a:pPr>
            <a:endParaRPr lang="en-US"/>
          </a:p>
        </p:txBody>
      </p:sp>
      <p:sp>
        <p:nvSpPr>
          <p:cNvPr id="6" name="Rectangle 15">
            <a:extLst>
              <a:ext uri="{FF2B5EF4-FFF2-40B4-BE49-F238E27FC236}">
                <a16:creationId xmlns:a16="http://schemas.microsoft.com/office/drawing/2014/main" id="{A36C1F84-4B1B-4AAA-AC42-8208C1E4E9B6}"/>
              </a:ext>
            </a:extLst>
          </p:cNvPr>
          <p:cNvSpPr>
            <a:spLocks noGrp="1" noChangeArrowheads="1"/>
          </p:cNvSpPr>
          <p:nvPr>
            <p:ph type="sldNum" sz="quarter" idx="11"/>
          </p:nvPr>
        </p:nvSpPr>
        <p:spPr>
          <a:ln/>
        </p:spPr>
        <p:txBody>
          <a:bodyPr/>
          <a:lstStyle>
            <a:lvl1pPr>
              <a:defRPr/>
            </a:lvl1pPr>
          </a:lstStyle>
          <a:p>
            <a:fld id="{DF8431F8-1736-4B3E-B57C-F31E56E1750E}" type="slidenum">
              <a:rPr lang="en-US" altLang="en-US"/>
              <a:pPr/>
              <a:t>‹#›</a:t>
            </a:fld>
            <a:endParaRPr lang="en-US" altLang="en-US"/>
          </a:p>
        </p:txBody>
      </p:sp>
    </p:spTree>
    <p:extLst>
      <p:ext uri="{BB962C8B-B14F-4D97-AF65-F5344CB8AC3E}">
        <p14:creationId xmlns:p14="http://schemas.microsoft.com/office/powerpoint/2010/main" val="17881052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CF1F6169-ECA4-4075-BAFE-BCD525823212}" type="datetimeFigureOut">
              <a:rPr lang="en-US" smtClean="0"/>
              <a:t>6/23/2024</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00452AD3-9D23-4FA1-BBC4-E7D56516133A}" type="slidenum">
              <a:rPr lang="en-US" smtClean="0"/>
              <a:t>‹#›</a:t>
            </a:fld>
            <a:endParaRPr lang="en-US"/>
          </a:p>
        </p:txBody>
      </p:sp>
    </p:spTree>
    <p:extLst>
      <p:ext uri="{BB962C8B-B14F-4D97-AF65-F5344CB8AC3E}">
        <p14:creationId xmlns:p14="http://schemas.microsoft.com/office/powerpoint/2010/main" val="34908566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1C687-2D70-3BAF-88E8-015EB5ABE2CD}"/>
              </a:ext>
            </a:extLst>
          </p:cNvPr>
          <p:cNvSpPr>
            <a:spLocks noGrp="1"/>
          </p:cNvSpPr>
          <p:nvPr>
            <p:ph type="ctrTitle"/>
          </p:nvPr>
        </p:nvSpPr>
        <p:spPr/>
        <p:txBody>
          <a:bodyPr/>
          <a:lstStyle/>
          <a:p>
            <a:pPr algn="ctr"/>
            <a:r>
              <a:rPr lang="en-US" b="1" dirty="0"/>
              <a:t>Layout Managers</a:t>
            </a:r>
          </a:p>
        </p:txBody>
      </p:sp>
      <p:sp>
        <p:nvSpPr>
          <p:cNvPr id="3" name="Subtitle 2">
            <a:extLst>
              <a:ext uri="{FF2B5EF4-FFF2-40B4-BE49-F238E27FC236}">
                <a16:creationId xmlns:a16="http://schemas.microsoft.com/office/drawing/2014/main" id="{28E78D13-154F-BD65-EC4B-A2C20AC834B5}"/>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6925664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416C0-7D86-9F39-5776-7956B5341CA5}"/>
              </a:ext>
            </a:extLst>
          </p:cNvPr>
          <p:cNvSpPr>
            <a:spLocks noGrp="1"/>
          </p:cNvSpPr>
          <p:nvPr>
            <p:ph type="title"/>
          </p:nvPr>
        </p:nvSpPr>
        <p:spPr/>
        <p:txBody>
          <a:bodyPr/>
          <a:lstStyle/>
          <a:p>
            <a:pPr algn="ctr"/>
            <a:r>
              <a:rPr lang="en-US" b="1" dirty="0"/>
              <a:t>Layout Managers</a:t>
            </a:r>
          </a:p>
        </p:txBody>
      </p:sp>
      <p:sp>
        <p:nvSpPr>
          <p:cNvPr id="3" name="Content Placeholder 2">
            <a:extLst>
              <a:ext uri="{FF2B5EF4-FFF2-40B4-BE49-F238E27FC236}">
                <a16:creationId xmlns:a16="http://schemas.microsoft.com/office/drawing/2014/main" id="{7B5D8255-3E24-C775-72CD-5679957C9005}"/>
              </a:ext>
            </a:extLst>
          </p:cNvPr>
          <p:cNvSpPr>
            <a:spLocks noGrp="1"/>
          </p:cNvSpPr>
          <p:nvPr>
            <p:ph idx="1"/>
          </p:nvPr>
        </p:nvSpPr>
        <p:spPr>
          <a:xfrm>
            <a:off x="2929181" y="1770185"/>
            <a:ext cx="8915400" cy="3777622"/>
          </a:xfrm>
        </p:spPr>
        <p:txBody>
          <a:bodyPr>
            <a:noAutofit/>
          </a:bodyPr>
          <a:lstStyle/>
          <a:p>
            <a:pPr marL="0" indent="0">
              <a:buNone/>
            </a:pPr>
            <a:r>
              <a:rPr lang="en-US" sz="2400" dirty="0"/>
              <a:t>Layout managers automate the positioning of components within containers.</a:t>
            </a:r>
          </a:p>
          <a:p>
            <a:pPr marL="0" indent="0">
              <a:buNone/>
            </a:pPr>
            <a:r>
              <a:rPr lang="en-US" sz="2400" dirty="0"/>
              <a:t>They free the programmer from the difficult task of figuring out the space needed for each component and the pixel coordinate positions for each component.</a:t>
            </a:r>
          </a:p>
          <a:p>
            <a:pPr marL="0" indent="0">
              <a:buNone/>
            </a:pPr>
            <a:r>
              <a:rPr lang="en-US" sz="2400" dirty="0"/>
              <a:t>If a user resizes the window, the layout manager takes that into account and adjusts the layout accordingly.</a:t>
            </a:r>
          </a:p>
          <a:p>
            <a:pPr marL="0" indent="0">
              <a:buNone/>
            </a:pPr>
            <a:r>
              <a:rPr lang="en-US" sz="2400" dirty="0"/>
              <a:t>If a programmer adjusts a component's size (e.g., by changing a label's font size), the layout manager takes that into account and adjusts the layout accordingly.</a:t>
            </a:r>
          </a:p>
          <a:p>
            <a:pPr marL="0" indent="0">
              <a:buNone/>
            </a:pPr>
            <a:endParaRPr lang="en-US" sz="2400" dirty="0"/>
          </a:p>
        </p:txBody>
      </p:sp>
    </p:spTree>
    <p:extLst>
      <p:ext uri="{BB962C8B-B14F-4D97-AF65-F5344CB8AC3E}">
        <p14:creationId xmlns:p14="http://schemas.microsoft.com/office/powerpoint/2010/main" val="23831628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C670E-2F4F-F7E6-4507-AC067ABEA3EA}"/>
              </a:ext>
            </a:extLst>
          </p:cNvPr>
          <p:cNvSpPr>
            <a:spLocks noGrp="1"/>
          </p:cNvSpPr>
          <p:nvPr>
            <p:ph type="title"/>
          </p:nvPr>
        </p:nvSpPr>
        <p:spPr>
          <a:xfrm>
            <a:off x="2686710" y="306333"/>
            <a:ext cx="7359968" cy="1280890"/>
          </a:xfrm>
        </p:spPr>
        <p:txBody>
          <a:bodyPr/>
          <a:lstStyle/>
          <a:p>
            <a:pPr algn="ctr"/>
            <a:r>
              <a:rPr lang="en-US" dirty="0"/>
              <a:t>The Five Most Common </a:t>
            </a:r>
            <a:r>
              <a:rPr lang="en-US" dirty="0" err="1"/>
              <a:t>LayoutManager</a:t>
            </a:r>
            <a:r>
              <a:rPr lang="en-US" dirty="0"/>
              <a:t> Classes</a:t>
            </a:r>
          </a:p>
        </p:txBody>
      </p:sp>
      <p:sp>
        <p:nvSpPr>
          <p:cNvPr id="3" name="Content Placeholder 2">
            <a:extLst>
              <a:ext uri="{FF2B5EF4-FFF2-40B4-BE49-F238E27FC236}">
                <a16:creationId xmlns:a16="http://schemas.microsoft.com/office/drawing/2014/main" id="{7180CCEF-5B34-6987-0A9D-943752EE0E41}"/>
              </a:ext>
            </a:extLst>
          </p:cNvPr>
          <p:cNvSpPr>
            <a:spLocks noGrp="1"/>
          </p:cNvSpPr>
          <p:nvPr>
            <p:ph idx="1"/>
          </p:nvPr>
        </p:nvSpPr>
        <p:spPr/>
        <p:txBody>
          <a:bodyPr>
            <a:normAutofit/>
          </a:bodyPr>
          <a:lstStyle/>
          <a:p>
            <a:pPr marL="0" indent="0">
              <a:buNone/>
            </a:pPr>
            <a:r>
              <a:rPr lang="en-US" sz="2400" dirty="0" err="1"/>
              <a:t>FlowLayout</a:t>
            </a:r>
            <a:endParaRPr lang="en-US" sz="2400" dirty="0"/>
          </a:p>
          <a:p>
            <a:pPr marL="0" indent="0">
              <a:buNone/>
            </a:pPr>
            <a:r>
              <a:rPr lang="en-US" sz="2400" dirty="0" err="1"/>
              <a:t>BoxLayout</a:t>
            </a:r>
            <a:endParaRPr lang="en-US" sz="2400" dirty="0"/>
          </a:p>
          <a:p>
            <a:pPr marL="0" indent="0">
              <a:buNone/>
            </a:pPr>
            <a:r>
              <a:rPr lang="en-US" sz="2400" dirty="0" err="1"/>
              <a:t>BorderLayout</a:t>
            </a:r>
            <a:endParaRPr lang="en-US" sz="2400" dirty="0"/>
          </a:p>
          <a:p>
            <a:pPr marL="0" indent="0">
              <a:buNone/>
            </a:pPr>
            <a:r>
              <a:rPr lang="en-US" sz="2400" dirty="0" err="1"/>
              <a:t>GridLayout</a:t>
            </a:r>
            <a:endParaRPr lang="en-US" sz="2400" dirty="0"/>
          </a:p>
          <a:p>
            <a:pPr marL="0" indent="0">
              <a:buNone/>
            </a:pPr>
            <a:r>
              <a:rPr lang="en-US" sz="2400" dirty="0" err="1"/>
              <a:t>GridBagLayout</a:t>
            </a:r>
            <a:endParaRPr lang="en-US" sz="2400" dirty="0"/>
          </a:p>
          <a:p>
            <a:pPr marL="0" indent="0">
              <a:buNone/>
            </a:pPr>
            <a:r>
              <a:rPr lang="en-US" sz="2400" dirty="0"/>
              <a:t>The </a:t>
            </a:r>
            <a:r>
              <a:rPr lang="en-US" sz="2400" dirty="0" err="1"/>
              <a:t>BoxLayout</a:t>
            </a:r>
            <a:r>
              <a:rPr lang="en-US" sz="2400" dirty="0"/>
              <a:t> class is in the </a:t>
            </a:r>
            <a:r>
              <a:rPr lang="en-US" sz="2400" dirty="0" err="1"/>
              <a:t>javax.swing</a:t>
            </a:r>
            <a:r>
              <a:rPr lang="en-US" sz="2400" dirty="0"/>
              <a:t> package. </a:t>
            </a:r>
          </a:p>
          <a:p>
            <a:pPr marL="0" indent="0">
              <a:buNone/>
            </a:pPr>
            <a:r>
              <a:rPr lang="en-US" sz="2400" dirty="0"/>
              <a:t>The other classes are in the </a:t>
            </a:r>
            <a:r>
              <a:rPr lang="en-US" sz="2400" dirty="0" err="1"/>
              <a:t>java.awt</a:t>
            </a:r>
            <a:r>
              <a:rPr lang="en-US" sz="2400" dirty="0"/>
              <a:t> package. </a:t>
            </a:r>
          </a:p>
          <a:p>
            <a:pPr marL="0" indent="0">
              <a:buNone/>
            </a:pPr>
            <a:endParaRPr lang="en-US" sz="2400" dirty="0"/>
          </a:p>
          <a:p>
            <a:pPr marL="0" indent="0">
              <a:buNone/>
            </a:pPr>
            <a:endParaRPr lang="en-US" sz="2400" dirty="0"/>
          </a:p>
        </p:txBody>
      </p:sp>
    </p:spTree>
    <p:extLst>
      <p:ext uri="{BB962C8B-B14F-4D97-AF65-F5344CB8AC3E}">
        <p14:creationId xmlns:p14="http://schemas.microsoft.com/office/powerpoint/2010/main" val="21286023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B1FA1-6BEC-A079-4FB7-07DF6AC3CC21}"/>
              </a:ext>
            </a:extLst>
          </p:cNvPr>
          <p:cNvSpPr>
            <a:spLocks noGrp="1"/>
          </p:cNvSpPr>
          <p:nvPr>
            <p:ph type="title"/>
          </p:nvPr>
        </p:nvSpPr>
        <p:spPr>
          <a:xfrm>
            <a:off x="2374460" y="553772"/>
            <a:ext cx="9130152" cy="1280890"/>
          </a:xfrm>
        </p:spPr>
        <p:txBody>
          <a:bodyPr/>
          <a:lstStyle/>
          <a:p>
            <a:pPr algn="ctr"/>
            <a:r>
              <a:rPr lang="en-US" b="1" dirty="0"/>
              <a:t>To Assign a </a:t>
            </a:r>
            <a:r>
              <a:rPr lang="en-US" b="1" dirty="0" err="1"/>
              <a:t>LayoutManager</a:t>
            </a:r>
            <a:r>
              <a:rPr lang="en-US" b="1" dirty="0"/>
              <a:t> to a </a:t>
            </a:r>
            <a:r>
              <a:rPr lang="en-US" b="1" dirty="0" err="1"/>
              <a:t>JFrame</a:t>
            </a:r>
            <a:endParaRPr lang="en-US" b="1" dirty="0"/>
          </a:p>
        </p:txBody>
      </p:sp>
      <p:sp>
        <p:nvSpPr>
          <p:cNvPr id="3" name="Content Placeholder 2">
            <a:extLst>
              <a:ext uri="{FF2B5EF4-FFF2-40B4-BE49-F238E27FC236}">
                <a16:creationId xmlns:a16="http://schemas.microsoft.com/office/drawing/2014/main" id="{A9934A64-47C1-55D9-16FB-F4DF028618BB}"/>
              </a:ext>
            </a:extLst>
          </p:cNvPr>
          <p:cNvSpPr>
            <a:spLocks noGrp="1"/>
          </p:cNvSpPr>
          <p:nvPr>
            <p:ph idx="1"/>
          </p:nvPr>
        </p:nvSpPr>
        <p:spPr>
          <a:xfrm>
            <a:off x="2210336" y="1540188"/>
            <a:ext cx="9700310" cy="5059903"/>
          </a:xfrm>
          <a:solidFill>
            <a:schemeClr val="bg1"/>
          </a:solidFill>
        </p:spPr>
        <p:txBody>
          <a:bodyPr>
            <a:noAutofit/>
          </a:bodyPr>
          <a:lstStyle/>
          <a:p>
            <a:pPr marL="0" indent="0">
              <a:buNone/>
            </a:pPr>
            <a:r>
              <a:rPr lang="en-US" sz="2400" dirty="0"/>
              <a:t>Call the </a:t>
            </a:r>
            <a:r>
              <a:rPr lang="en-US" sz="2400" dirty="0" err="1"/>
              <a:t>setLayout</a:t>
            </a:r>
            <a:r>
              <a:rPr lang="en-US" sz="2400" dirty="0"/>
              <a:t> method on the </a:t>
            </a:r>
            <a:r>
              <a:rPr lang="en-US" sz="2400" dirty="0" err="1"/>
              <a:t>Jframe</a:t>
            </a:r>
            <a:r>
              <a:rPr lang="en-US" sz="2400" dirty="0"/>
              <a:t> object and pass an anonymous object of the chosen Layout class.</a:t>
            </a:r>
          </a:p>
          <a:p>
            <a:pPr marL="457200" lvl="1" indent="0">
              <a:buNone/>
            </a:pPr>
            <a:r>
              <a:rPr lang="en-US" sz="2400" b="1" dirty="0" err="1"/>
              <a:t>frame.setLayout</a:t>
            </a:r>
            <a:r>
              <a:rPr lang="en-US" sz="2400" b="1" dirty="0"/>
              <a:t>(new </a:t>
            </a:r>
            <a:r>
              <a:rPr lang="en-US" sz="2400" b="1" dirty="0" err="1"/>
              <a:t>GridLayout</a:t>
            </a:r>
            <a:r>
              <a:rPr lang="en-US" sz="2400" b="1" dirty="0"/>
              <a:t>(1,0));</a:t>
            </a:r>
          </a:p>
          <a:p>
            <a:pPr marL="0" indent="0">
              <a:buNone/>
            </a:pPr>
            <a:r>
              <a:rPr lang="en-US" sz="2400" dirty="0"/>
              <a:t>Or, pass the anonymous layout object to the constructor of a </a:t>
            </a:r>
            <a:r>
              <a:rPr lang="en-US" sz="2400" dirty="0" err="1"/>
              <a:t>JPanel</a:t>
            </a:r>
            <a:r>
              <a:rPr lang="en-US" sz="2400" dirty="0"/>
              <a:t>.</a:t>
            </a:r>
          </a:p>
          <a:p>
            <a:pPr marL="457200" lvl="1" indent="0">
              <a:buNone/>
            </a:pPr>
            <a:r>
              <a:rPr lang="en-US" sz="2400" b="1" dirty="0" err="1"/>
              <a:t>JPanel</a:t>
            </a:r>
            <a:r>
              <a:rPr lang="en-US" sz="2400" b="1" dirty="0"/>
              <a:t> panel = new </a:t>
            </a:r>
            <a:r>
              <a:rPr lang="en-US" sz="2400" b="1" dirty="0" err="1"/>
              <a:t>JPanel</a:t>
            </a:r>
            <a:r>
              <a:rPr lang="en-US" sz="2400" b="1" dirty="0"/>
              <a:t>(new </a:t>
            </a:r>
            <a:r>
              <a:rPr lang="en-US" sz="2400" b="1" dirty="0" err="1"/>
              <a:t>GridLayout</a:t>
            </a:r>
            <a:r>
              <a:rPr lang="en-US" sz="2400" b="1" dirty="0"/>
              <a:t>(1,0));</a:t>
            </a:r>
          </a:p>
          <a:p>
            <a:pPr marL="0" indent="0">
              <a:buNone/>
            </a:pPr>
            <a:r>
              <a:rPr lang="en-US" sz="2600" dirty="0"/>
              <a:t>If there has been no layout assigned to the </a:t>
            </a:r>
            <a:r>
              <a:rPr lang="en-US" sz="2600" dirty="0" err="1"/>
              <a:t>Jframe</a:t>
            </a:r>
            <a:r>
              <a:rPr lang="en-US" sz="2600" dirty="0"/>
              <a:t>, it is by default, a </a:t>
            </a:r>
            <a:r>
              <a:rPr lang="en-US" sz="2600" dirty="0" err="1"/>
              <a:t>BorderLayout</a:t>
            </a:r>
            <a:r>
              <a:rPr lang="en-US" sz="2600" dirty="0"/>
              <a:t>.  If a layout has been assigned, the panel will be added to an appropriate location in that layout.</a:t>
            </a:r>
          </a:p>
          <a:p>
            <a:pPr marL="0" indent="0">
              <a:buNone/>
            </a:pPr>
            <a:r>
              <a:rPr lang="en-US" sz="2400" b="1" dirty="0"/>
              <a:t>For a Border Layout:  </a:t>
            </a:r>
            <a:r>
              <a:rPr lang="en-US" sz="2400" b="1" dirty="0" err="1"/>
              <a:t>frame.add</a:t>
            </a:r>
            <a:r>
              <a:rPr lang="en-US" sz="2400" b="1" dirty="0"/>
              <a:t>(panel, </a:t>
            </a:r>
            <a:r>
              <a:rPr lang="en-US" sz="2400" b="1" dirty="0" err="1"/>
              <a:t>BorderLayout.CENTER</a:t>
            </a:r>
            <a:r>
              <a:rPr lang="en-US" sz="2400" b="1" dirty="0"/>
              <a:t>);</a:t>
            </a:r>
          </a:p>
          <a:p>
            <a:pPr marL="457200" lvl="1" indent="0">
              <a:buNone/>
            </a:pPr>
            <a:endParaRPr lang="en-US" sz="2400" dirty="0"/>
          </a:p>
          <a:p>
            <a:pPr marL="0" indent="0">
              <a:buNone/>
            </a:pPr>
            <a:endParaRPr lang="en-US" sz="2400" dirty="0"/>
          </a:p>
          <a:p>
            <a:pPr marL="0" indent="0">
              <a:buNone/>
            </a:pPr>
            <a:endParaRPr lang="en-US" sz="2400" dirty="0"/>
          </a:p>
        </p:txBody>
      </p:sp>
    </p:spTree>
    <p:extLst>
      <p:ext uri="{BB962C8B-B14F-4D97-AF65-F5344CB8AC3E}">
        <p14:creationId xmlns:p14="http://schemas.microsoft.com/office/powerpoint/2010/main" val="29190440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1B308-76C2-F04B-4C7F-ADE2F0A081D0}"/>
              </a:ext>
            </a:extLst>
          </p:cNvPr>
          <p:cNvSpPr>
            <a:spLocks noGrp="1"/>
          </p:cNvSpPr>
          <p:nvPr>
            <p:ph type="title"/>
          </p:nvPr>
        </p:nvSpPr>
        <p:spPr/>
        <p:txBody>
          <a:bodyPr/>
          <a:lstStyle/>
          <a:p>
            <a:pPr algn="ctr"/>
            <a:r>
              <a:rPr lang="en-US" b="1" dirty="0" err="1"/>
              <a:t>FLowLayout</a:t>
            </a:r>
            <a:endParaRPr lang="en-US" b="1" dirty="0"/>
          </a:p>
        </p:txBody>
      </p:sp>
      <p:sp>
        <p:nvSpPr>
          <p:cNvPr id="3" name="Content Placeholder 2">
            <a:extLst>
              <a:ext uri="{FF2B5EF4-FFF2-40B4-BE49-F238E27FC236}">
                <a16:creationId xmlns:a16="http://schemas.microsoft.com/office/drawing/2014/main" id="{84BB4438-2170-858F-4882-295B9DAB2F5C}"/>
              </a:ext>
            </a:extLst>
          </p:cNvPr>
          <p:cNvSpPr>
            <a:spLocks noGrp="1"/>
          </p:cNvSpPr>
          <p:nvPr>
            <p:ph idx="1"/>
          </p:nvPr>
        </p:nvSpPr>
        <p:spPr>
          <a:xfrm>
            <a:off x="2682997" y="1905000"/>
            <a:ext cx="8915400" cy="3777622"/>
          </a:xfrm>
        </p:spPr>
        <p:txBody>
          <a:bodyPr>
            <a:noAutofit/>
          </a:bodyPr>
          <a:lstStyle/>
          <a:p>
            <a:pPr marL="0" indent="0">
              <a:buNone/>
            </a:pPr>
            <a:r>
              <a:rPr lang="en-US" sz="2400" dirty="0"/>
              <a:t>The </a:t>
            </a:r>
            <a:r>
              <a:rPr lang="en-US" sz="2400" dirty="0" err="1"/>
              <a:t>FlowLayout</a:t>
            </a:r>
            <a:r>
              <a:rPr lang="en-US" sz="2400" dirty="0"/>
              <a:t> class implements a simple one-compartment layout scheme that allows multiple components.</a:t>
            </a:r>
          </a:p>
          <a:p>
            <a:pPr marL="0" indent="0">
              <a:buNone/>
            </a:pPr>
            <a:r>
              <a:rPr lang="en-US" sz="2400" dirty="0"/>
              <a:t>When a component is added to the compartment, it is placed to the right of any components that are already there.</a:t>
            </a:r>
          </a:p>
          <a:p>
            <a:pPr marL="0" indent="0">
              <a:buNone/>
            </a:pPr>
            <a:r>
              <a:rPr lang="en-US" sz="2400" dirty="0"/>
              <a:t>If there is not enough room to add a component to the right of previously added components, then the new component is placed on the next line (i.e., it "flows" to the next line).</a:t>
            </a:r>
          </a:p>
          <a:p>
            <a:pPr marL="0" indent="0">
              <a:buNone/>
            </a:pPr>
            <a:endParaRPr lang="en-US" sz="2400" dirty="0"/>
          </a:p>
        </p:txBody>
      </p:sp>
    </p:spTree>
    <p:extLst>
      <p:ext uri="{BB962C8B-B14F-4D97-AF65-F5344CB8AC3E}">
        <p14:creationId xmlns:p14="http://schemas.microsoft.com/office/powerpoint/2010/main" val="24197607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BEFA7-3FCA-706C-8E06-D3E1567B02A1}"/>
              </a:ext>
            </a:extLst>
          </p:cNvPr>
          <p:cNvSpPr>
            <a:spLocks noGrp="1"/>
          </p:cNvSpPr>
          <p:nvPr>
            <p:ph type="title"/>
          </p:nvPr>
        </p:nvSpPr>
        <p:spPr/>
        <p:txBody>
          <a:bodyPr/>
          <a:lstStyle/>
          <a:p>
            <a:pPr algn="ctr"/>
            <a:r>
              <a:rPr lang="en-US" b="1" dirty="0" err="1"/>
              <a:t>FlowLayout</a:t>
            </a:r>
            <a:r>
              <a:rPr lang="en-US" b="1" dirty="0"/>
              <a:t> Alignment</a:t>
            </a:r>
          </a:p>
        </p:txBody>
      </p:sp>
      <p:sp>
        <p:nvSpPr>
          <p:cNvPr id="3" name="Content Placeholder 2">
            <a:extLst>
              <a:ext uri="{FF2B5EF4-FFF2-40B4-BE49-F238E27FC236}">
                <a16:creationId xmlns:a16="http://schemas.microsoft.com/office/drawing/2014/main" id="{9B730F1B-EA21-9358-DA14-C16647E3E0CB}"/>
              </a:ext>
            </a:extLst>
          </p:cNvPr>
          <p:cNvSpPr>
            <a:spLocks noGrp="1"/>
          </p:cNvSpPr>
          <p:nvPr>
            <p:ph idx="1"/>
          </p:nvPr>
        </p:nvSpPr>
        <p:spPr/>
        <p:txBody>
          <a:bodyPr>
            <a:noAutofit/>
          </a:bodyPr>
          <a:lstStyle/>
          <a:p>
            <a:pPr marL="0" indent="0">
              <a:buNone/>
            </a:pPr>
            <a:r>
              <a:rPr lang="en-US" sz="2400" dirty="0"/>
              <a:t>By default, components are placed in a </a:t>
            </a:r>
            <a:r>
              <a:rPr lang="en-US" sz="2400" dirty="0" err="1"/>
              <a:t>FlowLayout</a:t>
            </a:r>
            <a:r>
              <a:rPr lang="en-US" sz="2400" dirty="0"/>
              <a:t> container using top, center alignment.</a:t>
            </a:r>
          </a:p>
          <a:p>
            <a:pPr marL="0" indent="0">
              <a:buNone/>
            </a:pPr>
            <a:r>
              <a:rPr lang="en-US" sz="2400" dirty="0"/>
              <a:t>There's no way to change the vertical alignment. But we can change the horizontal alignment. </a:t>
            </a:r>
          </a:p>
          <a:p>
            <a:pPr marL="0" indent="0">
              <a:buNone/>
            </a:pPr>
            <a:r>
              <a:rPr lang="en-US" sz="2400" dirty="0"/>
              <a:t>Insert one of the </a:t>
            </a:r>
            <a:r>
              <a:rPr lang="en-US" sz="2400" dirty="0" err="1"/>
              <a:t>FlowLayout</a:t>
            </a:r>
            <a:r>
              <a:rPr lang="en-US" sz="2400" dirty="0"/>
              <a:t> alignment constants (</a:t>
            </a:r>
            <a:r>
              <a:rPr lang="en-US" sz="2400" dirty="0" err="1"/>
              <a:t>FlowLayout.LEFT</a:t>
            </a:r>
            <a:r>
              <a:rPr lang="en-US" sz="2400" dirty="0"/>
              <a:t>, </a:t>
            </a:r>
            <a:r>
              <a:rPr lang="en-US" sz="2400" dirty="0" err="1"/>
              <a:t>FlowLayout.CENTER</a:t>
            </a:r>
            <a:r>
              <a:rPr lang="en-US" sz="2400" dirty="0"/>
              <a:t>, </a:t>
            </a:r>
            <a:r>
              <a:rPr lang="en-US" sz="2400" dirty="0" err="1"/>
              <a:t>FlowLayout.RIGHT</a:t>
            </a:r>
            <a:r>
              <a:rPr lang="en-US" sz="2400" dirty="0"/>
              <a:t>) in the </a:t>
            </a:r>
            <a:r>
              <a:rPr lang="en-US" sz="2400" dirty="0" err="1"/>
              <a:t>FlowLayout</a:t>
            </a:r>
            <a:r>
              <a:rPr lang="en-US" sz="2400" dirty="0"/>
              <a:t> constructor call. </a:t>
            </a:r>
          </a:p>
          <a:p>
            <a:pPr marL="0" indent="0">
              <a:buNone/>
            </a:pPr>
            <a:r>
              <a:rPr lang="en-US" sz="2400" dirty="0"/>
              <a:t>For example, here's how to specify left alignment:</a:t>
            </a:r>
          </a:p>
          <a:p>
            <a:pPr marL="0" indent="0">
              <a:buNone/>
            </a:pPr>
            <a:r>
              <a:rPr lang="en-US" sz="2400" dirty="0" err="1"/>
              <a:t>setLayout</a:t>
            </a:r>
            <a:r>
              <a:rPr lang="en-US" sz="2400" dirty="0"/>
              <a:t>(new </a:t>
            </a:r>
            <a:r>
              <a:rPr lang="en-US" sz="2400" dirty="0" err="1"/>
              <a:t>FlowLayout</a:t>
            </a:r>
            <a:r>
              <a:rPr lang="en-US" sz="2400" dirty="0"/>
              <a:t>(</a:t>
            </a:r>
            <a:r>
              <a:rPr lang="en-US" sz="2400" dirty="0" err="1"/>
              <a:t>FlowLayout.LEFT</a:t>
            </a:r>
            <a:r>
              <a:rPr lang="en-US" sz="2400" dirty="0"/>
              <a:t>));</a:t>
            </a:r>
          </a:p>
          <a:p>
            <a:pPr marL="0" indent="0">
              <a:buNone/>
            </a:pPr>
            <a:endParaRPr lang="en-US" sz="2400" dirty="0"/>
          </a:p>
        </p:txBody>
      </p:sp>
    </p:spTree>
    <p:extLst>
      <p:ext uri="{BB962C8B-B14F-4D97-AF65-F5344CB8AC3E}">
        <p14:creationId xmlns:p14="http://schemas.microsoft.com/office/powerpoint/2010/main" val="17631853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EC4E8-FC5A-E305-F711-7E066D3D6254}"/>
              </a:ext>
            </a:extLst>
          </p:cNvPr>
          <p:cNvSpPr>
            <a:spLocks noGrp="1"/>
          </p:cNvSpPr>
          <p:nvPr>
            <p:ph type="title"/>
          </p:nvPr>
        </p:nvSpPr>
        <p:spPr/>
        <p:txBody>
          <a:bodyPr/>
          <a:lstStyle/>
          <a:p>
            <a:pPr algn="ctr"/>
            <a:r>
              <a:rPr lang="en-US" b="1" dirty="0" err="1"/>
              <a:t>BoxLayout</a:t>
            </a:r>
            <a:endParaRPr lang="en-US" b="1" dirty="0"/>
          </a:p>
        </p:txBody>
      </p:sp>
      <p:sp>
        <p:nvSpPr>
          <p:cNvPr id="3" name="Content Placeholder 2">
            <a:extLst>
              <a:ext uri="{FF2B5EF4-FFF2-40B4-BE49-F238E27FC236}">
                <a16:creationId xmlns:a16="http://schemas.microsoft.com/office/drawing/2014/main" id="{113503F6-21EE-F55A-51EC-9C82F3AF4CA3}"/>
              </a:ext>
            </a:extLst>
          </p:cNvPr>
          <p:cNvSpPr>
            <a:spLocks noGrp="1"/>
          </p:cNvSpPr>
          <p:nvPr>
            <p:ph idx="1"/>
          </p:nvPr>
        </p:nvSpPr>
        <p:spPr>
          <a:xfrm>
            <a:off x="1524000" y="1540189"/>
            <a:ext cx="10668000" cy="3777622"/>
          </a:xfrm>
          <a:solidFill>
            <a:schemeClr val="bg1"/>
          </a:solidFill>
        </p:spPr>
        <p:txBody>
          <a:bodyPr>
            <a:normAutofit/>
          </a:bodyPr>
          <a:lstStyle/>
          <a:p>
            <a:pPr marL="0" indent="0">
              <a:buNone/>
            </a:pPr>
            <a:r>
              <a:rPr lang="en-US" sz="2400" dirty="0"/>
              <a:t>The </a:t>
            </a:r>
            <a:r>
              <a:rPr lang="en-US" sz="2400" dirty="0" err="1"/>
              <a:t>BoxLayout</a:t>
            </a:r>
            <a:r>
              <a:rPr lang="en-US" sz="2400" dirty="0"/>
              <a:t> manager arranges components in either a single row or a single column.</a:t>
            </a:r>
          </a:p>
          <a:p>
            <a:pPr marL="0" indent="0">
              <a:buNone/>
            </a:pPr>
            <a:r>
              <a:rPr lang="en-US" sz="2400" dirty="0"/>
              <a:t>There is no wrap around, long components are cut off.</a:t>
            </a:r>
          </a:p>
          <a:p>
            <a:pPr marL="0" indent="0">
              <a:buNone/>
            </a:pPr>
            <a:r>
              <a:rPr lang="en-US" sz="2400" dirty="0"/>
              <a:t>If you call </a:t>
            </a:r>
            <a:r>
              <a:rPr lang="en-US" sz="2400" dirty="0" err="1"/>
              <a:t>setLayout</a:t>
            </a:r>
            <a:r>
              <a:rPr lang="en-US" sz="2400" dirty="0"/>
              <a:t> :  </a:t>
            </a:r>
          </a:p>
          <a:p>
            <a:pPr marL="0" indent="0">
              <a:buNone/>
            </a:pPr>
            <a:r>
              <a:rPr lang="en-US" sz="2400" b="1" dirty="0" err="1"/>
              <a:t>setLayout</a:t>
            </a:r>
            <a:r>
              <a:rPr lang="en-US" sz="2400" b="1" dirty="0"/>
              <a:t>(new </a:t>
            </a:r>
            <a:r>
              <a:rPr lang="en-US" sz="2400" b="1" dirty="0" err="1"/>
              <a:t>BoxLayout</a:t>
            </a:r>
            <a:r>
              <a:rPr lang="en-US" sz="2400" b="1" dirty="0"/>
              <a:t>(</a:t>
            </a:r>
            <a:r>
              <a:rPr lang="en-US" sz="2400" b="1" dirty="0" err="1"/>
              <a:t>getContentPane</a:t>
            </a:r>
            <a:r>
              <a:rPr lang="en-US" sz="2400" b="1" dirty="0"/>
              <a:t>(), </a:t>
            </a:r>
            <a:r>
              <a:rPr lang="en-US" sz="2400" b="1" dirty="0" err="1"/>
              <a:t>BoxLayout.orientation</a:t>
            </a:r>
            <a:r>
              <a:rPr lang="en-US" sz="2400" b="1" dirty="0"/>
              <a:t>));</a:t>
            </a:r>
          </a:p>
          <a:p>
            <a:pPr marL="0" indent="0">
              <a:buNone/>
            </a:pPr>
            <a:endParaRPr lang="en-US" sz="2400" dirty="0"/>
          </a:p>
        </p:txBody>
      </p:sp>
      <p:pic>
        <p:nvPicPr>
          <p:cNvPr id="4" name="Picture 3">
            <a:extLst>
              <a:ext uri="{FF2B5EF4-FFF2-40B4-BE49-F238E27FC236}">
                <a16:creationId xmlns:a16="http://schemas.microsoft.com/office/drawing/2014/main" id="{AEF50EBD-E588-B55E-FF08-49ADAFFB6F79}"/>
              </a:ext>
            </a:extLst>
          </p:cNvPr>
          <p:cNvPicPr>
            <a:picLocks noChangeAspect="1"/>
          </p:cNvPicPr>
          <p:nvPr/>
        </p:nvPicPr>
        <p:blipFill>
          <a:blip r:embed="rId2"/>
          <a:stretch>
            <a:fillRect/>
          </a:stretch>
        </p:blipFill>
        <p:spPr>
          <a:xfrm>
            <a:off x="1524000" y="4502937"/>
            <a:ext cx="5175953" cy="1261981"/>
          </a:xfrm>
          <a:prstGeom prst="rect">
            <a:avLst/>
          </a:prstGeom>
        </p:spPr>
      </p:pic>
      <p:pic>
        <p:nvPicPr>
          <p:cNvPr id="5" name="Picture 4">
            <a:extLst>
              <a:ext uri="{FF2B5EF4-FFF2-40B4-BE49-F238E27FC236}">
                <a16:creationId xmlns:a16="http://schemas.microsoft.com/office/drawing/2014/main" id="{ED9D5F51-F82E-D3F6-210B-635C5229314F}"/>
              </a:ext>
            </a:extLst>
          </p:cNvPr>
          <p:cNvPicPr>
            <a:picLocks noChangeAspect="1"/>
          </p:cNvPicPr>
          <p:nvPr/>
        </p:nvPicPr>
        <p:blipFill>
          <a:blip r:embed="rId3"/>
          <a:stretch>
            <a:fillRect/>
          </a:stretch>
        </p:blipFill>
        <p:spPr>
          <a:xfrm>
            <a:off x="6961179" y="4502937"/>
            <a:ext cx="5230821" cy="1237595"/>
          </a:xfrm>
          <a:prstGeom prst="rect">
            <a:avLst/>
          </a:prstGeom>
        </p:spPr>
      </p:pic>
      <p:cxnSp>
        <p:nvCxnSpPr>
          <p:cNvPr id="7" name="Straight Arrow Connector 6">
            <a:extLst>
              <a:ext uri="{FF2B5EF4-FFF2-40B4-BE49-F238E27FC236}">
                <a16:creationId xmlns:a16="http://schemas.microsoft.com/office/drawing/2014/main" id="{E47D2A38-BBD1-C9BA-601D-502BE440FDE6}"/>
              </a:ext>
            </a:extLst>
          </p:cNvPr>
          <p:cNvCxnSpPr>
            <a:cxnSpLocks/>
          </p:cNvCxnSpPr>
          <p:nvPr/>
        </p:nvCxnSpPr>
        <p:spPr>
          <a:xfrm flipV="1">
            <a:off x="4238810" y="3821723"/>
            <a:ext cx="1984023" cy="68121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2E16F852-C1DA-BDC2-1BB0-F2D2BF87014C}"/>
              </a:ext>
            </a:extLst>
          </p:cNvPr>
          <p:cNvCxnSpPr/>
          <p:nvPr/>
        </p:nvCxnSpPr>
        <p:spPr>
          <a:xfrm flipV="1">
            <a:off x="10187354" y="3821723"/>
            <a:ext cx="0" cy="68121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14093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E509E-529A-1E56-E6AF-04BFE0BCC739}"/>
              </a:ext>
            </a:extLst>
          </p:cNvPr>
          <p:cNvSpPr>
            <a:spLocks noGrp="1"/>
          </p:cNvSpPr>
          <p:nvPr>
            <p:ph type="title"/>
          </p:nvPr>
        </p:nvSpPr>
        <p:spPr/>
        <p:txBody>
          <a:bodyPr/>
          <a:lstStyle/>
          <a:p>
            <a:pPr algn="ctr"/>
            <a:r>
              <a:rPr lang="en-US" b="1" dirty="0" err="1"/>
              <a:t>BoxLayout</a:t>
            </a:r>
            <a:r>
              <a:rPr lang="en-US" b="1" dirty="0"/>
              <a:t> Manager Example</a:t>
            </a:r>
          </a:p>
        </p:txBody>
      </p:sp>
      <p:sp>
        <p:nvSpPr>
          <p:cNvPr id="3" name="Content Placeholder 2">
            <a:extLst>
              <a:ext uri="{FF2B5EF4-FFF2-40B4-BE49-F238E27FC236}">
                <a16:creationId xmlns:a16="http://schemas.microsoft.com/office/drawing/2014/main" id="{FF49D502-B088-2D7B-21F1-366724856D85}"/>
              </a:ext>
            </a:extLst>
          </p:cNvPr>
          <p:cNvSpPr>
            <a:spLocks noGrp="1"/>
          </p:cNvSpPr>
          <p:nvPr>
            <p:ph idx="1"/>
          </p:nvPr>
        </p:nvSpPr>
        <p:spPr>
          <a:xfrm>
            <a:off x="3073242" y="1887415"/>
            <a:ext cx="4159567" cy="3777622"/>
          </a:xfrm>
        </p:spPr>
        <p:txBody>
          <a:bodyPr>
            <a:normAutofit/>
          </a:bodyPr>
          <a:lstStyle/>
          <a:p>
            <a:pPr marL="0" indent="0">
              <a:buNone/>
            </a:pPr>
            <a:r>
              <a:rPr lang="en-US" sz="2400" dirty="0"/>
              <a:t>The program  creates the window at the right by using a </a:t>
            </a:r>
            <a:r>
              <a:rPr lang="en-US" sz="2400" dirty="0" err="1"/>
              <a:t>BoxLayout</a:t>
            </a:r>
            <a:r>
              <a:rPr lang="en-US" sz="2400" dirty="0"/>
              <a:t> manager and adding the </a:t>
            </a:r>
            <a:r>
              <a:rPr lang="en-US" sz="2400" dirty="0" err="1"/>
              <a:t>JLabel</a:t>
            </a:r>
            <a:r>
              <a:rPr lang="en-US" sz="2400" dirty="0"/>
              <a:t> components to it in the order that they were added to the window.</a:t>
            </a:r>
          </a:p>
          <a:p>
            <a:pPr marL="0" indent="0">
              <a:buNone/>
            </a:pPr>
            <a:endParaRPr lang="en-US" sz="2400" dirty="0"/>
          </a:p>
        </p:txBody>
      </p:sp>
      <p:pic>
        <p:nvPicPr>
          <p:cNvPr id="4" name="Picture 11">
            <a:extLst>
              <a:ext uri="{FF2B5EF4-FFF2-40B4-BE49-F238E27FC236}">
                <a16:creationId xmlns:a16="http://schemas.microsoft.com/office/drawing/2014/main" id="{921AF79E-87DD-8231-5476-2738529AB5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32712" y="1641231"/>
            <a:ext cx="37719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638188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11E9F-CBE2-05CC-2AB6-F54C7A5F9D3E}"/>
              </a:ext>
            </a:extLst>
          </p:cNvPr>
          <p:cNvSpPr>
            <a:spLocks noGrp="1"/>
          </p:cNvSpPr>
          <p:nvPr>
            <p:ph type="title"/>
          </p:nvPr>
        </p:nvSpPr>
        <p:spPr/>
        <p:txBody>
          <a:bodyPr/>
          <a:lstStyle/>
          <a:p>
            <a:pPr algn="ctr"/>
            <a:r>
              <a:rPr lang="en-US" b="1" dirty="0" err="1"/>
              <a:t>BorderLayout</a:t>
            </a:r>
            <a:r>
              <a:rPr lang="en-US" b="1" dirty="0"/>
              <a:t> Manager</a:t>
            </a:r>
          </a:p>
        </p:txBody>
      </p:sp>
      <p:sp>
        <p:nvSpPr>
          <p:cNvPr id="3" name="Content Placeholder 2">
            <a:extLst>
              <a:ext uri="{FF2B5EF4-FFF2-40B4-BE49-F238E27FC236}">
                <a16:creationId xmlns:a16="http://schemas.microsoft.com/office/drawing/2014/main" id="{93FC1029-78E3-B17B-F380-F39E33F63848}"/>
              </a:ext>
            </a:extLst>
          </p:cNvPr>
          <p:cNvSpPr>
            <a:spLocks noGrp="1"/>
          </p:cNvSpPr>
          <p:nvPr>
            <p:ph idx="1"/>
          </p:nvPr>
        </p:nvSpPr>
        <p:spPr>
          <a:xfrm>
            <a:off x="2457929" y="2237706"/>
            <a:ext cx="3509117" cy="3777622"/>
          </a:xfrm>
          <a:ln w="28575">
            <a:solidFill>
              <a:schemeClr val="tx1"/>
            </a:solidFill>
          </a:ln>
        </p:spPr>
        <p:txBody>
          <a:bodyPr/>
          <a:lstStyle/>
          <a:p>
            <a:pPr marL="0" indent="0">
              <a:buNone/>
            </a:pPr>
            <a:r>
              <a:rPr lang="en-US" dirty="0"/>
              <a:t>The </a:t>
            </a:r>
            <a:r>
              <a:rPr lang="en-US" dirty="0" err="1"/>
              <a:t>BorderLayout</a:t>
            </a:r>
            <a:r>
              <a:rPr lang="en-US" dirty="0"/>
              <a:t> manager provides five regions or compartments in which to insert components.</a:t>
            </a:r>
          </a:p>
          <a:p>
            <a:pPr marL="0" indent="0">
              <a:buNone/>
            </a:pPr>
            <a:r>
              <a:rPr lang="en-US" dirty="0"/>
              <a:t>NORTH </a:t>
            </a:r>
          </a:p>
          <a:p>
            <a:pPr marL="0" indent="0">
              <a:buNone/>
            </a:pPr>
            <a:r>
              <a:rPr lang="en-US" dirty="0"/>
              <a:t>SOUTH </a:t>
            </a:r>
          </a:p>
          <a:p>
            <a:pPr marL="0" indent="0">
              <a:buNone/>
            </a:pPr>
            <a:r>
              <a:rPr lang="en-US" dirty="0"/>
              <a:t>EAST </a:t>
            </a:r>
          </a:p>
          <a:p>
            <a:pPr marL="0" indent="0">
              <a:buNone/>
            </a:pPr>
            <a:r>
              <a:rPr lang="en-US" dirty="0"/>
              <a:t>WEST </a:t>
            </a:r>
          </a:p>
          <a:p>
            <a:pPr marL="0" indent="0">
              <a:buNone/>
            </a:pPr>
            <a:r>
              <a:rPr lang="en-US" dirty="0"/>
              <a:t>CENTER</a:t>
            </a:r>
          </a:p>
          <a:p>
            <a:pPr marL="0" indent="0">
              <a:buNone/>
            </a:pPr>
            <a:endParaRPr lang="en-US" dirty="0"/>
          </a:p>
          <a:p>
            <a:pPr marL="0" indent="0">
              <a:buNone/>
            </a:pPr>
            <a:endParaRPr lang="en-US" dirty="0"/>
          </a:p>
        </p:txBody>
      </p:sp>
      <p:pic>
        <p:nvPicPr>
          <p:cNvPr id="4" name="Picture 3">
            <a:extLst>
              <a:ext uri="{FF2B5EF4-FFF2-40B4-BE49-F238E27FC236}">
                <a16:creationId xmlns:a16="http://schemas.microsoft.com/office/drawing/2014/main" id="{B6847776-0BE5-001B-3139-D51817F73303}"/>
              </a:ext>
            </a:extLst>
          </p:cNvPr>
          <p:cNvPicPr>
            <a:picLocks noChangeAspect="1"/>
          </p:cNvPicPr>
          <p:nvPr/>
        </p:nvPicPr>
        <p:blipFill>
          <a:blip r:embed="rId2"/>
          <a:stretch>
            <a:fillRect/>
          </a:stretch>
        </p:blipFill>
        <p:spPr>
          <a:xfrm>
            <a:off x="6096000" y="1696787"/>
            <a:ext cx="5907024" cy="4651248"/>
          </a:xfrm>
          <a:prstGeom prst="rect">
            <a:avLst/>
          </a:prstGeom>
        </p:spPr>
      </p:pic>
    </p:spTree>
    <p:extLst>
      <p:ext uri="{BB962C8B-B14F-4D97-AF65-F5344CB8AC3E}">
        <p14:creationId xmlns:p14="http://schemas.microsoft.com/office/powerpoint/2010/main" val="36180861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ABA40-ED00-0DBB-A1F5-7743234291C9}"/>
              </a:ext>
            </a:extLst>
          </p:cNvPr>
          <p:cNvSpPr>
            <a:spLocks noGrp="1"/>
          </p:cNvSpPr>
          <p:nvPr>
            <p:ph type="title"/>
          </p:nvPr>
        </p:nvSpPr>
        <p:spPr/>
        <p:txBody>
          <a:bodyPr/>
          <a:lstStyle/>
          <a:p>
            <a:pPr algn="ctr"/>
            <a:r>
              <a:rPr lang="en-US" b="1" dirty="0" err="1"/>
              <a:t>BorderLayout</a:t>
            </a:r>
            <a:r>
              <a:rPr lang="en-US" b="1" dirty="0"/>
              <a:t> Constructors</a:t>
            </a:r>
          </a:p>
        </p:txBody>
      </p:sp>
      <p:sp>
        <p:nvSpPr>
          <p:cNvPr id="3" name="Content Placeholder 2">
            <a:extLst>
              <a:ext uri="{FF2B5EF4-FFF2-40B4-BE49-F238E27FC236}">
                <a16:creationId xmlns:a16="http://schemas.microsoft.com/office/drawing/2014/main" id="{090540BB-4B0E-ACB9-2E66-388F7E1A1BE7}"/>
              </a:ext>
            </a:extLst>
          </p:cNvPr>
          <p:cNvSpPr>
            <a:spLocks noGrp="1"/>
          </p:cNvSpPr>
          <p:nvPr>
            <p:ph idx="1"/>
          </p:nvPr>
        </p:nvSpPr>
        <p:spPr/>
        <p:txBody>
          <a:bodyPr>
            <a:normAutofit/>
          </a:bodyPr>
          <a:lstStyle/>
          <a:p>
            <a:pPr marL="0" indent="0">
              <a:buNone/>
            </a:pPr>
            <a:r>
              <a:rPr lang="en-US" sz="2400" dirty="0"/>
              <a:t>Here are the constructors defined by </a:t>
            </a:r>
            <a:r>
              <a:rPr lang="en-US" sz="2400" dirty="0" err="1"/>
              <a:t>BorderLayout</a:t>
            </a:r>
            <a:r>
              <a:rPr lang="en-US" sz="2400" dirty="0"/>
              <a:t>:</a:t>
            </a:r>
          </a:p>
          <a:p>
            <a:pPr marL="0" indent="0">
              <a:buNone/>
            </a:pPr>
            <a:r>
              <a:rPr lang="en-US" sz="2400" dirty="0" err="1"/>
              <a:t>BorderLayout</a:t>
            </a:r>
            <a:r>
              <a:rPr lang="en-US" sz="2400" dirty="0"/>
              <a:t>()  //default border layout.</a:t>
            </a:r>
          </a:p>
          <a:p>
            <a:pPr marL="0" indent="0">
              <a:buNone/>
            </a:pPr>
            <a:r>
              <a:rPr lang="en-US" sz="2400" dirty="0" err="1"/>
              <a:t>BorderLayout</a:t>
            </a:r>
            <a:r>
              <a:rPr lang="en-US" sz="2400" dirty="0"/>
              <a:t>(int </a:t>
            </a:r>
            <a:r>
              <a:rPr lang="en-US" sz="2400" dirty="0" err="1"/>
              <a:t>horiz</a:t>
            </a:r>
            <a:r>
              <a:rPr lang="en-US" sz="2400" dirty="0"/>
              <a:t>, int vert)  //specify the horizontal and vertical space left between components in </a:t>
            </a:r>
            <a:r>
              <a:rPr lang="en-US" sz="2400" dirty="0" err="1"/>
              <a:t>horz</a:t>
            </a:r>
            <a:r>
              <a:rPr lang="en-US" sz="2400" dirty="0"/>
              <a:t> and vert, respectively.</a:t>
            </a:r>
          </a:p>
          <a:p>
            <a:pPr marL="0" indent="0">
              <a:buNone/>
            </a:pPr>
            <a:endParaRPr lang="en-US" sz="2400" dirty="0"/>
          </a:p>
        </p:txBody>
      </p:sp>
    </p:spTree>
    <p:extLst>
      <p:ext uri="{BB962C8B-B14F-4D97-AF65-F5344CB8AC3E}">
        <p14:creationId xmlns:p14="http://schemas.microsoft.com/office/powerpoint/2010/main" val="24852409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3">
            <a:extLst>
              <a:ext uri="{FF2B5EF4-FFF2-40B4-BE49-F238E27FC236}">
                <a16:creationId xmlns:a16="http://schemas.microsoft.com/office/drawing/2014/main" id="{E4A6BDF9-8998-4C24-9683-210267D8E575}"/>
              </a:ext>
            </a:extLst>
          </p:cNvPr>
          <p:cNvSpPr>
            <a:spLocks noGrp="1" noChangeArrowheads="1"/>
          </p:cNvSpPr>
          <p:nvPr>
            <p:ph type="body" idx="1"/>
          </p:nvPr>
        </p:nvSpPr>
        <p:spPr>
          <a:xfrm>
            <a:off x="2160270" y="539752"/>
            <a:ext cx="8061960" cy="682625"/>
          </a:xfrm>
        </p:spPr>
        <p:txBody>
          <a:bodyPr>
            <a:noAutofit/>
          </a:bodyPr>
          <a:lstStyle/>
          <a:p>
            <a:pPr marL="0" indent="0" algn="ctr" eaLnBrk="1" hangingPunct="1">
              <a:buNone/>
            </a:pPr>
            <a:r>
              <a:rPr lang="en-US" altLang="en-US" sz="3600" b="1" dirty="0"/>
              <a:t>The sizes of the five regions are determined as shown below.</a:t>
            </a:r>
          </a:p>
        </p:txBody>
      </p:sp>
      <p:graphicFrame>
        <p:nvGraphicFramePr>
          <p:cNvPr id="31749" name="Object 4">
            <a:extLst>
              <a:ext uri="{FF2B5EF4-FFF2-40B4-BE49-F238E27FC236}">
                <a16:creationId xmlns:a16="http://schemas.microsoft.com/office/drawing/2014/main" id="{FAF2FCEE-6BF0-4331-B22F-9BB26537E46E}"/>
              </a:ext>
            </a:extLst>
          </p:cNvPr>
          <p:cNvGraphicFramePr>
            <a:graphicFrameLocks noChangeAspect="1"/>
          </p:cNvGraphicFramePr>
          <p:nvPr/>
        </p:nvGraphicFramePr>
        <p:xfrm>
          <a:off x="6019800" y="3886200"/>
          <a:ext cx="2952750" cy="2324100"/>
        </p:xfrm>
        <a:graphic>
          <a:graphicData uri="http://schemas.openxmlformats.org/presentationml/2006/ole">
            <mc:AlternateContent xmlns:mc="http://schemas.openxmlformats.org/markup-compatibility/2006">
              <mc:Choice xmlns:v="urn:schemas-microsoft-com:vml" Requires="v">
                <p:oleObj name="Bitmap Image" r:id="rId3" imgW="2952381" imgH="2324424" progId="Paint.Picture">
                  <p:embed/>
                </p:oleObj>
              </mc:Choice>
              <mc:Fallback>
                <p:oleObj name="Bitmap Image" r:id="rId3" imgW="2952381" imgH="2324424" progId="Paint.Picture">
                  <p:embed/>
                  <p:pic>
                    <p:nvPicPr>
                      <p:cNvPr id="31749" name="Object 4">
                        <a:extLst>
                          <a:ext uri="{FF2B5EF4-FFF2-40B4-BE49-F238E27FC236}">
                            <a16:creationId xmlns:a16="http://schemas.microsoft.com/office/drawing/2014/main" id="{FAF2FCEE-6BF0-4331-B22F-9BB26537E46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19800" y="3886200"/>
                        <a:ext cx="2952750" cy="2324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1750" name="Text Box 5">
            <a:extLst>
              <a:ext uri="{FF2B5EF4-FFF2-40B4-BE49-F238E27FC236}">
                <a16:creationId xmlns:a16="http://schemas.microsoft.com/office/drawing/2014/main" id="{A6B5D4B4-B8B7-4968-A598-430EFB964546}"/>
              </a:ext>
            </a:extLst>
          </p:cNvPr>
          <p:cNvSpPr txBox="1">
            <a:spLocks noChangeArrowheads="1"/>
          </p:cNvSpPr>
          <p:nvPr/>
        </p:nvSpPr>
        <p:spPr bwMode="auto">
          <a:xfrm>
            <a:off x="7162800" y="2514601"/>
            <a:ext cx="2971800" cy="650875"/>
          </a:xfrm>
          <a:prstGeom prst="rect">
            <a:avLst/>
          </a:prstGeom>
          <a:solidFill>
            <a:srgbClr val="CCFFCC"/>
          </a:solidFill>
          <a:ln w="9525" algn="ctr">
            <a:solidFill>
              <a:srgbClr val="0000FF"/>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r>
              <a:rPr lang="en-US" altLang="en-US" sz="1800" dirty="0"/>
              <a:t>East's contents determine this divider's position.</a:t>
            </a:r>
          </a:p>
        </p:txBody>
      </p:sp>
      <p:sp>
        <p:nvSpPr>
          <p:cNvPr id="31751" name="Text Box 6">
            <a:extLst>
              <a:ext uri="{FF2B5EF4-FFF2-40B4-BE49-F238E27FC236}">
                <a16:creationId xmlns:a16="http://schemas.microsoft.com/office/drawing/2014/main" id="{2F300707-3FFA-4A7D-957B-B87732B984D3}"/>
              </a:ext>
            </a:extLst>
          </p:cNvPr>
          <p:cNvSpPr txBox="1">
            <a:spLocks noChangeArrowheads="1"/>
          </p:cNvSpPr>
          <p:nvPr/>
        </p:nvSpPr>
        <p:spPr bwMode="auto">
          <a:xfrm>
            <a:off x="3962400" y="2514601"/>
            <a:ext cx="2971800" cy="650875"/>
          </a:xfrm>
          <a:prstGeom prst="rect">
            <a:avLst/>
          </a:prstGeom>
          <a:solidFill>
            <a:srgbClr val="CCFFCC"/>
          </a:solidFill>
          <a:ln w="9525">
            <a:solidFill>
              <a:srgbClr val="0000FF"/>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r>
              <a:rPr lang="en-US" altLang="en-US" sz="1800"/>
              <a:t>West's contents determine this divider's position.</a:t>
            </a:r>
          </a:p>
        </p:txBody>
      </p:sp>
      <p:sp>
        <p:nvSpPr>
          <p:cNvPr id="31752" name="Line 7">
            <a:extLst>
              <a:ext uri="{FF2B5EF4-FFF2-40B4-BE49-F238E27FC236}">
                <a16:creationId xmlns:a16="http://schemas.microsoft.com/office/drawing/2014/main" id="{83A5331B-2FD4-4099-BEFC-BD5F06DE3446}"/>
              </a:ext>
            </a:extLst>
          </p:cNvPr>
          <p:cNvSpPr>
            <a:spLocks noChangeShapeType="1"/>
          </p:cNvSpPr>
          <p:nvPr/>
        </p:nvSpPr>
        <p:spPr bwMode="auto">
          <a:xfrm>
            <a:off x="6534150" y="3163889"/>
            <a:ext cx="0" cy="1544637"/>
          </a:xfrm>
          <a:prstGeom prst="line">
            <a:avLst/>
          </a:prstGeom>
          <a:noFill/>
          <a:ln w="9525">
            <a:solidFill>
              <a:srgbClr val="0000FF"/>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1753" name="Line 8">
            <a:extLst>
              <a:ext uri="{FF2B5EF4-FFF2-40B4-BE49-F238E27FC236}">
                <a16:creationId xmlns:a16="http://schemas.microsoft.com/office/drawing/2014/main" id="{AFE71F73-EC01-4E39-9EC4-4950D75408EA}"/>
              </a:ext>
            </a:extLst>
          </p:cNvPr>
          <p:cNvSpPr>
            <a:spLocks noChangeShapeType="1"/>
          </p:cNvSpPr>
          <p:nvPr/>
        </p:nvSpPr>
        <p:spPr bwMode="auto">
          <a:xfrm>
            <a:off x="6534150" y="4705350"/>
            <a:ext cx="304800" cy="0"/>
          </a:xfrm>
          <a:prstGeom prst="line">
            <a:avLst/>
          </a:prstGeom>
          <a:noFill/>
          <a:ln w="9525">
            <a:solidFill>
              <a:srgbClr val="00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754" name="Line 9">
            <a:extLst>
              <a:ext uri="{FF2B5EF4-FFF2-40B4-BE49-F238E27FC236}">
                <a16:creationId xmlns:a16="http://schemas.microsoft.com/office/drawing/2014/main" id="{A9291ACD-A940-4983-8545-CCFD4BCDD723}"/>
              </a:ext>
            </a:extLst>
          </p:cNvPr>
          <p:cNvSpPr>
            <a:spLocks noChangeShapeType="1"/>
          </p:cNvSpPr>
          <p:nvPr/>
        </p:nvSpPr>
        <p:spPr bwMode="auto">
          <a:xfrm>
            <a:off x="7696200" y="3162300"/>
            <a:ext cx="0" cy="1524000"/>
          </a:xfrm>
          <a:prstGeom prst="line">
            <a:avLst/>
          </a:prstGeom>
          <a:noFill/>
          <a:ln w="9525">
            <a:solidFill>
              <a:srgbClr val="0000FF"/>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1755" name="Line 10">
            <a:extLst>
              <a:ext uri="{FF2B5EF4-FFF2-40B4-BE49-F238E27FC236}">
                <a16:creationId xmlns:a16="http://schemas.microsoft.com/office/drawing/2014/main" id="{D5BA1D59-A218-4090-88B3-2581EE99039C}"/>
              </a:ext>
            </a:extLst>
          </p:cNvPr>
          <p:cNvSpPr>
            <a:spLocks noChangeShapeType="1"/>
          </p:cNvSpPr>
          <p:nvPr/>
        </p:nvSpPr>
        <p:spPr bwMode="auto">
          <a:xfrm>
            <a:off x="7696200" y="4686300"/>
            <a:ext cx="304800" cy="0"/>
          </a:xfrm>
          <a:prstGeom prst="line">
            <a:avLst/>
          </a:prstGeom>
          <a:noFill/>
          <a:ln w="9525">
            <a:solidFill>
              <a:srgbClr val="00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756" name="Text Box 11">
            <a:extLst>
              <a:ext uri="{FF2B5EF4-FFF2-40B4-BE49-F238E27FC236}">
                <a16:creationId xmlns:a16="http://schemas.microsoft.com/office/drawing/2014/main" id="{0C10C3E7-3888-46B0-BF39-D012A2D9E866}"/>
              </a:ext>
            </a:extLst>
          </p:cNvPr>
          <p:cNvSpPr txBox="1">
            <a:spLocks noChangeArrowheads="1"/>
          </p:cNvSpPr>
          <p:nvPr/>
        </p:nvSpPr>
        <p:spPr bwMode="auto">
          <a:xfrm>
            <a:off x="2000250" y="4149726"/>
            <a:ext cx="3048000" cy="650875"/>
          </a:xfrm>
          <a:prstGeom prst="rect">
            <a:avLst/>
          </a:prstGeom>
          <a:solidFill>
            <a:srgbClr val="CCFFCC"/>
          </a:solidFill>
          <a:ln w="9525">
            <a:solidFill>
              <a:srgbClr val="0000FF"/>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r>
              <a:rPr lang="en-US" altLang="en-US" sz="1800"/>
              <a:t>North's contents determine this divider's position.</a:t>
            </a:r>
          </a:p>
        </p:txBody>
      </p:sp>
      <p:sp>
        <p:nvSpPr>
          <p:cNvPr id="31757" name="Line 12">
            <a:extLst>
              <a:ext uri="{FF2B5EF4-FFF2-40B4-BE49-F238E27FC236}">
                <a16:creationId xmlns:a16="http://schemas.microsoft.com/office/drawing/2014/main" id="{44FAB3B6-99C2-4898-9245-FC34DB2BD64A}"/>
              </a:ext>
            </a:extLst>
          </p:cNvPr>
          <p:cNvSpPr>
            <a:spLocks noChangeShapeType="1"/>
          </p:cNvSpPr>
          <p:nvPr/>
        </p:nvSpPr>
        <p:spPr bwMode="auto">
          <a:xfrm>
            <a:off x="5048250" y="4457700"/>
            <a:ext cx="1143000" cy="0"/>
          </a:xfrm>
          <a:prstGeom prst="line">
            <a:avLst/>
          </a:prstGeom>
          <a:noFill/>
          <a:ln w="9525">
            <a:solidFill>
              <a:srgbClr val="0000FF"/>
            </a:solidFill>
            <a:miter lim="800000"/>
            <a:headEnd/>
            <a:tailEnd type="triangle" w="lg" len="lg"/>
          </a:ln>
          <a:extLst>
            <a:ext uri="{909E8E84-426E-40DD-AFC4-6F175D3DCCD1}">
              <a14:hiddenFill xmlns:a14="http://schemas.microsoft.com/office/drawing/2010/main">
                <a:noFill/>
              </a14:hiddenFill>
            </a:ext>
          </a:extLst>
        </p:spPr>
        <p:txBody>
          <a:bodyPr wrap="none"/>
          <a:lstStyle/>
          <a:p>
            <a:endParaRPr lang="en-US"/>
          </a:p>
        </p:txBody>
      </p:sp>
      <p:sp>
        <p:nvSpPr>
          <p:cNvPr id="31758" name="Text Box 13">
            <a:extLst>
              <a:ext uri="{FF2B5EF4-FFF2-40B4-BE49-F238E27FC236}">
                <a16:creationId xmlns:a16="http://schemas.microsoft.com/office/drawing/2014/main" id="{ABB26881-3A9E-415A-B7E2-B8F60C119303}"/>
              </a:ext>
            </a:extLst>
          </p:cNvPr>
          <p:cNvSpPr txBox="1">
            <a:spLocks noChangeArrowheads="1"/>
          </p:cNvSpPr>
          <p:nvPr/>
        </p:nvSpPr>
        <p:spPr bwMode="auto">
          <a:xfrm>
            <a:off x="2000250" y="5257801"/>
            <a:ext cx="3048000" cy="650875"/>
          </a:xfrm>
          <a:prstGeom prst="rect">
            <a:avLst/>
          </a:prstGeom>
          <a:solidFill>
            <a:srgbClr val="CCFFCC"/>
          </a:solidFill>
          <a:ln w="9525">
            <a:solidFill>
              <a:srgbClr val="0000FF"/>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r>
              <a:rPr lang="en-US" altLang="en-US" sz="1800"/>
              <a:t>South's contents determine this divider's position.</a:t>
            </a:r>
          </a:p>
        </p:txBody>
      </p:sp>
      <p:sp>
        <p:nvSpPr>
          <p:cNvPr id="31759" name="Line 14">
            <a:extLst>
              <a:ext uri="{FF2B5EF4-FFF2-40B4-BE49-F238E27FC236}">
                <a16:creationId xmlns:a16="http://schemas.microsoft.com/office/drawing/2014/main" id="{6B849CB1-3649-41E1-A6C0-E0E3E755EBAD}"/>
              </a:ext>
            </a:extLst>
          </p:cNvPr>
          <p:cNvSpPr>
            <a:spLocks noChangeShapeType="1"/>
          </p:cNvSpPr>
          <p:nvPr/>
        </p:nvSpPr>
        <p:spPr bwMode="auto">
          <a:xfrm>
            <a:off x="5048250" y="5565775"/>
            <a:ext cx="1143000" cy="0"/>
          </a:xfrm>
          <a:prstGeom prst="line">
            <a:avLst/>
          </a:prstGeom>
          <a:noFill/>
          <a:ln w="9525">
            <a:solidFill>
              <a:srgbClr val="0000FF"/>
            </a:solidFill>
            <a:miter lim="800000"/>
            <a:headEnd/>
            <a:tailEnd type="triangle" w="lg" len="lg"/>
          </a:ln>
          <a:extLst>
            <a:ext uri="{909E8E84-426E-40DD-AFC4-6F175D3DCCD1}">
              <a14:hiddenFill xmlns:a14="http://schemas.microsoft.com/office/drawing/2010/main">
                <a:noFill/>
              </a14:hiddenFill>
            </a:ext>
          </a:extLst>
        </p:spPr>
        <p:txBody>
          <a:bodyPr wrap="none"/>
          <a:lstStyle/>
          <a:p>
            <a:endParaRPr lang="en-US"/>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2FD18-3AC0-CFC1-4E0E-2B886D719410}"/>
              </a:ext>
            </a:extLst>
          </p:cNvPr>
          <p:cNvSpPr>
            <a:spLocks noGrp="1"/>
          </p:cNvSpPr>
          <p:nvPr>
            <p:ph type="title"/>
          </p:nvPr>
        </p:nvSpPr>
        <p:spPr/>
        <p:txBody>
          <a:bodyPr/>
          <a:lstStyle/>
          <a:p>
            <a:pPr algn="ctr"/>
            <a:r>
              <a:rPr lang="en-US" b="1" dirty="0"/>
              <a:t>How the Regions Resize</a:t>
            </a:r>
          </a:p>
        </p:txBody>
      </p:sp>
      <p:sp>
        <p:nvSpPr>
          <p:cNvPr id="3" name="Content Placeholder 2">
            <a:extLst>
              <a:ext uri="{FF2B5EF4-FFF2-40B4-BE49-F238E27FC236}">
                <a16:creationId xmlns:a16="http://schemas.microsoft.com/office/drawing/2014/main" id="{71ED7836-E0B5-86A3-B00A-7CF966D7FCA4}"/>
              </a:ext>
            </a:extLst>
          </p:cNvPr>
          <p:cNvSpPr>
            <a:spLocks noGrp="1"/>
          </p:cNvSpPr>
          <p:nvPr>
            <p:ph idx="1"/>
          </p:nvPr>
        </p:nvSpPr>
        <p:spPr/>
        <p:txBody>
          <a:bodyPr>
            <a:normAutofit/>
          </a:bodyPr>
          <a:lstStyle/>
          <a:p>
            <a:pPr marL="0" indent="0">
              <a:buNone/>
            </a:pPr>
            <a:r>
              <a:rPr lang="en-US" sz="2400" dirty="0"/>
              <a:t>If an outer region (North, South, East, West) is empty, it collapses so that it does not take up any space.</a:t>
            </a:r>
          </a:p>
          <a:p>
            <a:pPr marL="0" indent="0">
              <a:buNone/>
            </a:pPr>
            <a:r>
              <a:rPr lang="en-US" sz="2400" dirty="0"/>
              <a:t>If the north region is empty the west, center and east regions expand up.</a:t>
            </a:r>
          </a:p>
          <a:p>
            <a:pPr marL="0" indent="0">
              <a:buNone/>
            </a:pPr>
            <a:r>
              <a:rPr lang="en-US" sz="2400" dirty="0"/>
              <a:t>If the east and south regions are both empty the center region expands right and then the center and west regions expand down.</a:t>
            </a:r>
          </a:p>
          <a:p>
            <a:pPr marL="0" indent="0">
              <a:buNone/>
            </a:pPr>
            <a:r>
              <a:rPr lang="en-US" sz="2400" dirty="0"/>
              <a:t>If the center region is empty nothing happens, because the center region doesn’t control any of the dividing lines. </a:t>
            </a:r>
          </a:p>
          <a:p>
            <a:pPr marL="0" indent="0">
              <a:buNone/>
            </a:pPr>
            <a:endParaRPr lang="en-US" sz="2400" dirty="0"/>
          </a:p>
          <a:p>
            <a:pPr marL="0" indent="0">
              <a:buNone/>
            </a:pPr>
            <a:endParaRPr lang="en-US" sz="2400" dirty="0"/>
          </a:p>
          <a:p>
            <a:pPr marL="0" indent="0">
              <a:buNone/>
            </a:pPr>
            <a:endParaRPr lang="en-US" sz="2400" dirty="0"/>
          </a:p>
        </p:txBody>
      </p:sp>
    </p:spTree>
    <p:extLst>
      <p:ext uri="{BB962C8B-B14F-4D97-AF65-F5344CB8AC3E}">
        <p14:creationId xmlns:p14="http://schemas.microsoft.com/office/powerpoint/2010/main" val="21224942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911EC-738D-BA17-EE92-F037689D4CA5}"/>
              </a:ext>
            </a:extLst>
          </p:cNvPr>
          <p:cNvSpPr>
            <a:spLocks noGrp="1"/>
          </p:cNvSpPr>
          <p:nvPr>
            <p:ph type="title"/>
          </p:nvPr>
        </p:nvSpPr>
        <p:spPr/>
        <p:txBody>
          <a:bodyPr/>
          <a:lstStyle/>
          <a:p>
            <a:pPr algn="ctr"/>
            <a:r>
              <a:rPr lang="en-US" b="1" dirty="0"/>
              <a:t>Using Insets</a:t>
            </a:r>
          </a:p>
        </p:txBody>
      </p:sp>
      <p:sp>
        <p:nvSpPr>
          <p:cNvPr id="3" name="Content Placeholder 2">
            <a:extLst>
              <a:ext uri="{FF2B5EF4-FFF2-40B4-BE49-F238E27FC236}">
                <a16:creationId xmlns:a16="http://schemas.microsoft.com/office/drawing/2014/main" id="{013F806B-E68D-458E-1B6C-CB42FDB552A8}"/>
              </a:ext>
            </a:extLst>
          </p:cNvPr>
          <p:cNvSpPr>
            <a:spLocks noGrp="1"/>
          </p:cNvSpPr>
          <p:nvPr>
            <p:ph idx="1"/>
          </p:nvPr>
        </p:nvSpPr>
        <p:spPr>
          <a:xfrm>
            <a:off x="2589212" y="1638299"/>
            <a:ext cx="8915400" cy="4981575"/>
          </a:xfrm>
        </p:spPr>
        <p:txBody>
          <a:bodyPr/>
          <a:lstStyle/>
          <a:p>
            <a:pPr marL="0" indent="0">
              <a:buNone/>
            </a:pPr>
            <a:r>
              <a:rPr lang="en-US" dirty="0"/>
              <a:t>Sometimes you will want to leave a small amount of space between the container that holds your components and the window that contains it. To do this, override the </a:t>
            </a:r>
            <a:r>
              <a:rPr lang="en-US" dirty="0" err="1"/>
              <a:t>getInsets</a:t>
            </a:r>
            <a:r>
              <a:rPr lang="en-US" dirty="0"/>
              <a:t>( ) method that is defined by Container. This method returns an Insets object that contains the top, bottom, left, and right inset to be used when the container is displayed. These values are used by the layout manager to inset the components when it lays out the window. </a:t>
            </a:r>
          </a:p>
          <a:p>
            <a:pPr marL="0" indent="0">
              <a:buNone/>
            </a:pPr>
            <a:r>
              <a:rPr lang="en-US" dirty="0"/>
              <a:t>The constructor for Insets: Insets(int top, int left, int bottom, int right)</a:t>
            </a:r>
          </a:p>
          <a:p>
            <a:pPr marL="0" indent="0">
              <a:buNone/>
            </a:pPr>
            <a:r>
              <a:rPr lang="en-US" dirty="0"/>
              <a:t>Override </a:t>
            </a:r>
            <a:r>
              <a:rPr lang="en-US" dirty="0" err="1"/>
              <a:t>getInsets</a:t>
            </a:r>
            <a:r>
              <a:rPr lang="en-US" dirty="0"/>
              <a:t> method to add inset values:</a:t>
            </a:r>
          </a:p>
          <a:p>
            <a:pPr marL="0" indent="0">
              <a:buNone/>
            </a:pPr>
            <a:r>
              <a:rPr lang="en-US" dirty="0"/>
              <a:t>public static </a:t>
            </a:r>
            <a:r>
              <a:rPr lang="en-US" dirty="0" err="1"/>
              <a:t>getInsets</a:t>
            </a:r>
            <a:r>
              <a:rPr lang="en-US" dirty="0"/>
              <a:t>(){</a:t>
            </a:r>
          </a:p>
          <a:p>
            <a:pPr marL="0" indent="0">
              <a:buNone/>
            </a:pPr>
            <a:r>
              <a:rPr lang="en-US" dirty="0"/>
              <a:t>	return Insets(40, 20, 10, 20);</a:t>
            </a:r>
          </a:p>
          <a:p>
            <a:pPr marL="0" indent="0">
              <a:buNone/>
            </a:pPr>
            <a:r>
              <a:rPr lang="en-US" dirty="0"/>
              <a:t>}</a:t>
            </a:r>
          </a:p>
          <a:p>
            <a:pPr marL="0" indent="0">
              <a:buNone/>
            </a:pPr>
            <a:endParaRPr lang="en-US" dirty="0"/>
          </a:p>
          <a:p>
            <a:pPr marL="0" indent="0">
              <a:buNone/>
            </a:pPr>
            <a:r>
              <a:rPr lang="en-US" dirty="0"/>
              <a:t>Example shows cyan-colored insets -&gt;</a:t>
            </a:r>
          </a:p>
          <a:p>
            <a:pPr marL="0" indent="0">
              <a:buNone/>
            </a:pPr>
            <a:endParaRPr lang="en-US" dirty="0"/>
          </a:p>
        </p:txBody>
      </p:sp>
      <p:pic>
        <p:nvPicPr>
          <p:cNvPr id="5" name="Picture 4">
            <a:extLst>
              <a:ext uri="{FF2B5EF4-FFF2-40B4-BE49-F238E27FC236}">
                <a16:creationId xmlns:a16="http://schemas.microsoft.com/office/drawing/2014/main" id="{EE344FFF-E2E6-DD26-004E-A001E14ED8CA}"/>
              </a:ext>
            </a:extLst>
          </p:cNvPr>
          <p:cNvPicPr>
            <a:picLocks noChangeAspect="1"/>
          </p:cNvPicPr>
          <p:nvPr/>
        </p:nvPicPr>
        <p:blipFill>
          <a:blip r:embed="rId2"/>
          <a:stretch>
            <a:fillRect/>
          </a:stretch>
        </p:blipFill>
        <p:spPr>
          <a:xfrm>
            <a:off x="7475117" y="4400239"/>
            <a:ext cx="3010320" cy="2219635"/>
          </a:xfrm>
          <a:prstGeom prst="rect">
            <a:avLst/>
          </a:prstGeom>
        </p:spPr>
      </p:pic>
    </p:spTree>
    <p:extLst>
      <p:ext uri="{BB962C8B-B14F-4D97-AF65-F5344CB8AC3E}">
        <p14:creationId xmlns:p14="http://schemas.microsoft.com/office/powerpoint/2010/main" val="10945914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964B3-242C-4C15-AC93-196E4A2EB4CE}"/>
              </a:ext>
            </a:extLst>
          </p:cNvPr>
          <p:cNvSpPr>
            <a:spLocks noGrp="1"/>
          </p:cNvSpPr>
          <p:nvPr>
            <p:ph type="title"/>
          </p:nvPr>
        </p:nvSpPr>
        <p:spPr>
          <a:xfrm>
            <a:off x="1858107" y="413287"/>
            <a:ext cx="9636370" cy="871291"/>
          </a:xfrm>
        </p:spPr>
        <p:txBody>
          <a:bodyPr/>
          <a:lstStyle/>
          <a:p>
            <a:pPr algn="ctr"/>
            <a:r>
              <a:rPr lang="en-US" b="1" dirty="0"/>
              <a:t>Additional Constants for the Border Layout</a:t>
            </a:r>
          </a:p>
        </p:txBody>
      </p:sp>
      <p:sp>
        <p:nvSpPr>
          <p:cNvPr id="3" name="Content Placeholder 2">
            <a:extLst>
              <a:ext uri="{FF2B5EF4-FFF2-40B4-BE49-F238E27FC236}">
                <a16:creationId xmlns:a16="http://schemas.microsoft.com/office/drawing/2014/main" id="{8515B29A-B2C3-4FD0-93E5-5DE172AFF58F}"/>
              </a:ext>
            </a:extLst>
          </p:cNvPr>
          <p:cNvSpPr>
            <a:spLocks noGrp="1"/>
          </p:cNvSpPr>
          <p:nvPr>
            <p:ph idx="1"/>
          </p:nvPr>
        </p:nvSpPr>
        <p:spPr>
          <a:xfrm>
            <a:off x="1248507" y="1444307"/>
            <a:ext cx="10515600" cy="4814326"/>
          </a:xfrm>
          <a:solidFill>
            <a:schemeClr val="bg1"/>
          </a:solidFill>
          <a:ln>
            <a:solidFill>
              <a:schemeClr val="tx1"/>
            </a:solidFill>
          </a:ln>
        </p:spPr>
        <p:txBody>
          <a:bodyPr>
            <a:normAutofit/>
          </a:bodyPr>
          <a:lstStyle/>
          <a:p>
            <a:pPr marL="0" indent="0">
              <a:buNone/>
            </a:pPr>
            <a:r>
              <a:rPr lang="en-US" b="1" dirty="0"/>
              <a:t>static String AFTER_LAST_LINE</a:t>
            </a:r>
            <a:r>
              <a:rPr lang="en-US" dirty="0"/>
              <a:t> − Synonym for PAGE_END.</a:t>
            </a:r>
          </a:p>
          <a:p>
            <a:pPr marL="0" indent="0">
              <a:buNone/>
            </a:pPr>
            <a:r>
              <a:rPr lang="en-US" b="1" dirty="0"/>
              <a:t>static String AFTER_LINE_ENDS</a:t>
            </a:r>
            <a:r>
              <a:rPr lang="en-US" dirty="0"/>
              <a:t> − Synonym for LINE_END.</a:t>
            </a:r>
          </a:p>
          <a:p>
            <a:pPr marL="0" indent="0">
              <a:buNone/>
            </a:pPr>
            <a:r>
              <a:rPr lang="en-US" b="1" dirty="0"/>
              <a:t>static String BEFORE_FIRST_LINE</a:t>
            </a:r>
            <a:r>
              <a:rPr lang="en-US" dirty="0"/>
              <a:t> − Synonym for PAGE_START.</a:t>
            </a:r>
          </a:p>
          <a:p>
            <a:pPr marL="0" indent="0">
              <a:buNone/>
            </a:pPr>
            <a:r>
              <a:rPr lang="en-US" b="1" dirty="0"/>
              <a:t>static String BEFORE_LINE_BEGINS</a:t>
            </a:r>
            <a:r>
              <a:rPr lang="en-US" dirty="0"/>
              <a:t> − Synonym for LINE_START.</a:t>
            </a:r>
          </a:p>
          <a:p>
            <a:pPr marL="0" indent="0">
              <a:buNone/>
            </a:pPr>
            <a:endParaRPr lang="en-US" dirty="0"/>
          </a:p>
          <a:p>
            <a:pPr marL="0" indent="0">
              <a:buNone/>
            </a:pPr>
            <a:r>
              <a:rPr lang="en-US" b="1" dirty="0"/>
              <a:t>static String LINE_END</a:t>
            </a:r>
            <a:r>
              <a:rPr lang="en-US" dirty="0"/>
              <a:t> − The component goes at the end of the line direction for the layout.</a:t>
            </a:r>
          </a:p>
          <a:p>
            <a:pPr marL="0" indent="0">
              <a:buNone/>
            </a:pPr>
            <a:r>
              <a:rPr lang="en-US" b="1" dirty="0"/>
              <a:t>static String LINE_START</a:t>
            </a:r>
            <a:r>
              <a:rPr lang="en-US" dirty="0"/>
              <a:t> − The component goes at the beginning of the line direction for the layout.</a:t>
            </a:r>
          </a:p>
          <a:p>
            <a:pPr marL="0" indent="0">
              <a:buNone/>
            </a:pPr>
            <a:r>
              <a:rPr lang="en-US" b="1" dirty="0"/>
              <a:t>static String PAGE_END</a:t>
            </a:r>
            <a:r>
              <a:rPr lang="en-US" dirty="0"/>
              <a:t> − The component comes after the last line of the layout's content.</a:t>
            </a:r>
          </a:p>
          <a:p>
            <a:pPr marL="0" indent="0">
              <a:buNone/>
            </a:pPr>
            <a:r>
              <a:rPr lang="en-US" b="1" dirty="0"/>
              <a:t>static String PAGE_START</a:t>
            </a:r>
            <a:r>
              <a:rPr lang="en-US" dirty="0"/>
              <a:t> − The component comes before the first line of the layout's content.</a:t>
            </a:r>
          </a:p>
          <a:p>
            <a:pPr marL="0" indent="0">
              <a:buNone/>
            </a:pPr>
            <a:endParaRPr lang="en-US" dirty="0"/>
          </a:p>
        </p:txBody>
      </p:sp>
    </p:spTree>
    <p:extLst>
      <p:ext uri="{BB962C8B-B14F-4D97-AF65-F5344CB8AC3E}">
        <p14:creationId xmlns:p14="http://schemas.microsoft.com/office/powerpoint/2010/main" val="23644185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921FA-FE21-9052-61AC-9BD06401CD71}"/>
              </a:ext>
            </a:extLst>
          </p:cNvPr>
          <p:cNvSpPr>
            <a:spLocks noGrp="1"/>
          </p:cNvSpPr>
          <p:nvPr>
            <p:ph type="title"/>
          </p:nvPr>
        </p:nvSpPr>
        <p:spPr>
          <a:xfrm>
            <a:off x="2104829" y="577218"/>
            <a:ext cx="9665140" cy="1280890"/>
          </a:xfrm>
        </p:spPr>
        <p:txBody>
          <a:bodyPr/>
          <a:lstStyle/>
          <a:p>
            <a:pPr algn="ctr"/>
            <a:r>
              <a:rPr lang="en-US" b="1" dirty="0"/>
              <a:t>Adding Multiple Components to a Region</a:t>
            </a:r>
          </a:p>
        </p:txBody>
      </p:sp>
      <p:sp>
        <p:nvSpPr>
          <p:cNvPr id="3" name="Content Placeholder 2">
            <a:extLst>
              <a:ext uri="{FF2B5EF4-FFF2-40B4-BE49-F238E27FC236}">
                <a16:creationId xmlns:a16="http://schemas.microsoft.com/office/drawing/2014/main" id="{6EE6EEC5-801A-1B6A-4FCD-930BAA3D3871}"/>
              </a:ext>
            </a:extLst>
          </p:cNvPr>
          <p:cNvSpPr>
            <a:spLocks noGrp="1"/>
          </p:cNvSpPr>
          <p:nvPr>
            <p:ph idx="1"/>
          </p:nvPr>
        </p:nvSpPr>
        <p:spPr/>
        <p:txBody>
          <a:bodyPr>
            <a:normAutofit/>
          </a:bodyPr>
          <a:lstStyle/>
          <a:p>
            <a:pPr marL="0" indent="0">
              <a:buNone/>
            </a:pPr>
            <a:r>
              <a:rPr lang="en-US" sz="2400" dirty="0"/>
              <a:t>With a </a:t>
            </a:r>
            <a:r>
              <a:rPr lang="en-US" sz="2400" dirty="0" err="1"/>
              <a:t>BorderLayout</a:t>
            </a:r>
            <a:r>
              <a:rPr lang="en-US" sz="2400" dirty="0"/>
              <a:t> container, you can add only five components total, one for each of the five regions. </a:t>
            </a:r>
          </a:p>
          <a:p>
            <a:pPr marL="0" indent="0">
              <a:buNone/>
            </a:pPr>
            <a:r>
              <a:rPr lang="en-US" sz="2400" dirty="0"/>
              <a:t>If you add a component to a region that already has a component, then the new component overlays the old component.</a:t>
            </a:r>
          </a:p>
          <a:p>
            <a:pPr marL="0" indent="0">
              <a:buNone/>
            </a:pPr>
            <a:r>
              <a:rPr lang="en-US" sz="2400" dirty="0"/>
              <a:t>To add multiple components to a region in the </a:t>
            </a:r>
            <a:r>
              <a:rPr lang="en-US" sz="2400" dirty="0" err="1"/>
              <a:t>BorderLayout</a:t>
            </a:r>
            <a:r>
              <a:rPr lang="en-US" sz="2400" dirty="0"/>
              <a:t>, first create a </a:t>
            </a:r>
            <a:r>
              <a:rPr lang="en-US" sz="2400" dirty="0" err="1"/>
              <a:t>JPanel</a:t>
            </a:r>
            <a:r>
              <a:rPr lang="en-US" sz="2400" dirty="0"/>
              <a:t> or other container, and add the components to the </a:t>
            </a:r>
            <a:r>
              <a:rPr lang="en-US" sz="2400" dirty="0" err="1"/>
              <a:t>JPanel</a:t>
            </a:r>
            <a:r>
              <a:rPr lang="en-US" sz="2400" dirty="0"/>
              <a:t>.  </a:t>
            </a:r>
          </a:p>
          <a:p>
            <a:pPr marL="0" indent="0">
              <a:buNone/>
            </a:pPr>
            <a:r>
              <a:rPr lang="en-US" sz="2400" dirty="0"/>
              <a:t>Then add the </a:t>
            </a:r>
            <a:r>
              <a:rPr lang="en-US" sz="2400" dirty="0" err="1"/>
              <a:t>JPanel</a:t>
            </a:r>
            <a:r>
              <a:rPr lang="en-US" sz="2400" dirty="0"/>
              <a:t> to the </a:t>
            </a:r>
            <a:r>
              <a:rPr lang="en-US" sz="2400" dirty="0" err="1"/>
              <a:t>BorderLayout</a:t>
            </a:r>
            <a:r>
              <a:rPr lang="en-US" sz="2400" dirty="0"/>
              <a:t> region.</a:t>
            </a:r>
          </a:p>
          <a:p>
            <a:pPr marL="0" indent="0">
              <a:buNone/>
            </a:pPr>
            <a:endParaRPr lang="en-US" sz="2400" dirty="0"/>
          </a:p>
          <a:p>
            <a:pPr marL="0" indent="0">
              <a:buNone/>
            </a:pPr>
            <a:endParaRPr lang="en-US" sz="2400" dirty="0"/>
          </a:p>
        </p:txBody>
      </p:sp>
    </p:spTree>
    <p:extLst>
      <p:ext uri="{BB962C8B-B14F-4D97-AF65-F5344CB8AC3E}">
        <p14:creationId xmlns:p14="http://schemas.microsoft.com/office/powerpoint/2010/main" val="8671209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AFB6D-DFF9-EBE6-F311-783912CC790D}"/>
              </a:ext>
            </a:extLst>
          </p:cNvPr>
          <p:cNvSpPr>
            <a:spLocks noGrp="1"/>
          </p:cNvSpPr>
          <p:nvPr>
            <p:ph type="title"/>
          </p:nvPr>
        </p:nvSpPr>
        <p:spPr/>
        <p:txBody>
          <a:bodyPr/>
          <a:lstStyle/>
          <a:p>
            <a:pPr algn="ctr"/>
            <a:r>
              <a:rPr lang="en-US" b="1" dirty="0"/>
              <a:t>Label Alignment</a:t>
            </a:r>
          </a:p>
        </p:txBody>
      </p:sp>
      <p:sp>
        <p:nvSpPr>
          <p:cNvPr id="3" name="Content Placeholder 2">
            <a:extLst>
              <a:ext uri="{FF2B5EF4-FFF2-40B4-BE49-F238E27FC236}">
                <a16:creationId xmlns:a16="http://schemas.microsoft.com/office/drawing/2014/main" id="{D946C679-A916-0C8D-C65D-21E698401560}"/>
              </a:ext>
            </a:extLst>
          </p:cNvPr>
          <p:cNvSpPr>
            <a:spLocks noGrp="1"/>
          </p:cNvSpPr>
          <p:nvPr>
            <p:ph idx="1"/>
          </p:nvPr>
        </p:nvSpPr>
        <p:spPr>
          <a:xfrm>
            <a:off x="2592925" y="1264555"/>
            <a:ext cx="8915400" cy="3777622"/>
          </a:xfrm>
        </p:spPr>
        <p:txBody>
          <a:bodyPr>
            <a:noAutofit/>
          </a:bodyPr>
          <a:lstStyle/>
          <a:p>
            <a:pPr marL="0" indent="0">
              <a:buNone/>
            </a:pPr>
            <a:r>
              <a:rPr lang="en-US" sz="2400" dirty="0"/>
              <a:t>To specify a label's alignment within a </a:t>
            </a:r>
            <a:r>
              <a:rPr lang="en-US" sz="2400" dirty="0" err="1"/>
              <a:t>BorderLayout</a:t>
            </a:r>
            <a:r>
              <a:rPr lang="en-US" sz="2400" dirty="0"/>
              <a:t> region, instantiate the label with an alignment constant like this:</a:t>
            </a:r>
          </a:p>
          <a:p>
            <a:pPr marL="0" indent="0">
              <a:buNone/>
            </a:pPr>
            <a:r>
              <a:rPr lang="en-US" sz="2400" dirty="0"/>
              <a:t>	new </a:t>
            </a:r>
            <a:r>
              <a:rPr lang="en-US" sz="2400" dirty="0" err="1"/>
              <a:t>JLabel</a:t>
            </a:r>
            <a:r>
              <a:rPr lang="en-US" sz="2400" dirty="0"/>
              <a:t>(&lt;label's-text&gt;, &lt;alignment-constant&gt;)</a:t>
            </a:r>
          </a:p>
          <a:p>
            <a:pPr marL="0" indent="0">
              <a:buNone/>
            </a:pPr>
            <a:r>
              <a:rPr lang="en-US" sz="2400" dirty="0"/>
              <a:t>Replace &lt;alignment-constant&gt; by one of these named constants:</a:t>
            </a:r>
          </a:p>
          <a:p>
            <a:pPr marL="0" indent="0">
              <a:buNone/>
            </a:pPr>
            <a:r>
              <a:rPr lang="en-US" sz="2400" dirty="0"/>
              <a:t>	</a:t>
            </a:r>
            <a:r>
              <a:rPr lang="en-US" sz="2400" dirty="0" err="1"/>
              <a:t>SwingConstants.LEFT</a:t>
            </a:r>
            <a:r>
              <a:rPr lang="en-US" sz="2400" dirty="0"/>
              <a:t>, </a:t>
            </a:r>
          </a:p>
          <a:p>
            <a:pPr marL="0" indent="0">
              <a:buNone/>
            </a:pPr>
            <a:r>
              <a:rPr lang="en-US" sz="2400" dirty="0"/>
              <a:t>	</a:t>
            </a:r>
            <a:r>
              <a:rPr lang="en-US" sz="2400" dirty="0" err="1"/>
              <a:t>SwingConstants.CENTER</a:t>
            </a:r>
            <a:r>
              <a:rPr lang="en-US" sz="2400" dirty="0"/>
              <a:t>, </a:t>
            </a:r>
          </a:p>
          <a:p>
            <a:pPr marL="0" indent="0">
              <a:buNone/>
            </a:pPr>
            <a:r>
              <a:rPr lang="en-US" sz="2400" dirty="0"/>
              <a:t>	</a:t>
            </a:r>
            <a:r>
              <a:rPr lang="en-US" sz="2400" dirty="0" err="1"/>
              <a:t>SwingConstants.RIGHT</a:t>
            </a:r>
            <a:endParaRPr lang="en-US" sz="2400" dirty="0"/>
          </a:p>
          <a:p>
            <a:pPr marL="0" indent="0">
              <a:buNone/>
            </a:pPr>
            <a:r>
              <a:rPr lang="en-US" sz="2400" dirty="0"/>
              <a:t>Here's an example that adds a center-aligned label to a </a:t>
            </a:r>
            <a:r>
              <a:rPr lang="en-US" sz="2400" dirty="0" err="1"/>
              <a:t>BorderLayout</a:t>
            </a:r>
            <a:r>
              <a:rPr lang="en-US" sz="2400" dirty="0"/>
              <a:t> north region:</a:t>
            </a:r>
          </a:p>
          <a:p>
            <a:pPr marL="0" indent="0">
              <a:buNone/>
            </a:pPr>
            <a:r>
              <a:rPr lang="en-US" sz="2400" b="1" dirty="0"/>
              <a:t>	add(new </a:t>
            </a:r>
            <a:r>
              <a:rPr lang="en-US" sz="2400" b="1" dirty="0" err="1"/>
              <a:t>JLabel</a:t>
            </a:r>
            <a:r>
              <a:rPr lang="en-US" sz="2400" b="1" dirty="0"/>
              <a:t>("Tunisia", </a:t>
            </a:r>
            <a:r>
              <a:rPr lang="en-US" sz="2400" b="1" dirty="0" err="1"/>
              <a:t>SwingConstants.CENTER</a:t>
            </a:r>
            <a:r>
              <a:rPr lang="en-US" sz="2400" b="1" dirty="0"/>
              <a:t>),</a:t>
            </a:r>
          </a:p>
          <a:p>
            <a:pPr marL="0" indent="0">
              <a:buNone/>
            </a:pPr>
            <a:r>
              <a:rPr lang="en-US" sz="2400" b="1" dirty="0"/>
              <a:t>	</a:t>
            </a:r>
            <a:r>
              <a:rPr lang="en-US" sz="2400" b="1" dirty="0" err="1"/>
              <a:t>BorderLayout.NORTH</a:t>
            </a:r>
            <a:r>
              <a:rPr lang="en-US" sz="2400" b="1" dirty="0"/>
              <a:t>);</a:t>
            </a:r>
          </a:p>
          <a:p>
            <a:pPr marL="0" indent="0">
              <a:buNone/>
            </a:pPr>
            <a:endParaRPr lang="en-US" sz="2400" dirty="0"/>
          </a:p>
        </p:txBody>
      </p:sp>
    </p:spTree>
    <p:extLst>
      <p:ext uri="{BB962C8B-B14F-4D97-AF65-F5344CB8AC3E}">
        <p14:creationId xmlns:p14="http://schemas.microsoft.com/office/powerpoint/2010/main" val="9494241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D94CC-3D3B-CB8A-C065-5E275B5EABE3}"/>
              </a:ext>
            </a:extLst>
          </p:cNvPr>
          <p:cNvSpPr>
            <a:spLocks noGrp="1"/>
          </p:cNvSpPr>
          <p:nvPr>
            <p:ph type="title"/>
          </p:nvPr>
        </p:nvSpPr>
        <p:spPr/>
        <p:txBody>
          <a:bodyPr/>
          <a:lstStyle/>
          <a:p>
            <a:pPr algn="ctr"/>
            <a:r>
              <a:rPr lang="en-US" b="1" dirty="0"/>
              <a:t>Swing Constants</a:t>
            </a:r>
          </a:p>
        </p:txBody>
      </p:sp>
      <p:sp>
        <p:nvSpPr>
          <p:cNvPr id="3" name="Content Placeholder 2">
            <a:extLst>
              <a:ext uri="{FF2B5EF4-FFF2-40B4-BE49-F238E27FC236}">
                <a16:creationId xmlns:a16="http://schemas.microsoft.com/office/drawing/2014/main" id="{8E7EF77B-91AF-3CAE-30C9-41480B087075}"/>
              </a:ext>
            </a:extLst>
          </p:cNvPr>
          <p:cNvSpPr>
            <a:spLocks noGrp="1"/>
          </p:cNvSpPr>
          <p:nvPr>
            <p:ph idx="1"/>
          </p:nvPr>
        </p:nvSpPr>
        <p:spPr/>
        <p:txBody>
          <a:bodyPr>
            <a:normAutofit/>
          </a:bodyPr>
          <a:lstStyle/>
          <a:p>
            <a:pPr marL="0" indent="0">
              <a:buNone/>
            </a:pPr>
            <a:r>
              <a:rPr lang="en-US" sz="2400" dirty="0" err="1"/>
              <a:t>SwingConstants</a:t>
            </a:r>
            <a:r>
              <a:rPr lang="en-US" sz="2400" dirty="0"/>
              <a:t> is an interface, defined in the </a:t>
            </a:r>
            <a:r>
              <a:rPr lang="en-US" sz="2400" dirty="0" err="1"/>
              <a:t>javax.swing</a:t>
            </a:r>
            <a:r>
              <a:rPr lang="en-US" sz="2400" dirty="0"/>
              <a:t> package.</a:t>
            </a:r>
          </a:p>
          <a:p>
            <a:pPr marL="0" indent="0">
              <a:buNone/>
            </a:pPr>
            <a:r>
              <a:rPr lang="en-US" sz="2400" dirty="0" err="1"/>
              <a:t>SwingConstants</a:t>
            </a:r>
            <a:r>
              <a:rPr lang="en-US" sz="2400" dirty="0"/>
              <a:t> stores a set of GUI-related constants that are commonly used by many different GUI programs.</a:t>
            </a:r>
          </a:p>
          <a:p>
            <a:pPr marL="0" indent="0">
              <a:buNone/>
            </a:pPr>
            <a:r>
              <a:rPr lang="en-US" sz="2400" dirty="0"/>
              <a:t>To access a named constant in an interface, prefix it with the interface name. </a:t>
            </a:r>
          </a:p>
          <a:p>
            <a:pPr marL="0" indent="0">
              <a:buNone/>
            </a:pPr>
            <a:r>
              <a:rPr lang="en-US" sz="2400" dirty="0"/>
              <a:t>For example, to access the LEFT alignment constant, prefix LEFT with </a:t>
            </a:r>
            <a:r>
              <a:rPr lang="en-US" sz="2400" dirty="0" err="1"/>
              <a:t>SwingConstants</a:t>
            </a:r>
            <a:r>
              <a:rPr lang="en-US" sz="2400" dirty="0"/>
              <a:t> like this: </a:t>
            </a:r>
            <a:r>
              <a:rPr lang="en-US" sz="2400" b="1" dirty="0" err="1"/>
              <a:t>SwingConstants.LEFT</a:t>
            </a:r>
            <a:r>
              <a:rPr lang="en-US" sz="2400" b="1" dirty="0"/>
              <a:t>.</a:t>
            </a:r>
          </a:p>
          <a:p>
            <a:pPr marL="0" indent="0">
              <a:buNone/>
            </a:pPr>
            <a:endParaRPr lang="en-US" sz="2400" dirty="0"/>
          </a:p>
        </p:txBody>
      </p:sp>
    </p:spTree>
    <p:extLst>
      <p:ext uri="{BB962C8B-B14F-4D97-AF65-F5344CB8AC3E}">
        <p14:creationId xmlns:p14="http://schemas.microsoft.com/office/powerpoint/2010/main" val="18862424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7F9E5-36F3-E4D4-953E-B4FC23B06495}"/>
              </a:ext>
            </a:extLst>
          </p:cNvPr>
          <p:cNvSpPr>
            <a:spLocks noGrp="1"/>
          </p:cNvSpPr>
          <p:nvPr>
            <p:ph type="title"/>
          </p:nvPr>
        </p:nvSpPr>
        <p:spPr/>
        <p:txBody>
          <a:bodyPr/>
          <a:lstStyle/>
          <a:p>
            <a:pPr algn="ctr"/>
            <a:r>
              <a:rPr lang="en-US" b="1" dirty="0"/>
              <a:t>The </a:t>
            </a:r>
            <a:r>
              <a:rPr lang="en-US" b="1" dirty="0" err="1"/>
              <a:t>GridLayout</a:t>
            </a:r>
            <a:r>
              <a:rPr lang="en-US" b="1" dirty="0"/>
              <a:t> Manager</a:t>
            </a:r>
          </a:p>
        </p:txBody>
      </p:sp>
      <p:sp>
        <p:nvSpPr>
          <p:cNvPr id="3" name="Content Placeholder 2">
            <a:extLst>
              <a:ext uri="{FF2B5EF4-FFF2-40B4-BE49-F238E27FC236}">
                <a16:creationId xmlns:a16="http://schemas.microsoft.com/office/drawing/2014/main" id="{7AE74E7E-6C3F-D3BD-2EB9-41A667857D24}"/>
              </a:ext>
            </a:extLst>
          </p:cNvPr>
          <p:cNvSpPr>
            <a:spLocks noGrp="1"/>
          </p:cNvSpPr>
          <p:nvPr>
            <p:ph idx="1"/>
          </p:nvPr>
        </p:nvSpPr>
        <p:spPr>
          <a:xfrm>
            <a:off x="2592925" y="1540189"/>
            <a:ext cx="8915400" cy="3777622"/>
          </a:xfrm>
        </p:spPr>
        <p:txBody>
          <a:bodyPr>
            <a:normAutofit/>
          </a:bodyPr>
          <a:lstStyle/>
          <a:p>
            <a:pPr marL="0" indent="0">
              <a:buNone/>
            </a:pPr>
            <a:r>
              <a:rPr lang="en-US" sz="2000" dirty="0"/>
              <a:t>A container's components are laid out in a rectangular grid. The grid is divided into equal-sized cells. Each cell can hold only one component.</a:t>
            </a:r>
          </a:p>
          <a:p>
            <a:pPr marL="0" indent="0">
              <a:buNone/>
            </a:pPr>
            <a:r>
              <a:rPr lang="en-US" sz="2000" dirty="0"/>
              <a:t>To specify the use of a </a:t>
            </a:r>
            <a:r>
              <a:rPr lang="en-US" sz="2000" dirty="0" err="1"/>
              <a:t>GridLayout</a:t>
            </a:r>
            <a:r>
              <a:rPr lang="en-US" sz="2000" dirty="0"/>
              <a:t> manager for a container, call </a:t>
            </a:r>
            <a:r>
              <a:rPr lang="en-US" sz="2000" dirty="0" err="1"/>
              <a:t>setLayout</a:t>
            </a:r>
            <a:r>
              <a:rPr lang="en-US" sz="2000" dirty="0"/>
              <a:t> like this:</a:t>
            </a:r>
          </a:p>
          <a:p>
            <a:pPr marL="0" indent="0">
              <a:buNone/>
            </a:pPr>
            <a:r>
              <a:rPr lang="en-US" sz="2000" b="1" dirty="0" err="1"/>
              <a:t>setLayout</a:t>
            </a:r>
            <a:r>
              <a:rPr lang="en-US" sz="2000" b="1" dirty="0"/>
              <a:t>(new </a:t>
            </a:r>
            <a:r>
              <a:rPr lang="en-US" sz="2000" b="1" dirty="0" err="1"/>
              <a:t>GridLayout</a:t>
            </a:r>
            <a:r>
              <a:rPr lang="en-US" sz="2000" b="1" dirty="0"/>
              <a:t>(rows, cols, </a:t>
            </a:r>
            <a:r>
              <a:rPr lang="en-US" sz="2000" b="1" dirty="0" err="1"/>
              <a:t>hGap</a:t>
            </a:r>
            <a:r>
              <a:rPr lang="en-US" sz="2000" b="1" dirty="0"/>
              <a:t>, </a:t>
            </a:r>
            <a:r>
              <a:rPr lang="en-US" sz="2000" b="1" dirty="0" err="1"/>
              <a:t>vGap</a:t>
            </a:r>
            <a:r>
              <a:rPr lang="en-US" sz="2000" b="1" dirty="0"/>
              <a:t>));</a:t>
            </a:r>
          </a:p>
          <a:p>
            <a:pPr marL="0" indent="0">
              <a:buNone/>
            </a:pPr>
            <a:endParaRPr lang="en-US" sz="2000" dirty="0"/>
          </a:p>
        </p:txBody>
      </p:sp>
      <p:pic>
        <p:nvPicPr>
          <p:cNvPr id="4" name="Picture 3">
            <a:extLst>
              <a:ext uri="{FF2B5EF4-FFF2-40B4-BE49-F238E27FC236}">
                <a16:creationId xmlns:a16="http://schemas.microsoft.com/office/drawing/2014/main" id="{E8E09655-8462-8342-753B-146B4A8F9FDC}"/>
              </a:ext>
            </a:extLst>
          </p:cNvPr>
          <p:cNvPicPr>
            <a:picLocks noChangeAspect="1"/>
          </p:cNvPicPr>
          <p:nvPr/>
        </p:nvPicPr>
        <p:blipFill>
          <a:blip r:embed="rId2"/>
          <a:stretch>
            <a:fillRect/>
          </a:stretch>
        </p:blipFill>
        <p:spPr>
          <a:xfrm>
            <a:off x="8325434" y="4588341"/>
            <a:ext cx="2932430" cy="676715"/>
          </a:xfrm>
          <a:prstGeom prst="rect">
            <a:avLst/>
          </a:prstGeom>
        </p:spPr>
      </p:pic>
      <p:pic>
        <p:nvPicPr>
          <p:cNvPr id="5" name="Picture 4">
            <a:extLst>
              <a:ext uri="{FF2B5EF4-FFF2-40B4-BE49-F238E27FC236}">
                <a16:creationId xmlns:a16="http://schemas.microsoft.com/office/drawing/2014/main" id="{0EB7FD07-23EE-C777-D3F2-F33572840EAE}"/>
              </a:ext>
            </a:extLst>
          </p:cNvPr>
          <p:cNvPicPr>
            <a:picLocks noChangeAspect="1"/>
          </p:cNvPicPr>
          <p:nvPr/>
        </p:nvPicPr>
        <p:blipFill>
          <a:blip r:embed="rId3"/>
          <a:stretch>
            <a:fillRect/>
          </a:stretch>
        </p:blipFill>
        <p:spPr>
          <a:xfrm>
            <a:off x="4752476" y="3787004"/>
            <a:ext cx="1182727" cy="432854"/>
          </a:xfrm>
          <a:prstGeom prst="rect">
            <a:avLst/>
          </a:prstGeom>
        </p:spPr>
      </p:pic>
      <p:pic>
        <p:nvPicPr>
          <p:cNvPr id="8" name="Picture 7">
            <a:extLst>
              <a:ext uri="{FF2B5EF4-FFF2-40B4-BE49-F238E27FC236}">
                <a16:creationId xmlns:a16="http://schemas.microsoft.com/office/drawing/2014/main" id="{BF1FF753-77C4-2707-0B6C-A6E819C23002}"/>
              </a:ext>
            </a:extLst>
          </p:cNvPr>
          <p:cNvPicPr>
            <a:picLocks noChangeAspect="1"/>
          </p:cNvPicPr>
          <p:nvPr/>
        </p:nvPicPr>
        <p:blipFill>
          <a:blip r:embed="rId4"/>
          <a:stretch>
            <a:fillRect/>
          </a:stretch>
        </p:blipFill>
        <p:spPr>
          <a:xfrm>
            <a:off x="6354485" y="3787004"/>
            <a:ext cx="1566808" cy="432854"/>
          </a:xfrm>
          <a:prstGeom prst="rect">
            <a:avLst/>
          </a:prstGeom>
        </p:spPr>
      </p:pic>
      <p:pic>
        <p:nvPicPr>
          <p:cNvPr id="9" name="Picture 8">
            <a:extLst>
              <a:ext uri="{FF2B5EF4-FFF2-40B4-BE49-F238E27FC236}">
                <a16:creationId xmlns:a16="http://schemas.microsoft.com/office/drawing/2014/main" id="{E8ACEE66-AEDB-1B08-DAA9-6BD8B9BC7A6D}"/>
              </a:ext>
            </a:extLst>
          </p:cNvPr>
          <p:cNvPicPr>
            <a:picLocks noChangeAspect="1"/>
          </p:cNvPicPr>
          <p:nvPr/>
        </p:nvPicPr>
        <p:blipFill>
          <a:blip r:embed="rId5"/>
          <a:stretch>
            <a:fillRect/>
          </a:stretch>
        </p:blipFill>
        <p:spPr>
          <a:xfrm>
            <a:off x="9523302" y="3413026"/>
            <a:ext cx="2176461" cy="920576"/>
          </a:xfrm>
          <a:prstGeom prst="rect">
            <a:avLst/>
          </a:prstGeom>
        </p:spPr>
      </p:pic>
      <p:cxnSp>
        <p:nvCxnSpPr>
          <p:cNvPr id="11" name="Straight Arrow Connector 10">
            <a:extLst>
              <a:ext uri="{FF2B5EF4-FFF2-40B4-BE49-F238E27FC236}">
                <a16:creationId xmlns:a16="http://schemas.microsoft.com/office/drawing/2014/main" id="{F791D919-483D-5548-98C0-65F82D228F21}"/>
              </a:ext>
            </a:extLst>
          </p:cNvPr>
          <p:cNvCxnSpPr/>
          <p:nvPr/>
        </p:nvCxnSpPr>
        <p:spPr>
          <a:xfrm flipV="1">
            <a:off x="5322277" y="3294185"/>
            <a:ext cx="840770" cy="4928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0F81AD64-B8D3-291A-06B8-E2500984CCEF}"/>
              </a:ext>
            </a:extLst>
          </p:cNvPr>
          <p:cNvCxnSpPr/>
          <p:nvPr/>
        </p:nvCxnSpPr>
        <p:spPr>
          <a:xfrm flipH="1" flipV="1">
            <a:off x="6928338" y="3364996"/>
            <a:ext cx="209551" cy="4220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8121D462-0C96-D464-E04F-23276281A46C}"/>
              </a:ext>
            </a:extLst>
          </p:cNvPr>
          <p:cNvCxnSpPr>
            <a:stCxn id="9" idx="1"/>
          </p:cNvCxnSpPr>
          <p:nvPr/>
        </p:nvCxnSpPr>
        <p:spPr>
          <a:xfrm flipH="1" flipV="1">
            <a:off x="8617522" y="3400401"/>
            <a:ext cx="905780" cy="4729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26479AA3-3DD8-6F2F-E360-FFC7C864F812}"/>
              </a:ext>
            </a:extLst>
          </p:cNvPr>
          <p:cNvCxnSpPr/>
          <p:nvPr/>
        </p:nvCxnSpPr>
        <p:spPr>
          <a:xfrm flipH="1" flipV="1">
            <a:off x="7860105" y="3360271"/>
            <a:ext cx="1166664" cy="12280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93120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06C37-F5DE-BBB0-CC98-E4D21D062F55}"/>
              </a:ext>
            </a:extLst>
          </p:cNvPr>
          <p:cNvSpPr>
            <a:spLocks noGrp="1"/>
          </p:cNvSpPr>
          <p:nvPr>
            <p:ph type="title"/>
          </p:nvPr>
        </p:nvSpPr>
        <p:spPr/>
        <p:txBody>
          <a:bodyPr/>
          <a:lstStyle/>
          <a:p>
            <a:pPr algn="ctr"/>
            <a:r>
              <a:rPr lang="en-US" b="1" dirty="0"/>
              <a:t>Adding Components</a:t>
            </a:r>
          </a:p>
        </p:txBody>
      </p:sp>
      <p:sp>
        <p:nvSpPr>
          <p:cNvPr id="3" name="Content Placeholder 2">
            <a:extLst>
              <a:ext uri="{FF2B5EF4-FFF2-40B4-BE49-F238E27FC236}">
                <a16:creationId xmlns:a16="http://schemas.microsoft.com/office/drawing/2014/main" id="{845E7D80-A469-0DB0-DE2C-58B77F403525}"/>
              </a:ext>
            </a:extLst>
          </p:cNvPr>
          <p:cNvSpPr>
            <a:spLocks noGrp="1"/>
          </p:cNvSpPr>
          <p:nvPr>
            <p:ph idx="1"/>
          </p:nvPr>
        </p:nvSpPr>
        <p:spPr>
          <a:xfrm>
            <a:off x="2718166" y="1441938"/>
            <a:ext cx="8915400" cy="3777622"/>
          </a:xfrm>
        </p:spPr>
        <p:txBody>
          <a:bodyPr>
            <a:normAutofit/>
          </a:bodyPr>
          <a:lstStyle/>
          <a:p>
            <a:pPr marL="0" indent="0">
              <a:buNone/>
            </a:pPr>
            <a:r>
              <a:rPr lang="en-US" sz="2400" dirty="0"/>
              <a:t>Call the add method like this:   	</a:t>
            </a:r>
            <a:r>
              <a:rPr lang="en-US" sz="2400" b="1" dirty="0"/>
              <a:t>add(&lt;component&gt;);</a:t>
            </a:r>
          </a:p>
          <a:p>
            <a:pPr marL="0" indent="0">
              <a:buNone/>
            </a:pPr>
            <a:r>
              <a:rPr lang="en-US" sz="2400" dirty="0"/>
              <a:t>The </a:t>
            </a:r>
            <a:r>
              <a:rPr lang="en-US" sz="2400" dirty="0" err="1"/>
              <a:t>GridLayout</a:t>
            </a:r>
            <a:r>
              <a:rPr lang="en-US" sz="2400" dirty="0"/>
              <a:t> manager positions components within the container using left-to-right, top-to-bottom order.</a:t>
            </a:r>
          </a:p>
          <a:p>
            <a:pPr marL="0" indent="0">
              <a:buNone/>
            </a:pPr>
            <a:r>
              <a:rPr lang="en-US" sz="2400" dirty="0"/>
              <a:t>The first added component goes in the top-left-corner cell, the next added component goes in the cell to the right of the first component, etc.</a:t>
            </a:r>
          </a:p>
          <a:p>
            <a:pPr marL="0" indent="0">
              <a:buNone/>
            </a:pPr>
            <a:endParaRPr lang="en-US" sz="2400" dirty="0"/>
          </a:p>
        </p:txBody>
      </p:sp>
    </p:spTree>
    <p:extLst>
      <p:ext uri="{BB962C8B-B14F-4D97-AF65-F5344CB8AC3E}">
        <p14:creationId xmlns:p14="http://schemas.microsoft.com/office/powerpoint/2010/main" val="40197794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3">
            <a:extLst>
              <a:ext uri="{FF2B5EF4-FFF2-40B4-BE49-F238E27FC236}">
                <a16:creationId xmlns:a16="http://schemas.microsoft.com/office/drawing/2014/main" id="{093B6F46-22FF-4EF2-8F47-127DC40EE581}"/>
              </a:ext>
            </a:extLst>
          </p:cNvPr>
          <p:cNvSpPr>
            <a:spLocks noGrp="1" noChangeArrowheads="1"/>
          </p:cNvSpPr>
          <p:nvPr>
            <p:ph type="body" sz="half" idx="1"/>
          </p:nvPr>
        </p:nvSpPr>
        <p:spPr>
          <a:xfrm>
            <a:off x="2847242" y="985642"/>
            <a:ext cx="7848600" cy="3319658"/>
          </a:xfrm>
          <a:solidFill>
            <a:schemeClr val="accent4">
              <a:lumMod val="20000"/>
              <a:lumOff val="80000"/>
            </a:schemeClr>
          </a:solidFill>
        </p:spPr>
        <p:txBody>
          <a:bodyPr>
            <a:noAutofit/>
          </a:bodyPr>
          <a:lstStyle/>
          <a:p>
            <a:pPr marL="0" indent="0" eaLnBrk="1" hangingPunct="1">
              <a:buNone/>
            </a:pPr>
            <a:r>
              <a:rPr lang="en-US" altLang="en-US" sz="2400" dirty="0"/>
              <a:t>Create a two-row, three-column table with six buttons:</a:t>
            </a:r>
          </a:p>
          <a:p>
            <a:pPr lvl="1" eaLnBrk="1" hangingPunct="1">
              <a:buFont typeface="Wingdings" panose="05000000000000000000" pitchFamily="2" charset="2"/>
              <a:buNone/>
            </a:pPr>
            <a:r>
              <a:rPr lang="en-US" altLang="en-US" dirty="0" err="1">
                <a:latin typeface="Courier New" panose="02070309020205020404" pitchFamily="49" charset="0"/>
              </a:rPr>
              <a:t>setLayout</a:t>
            </a:r>
            <a:r>
              <a:rPr lang="en-US" altLang="en-US" dirty="0">
                <a:latin typeface="Courier New" panose="02070309020205020404" pitchFamily="49" charset="0"/>
              </a:rPr>
              <a:t>(new </a:t>
            </a:r>
            <a:r>
              <a:rPr lang="en-US" altLang="en-US" dirty="0" err="1">
                <a:latin typeface="Courier New" panose="02070309020205020404" pitchFamily="49" charset="0"/>
              </a:rPr>
              <a:t>GridLayout</a:t>
            </a:r>
            <a:r>
              <a:rPr lang="en-US" altLang="en-US" dirty="0">
                <a:latin typeface="Courier New" panose="02070309020205020404" pitchFamily="49" charset="0"/>
              </a:rPr>
              <a:t>(2, 3, 5, 5));</a:t>
            </a:r>
          </a:p>
          <a:p>
            <a:pPr lvl="1" eaLnBrk="1" hangingPunct="1">
              <a:buFont typeface="Wingdings" panose="05000000000000000000" pitchFamily="2" charset="2"/>
              <a:buNone/>
            </a:pPr>
            <a:r>
              <a:rPr lang="en-US" altLang="en-US" dirty="0">
                <a:latin typeface="Courier New" panose="02070309020205020404" pitchFamily="49" charset="0"/>
              </a:rPr>
              <a:t>add(new </a:t>
            </a:r>
            <a:r>
              <a:rPr lang="en-US" altLang="en-US" dirty="0" err="1">
                <a:latin typeface="Courier New" panose="02070309020205020404" pitchFamily="49" charset="0"/>
              </a:rPr>
              <a:t>JButton</a:t>
            </a:r>
            <a:r>
              <a:rPr lang="en-US" altLang="en-US" dirty="0">
                <a:latin typeface="Courier New" panose="02070309020205020404" pitchFamily="49" charset="0"/>
              </a:rPr>
              <a:t>("1"));</a:t>
            </a:r>
          </a:p>
          <a:p>
            <a:pPr lvl="1" eaLnBrk="1" hangingPunct="1">
              <a:buFont typeface="Wingdings" panose="05000000000000000000" pitchFamily="2" charset="2"/>
              <a:buNone/>
            </a:pPr>
            <a:r>
              <a:rPr lang="en-US" altLang="en-US" dirty="0">
                <a:latin typeface="Courier New" panose="02070309020205020404" pitchFamily="49" charset="0"/>
              </a:rPr>
              <a:t>add(new </a:t>
            </a:r>
            <a:r>
              <a:rPr lang="en-US" altLang="en-US" dirty="0" err="1">
                <a:latin typeface="Courier New" panose="02070309020205020404" pitchFamily="49" charset="0"/>
              </a:rPr>
              <a:t>JButton</a:t>
            </a:r>
            <a:r>
              <a:rPr lang="en-US" altLang="en-US" dirty="0">
                <a:latin typeface="Courier New" panose="02070309020205020404" pitchFamily="49" charset="0"/>
              </a:rPr>
              <a:t>("2"));</a:t>
            </a:r>
          </a:p>
          <a:p>
            <a:pPr lvl="1" eaLnBrk="1" hangingPunct="1">
              <a:buFont typeface="Wingdings" panose="05000000000000000000" pitchFamily="2" charset="2"/>
              <a:buNone/>
            </a:pPr>
            <a:r>
              <a:rPr lang="en-US" altLang="en-US" dirty="0">
                <a:latin typeface="Courier New" panose="02070309020205020404" pitchFamily="49" charset="0"/>
              </a:rPr>
              <a:t>add(new </a:t>
            </a:r>
            <a:r>
              <a:rPr lang="en-US" altLang="en-US" dirty="0" err="1">
                <a:latin typeface="Courier New" panose="02070309020205020404" pitchFamily="49" charset="0"/>
              </a:rPr>
              <a:t>JButton</a:t>
            </a:r>
            <a:r>
              <a:rPr lang="en-US" altLang="en-US" dirty="0">
                <a:latin typeface="Courier New" panose="02070309020205020404" pitchFamily="49" charset="0"/>
              </a:rPr>
              <a:t>("3"));</a:t>
            </a:r>
          </a:p>
          <a:p>
            <a:pPr lvl="1" eaLnBrk="1" hangingPunct="1">
              <a:buFont typeface="Wingdings" panose="05000000000000000000" pitchFamily="2" charset="2"/>
              <a:buNone/>
            </a:pPr>
            <a:r>
              <a:rPr lang="en-US" altLang="en-US" dirty="0">
                <a:latin typeface="Courier New" panose="02070309020205020404" pitchFamily="49" charset="0"/>
              </a:rPr>
              <a:t>add(new </a:t>
            </a:r>
            <a:r>
              <a:rPr lang="en-US" altLang="en-US" dirty="0" err="1">
                <a:latin typeface="Courier New" panose="02070309020205020404" pitchFamily="49" charset="0"/>
              </a:rPr>
              <a:t>JButton</a:t>
            </a:r>
            <a:r>
              <a:rPr lang="en-US" altLang="en-US" dirty="0">
                <a:latin typeface="Courier New" panose="02070309020205020404" pitchFamily="49" charset="0"/>
              </a:rPr>
              <a:t>("4"));</a:t>
            </a:r>
          </a:p>
          <a:p>
            <a:pPr lvl="1" eaLnBrk="1" hangingPunct="1">
              <a:buFont typeface="Wingdings" panose="05000000000000000000" pitchFamily="2" charset="2"/>
              <a:buNone/>
            </a:pPr>
            <a:r>
              <a:rPr lang="en-US" altLang="en-US" dirty="0">
                <a:latin typeface="Courier New" panose="02070309020205020404" pitchFamily="49" charset="0"/>
              </a:rPr>
              <a:t>add(new </a:t>
            </a:r>
            <a:r>
              <a:rPr lang="en-US" altLang="en-US" dirty="0" err="1">
                <a:latin typeface="Courier New" panose="02070309020205020404" pitchFamily="49" charset="0"/>
              </a:rPr>
              <a:t>JButton</a:t>
            </a:r>
            <a:r>
              <a:rPr lang="en-US" altLang="en-US" dirty="0">
                <a:latin typeface="Courier New" panose="02070309020205020404" pitchFamily="49" charset="0"/>
              </a:rPr>
              <a:t>("5"));</a:t>
            </a:r>
          </a:p>
          <a:p>
            <a:pPr lvl="1" eaLnBrk="1" hangingPunct="1">
              <a:buFont typeface="Wingdings" panose="05000000000000000000" pitchFamily="2" charset="2"/>
              <a:buNone/>
            </a:pPr>
            <a:r>
              <a:rPr lang="en-US" altLang="en-US" dirty="0">
                <a:latin typeface="Courier New" panose="02070309020205020404" pitchFamily="49" charset="0"/>
              </a:rPr>
              <a:t>add(new </a:t>
            </a:r>
            <a:r>
              <a:rPr lang="en-US" altLang="en-US" dirty="0" err="1">
                <a:latin typeface="Courier New" panose="02070309020205020404" pitchFamily="49" charset="0"/>
              </a:rPr>
              <a:t>JButton</a:t>
            </a:r>
            <a:r>
              <a:rPr lang="en-US" altLang="en-US" dirty="0">
                <a:latin typeface="Courier New" panose="02070309020205020404" pitchFamily="49" charset="0"/>
              </a:rPr>
              <a:t>("6"));</a:t>
            </a:r>
          </a:p>
        </p:txBody>
      </p:sp>
      <p:pic>
        <p:nvPicPr>
          <p:cNvPr id="27656" name="Picture 9">
            <a:extLst>
              <a:ext uri="{FF2B5EF4-FFF2-40B4-BE49-F238E27FC236}">
                <a16:creationId xmlns:a16="http://schemas.microsoft.com/office/drawing/2014/main" id="{6B79C36B-2F36-417C-9D47-1612558C9D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9400" y="4495800"/>
            <a:ext cx="2971800" cy="148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7" name="Text Box 6">
            <a:extLst>
              <a:ext uri="{FF2B5EF4-FFF2-40B4-BE49-F238E27FC236}">
                <a16:creationId xmlns:a16="http://schemas.microsoft.com/office/drawing/2014/main" id="{93AF20D7-FD46-4938-B353-9F3DB8A61EDA}"/>
              </a:ext>
            </a:extLst>
          </p:cNvPr>
          <p:cNvSpPr txBox="1">
            <a:spLocks noChangeArrowheads="1"/>
          </p:cNvSpPr>
          <p:nvPr/>
        </p:nvSpPr>
        <p:spPr bwMode="auto">
          <a:xfrm>
            <a:off x="6705600" y="5205414"/>
            <a:ext cx="2286000" cy="338137"/>
          </a:xfrm>
          <a:prstGeom prst="rect">
            <a:avLst/>
          </a:prstGeom>
          <a:solidFill>
            <a:srgbClr val="CCFFCC"/>
          </a:solidFill>
          <a:ln w="9525">
            <a:solidFill>
              <a:srgbClr val="0000FF"/>
            </a:solidFill>
            <a:miter lim="800000"/>
            <a:headEnd/>
            <a:tailEnd/>
          </a:ln>
        </p:spPr>
        <p:txBody>
          <a:bodyPr>
            <a:spAutoFit/>
          </a:bodyPr>
          <a:lstStyle>
            <a:lvl1pPr eaLnBrk="0" hangingPunct="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600" dirty="0"/>
              <a:t>vertical gap = 5 pixels</a:t>
            </a:r>
          </a:p>
        </p:txBody>
      </p:sp>
      <p:sp>
        <p:nvSpPr>
          <p:cNvPr id="27658" name="Text Box 6">
            <a:extLst>
              <a:ext uri="{FF2B5EF4-FFF2-40B4-BE49-F238E27FC236}">
                <a16:creationId xmlns:a16="http://schemas.microsoft.com/office/drawing/2014/main" id="{E984AC40-AE72-450D-BF87-14B9811F9F4A}"/>
              </a:ext>
            </a:extLst>
          </p:cNvPr>
          <p:cNvSpPr txBox="1">
            <a:spLocks noChangeArrowheads="1"/>
          </p:cNvSpPr>
          <p:nvPr/>
        </p:nvSpPr>
        <p:spPr bwMode="auto">
          <a:xfrm>
            <a:off x="6667500" y="6253164"/>
            <a:ext cx="2514600" cy="338137"/>
          </a:xfrm>
          <a:prstGeom prst="rect">
            <a:avLst/>
          </a:prstGeom>
          <a:solidFill>
            <a:srgbClr val="CCFFCC"/>
          </a:solidFill>
          <a:ln w="9525">
            <a:solidFill>
              <a:srgbClr val="0000FF"/>
            </a:solidFill>
            <a:miter lim="800000"/>
            <a:headEnd/>
            <a:tailEnd/>
          </a:ln>
        </p:spPr>
        <p:txBody>
          <a:bodyPr>
            <a:spAutoFit/>
          </a:bodyPr>
          <a:lstStyle>
            <a:lvl1pPr eaLnBrk="0" hangingPunct="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600" dirty="0"/>
              <a:t>horizontal gap = 5 pixels</a:t>
            </a:r>
          </a:p>
        </p:txBody>
      </p:sp>
      <p:cxnSp>
        <p:nvCxnSpPr>
          <p:cNvPr id="27659" name="Straight Connector 12">
            <a:extLst>
              <a:ext uri="{FF2B5EF4-FFF2-40B4-BE49-F238E27FC236}">
                <a16:creationId xmlns:a16="http://schemas.microsoft.com/office/drawing/2014/main" id="{C25F61C1-BC80-4A63-9C5D-702D1C3274AD}"/>
              </a:ext>
            </a:extLst>
          </p:cNvPr>
          <p:cNvCxnSpPr>
            <a:cxnSpLocks noChangeShapeType="1"/>
          </p:cNvCxnSpPr>
          <p:nvPr/>
        </p:nvCxnSpPr>
        <p:spPr bwMode="auto">
          <a:xfrm rot="5400000">
            <a:off x="3699670" y="6111082"/>
            <a:ext cx="182562" cy="3175"/>
          </a:xfrm>
          <a:prstGeom prst="line">
            <a:avLst/>
          </a:prstGeom>
          <a:noFill/>
          <a:ln w="95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27660" name="Straight Connector 13">
            <a:extLst>
              <a:ext uri="{FF2B5EF4-FFF2-40B4-BE49-F238E27FC236}">
                <a16:creationId xmlns:a16="http://schemas.microsoft.com/office/drawing/2014/main" id="{1B66158E-2F62-482E-A302-B064EB959A31}"/>
              </a:ext>
            </a:extLst>
          </p:cNvPr>
          <p:cNvCxnSpPr>
            <a:cxnSpLocks noChangeShapeType="1"/>
          </p:cNvCxnSpPr>
          <p:nvPr/>
        </p:nvCxnSpPr>
        <p:spPr bwMode="auto">
          <a:xfrm rot="5400000">
            <a:off x="3776663" y="6110288"/>
            <a:ext cx="182563" cy="1588"/>
          </a:xfrm>
          <a:prstGeom prst="line">
            <a:avLst/>
          </a:prstGeom>
          <a:noFill/>
          <a:ln w="95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27661" name="Straight Arrow Connector 15">
            <a:extLst>
              <a:ext uri="{FF2B5EF4-FFF2-40B4-BE49-F238E27FC236}">
                <a16:creationId xmlns:a16="http://schemas.microsoft.com/office/drawing/2014/main" id="{D954613E-DDCB-4E39-B540-BA07705DA50A}"/>
              </a:ext>
            </a:extLst>
          </p:cNvPr>
          <p:cNvCxnSpPr>
            <a:cxnSpLocks noChangeShapeType="1"/>
          </p:cNvCxnSpPr>
          <p:nvPr/>
        </p:nvCxnSpPr>
        <p:spPr bwMode="auto">
          <a:xfrm>
            <a:off x="3562350" y="6115050"/>
            <a:ext cx="228600" cy="1588"/>
          </a:xfrm>
          <a:prstGeom prst="straightConnector1">
            <a:avLst/>
          </a:prstGeom>
          <a:noFill/>
          <a:ln w="9525" algn="ctr">
            <a:solidFill>
              <a:schemeClr val="tx1"/>
            </a:solidFill>
            <a:miter lim="800000"/>
            <a:headEnd/>
            <a:tailEnd type="triangle" w="sm" len="med"/>
          </a:ln>
          <a:extLst>
            <a:ext uri="{909E8E84-426E-40DD-AFC4-6F175D3DCCD1}">
              <a14:hiddenFill xmlns:a14="http://schemas.microsoft.com/office/drawing/2010/main">
                <a:noFill/>
              </a14:hiddenFill>
            </a:ext>
          </a:extLst>
        </p:spPr>
      </p:cxnSp>
      <p:cxnSp>
        <p:nvCxnSpPr>
          <p:cNvPr id="27662" name="Straight Arrow Connector 16">
            <a:extLst>
              <a:ext uri="{FF2B5EF4-FFF2-40B4-BE49-F238E27FC236}">
                <a16:creationId xmlns:a16="http://schemas.microsoft.com/office/drawing/2014/main" id="{BCA3E0A2-FC03-4B2B-95BF-6ED4436ECFE3}"/>
              </a:ext>
            </a:extLst>
          </p:cNvPr>
          <p:cNvCxnSpPr>
            <a:cxnSpLocks noChangeShapeType="1"/>
          </p:cNvCxnSpPr>
          <p:nvPr/>
        </p:nvCxnSpPr>
        <p:spPr bwMode="auto">
          <a:xfrm>
            <a:off x="3867150" y="6115050"/>
            <a:ext cx="228600" cy="1588"/>
          </a:xfrm>
          <a:prstGeom prst="straightConnector1">
            <a:avLst/>
          </a:prstGeom>
          <a:noFill/>
          <a:ln w="9525" algn="ctr">
            <a:solidFill>
              <a:schemeClr val="tx1"/>
            </a:solidFill>
            <a:miter lim="800000"/>
            <a:headEnd type="triangle" w="sm" len="med"/>
            <a:tailEnd type="none" w="sm" len="med"/>
          </a:ln>
          <a:extLst>
            <a:ext uri="{909E8E84-426E-40DD-AFC4-6F175D3DCCD1}">
              <a14:hiddenFill xmlns:a14="http://schemas.microsoft.com/office/drawing/2010/main">
                <a:noFill/>
              </a14:hiddenFill>
            </a:ext>
          </a:extLst>
        </p:spPr>
      </p:cxnSp>
      <p:cxnSp>
        <p:nvCxnSpPr>
          <p:cNvPr id="27663" name="Straight Arrow Connector 23">
            <a:extLst>
              <a:ext uri="{FF2B5EF4-FFF2-40B4-BE49-F238E27FC236}">
                <a16:creationId xmlns:a16="http://schemas.microsoft.com/office/drawing/2014/main" id="{63FEA8CC-2B8D-47F2-A586-CFF64286246A}"/>
              </a:ext>
            </a:extLst>
          </p:cNvPr>
          <p:cNvCxnSpPr>
            <a:cxnSpLocks noChangeShapeType="1"/>
          </p:cNvCxnSpPr>
          <p:nvPr/>
        </p:nvCxnSpPr>
        <p:spPr bwMode="auto">
          <a:xfrm rot="5400000">
            <a:off x="5830094" y="5218906"/>
            <a:ext cx="228600" cy="1588"/>
          </a:xfrm>
          <a:prstGeom prst="straightConnector1">
            <a:avLst/>
          </a:prstGeom>
          <a:noFill/>
          <a:ln w="9525" algn="ctr">
            <a:solidFill>
              <a:schemeClr val="tx1"/>
            </a:solidFill>
            <a:miter lim="800000"/>
            <a:headEnd/>
            <a:tailEnd type="triangle" w="sm" len="med"/>
          </a:ln>
          <a:extLst>
            <a:ext uri="{909E8E84-426E-40DD-AFC4-6F175D3DCCD1}">
              <a14:hiddenFill xmlns:a14="http://schemas.microsoft.com/office/drawing/2010/main">
                <a:noFill/>
              </a14:hiddenFill>
            </a:ext>
          </a:extLst>
        </p:spPr>
      </p:cxnSp>
      <p:cxnSp>
        <p:nvCxnSpPr>
          <p:cNvPr id="27664" name="Straight Arrow Connector 24">
            <a:extLst>
              <a:ext uri="{FF2B5EF4-FFF2-40B4-BE49-F238E27FC236}">
                <a16:creationId xmlns:a16="http://schemas.microsoft.com/office/drawing/2014/main" id="{148EA61B-89E0-4A8D-8321-D0CA3A7817A4}"/>
              </a:ext>
            </a:extLst>
          </p:cNvPr>
          <p:cNvCxnSpPr>
            <a:cxnSpLocks noChangeShapeType="1"/>
          </p:cNvCxnSpPr>
          <p:nvPr/>
        </p:nvCxnSpPr>
        <p:spPr bwMode="auto">
          <a:xfrm rot="5400000">
            <a:off x="5830094" y="5523706"/>
            <a:ext cx="228600" cy="1588"/>
          </a:xfrm>
          <a:prstGeom prst="straightConnector1">
            <a:avLst/>
          </a:prstGeom>
          <a:noFill/>
          <a:ln w="9525" algn="ctr">
            <a:solidFill>
              <a:schemeClr val="tx1"/>
            </a:solidFill>
            <a:miter lim="800000"/>
            <a:headEnd type="triangle" w="sm" len="med"/>
            <a:tailEnd type="none" w="sm" len="med"/>
          </a:ln>
          <a:extLst>
            <a:ext uri="{909E8E84-426E-40DD-AFC4-6F175D3DCCD1}">
              <a14:hiddenFill xmlns:a14="http://schemas.microsoft.com/office/drawing/2010/main">
                <a:noFill/>
              </a14:hiddenFill>
            </a:ext>
          </a:extLst>
        </p:spPr>
      </p:cxnSp>
      <p:cxnSp>
        <p:nvCxnSpPr>
          <p:cNvPr id="27665" name="Straight Connector 28">
            <a:extLst>
              <a:ext uri="{FF2B5EF4-FFF2-40B4-BE49-F238E27FC236}">
                <a16:creationId xmlns:a16="http://schemas.microsoft.com/office/drawing/2014/main" id="{FCB00C40-502B-4614-A465-0048D17DB9F7}"/>
              </a:ext>
            </a:extLst>
          </p:cNvPr>
          <p:cNvCxnSpPr>
            <a:cxnSpLocks noChangeShapeType="1"/>
          </p:cNvCxnSpPr>
          <p:nvPr/>
        </p:nvCxnSpPr>
        <p:spPr bwMode="auto">
          <a:xfrm rot="10800000">
            <a:off x="5848350" y="5334000"/>
            <a:ext cx="228600" cy="1588"/>
          </a:xfrm>
          <a:prstGeom prst="line">
            <a:avLst/>
          </a:prstGeom>
          <a:noFill/>
          <a:ln w="95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27666" name="Straight Connector 29">
            <a:extLst>
              <a:ext uri="{FF2B5EF4-FFF2-40B4-BE49-F238E27FC236}">
                <a16:creationId xmlns:a16="http://schemas.microsoft.com/office/drawing/2014/main" id="{1E34C002-E22A-4D83-85D8-2148AC6AD153}"/>
              </a:ext>
            </a:extLst>
          </p:cNvPr>
          <p:cNvCxnSpPr>
            <a:cxnSpLocks noChangeShapeType="1"/>
          </p:cNvCxnSpPr>
          <p:nvPr/>
        </p:nvCxnSpPr>
        <p:spPr bwMode="auto">
          <a:xfrm rot="10800000">
            <a:off x="5848350" y="5410200"/>
            <a:ext cx="228600" cy="1588"/>
          </a:xfrm>
          <a:prstGeom prst="line">
            <a:avLst/>
          </a:prstGeom>
          <a:noFill/>
          <a:ln w="9525" algn="ctr">
            <a:solidFill>
              <a:schemeClr val="tx1"/>
            </a:solidFill>
            <a:miter lim="800000"/>
            <a:headEnd/>
            <a:tailEnd/>
          </a:ln>
          <a:extLst>
            <a:ext uri="{909E8E84-426E-40DD-AFC4-6F175D3DCCD1}">
              <a14:hiddenFill xmlns:a14="http://schemas.microsoft.com/office/drawing/2010/main">
                <a:noFill/>
              </a14:hiddenFill>
            </a:ext>
          </a:extLst>
        </p:spPr>
      </p:cxnSp>
      <p:sp>
        <p:nvSpPr>
          <p:cNvPr id="27667" name="Line 7">
            <a:extLst>
              <a:ext uri="{FF2B5EF4-FFF2-40B4-BE49-F238E27FC236}">
                <a16:creationId xmlns:a16="http://schemas.microsoft.com/office/drawing/2014/main" id="{E5929E71-601E-4645-9F28-C0A5C45F43DB}"/>
              </a:ext>
            </a:extLst>
          </p:cNvPr>
          <p:cNvSpPr>
            <a:spLocks noChangeShapeType="1"/>
          </p:cNvSpPr>
          <p:nvPr/>
        </p:nvSpPr>
        <p:spPr bwMode="auto">
          <a:xfrm flipH="1">
            <a:off x="6248400" y="5391150"/>
            <a:ext cx="457200" cy="0"/>
          </a:xfrm>
          <a:prstGeom prst="line">
            <a:avLst/>
          </a:prstGeom>
          <a:noFill/>
          <a:ln w="9525">
            <a:solidFill>
              <a:srgbClr val="00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7668" name="Line 12">
            <a:extLst>
              <a:ext uri="{FF2B5EF4-FFF2-40B4-BE49-F238E27FC236}">
                <a16:creationId xmlns:a16="http://schemas.microsoft.com/office/drawing/2014/main" id="{8A9F47A3-C31D-48AB-83F3-8B576DD995F6}"/>
              </a:ext>
            </a:extLst>
          </p:cNvPr>
          <p:cNvSpPr>
            <a:spLocks noChangeShapeType="1"/>
          </p:cNvSpPr>
          <p:nvPr/>
        </p:nvSpPr>
        <p:spPr bwMode="auto">
          <a:xfrm flipV="1">
            <a:off x="3827463" y="6229350"/>
            <a:ext cx="0" cy="209550"/>
          </a:xfrm>
          <a:prstGeom prst="line">
            <a:avLst/>
          </a:prstGeom>
          <a:noFill/>
          <a:ln w="9525">
            <a:solidFill>
              <a:srgbClr val="00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7669" name="Line 7">
            <a:extLst>
              <a:ext uri="{FF2B5EF4-FFF2-40B4-BE49-F238E27FC236}">
                <a16:creationId xmlns:a16="http://schemas.microsoft.com/office/drawing/2014/main" id="{F1CD66C4-C74B-4903-A4D9-287B577E0464}"/>
              </a:ext>
            </a:extLst>
          </p:cNvPr>
          <p:cNvSpPr>
            <a:spLocks noChangeShapeType="1"/>
          </p:cNvSpPr>
          <p:nvPr/>
        </p:nvSpPr>
        <p:spPr bwMode="auto">
          <a:xfrm flipH="1">
            <a:off x="3829051" y="6438900"/>
            <a:ext cx="2835275" cy="0"/>
          </a:xfrm>
          <a:prstGeom prst="line">
            <a:avLst/>
          </a:prstGeom>
          <a:noFill/>
          <a:ln w="9525">
            <a:solidFill>
              <a:srgbClr val="0000FF"/>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 name="TextBox 2">
            <a:extLst>
              <a:ext uri="{FF2B5EF4-FFF2-40B4-BE49-F238E27FC236}">
                <a16:creationId xmlns:a16="http://schemas.microsoft.com/office/drawing/2014/main" id="{171E2DE2-50EC-5432-46A8-87B2EEEBD77E}"/>
              </a:ext>
            </a:extLst>
          </p:cNvPr>
          <p:cNvSpPr txBox="1"/>
          <p:nvPr/>
        </p:nvSpPr>
        <p:spPr>
          <a:xfrm>
            <a:off x="3622063" y="157557"/>
            <a:ext cx="6167073" cy="584775"/>
          </a:xfrm>
          <a:prstGeom prst="rect">
            <a:avLst/>
          </a:prstGeom>
          <a:noFill/>
        </p:spPr>
        <p:txBody>
          <a:bodyPr wrap="none" rtlCol="0">
            <a:spAutoFit/>
          </a:bodyPr>
          <a:lstStyle/>
          <a:p>
            <a:r>
              <a:rPr lang="en-US" sz="3200" b="1" dirty="0" err="1"/>
              <a:t>GridLayout</a:t>
            </a:r>
            <a:r>
              <a:rPr lang="en-US" sz="3200" b="1" dirty="0"/>
              <a:t> Manager Example</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06BBE-25BA-2EC0-8024-F0C41A438075}"/>
              </a:ext>
            </a:extLst>
          </p:cNvPr>
          <p:cNvSpPr>
            <a:spLocks noGrp="1"/>
          </p:cNvSpPr>
          <p:nvPr>
            <p:ph type="title"/>
          </p:nvPr>
        </p:nvSpPr>
        <p:spPr>
          <a:xfrm>
            <a:off x="2356339" y="624110"/>
            <a:ext cx="9448800" cy="1280890"/>
          </a:xfrm>
        </p:spPr>
        <p:txBody>
          <a:bodyPr/>
          <a:lstStyle/>
          <a:p>
            <a:pPr algn="ctr"/>
            <a:r>
              <a:rPr lang="en-US" b="1" dirty="0"/>
              <a:t>Specifying Number of Rows and Columns</a:t>
            </a:r>
          </a:p>
        </p:txBody>
      </p:sp>
      <p:sp>
        <p:nvSpPr>
          <p:cNvPr id="3" name="Content Placeholder 2">
            <a:extLst>
              <a:ext uri="{FF2B5EF4-FFF2-40B4-BE49-F238E27FC236}">
                <a16:creationId xmlns:a16="http://schemas.microsoft.com/office/drawing/2014/main" id="{0FF1A815-87B1-C4FD-79B3-D2146AA89994}"/>
              </a:ext>
            </a:extLst>
          </p:cNvPr>
          <p:cNvSpPr>
            <a:spLocks noGrp="1"/>
          </p:cNvSpPr>
          <p:nvPr>
            <p:ph idx="1"/>
          </p:nvPr>
        </p:nvSpPr>
        <p:spPr/>
        <p:txBody>
          <a:bodyPr>
            <a:normAutofit/>
          </a:bodyPr>
          <a:lstStyle/>
          <a:p>
            <a:pPr marL="0" indent="0">
              <a:buNone/>
            </a:pPr>
            <a:r>
              <a:rPr lang="en-US" sz="2400" b="1" dirty="0"/>
              <a:t>CASE 1:</a:t>
            </a:r>
          </a:p>
          <a:p>
            <a:pPr marL="0" indent="0">
              <a:buNone/>
            </a:pPr>
            <a:r>
              <a:rPr lang="en-US" sz="2400" dirty="0"/>
              <a:t>If you know the number of rows and columns in your table and the table is completely filled in (i.e., there are no empty cells), call the </a:t>
            </a:r>
            <a:r>
              <a:rPr lang="en-US" sz="2400" dirty="0" err="1"/>
              <a:t>GridLayout</a:t>
            </a:r>
            <a:r>
              <a:rPr lang="en-US" sz="2400" dirty="0"/>
              <a:t> constructor with the actual number of rows and the actual number of columns.</a:t>
            </a:r>
          </a:p>
          <a:p>
            <a:pPr marL="0" indent="0">
              <a:buNone/>
            </a:pPr>
            <a:endParaRPr lang="en-US" sz="2400" dirty="0"/>
          </a:p>
        </p:txBody>
      </p:sp>
    </p:spTree>
    <p:extLst>
      <p:ext uri="{BB962C8B-B14F-4D97-AF65-F5344CB8AC3E}">
        <p14:creationId xmlns:p14="http://schemas.microsoft.com/office/powerpoint/2010/main" val="6306549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518E1E-F666-1117-172C-DBF514F845C2}"/>
              </a:ext>
            </a:extLst>
          </p:cNvPr>
          <p:cNvSpPr>
            <a:spLocks noGrp="1"/>
          </p:cNvSpPr>
          <p:nvPr>
            <p:ph idx="1"/>
          </p:nvPr>
        </p:nvSpPr>
        <p:spPr>
          <a:xfrm>
            <a:off x="3276600" y="386862"/>
            <a:ext cx="8563708" cy="6213230"/>
          </a:xfrm>
        </p:spPr>
        <p:txBody>
          <a:bodyPr>
            <a:normAutofit/>
          </a:bodyPr>
          <a:lstStyle/>
          <a:p>
            <a:pPr marL="0" indent="0">
              <a:buNone/>
            </a:pPr>
            <a:r>
              <a:rPr lang="en-US" sz="2400" b="1" dirty="0"/>
              <a:t>CASE 2: A Row-Oriented Display</a:t>
            </a:r>
          </a:p>
          <a:p>
            <a:pPr marL="0" indent="0">
              <a:buNone/>
            </a:pPr>
            <a:r>
              <a:rPr lang="en-US" sz="2400" dirty="0"/>
              <a:t>Call the </a:t>
            </a:r>
            <a:r>
              <a:rPr lang="en-US" sz="2400" dirty="0" err="1"/>
              <a:t>GridLayout</a:t>
            </a:r>
            <a:r>
              <a:rPr lang="en-US" sz="2400" dirty="0"/>
              <a:t> constructor with the actual number of rows for the rows argument and 0 for the columns argument.</a:t>
            </a:r>
          </a:p>
          <a:p>
            <a:pPr marL="0" indent="0">
              <a:buNone/>
            </a:pPr>
            <a:r>
              <a:rPr lang="en-US" sz="2400" dirty="0"/>
              <a:t>A 0 for the columns argument indicates that you're leaving it up to the </a:t>
            </a:r>
            <a:r>
              <a:rPr lang="en-US" sz="2400" dirty="0" err="1"/>
              <a:t>GridLayout</a:t>
            </a:r>
            <a:r>
              <a:rPr lang="en-US" sz="2400" dirty="0"/>
              <a:t> manager to determine the number of columns.</a:t>
            </a:r>
          </a:p>
          <a:p>
            <a:pPr marL="0" indent="0">
              <a:buNone/>
            </a:pPr>
            <a:r>
              <a:rPr lang="en-US" sz="2400" dirty="0"/>
              <a:t>Ex.  If you assign a container' layout like this:  </a:t>
            </a:r>
          </a:p>
          <a:p>
            <a:pPr marL="0" indent="0">
              <a:buNone/>
            </a:pPr>
            <a:r>
              <a:rPr lang="en-US" sz="2400" b="1" dirty="0" err="1"/>
              <a:t>setLayout</a:t>
            </a:r>
            <a:r>
              <a:rPr lang="en-US" sz="2400" b="1" dirty="0"/>
              <a:t>(new </a:t>
            </a:r>
            <a:r>
              <a:rPr lang="en-US" sz="2400" b="1" dirty="0" err="1"/>
              <a:t>GridLayout</a:t>
            </a:r>
            <a:r>
              <a:rPr lang="en-US" sz="2400" b="1" dirty="0"/>
              <a:t>(2, 0)); </a:t>
            </a:r>
          </a:p>
          <a:p>
            <a:pPr marL="0" indent="0">
              <a:buNone/>
            </a:pPr>
            <a:r>
              <a:rPr lang="en-US" sz="2400" dirty="0"/>
              <a:t>And you add 5 buttons to the container:</a:t>
            </a:r>
          </a:p>
          <a:p>
            <a:pPr marL="0" indent="0">
              <a:buNone/>
            </a:pPr>
            <a:endParaRPr lang="en-US" sz="2400" dirty="0"/>
          </a:p>
          <a:p>
            <a:pPr marL="0" indent="0">
              <a:buNone/>
            </a:pPr>
            <a:endParaRPr lang="en-US" sz="2400" b="1" dirty="0"/>
          </a:p>
        </p:txBody>
      </p:sp>
      <p:pic>
        <p:nvPicPr>
          <p:cNvPr id="4" name="Picture 3">
            <a:extLst>
              <a:ext uri="{FF2B5EF4-FFF2-40B4-BE49-F238E27FC236}">
                <a16:creationId xmlns:a16="http://schemas.microsoft.com/office/drawing/2014/main" id="{05507D2B-7011-F48B-1AE4-CFCC2092F557}"/>
              </a:ext>
            </a:extLst>
          </p:cNvPr>
          <p:cNvPicPr>
            <a:picLocks noChangeAspect="1"/>
          </p:cNvPicPr>
          <p:nvPr/>
        </p:nvPicPr>
        <p:blipFill>
          <a:blip r:embed="rId2"/>
          <a:stretch>
            <a:fillRect/>
          </a:stretch>
        </p:blipFill>
        <p:spPr>
          <a:xfrm>
            <a:off x="5402783" y="4886968"/>
            <a:ext cx="3426249" cy="1713124"/>
          </a:xfrm>
          <a:prstGeom prst="rect">
            <a:avLst/>
          </a:prstGeom>
        </p:spPr>
      </p:pic>
    </p:spTree>
    <p:extLst>
      <p:ext uri="{BB962C8B-B14F-4D97-AF65-F5344CB8AC3E}">
        <p14:creationId xmlns:p14="http://schemas.microsoft.com/office/powerpoint/2010/main" val="37672586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69E501-CD2D-128E-E02C-E557A47CEDA6}"/>
              </a:ext>
            </a:extLst>
          </p:cNvPr>
          <p:cNvSpPr>
            <a:spLocks noGrp="1"/>
          </p:cNvSpPr>
          <p:nvPr>
            <p:ph idx="1"/>
          </p:nvPr>
        </p:nvSpPr>
        <p:spPr>
          <a:xfrm>
            <a:off x="2530596" y="586154"/>
            <a:ext cx="8915400" cy="3777622"/>
          </a:xfrm>
        </p:spPr>
        <p:txBody>
          <a:bodyPr>
            <a:normAutofit/>
          </a:bodyPr>
          <a:lstStyle/>
          <a:p>
            <a:pPr marL="0" indent="0">
              <a:buNone/>
            </a:pPr>
            <a:r>
              <a:rPr lang="en-US" sz="2400" b="1" dirty="0"/>
              <a:t>CASE 3: A Column-Oriented Display</a:t>
            </a:r>
          </a:p>
          <a:p>
            <a:pPr marL="0" indent="0">
              <a:buNone/>
            </a:pPr>
            <a:endParaRPr lang="en-US" sz="2400" b="1" dirty="0"/>
          </a:p>
          <a:p>
            <a:pPr marL="0" indent="0">
              <a:buNone/>
            </a:pPr>
            <a:r>
              <a:rPr lang="en-US" sz="2400" dirty="0"/>
              <a:t>Call the </a:t>
            </a:r>
            <a:r>
              <a:rPr lang="en-US" sz="2400" dirty="0" err="1"/>
              <a:t>GridLayout</a:t>
            </a:r>
            <a:r>
              <a:rPr lang="en-US" sz="2400" dirty="0"/>
              <a:t> constructor with the actual number of columns for the columns argument and 0 for the rows argument.</a:t>
            </a:r>
          </a:p>
          <a:p>
            <a:pPr marL="0" indent="0">
              <a:buNone/>
            </a:pPr>
            <a:r>
              <a:rPr lang="en-US" sz="2400" dirty="0"/>
              <a:t>Ex. If you assign a container's layout like this:  </a:t>
            </a:r>
            <a:r>
              <a:rPr lang="en-US" sz="2400" b="1" dirty="0" err="1"/>
              <a:t>setLayout</a:t>
            </a:r>
            <a:r>
              <a:rPr lang="en-US" sz="2400" b="1" dirty="0"/>
              <a:t>(new </a:t>
            </a:r>
            <a:r>
              <a:rPr lang="en-US" sz="2400" b="1" dirty="0" err="1"/>
              <a:t>GridLayout</a:t>
            </a:r>
            <a:r>
              <a:rPr lang="en-US" sz="2400" b="1" dirty="0"/>
              <a:t>(0, 4));</a:t>
            </a:r>
          </a:p>
          <a:p>
            <a:pPr marL="0" indent="0">
              <a:buNone/>
            </a:pPr>
            <a:r>
              <a:rPr lang="en-US" sz="2400" dirty="0"/>
              <a:t>And add 5 buttons to the container:</a:t>
            </a:r>
          </a:p>
          <a:p>
            <a:pPr marL="0" indent="0">
              <a:buNone/>
            </a:pPr>
            <a:endParaRPr lang="en-US" sz="2400" b="1" dirty="0"/>
          </a:p>
        </p:txBody>
      </p:sp>
      <p:pic>
        <p:nvPicPr>
          <p:cNvPr id="4" name="Picture 3">
            <a:extLst>
              <a:ext uri="{FF2B5EF4-FFF2-40B4-BE49-F238E27FC236}">
                <a16:creationId xmlns:a16="http://schemas.microsoft.com/office/drawing/2014/main" id="{8E98F1BB-6847-E9D4-696F-6A2FE6B1C9D3}"/>
              </a:ext>
            </a:extLst>
          </p:cNvPr>
          <p:cNvPicPr>
            <a:picLocks noChangeAspect="1"/>
          </p:cNvPicPr>
          <p:nvPr/>
        </p:nvPicPr>
        <p:blipFill>
          <a:blip r:embed="rId2"/>
          <a:stretch>
            <a:fillRect/>
          </a:stretch>
        </p:blipFill>
        <p:spPr>
          <a:xfrm>
            <a:off x="4611442" y="4363776"/>
            <a:ext cx="4188315" cy="2097206"/>
          </a:xfrm>
          <a:prstGeom prst="rect">
            <a:avLst/>
          </a:prstGeom>
        </p:spPr>
      </p:pic>
    </p:spTree>
    <p:extLst>
      <p:ext uri="{BB962C8B-B14F-4D97-AF65-F5344CB8AC3E}">
        <p14:creationId xmlns:p14="http://schemas.microsoft.com/office/powerpoint/2010/main" val="18980469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070B5-F031-F6B2-3C31-54B39241DE11}"/>
              </a:ext>
            </a:extLst>
          </p:cNvPr>
          <p:cNvSpPr>
            <a:spLocks noGrp="1"/>
          </p:cNvSpPr>
          <p:nvPr>
            <p:ph type="title"/>
          </p:nvPr>
        </p:nvSpPr>
        <p:spPr>
          <a:xfrm>
            <a:off x="2499140" y="84848"/>
            <a:ext cx="8911687" cy="1280890"/>
          </a:xfrm>
        </p:spPr>
        <p:txBody>
          <a:bodyPr/>
          <a:lstStyle/>
          <a:p>
            <a:pPr algn="ctr"/>
            <a:r>
              <a:rPr lang="en-US" b="1" dirty="0"/>
              <a:t>Common Errors</a:t>
            </a:r>
          </a:p>
        </p:txBody>
      </p:sp>
      <p:sp>
        <p:nvSpPr>
          <p:cNvPr id="3" name="Content Placeholder 2">
            <a:extLst>
              <a:ext uri="{FF2B5EF4-FFF2-40B4-BE49-F238E27FC236}">
                <a16:creationId xmlns:a16="http://schemas.microsoft.com/office/drawing/2014/main" id="{B84462DB-7414-70D4-903B-1AD872A8D079}"/>
              </a:ext>
            </a:extLst>
          </p:cNvPr>
          <p:cNvSpPr>
            <a:spLocks noGrp="1"/>
          </p:cNvSpPr>
          <p:nvPr>
            <p:ph idx="1"/>
          </p:nvPr>
        </p:nvSpPr>
        <p:spPr>
          <a:xfrm>
            <a:off x="1626050" y="725292"/>
            <a:ext cx="9485557" cy="5593445"/>
          </a:xfrm>
          <a:solidFill>
            <a:schemeClr val="bg1"/>
          </a:solidFill>
        </p:spPr>
        <p:txBody>
          <a:bodyPr>
            <a:noAutofit/>
          </a:bodyPr>
          <a:lstStyle/>
          <a:p>
            <a:pPr marL="0" indent="0">
              <a:buNone/>
            </a:pPr>
            <a:r>
              <a:rPr lang="en-US" sz="2400" dirty="0"/>
              <a:t>If you call the </a:t>
            </a:r>
            <a:r>
              <a:rPr lang="en-US" sz="2400" dirty="0" err="1"/>
              <a:t>GridLayout</a:t>
            </a:r>
            <a:r>
              <a:rPr lang="en-US" sz="2400" dirty="0"/>
              <a:t> constructor with 0's for both the rows and columns arguments, you'll get a compilation error; i.e., this generates a compilation error:</a:t>
            </a:r>
          </a:p>
          <a:p>
            <a:pPr marL="0" indent="0">
              <a:buNone/>
            </a:pPr>
            <a:r>
              <a:rPr lang="en-US" sz="2400" dirty="0"/>
              <a:t>			</a:t>
            </a:r>
            <a:r>
              <a:rPr lang="en-US" sz="2400" b="1" dirty="0" err="1"/>
              <a:t>setLayout</a:t>
            </a:r>
            <a:r>
              <a:rPr lang="en-US" sz="2400" b="1" dirty="0"/>
              <a:t>(new </a:t>
            </a:r>
            <a:r>
              <a:rPr lang="en-US" sz="2400" b="1" dirty="0" err="1"/>
              <a:t>GridLayout</a:t>
            </a:r>
            <a:r>
              <a:rPr lang="en-US" sz="2400" b="1" dirty="0"/>
              <a:t>(0, 0));</a:t>
            </a:r>
          </a:p>
          <a:p>
            <a:pPr marL="0" indent="0">
              <a:buNone/>
            </a:pPr>
            <a:r>
              <a:rPr lang="en-US" sz="2400" dirty="0"/>
              <a:t>If you call the </a:t>
            </a:r>
            <a:r>
              <a:rPr lang="en-US" sz="2400" dirty="0" err="1"/>
              <a:t>GridLayout</a:t>
            </a:r>
            <a:r>
              <a:rPr lang="en-US" sz="2400" dirty="0"/>
              <a:t> constructor with non-0's for both the rows and columns arguments and your table is not completely filled, you may get </a:t>
            </a:r>
            <a:r>
              <a:rPr lang="en-US" sz="2400" b="1" dirty="0"/>
              <a:t>unexpected results</a:t>
            </a:r>
            <a:r>
              <a:rPr lang="en-US" sz="2400" dirty="0"/>
              <a:t>.</a:t>
            </a:r>
          </a:p>
          <a:p>
            <a:pPr marL="0" indent="0">
              <a:buNone/>
            </a:pPr>
            <a:r>
              <a:rPr lang="en-US" sz="2400" dirty="0"/>
              <a:t>For example, the previous slide's four-column window is not completely filled. Suppose you accidentally specify a value for the rows argument:</a:t>
            </a:r>
          </a:p>
          <a:p>
            <a:pPr marL="0" indent="0">
              <a:buNone/>
            </a:pPr>
            <a:r>
              <a:rPr lang="en-US" sz="2400" dirty="0"/>
              <a:t>			</a:t>
            </a:r>
            <a:r>
              <a:rPr lang="en-US" sz="2400" b="1" dirty="0" err="1"/>
              <a:t>setLayout</a:t>
            </a:r>
            <a:r>
              <a:rPr lang="en-US" sz="2400" b="1" dirty="0"/>
              <a:t>(new </a:t>
            </a:r>
            <a:r>
              <a:rPr lang="en-US" sz="2400" b="1" dirty="0" err="1"/>
              <a:t>GridLayout</a:t>
            </a:r>
            <a:r>
              <a:rPr lang="en-US" sz="2400" b="1" dirty="0"/>
              <a:t>(2, 4));</a:t>
            </a:r>
          </a:p>
          <a:p>
            <a:pPr marL="0" indent="0">
              <a:buNone/>
            </a:pPr>
            <a:r>
              <a:rPr lang="en-US" sz="2400" dirty="0"/>
              <a:t>After adding 5 components to the 							container, here's the resulting display:</a:t>
            </a:r>
          </a:p>
          <a:p>
            <a:pPr marL="0" indent="0">
              <a:buNone/>
            </a:pPr>
            <a:endParaRPr lang="en-US" sz="2400" dirty="0"/>
          </a:p>
        </p:txBody>
      </p:sp>
      <p:pic>
        <p:nvPicPr>
          <p:cNvPr id="4" name="Picture 3">
            <a:extLst>
              <a:ext uri="{FF2B5EF4-FFF2-40B4-BE49-F238E27FC236}">
                <a16:creationId xmlns:a16="http://schemas.microsoft.com/office/drawing/2014/main" id="{EE7D08CD-1461-724B-C194-B66665188926}"/>
              </a:ext>
            </a:extLst>
          </p:cNvPr>
          <p:cNvPicPr>
            <a:picLocks noChangeAspect="1"/>
          </p:cNvPicPr>
          <p:nvPr/>
        </p:nvPicPr>
        <p:blipFill>
          <a:blip r:embed="rId2"/>
          <a:stretch>
            <a:fillRect/>
          </a:stretch>
        </p:blipFill>
        <p:spPr>
          <a:xfrm>
            <a:off x="8120551" y="4864939"/>
            <a:ext cx="3792041" cy="1908213"/>
          </a:xfrm>
          <a:prstGeom prst="rect">
            <a:avLst/>
          </a:prstGeom>
        </p:spPr>
      </p:pic>
    </p:spTree>
    <p:extLst>
      <p:ext uri="{BB962C8B-B14F-4D97-AF65-F5344CB8AC3E}">
        <p14:creationId xmlns:p14="http://schemas.microsoft.com/office/powerpoint/2010/main" val="17331874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CAE48-C691-DE2F-FF39-D1E8B40F8005}"/>
              </a:ext>
            </a:extLst>
          </p:cNvPr>
          <p:cNvSpPr>
            <a:spLocks noGrp="1"/>
          </p:cNvSpPr>
          <p:nvPr>
            <p:ph type="title"/>
          </p:nvPr>
        </p:nvSpPr>
        <p:spPr/>
        <p:txBody>
          <a:bodyPr/>
          <a:lstStyle/>
          <a:p>
            <a:pPr algn="ctr"/>
            <a:r>
              <a:rPr lang="en-US" b="1" dirty="0"/>
              <a:t>Which Layout Manager Scheme Should be Used for this Calculator?</a:t>
            </a:r>
          </a:p>
        </p:txBody>
      </p:sp>
      <p:sp>
        <p:nvSpPr>
          <p:cNvPr id="3" name="Content Placeholder 2">
            <a:extLst>
              <a:ext uri="{FF2B5EF4-FFF2-40B4-BE49-F238E27FC236}">
                <a16:creationId xmlns:a16="http://schemas.microsoft.com/office/drawing/2014/main" id="{CA7E191C-4AB4-1C8C-9E61-7549311BC3EC}"/>
              </a:ext>
            </a:extLst>
          </p:cNvPr>
          <p:cNvSpPr>
            <a:spLocks noGrp="1"/>
          </p:cNvSpPr>
          <p:nvPr>
            <p:ph idx="1"/>
          </p:nvPr>
        </p:nvSpPr>
        <p:spPr>
          <a:xfrm>
            <a:off x="2589212" y="1905000"/>
            <a:ext cx="8915400" cy="3777622"/>
          </a:xfrm>
        </p:spPr>
        <p:txBody>
          <a:bodyPr>
            <a:normAutofit/>
          </a:bodyPr>
          <a:lstStyle/>
          <a:p>
            <a:pPr marL="0" indent="0">
              <a:buNone/>
            </a:pPr>
            <a:r>
              <a:rPr lang="en-US" sz="2400" dirty="0"/>
              <a:t>How many rows and columns do you see?</a:t>
            </a:r>
          </a:p>
          <a:p>
            <a:pPr marL="0" indent="0">
              <a:buNone/>
            </a:pPr>
            <a:r>
              <a:rPr lang="en-US" sz="2400" dirty="0"/>
              <a:t>The </a:t>
            </a:r>
            <a:r>
              <a:rPr lang="en-US" sz="2400" dirty="0" err="1"/>
              <a:t>GridLayout</a:t>
            </a:r>
            <a:r>
              <a:rPr lang="en-US" sz="2400" dirty="0"/>
              <a:t> manager is usually pretty good at positioning components in an organized tabular fashion, but it's limited by the fact that each of its cells must be the same size.</a:t>
            </a:r>
          </a:p>
          <a:p>
            <a:pPr marL="0" indent="0">
              <a:buNone/>
            </a:pPr>
            <a:r>
              <a:rPr lang="en-US" sz="2400" dirty="0"/>
              <a:t>Would a </a:t>
            </a:r>
            <a:r>
              <a:rPr lang="en-US" sz="2400" dirty="0" err="1"/>
              <a:t>FlowLayout</a:t>
            </a:r>
            <a:r>
              <a:rPr lang="en-US" sz="2400" dirty="0"/>
              <a:t> manager work?</a:t>
            </a:r>
          </a:p>
          <a:p>
            <a:pPr marL="0" indent="0">
              <a:buNone/>
            </a:pPr>
            <a:endParaRPr lang="en-US" sz="2400" dirty="0"/>
          </a:p>
        </p:txBody>
      </p:sp>
      <p:pic>
        <p:nvPicPr>
          <p:cNvPr id="4" name="Picture 3">
            <a:extLst>
              <a:ext uri="{FF2B5EF4-FFF2-40B4-BE49-F238E27FC236}">
                <a16:creationId xmlns:a16="http://schemas.microsoft.com/office/drawing/2014/main" id="{8A91A2D8-2AD5-8392-8409-5B4B06ADAEA3}"/>
              </a:ext>
            </a:extLst>
          </p:cNvPr>
          <p:cNvPicPr>
            <a:picLocks noChangeAspect="1"/>
          </p:cNvPicPr>
          <p:nvPr/>
        </p:nvPicPr>
        <p:blipFill>
          <a:blip r:embed="rId2"/>
          <a:stretch>
            <a:fillRect/>
          </a:stretch>
        </p:blipFill>
        <p:spPr>
          <a:xfrm>
            <a:off x="3404800" y="4728515"/>
            <a:ext cx="6578154" cy="1908213"/>
          </a:xfrm>
          <a:prstGeom prst="rect">
            <a:avLst/>
          </a:prstGeom>
        </p:spPr>
      </p:pic>
    </p:spTree>
    <p:extLst>
      <p:ext uri="{BB962C8B-B14F-4D97-AF65-F5344CB8AC3E}">
        <p14:creationId xmlns:p14="http://schemas.microsoft.com/office/powerpoint/2010/main" val="1935923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9B90A-F561-FACB-AAB9-B83A87C4177C}"/>
              </a:ext>
            </a:extLst>
          </p:cNvPr>
          <p:cNvSpPr>
            <a:spLocks noGrp="1"/>
          </p:cNvSpPr>
          <p:nvPr>
            <p:ph type="title"/>
          </p:nvPr>
        </p:nvSpPr>
        <p:spPr>
          <a:xfrm>
            <a:off x="2510863" y="248971"/>
            <a:ext cx="8911687" cy="1280890"/>
          </a:xfrm>
        </p:spPr>
        <p:txBody>
          <a:bodyPr/>
          <a:lstStyle/>
          <a:p>
            <a:pPr algn="ctr"/>
            <a:r>
              <a:rPr lang="en-US" b="1" dirty="0" err="1"/>
              <a:t>Gridbag</a:t>
            </a:r>
            <a:r>
              <a:rPr lang="en-US" b="1" dirty="0"/>
              <a:t> Layout</a:t>
            </a:r>
          </a:p>
        </p:txBody>
      </p:sp>
      <p:sp>
        <p:nvSpPr>
          <p:cNvPr id="3" name="Content Placeholder 2">
            <a:extLst>
              <a:ext uri="{FF2B5EF4-FFF2-40B4-BE49-F238E27FC236}">
                <a16:creationId xmlns:a16="http://schemas.microsoft.com/office/drawing/2014/main" id="{1AB030EC-3F68-5260-DE2B-8C595B8F1DAB}"/>
              </a:ext>
            </a:extLst>
          </p:cNvPr>
          <p:cNvSpPr>
            <a:spLocks noGrp="1"/>
          </p:cNvSpPr>
          <p:nvPr>
            <p:ph idx="1"/>
          </p:nvPr>
        </p:nvSpPr>
        <p:spPr>
          <a:xfrm>
            <a:off x="2835396" y="1175379"/>
            <a:ext cx="9356604" cy="3777622"/>
          </a:xfrm>
        </p:spPr>
        <p:txBody>
          <a:bodyPr>
            <a:noAutofit/>
          </a:bodyPr>
          <a:lstStyle/>
          <a:p>
            <a:pPr marL="0" indent="0">
              <a:buNone/>
            </a:pPr>
            <a:r>
              <a:rPr lang="en-US" sz="2400" dirty="0"/>
              <a:t>The “grid” in </a:t>
            </a:r>
            <a:r>
              <a:rPr lang="en-US" sz="2400" dirty="0" err="1"/>
              <a:t>GridBagLayout</a:t>
            </a:r>
            <a:r>
              <a:rPr lang="en-US" sz="2400" dirty="0"/>
              <a:t> is exactly that, a rectangular container divvied up into various rows and columns. </a:t>
            </a:r>
          </a:p>
          <a:p>
            <a:pPr marL="0" indent="0">
              <a:buNone/>
            </a:pPr>
            <a:r>
              <a:rPr lang="en-US" sz="2400" dirty="0"/>
              <a:t>The “bag” part, though, comes from a sort of grab bag notion of how you use the cells created by those rows and columns.</a:t>
            </a:r>
          </a:p>
          <a:p>
            <a:pPr marL="0" indent="0">
              <a:buNone/>
            </a:pPr>
            <a:r>
              <a:rPr lang="en-US" sz="2400" dirty="0"/>
              <a:t> The rows and columns can each have their own height or width, and components can occupy any rectangular collection of cells. </a:t>
            </a:r>
          </a:p>
          <a:p>
            <a:pPr marL="0" indent="0">
              <a:buNone/>
            </a:pPr>
            <a:r>
              <a:rPr lang="en-US" sz="2400" dirty="0"/>
              <a:t>We can take advantage of this flexibility to build out an Apple game interface with a single </a:t>
            </a:r>
            <a:r>
              <a:rPr lang="en-US" sz="2400" dirty="0" err="1"/>
              <a:t>JPanel</a:t>
            </a:r>
            <a:r>
              <a:rPr lang="en-US" sz="2400" dirty="0"/>
              <a:t> rather than with several nested panes. </a:t>
            </a:r>
          </a:p>
          <a:p>
            <a:pPr marL="0" indent="0">
              <a:buNone/>
            </a:pPr>
            <a:r>
              <a:rPr lang="en-US" sz="2400" dirty="0"/>
              <a:t>The next Slide shows one way of carving up the screen into four rows and three columns, and then placing the components.</a:t>
            </a:r>
          </a:p>
        </p:txBody>
      </p:sp>
    </p:spTree>
    <p:extLst>
      <p:ext uri="{BB962C8B-B14F-4D97-AF65-F5344CB8AC3E}">
        <p14:creationId xmlns:p14="http://schemas.microsoft.com/office/powerpoint/2010/main" val="30544206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2D17ABA-27AC-18E3-A6DC-E58066A63A7B}"/>
              </a:ext>
            </a:extLst>
          </p:cNvPr>
          <p:cNvPicPr>
            <a:picLocks noChangeAspect="1"/>
          </p:cNvPicPr>
          <p:nvPr/>
        </p:nvPicPr>
        <p:blipFill>
          <a:blip r:embed="rId2"/>
          <a:stretch>
            <a:fillRect/>
          </a:stretch>
        </p:blipFill>
        <p:spPr>
          <a:xfrm>
            <a:off x="3271661" y="231011"/>
            <a:ext cx="7759195" cy="6395978"/>
          </a:xfrm>
          <a:prstGeom prst="rect">
            <a:avLst/>
          </a:prstGeom>
        </p:spPr>
      </p:pic>
    </p:spTree>
    <p:extLst>
      <p:ext uri="{BB962C8B-B14F-4D97-AF65-F5344CB8AC3E}">
        <p14:creationId xmlns:p14="http://schemas.microsoft.com/office/powerpoint/2010/main" val="13289852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8888F-50FE-8A42-11F2-A38988C39CF3}"/>
              </a:ext>
            </a:extLst>
          </p:cNvPr>
          <p:cNvSpPr>
            <a:spLocks noGrp="1"/>
          </p:cNvSpPr>
          <p:nvPr>
            <p:ph type="title"/>
          </p:nvPr>
        </p:nvSpPr>
        <p:spPr/>
        <p:txBody>
          <a:bodyPr/>
          <a:lstStyle/>
          <a:p>
            <a:pPr algn="ctr"/>
            <a:r>
              <a:rPr lang="en-US" b="1" dirty="0"/>
              <a:t>Work on the Apple Game Layout</a:t>
            </a:r>
          </a:p>
        </p:txBody>
      </p:sp>
      <p:sp>
        <p:nvSpPr>
          <p:cNvPr id="3" name="Content Placeholder 2">
            <a:extLst>
              <a:ext uri="{FF2B5EF4-FFF2-40B4-BE49-F238E27FC236}">
                <a16:creationId xmlns:a16="http://schemas.microsoft.com/office/drawing/2014/main" id="{F2D7DD82-7FFC-C14E-48EE-E6A7F87FDEDF}"/>
              </a:ext>
            </a:extLst>
          </p:cNvPr>
          <p:cNvSpPr>
            <a:spLocks noGrp="1"/>
          </p:cNvSpPr>
          <p:nvPr>
            <p:ph idx="1"/>
          </p:nvPr>
        </p:nvSpPr>
        <p:spPr/>
        <p:txBody>
          <a:bodyPr>
            <a:normAutofit/>
          </a:bodyPr>
          <a:lstStyle/>
          <a:p>
            <a:pPr marL="0" indent="0">
              <a:buNone/>
            </a:pPr>
            <a:r>
              <a:rPr lang="en-US" sz="2400" dirty="0"/>
              <a:t>You can see the different row heights and column widths. </a:t>
            </a:r>
          </a:p>
          <a:p>
            <a:pPr marL="0" indent="0">
              <a:buNone/>
            </a:pPr>
            <a:r>
              <a:rPr lang="en-US" sz="2400" dirty="0"/>
              <a:t>And notice how some components occupy more than one cell. </a:t>
            </a:r>
          </a:p>
          <a:p>
            <a:pPr marL="0" indent="0">
              <a:buNone/>
            </a:pPr>
            <a:r>
              <a:rPr lang="en-US" sz="2400" dirty="0"/>
              <a:t>This type of arrangement won’t work for every application, but it is powerful and works for many UIs that need more than simple layouts.</a:t>
            </a:r>
          </a:p>
          <a:p>
            <a:pPr marL="0" indent="0">
              <a:buNone/>
            </a:pPr>
            <a:r>
              <a:rPr lang="en-US" sz="2400" dirty="0"/>
              <a:t>To build an application with a </a:t>
            </a:r>
            <a:r>
              <a:rPr lang="en-US" sz="2400" dirty="0" err="1"/>
              <a:t>GridBagLayout</a:t>
            </a:r>
            <a:r>
              <a:rPr lang="en-US" sz="2400" dirty="0"/>
              <a:t>, you need to keep a couple of references around as you add components. </a:t>
            </a:r>
          </a:p>
        </p:txBody>
      </p:sp>
    </p:spTree>
    <p:extLst>
      <p:ext uri="{BB962C8B-B14F-4D97-AF65-F5344CB8AC3E}">
        <p14:creationId xmlns:p14="http://schemas.microsoft.com/office/powerpoint/2010/main" val="21653148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40B3D-9EC9-1145-5CF1-3608DF66EFF0}"/>
              </a:ext>
            </a:extLst>
          </p:cNvPr>
          <p:cNvSpPr>
            <a:spLocks noGrp="1"/>
          </p:cNvSpPr>
          <p:nvPr>
            <p:ph type="title"/>
          </p:nvPr>
        </p:nvSpPr>
        <p:spPr>
          <a:xfrm>
            <a:off x="2592925" y="213802"/>
            <a:ext cx="8911687" cy="1280890"/>
          </a:xfrm>
        </p:spPr>
        <p:txBody>
          <a:bodyPr/>
          <a:lstStyle/>
          <a:p>
            <a:pPr algn="ctr"/>
            <a:r>
              <a:rPr lang="en-US" b="1" dirty="0"/>
              <a:t>Set up the Grid</a:t>
            </a:r>
          </a:p>
        </p:txBody>
      </p:sp>
      <p:sp>
        <p:nvSpPr>
          <p:cNvPr id="3" name="Content Placeholder 2">
            <a:extLst>
              <a:ext uri="{FF2B5EF4-FFF2-40B4-BE49-F238E27FC236}">
                <a16:creationId xmlns:a16="http://schemas.microsoft.com/office/drawing/2014/main" id="{132CB0C9-F46D-EFD9-A2A3-8D08C81C5CEE}"/>
              </a:ext>
            </a:extLst>
          </p:cNvPr>
          <p:cNvSpPr>
            <a:spLocks noGrp="1"/>
          </p:cNvSpPr>
          <p:nvPr>
            <p:ph idx="1"/>
          </p:nvPr>
        </p:nvSpPr>
        <p:spPr>
          <a:xfrm>
            <a:off x="2589212" y="1184030"/>
            <a:ext cx="9368326" cy="5568462"/>
          </a:xfrm>
        </p:spPr>
        <p:txBody>
          <a:bodyPr>
            <a:noAutofit/>
          </a:bodyPr>
          <a:lstStyle/>
          <a:p>
            <a:pPr marL="0" indent="0">
              <a:buNone/>
            </a:pPr>
            <a:r>
              <a:rPr lang="en-US" sz="2000" b="1" dirty="0"/>
              <a:t>   public static final int SCORE_HEIGHT = 30;</a:t>
            </a:r>
          </a:p>
          <a:p>
            <a:pPr marL="0" indent="0">
              <a:buNone/>
            </a:pPr>
            <a:r>
              <a:rPr lang="en-US" sz="2000" b="1" dirty="0"/>
              <a:t>    public static final int CONTROL_WIDTH = 300;</a:t>
            </a:r>
          </a:p>
          <a:p>
            <a:pPr marL="0" indent="0">
              <a:buNone/>
            </a:pPr>
            <a:r>
              <a:rPr lang="en-US" sz="2000" b="1" dirty="0"/>
              <a:t>    public static final int CONTROL_HEIGHT = 40;</a:t>
            </a:r>
          </a:p>
          <a:p>
            <a:pPr marL="0" indent="0">
              <a:buNone/>
            </a:pPr>
            <a:r>
              <a:rPr lang="en-US" sz="2000" b="1" dirty="0"/>
              <a:t>    public static final int FIELD_WIDTH = 3 * CONTROL_WIDTH;</a:t>
            </a:r>
          </a:p>
          <a:p>
            <a:pPr marL="0" indent="0">
              <a:buNone/>
            </a:pPr>
            <a:r>
              <a:rPr lang="en-US" sz="2000" b="1" dirty="0"/>
              <a:t>    public static final int FIELD_HEIGHT = 2 * CONTROL_WIDTH;</a:t>
            </a:r>
          </a:p>
          <a:p>
            <a:pPr marL="0" indent="0">
              <a:buNone/>
            </a:pPr>
            <a:r>
              <a:rPr lang="en-US" sz="2000" b="1" dirty="0"/>
              <a:t>    public static final float FORCE_SCALE = 0.7f;</a:t>
            </a:r>
          </a:p>
          <a:p>
            <a:pPr marL="0" indent="0">
              <a:buNone/>
            </a:pPr>
            <a:r>
              <a:rPr lang="en-US" sz="2000" b="1" dirty="0"/>
              <a:t>    </a:t>
            </a:r>
            <a:r>
              <a:rPr lang="en-US" sz="2000" b="1" dirty="0" err="1"/>
              <a:t>GridBagLayout</a:t>
            </a:r>
            <a:r>
              <a:rPr lang="en-US" sz="2000" b="1" dirty="0"/>
              <a:t> </a:t>
            </a:r>
            <a:r>
              <a:rPr lang="en-US" sz="2000" b="1" dirty="0" err="1"/>
              <a:t>gameLayout</a:t>
            </a:r>
            <a:r>
              <a:rPr lang="en-US" sz="2000" b="1" dirty="0"/>
              <a:t> = new </a:t>
            </a:r>
            <a:r>
              <a:rPr lang="en-US" sz="2000" b="1" dirty="0" err="1"/>
              <a:t>GridBagLayout</a:t>
            </a:r>
            <a:r>
              <a:rPr lang="en-US" sz="2000" b="1" dirty="0"/>
              <a:t>();</a:t>
            </a:r>
          </a:p>
          <a:p>
            <a:pPr marL="0" indent="0">
              <a:buNone/>
            </a:pPr>
            <a:r>
              <a:rPr lang="en-US" sz="2000" b="1" dirty="0"/>
              <a:t>    </a:t>
            </a:r>
            <a:r>
              <a:rPr lang="en-US" sz="2000" b="1" dirty="0" err="1"/>
              <a:t>gameLayout.columnWidths</a:t>
            </a:r>
            <a:r>
              <a:rPr lang="en-US" sz="2000" b="1" dirty="0"/>
              <a:t> = new int[]</a:t>
            </a:r>
          </a:p>
          <a:p>
            <a:pPr marL="0" indent="0">
              <a:buNone/>
            </a:pPr>
            <a:r>
              <a:rPr lang="en-US" sz="2000" b="1" dirty="0"/>
              <a:t>        { CONTROL_WIDTH, CONTROL_WIDTH, CONTROL_WIDTH };</a:t>
            </a:r>
          </a:p>
          <a:p>
            <a:pPr marL="0" indent="0">
              <a:buNone/>
            </a:pPr>
            <a:r>
              <a:rPr lang="en-US" sz="2000" b="1" dirty="0"/>
              <a:t>    </a:t>
            </a:r>
            <a:r>
              <a:rPr lang="en-US" sz="2000" b="1" dirty="0" err="1"/>
              <a:t>gameLayout.rowHeights</a:t>
            </a:r>
            <a:r>
              <a:rPr lang="en-US" sz="2000" b="1" dirty="0"/>
              <a:t> = new int[]</a:t>
            </a:r>
          </a:p>
          <a:p>
            <a:pPr marL="0" indent="0">
              <a:buNone/>
            </a:pPr>
            <a:r>
              <a:rPr lang="en-US" sz="2000" b="1" dirty="0"/>
              <a:t>        { SCORE_HEIGHT, FIELD_HEIGHT, CONTROL_HEIGHT, CONTROL_HEIGHT };</a:t>
            </a:r>
          </a:p>
          <a:p>
            <a:pPr marL="0" indent="0">
              <a:buNone/>
            </a:pPr>
            <a:r>
              <a:rPr lang="en-US" sz="2000" b="1" dirty="0"/>
              <a:t>    </a:t>
            </a:r>
            <a:r>
              <a:rPr lang="en-US" sz="2000" b="1" dirty="0" err="1"/>
              <a:t>JPanel</a:t>
            </a:r>
            <a:r>
              <a:rPr lang="en-US" sz="2000" b="1" dirty="0"/>
              <a:t> </a:t>
            </a:r>
            <a:r>
              <a:rPr lang="en-US" sz="2000" b="1" dirty="0" err="1"/>
              <a:t>gamePane</a:t>
            </a:r>
            <a:r>
              <a:rPr lang="en-US" sz="2000" b="1" dirty="0"/>
              <a:t> = new </a:t>
            </a:r>
            <a:r>
              <a:rPr lang="en-US" sz="2000" b="1" dirty="0" err="1"/>
              <a:t>JPanel</a:t>
            </a:r>
            <a:r>
              <a:rPr lang="en-US" sz="2000" b="1" dirty="0"/>
              <a:t>(</a:t>
            </a:r>
            <a:r>
              <a:rPr lang="en-US" sz="2000" b="1" dirty="0" err="1"/>
              <a:t>gameLayout</a:t>
            </a:r>
            <a:r>
              <a:rPr lang="en-US" sz="2000" b="1" dirty="0"/>
              <a:t>);</a:t>
            </a:r>
          </a:p>
        </p:txBody>
      </p:sp>
    </p:spTree>
    <p:extLst>
      <p:ext uri="{BB962C8B-B14F-4D97-AF65-F5344CB8AC3E}">
        <p14:creationId xmlns:p14="http://schemas.microsoft.com/office/powerpoint/2010/main" val="9904475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F458E-0533-4C6F-E56B-2647951C1A33}"/>
              </a:ext>
            </a:extLst>
          </p:cNvPr>
          <p:cNvSpPr>
            <a:spLocks noGrp="1"/>
          </p:cNvSpPr>
          <p:nvPr>
            <p:ph type="title"/>
          </p:nvPr>
        </p:nvSpPr>
        <p:spPr>
          <a:xfrm>
            <a:off x="2534308" y="331033"/>
            <a:ext cx="8911687" cy="1280890"/>
          </a:xfrm>
        </p:spPr>
        <p:txBody>
          <a:bodyPr/>
          <a:lstStyle/>
          <a:p>
            <a:pPr algn="ctr"/>
            <a:r>
              <a:rPr lang="en-US" b="1" dirty="0"/>
              <a:t>Add Game Components</a:t>
            </a:r>
          </a:p>
        </p:txBody>
      </p:sp>
      <p:sp>
        <p:nvSpPr>
          <p:cNvPr id="3" name="Content Placeholder 2">
            <a:extLst>
              <a:ext uri="{FF2B5EF4-FFF2-40B4-BE49-F238E27FC236}">
                <a16:creationId xmlns:a16="http://schemas.microsoft.com/office/drawing/2014/main" id="{58607F66-C4B6-3947-3836-27F0F9E3A6DE}"/>
              </a:ext>
            </a:extLst>
          </p:cNvPr>
          <p:cNvSpPr>
            <a:spLocks noGrp="1"/>
          </p:cNvSpPr>
          <p:nvPr>
            <p:ph sz="half" idx="1"/>
          </p:nvPr>
        </p:nvSpPr>
        <p:spPr>
          <a:xfrm>
            <a:off x="2282912" y="1676643"/>
            <a:ext cx="4847721" cy="4875285"/>
          </a:xfrm>
          <a:ln w="19050">
            <a:solidFill>
              <a:schemeClr val="tx1"/>
            </a:solidFill>
          </a:ln>
        </p:spPr>
        <p:txBody>
          <a:bodyPr>
            <a:noAutofit/>
          </a:bodyPr>
          <a:lstStyle/>
          <a:p>
            <a:pPr marL="0" indent="0">
              <a:buNone/>
            </a:pPr>
            <a:r>
              <a:rPr lang="en-US" sz="2400" dirty="0"/>
              <a:t>To get those components added, you need to create and configure a </a:t>
            </a:r>
            <a:r>
              <a:rPr lang="en-US" sz="2400" dirty="0" err="1"/>
              <a:t>GridBagConstraints</a:t>
            </a:r>
            <a:r>
              <a:rPr lang="en-US" sz="2400" dirty="0"/>
              <a:t> object. </a:t>
            </a:r>
          </a:p>
          <a:p>
            <a:pPr marL="0" indent="0">
              <a:buNone/>
            </a:pPr>
            <a:r>
              <a:rPr lang="en-US" sz="2400" dirty="0"/>
              <a:t>Fortunately, you can reuse the same object for all of your components—you just need to repeat the configuration portion before adding each element.</a:t>
            </a:r>
          </a:p>
          <a:p>
            <a:pPr marL="0" indent="0">
              <a:buNone/>
            </a:pPr>
            <a:r>
              <a:rPr lang="en-US" sz="2400" dirty="0"/>
              <a:t> Here’s how to add the main playing field component:</a:t>
            </a:r>
          </a:p>
          <a:p>
            <a:pPr marL="0" indent="0">
              <a:buNone/>
            </a:pPr>
            <a:endParaRPr lang="en-US" sz="2400" dirty="0"/>
          </a:p>
        </p:txBody>
      </p:sp>
      <p:sp>
        <p:nvSpPr>
          <p:cNvPr id="4" name="Content Placeholder 3">
            <a:extLst>
              <a:ext uri="{FF2B5EF4-FFF2-40B4-BE49-F238E27FC236}">
                <a16:creationId xmlns:a16="http://schemas.microsoft.com/office/drawing/2014/main" id="{ED511457-DDB8-D533-F623-670DD64DEF61}"/>
              </a:ext>
            </a:extLst>
          </p:cNvPr>
          <p:cNvSpPr>
            <a:spLocks noGrp="1"/>
          </p:cNvSpPr>
          <p:nvPr>
            <p:ph sz="half" idx="2"/>
          </p:nvPr>
        </p:nvSpPr>
        <p:spPr>
          <a:xfrm>
            <a:off x="7500759" y="1713327"/>
            <a:ext cx="4477987" cy="4875285"/>
          </a:xfrm>
          <a:ln w="19050">
            <a:solidFill>
              <a:schemeClr val="tx1"/>
            </a:solidFill>
          </a:ln>
        </p:spPr>
        <p:txBody>
          <a:bodyPr>
            <a:noAutofit/>
          </a:bodyPr>
          <a:lstStyle/>
          <a:p>
            <a:pPr marL="0" indent="0">
              <a:buNone/>
            </a:pPr>
            <a:r>
              <a:rPr lang="en-US" sz="2000" dirty="0" err="1"/>
              <a:t>GridBagConstraints</a:t>
            </a:r>
            <a:r>
              <a:rPr lang="en-US" sz="2000" dirty="0"/>
              <a:t> </a:t>
            </a:r>
            <a:r>
              <a:rPr lang="en-US" sz="2000" dirty="0" err="1"/>
              <a:t>gameConstraints</a:t>
            </a:r>
            <a:r>
              <a:rPr lang="en-US" sz="2000" dirty="0"/>
              <a:t> = new </a:t>
            </a:r>
            <a:r>
              <a:rPr lang="en-US" sz="2000" dirty="0" err="1"/>
              <a:t>GridBagConstraints</a:t>
            </a:r>
            <a:r>
              <a:rPr lang="en-US" sz="2000" dirty="0"/>
              <a:t>();</a:t>
            </a:r>
          </a:p>
          <a:p>
            <a:pPr marL="0" indent="0">
              <a:buNone/>
            </a:pPr>
            <a:r>
              <a:rPr lang="en-US" sz="2000" dirty="0"/>
              <a:t> </a:t>
            </a:r>
            <a:r>
              <a:rPr lang="en-US" sz="2000" dirty="0" err="1"/>
              <a:t>gameConstraints.fill</a:t>
            </a:r>
            <a:r>
              <a:rPr lang="en-US" sz="2000" dirty="0"/>
              <a:t> = </a:t>
            </a:r>
            <a:r>
              <a:rPr lang="en-US" sz="2000" dirty="0" err="1"/>
              <a:t>GridBagConstraints.BOTH</a:t>
            </a:r>
            <a:r>
              <a:rPr lang="en-US" sz="2000" dirty="0"/>
              <a:t>;</a:t>
            </a:r>
          </a:p>
          <a:p>
            <a:pPr marL="0" indent="0">
              <a:buNone/>
            </a:pPr>
            <a:r>
              <a:rPr lang="en-US" sz="2000" dirty="0"/>
              <a:t>    </a:t>
            </a:r>
            <a:r>
              <a:rPr lang="en-US" sz="2000" dirty="0" err="1"/>
              <a:t>gameConstraints.gridy</a:t>
            </a:r>
            <a:r>
              <a:rPr lang="en-US" sz="2000" dirty="0"/>
              <a:t> = 1;</a:t>
            </a:r>
          </a:p>
          <a:p>
            <a:pPr marL="0" indent="0">
              <a:buNone/>
            </a:pPr>
            <a:r>
              <a:rPr lang="en-US" sz="2000" dirty="0"/>
              <a:t>    </a:t>
            </a:r>
            <a:r>
              <a:rPr lang="en-US" sz="2000" dirty="0" err="1"/>
              <a:t>gameConstraints.gridx</a:t>
            </a:r>
            <a:r>
              <a:rPr lang="en-US" sz="2000" dirty="0"/>
              <a:t> = 0;</a:t>
            </a:r>
          </a:p>
          <a:p>
            <a:pPr marL="0" indent="0">
              <a:buNone/>
            </a:pPr>
            <a:r>
              <a:rPr lang="en-US" sz="2000" dirty="0"/>
              <a:t>    </a:t>
            </a:r>
            <a:r>
              <a:rPr lang="en-US" sz="2000" dirty="0" err="1"/>
              <a:t>gameConstraints.gridheight</a:t>
            </a:r>
            <a:r>
              <a:rPr lang="en-US" sz="2000" dirty="0"/>
              <a:t> = 1;</a:t>
            </a:r>
          </a:p>
          <a:p>
            <a:pPr marL="0" indent="0">
              <a:buNone/>
            </a:pPr>
            <a:r>
              <a:rPr lang="en-US" sz="2000" dirty="0"/>
              <a:t>    </a:t>
            </a:r>
            <a:r>
              <a:rPr lang="en-US" sz="2000" dirty="0" err="1"/>
              <a:t>gameConstraints.gridwidth</a:t>
            </a:r>
            <a:r>
              <a:rPr lang="en-US" sz="2000" dirty="0"/>
              <a:t> = 3;</a:t>
            </a:r>
          </a:p>
          <a:p>
            <a:pPr marL="0" indent="0">
              <a:buNone/>
            </a:pPr>
            <a:r>
              <a:rPr lang="en-US" sz="2000" dirty="0"/>
              <a:t>    Field </a:t>
            </a:r>
            <a:r>
              <a:rPr lang="en-US" sz="2000" dirty="0" err="1"/>
              <a:t>field</a:t>
            </a:r>
            <a:r>
              <a:rPr lang="en-US" sz="2000" dirty="0"/>
              <a:t> = new Field();</a:t>
            </a:r>
          </a:p>
          <a:p>
            <a:pPr marL="0" indent="0">
              <a:buNone/>
            </a:pPr>
            <a:r>
              <a:rPr lang="en-US" sz="2000" dirty="0"/>
              <a:t>    </a:t>
            </a:r>
            <a:r>
              <a:rPr lang="en-US" sz="2000" dirty="0" err="1"/>
              <a:t>gamePane.add</a:t>
            </a:r>
            <a:r>
              <a:rPr lang="en-US" sz="2000" dirty="0"/>
              <a:t>(field, </a:t>
            </a:r>
            <a:r>
              <a:rPr lang="en-US" sz="2000" dirty="0" err="1"/>
              <a:t>gameConstraints</a:t>
            </a:r>
            <a:r>
              <a:rPr lang="en-US" sz="2000" dirty="0"/>
              <a:t>);</a:t>
            </a:r>
          </a:p>
        </p:txBody>
      </p:sp>
    </p:spTree>
    <p:extLst>
      <p:ext uri="{BB962C8B-B14F-4D97-AF65-F5344CB8AC3E}">
        <p14:creationId xmlns:p14="http://schemas.microsoft.com/office/powerpoint/2010/main" val="18158312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FAE00-F290-CBE7-26BB-CE7049173FE9}"/>
              </a:ext>
            </a:extLst>
          </p:cNvPr>
          <p:cNvSpPr>
            <a:spLocks noGrp="1"/>
          </p:cNvSpPr>
          <p:nvPr>
            <p:ph type="title"/>
          </p:nvPr>
        </p:nvSpPr>
        <p:spPr/>
        <p:txBody>
          <a:bodyPr/>
          <a:lstStyle/>
          <a:p>
            <a:pPr algn="ctr"/>
            <a:r>
              <a:rPr lang="en-US" b="1" dirty="0"/>
              <a:t>Setting Fields into Cells</a:t>
            </a:r>
          </a:p>
        </p:txBody>
      </p:sp>
      <p:sp>
        <p:nvSpPr>
          <p:cNvPr id="3" name="Content Placeholder 2">
            <a:extLst>
              <a:ext uri="{FF2B5EF4-FFF2-40B4-BE49-F238E27FC236}">
                <a16:creationId xmlns:a16="http://schemas.microsoft.com/office/drawing/2014/main" id="{D777651C-D99F-5BC6-3E77-61A401BFE73B}"/>
              </a:ext>
            </a:extLst>
          </p:cNvPr>
          <p:cNvSpPr>
            <a:spLocks noGrp="1"/>
          </p:cNvSpPr>
          <p:nvPr>
            <p:ph idx="1"/>
          </p:nvPr>
        </p:nvSpPr>
        <p:spPr/>
        <p:txBody>
          <a:bodyPr>
            <a:normAutofit/>
          </a:bodyPr>
          <a:lstStyle/>
          <a:p>
            <a:pPr marL="0" indent="0">
              <a:buNone/>
            </a:pPr>
            <a:r>
              <a:rPr lang="en-US" sz="2400" dirty="0"/>
              <a:t>Notice how we set which cells the field will occupy.</a:t>
            </a:r>
          </a:p>
          <a:p>
            <a:pPr marL="0" indent="0">
              <a:buNone/>
            </a:pPr>
            <a:r>
              <a:rPr lang="en-US" sz="2400" dirty="0"/>
              <a:t> This is the core of configuring grid bag constraints. </a:t>
            </a:r>
          </a:p>
          <a:p>
            <a:pPr marL="0" indent="0">
              <a:buNone/>
            </a:pPr>
            <a:r>
              <a:rPr lang="en-US" sz="2400" dirty="0"/>
              <a:t>You can also adjust things like how a component will fill the cells it occupies and how much of a margin each component gets. </a:t>
            </a:r>
          </a:p>
          <a:p>
            <a:pPr marL="0" indent="0">
              <a:buNone/>
            </a:pPr>
            <a:r>
              <a:rPr lang="en-US" sz="2400" dirty="0"/>
              <a:t>We’ve settled on simply filling all of the space available in a group of cells (“both” a horizontal fill and a vertical fill), but you can read about more options in the documentation for </a:t>
            </a:r>
            <a:r>
              <a:rPr lang="en-US" sz="2400" dirty="0" err="1"/>
              <a:t>GridBagConstraints</a:t>
            </a:r>
            <a:r>
              <a:rPr lang="en-US" sz="2400" dirty="0"/>
              <a:t>.</a:t>
            </a:r>
          </a:p>
        </p:txBody>
      </p:sp>
    </p:spTree>
    <p:extLst>
      <p:ext uri="{BB962C8B-B14F-4D97-AF65-F5344CB8AC3E}">
        <p14:creationId xmlns:p14="http://schemas.microsoft.com/office/powerpoint/2010/main" val="20872146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A602C-CFEE-D2A1-7383-FAA39CCCAEF2}"/>
              </a:ext>
            </a:extLst>
          </p:cNvPr>
          <p:cNvSpPr>
            <a:spLocks noGrp="1"/>
          </p:cNvSpPr>
          <p:nvPr>
            <p:ph type="title"/>
          </p:nvPr>
        </p:nvSpPr>
        <p:spPr/>
        <p:txBody>
          <a:bodyPr/>
          <a:lstStyle/>
          <a:p>
            <a:r>
              <a:rPr lang="en-US" b="1" dirty="0"/>
              <a:t>Add a </a:t>
            </a:r>
            <a:r>
              <a:rPr lang="en-US" b="1" dirty="0" err="1"/>
              <a:t>ScoreKeeping</a:t>
            </a:r>
            <a:r>
              <a:rPr lang="en-US" b="1" dirty="0"/>
              <a:t> Label at the Top</a:t>
            </a:r>
          </a:p>
        </p:txBody>
      </p:sp>
      <p:sp>
        <p:nvSpPr>
          <p:cNvPr id="3" name="Content Placeholder 2">
            <a:extLst>
              <a:ext uri="{FF2B5EF4-FFF2-40B4-BE49-F238E27FC236}">
                <a16:creationId xmlns:a16="http://schemas.microsoft.com/office/drawing/2014/main" id="{F283AAA1-8445-A041-C332-E1BC9CB6ECF6}"/>
              </a:ext>
            </a:extLst>
          </p:cNvPr>
          <p:cNvSpPr>
            <a:spLocks noGrp="1"/>
          </p:cNvSpPr>
          <p:nvPr>
            <p:ph idx="1"/>
          </p:nvPr>
        </p:nvSpPr>
        <p:spPr>
          <a:xfrm>
            <a:off x="2108567" y="1905000"/>
            <a:ext cx="8915400" cy="3777622"/>
          </a:xfrm>
        </p:spPr>
        <p:txBody>
          <a:bodyPr>
            <a:noAutofit/>
          </a:bodyPr>
          <a:lstStyle/>
          <a:p>
            <a:pPr marL="0" indent="0">
              <a:buNone/>
            </a:pPr>
            <a:r>
              <a:rPr lang="en-US" sz="2400" b="1" dirty="0"/>
              <a:t>    </a:t>
            </a:r>
            <a:r>
              <a:rPr lang="en-US" sz="2400" b="1" dirty="0" err="1"/>
              <a:t>gameConstraints.fill</a:t>
            </a:r>
            <a:r>
              <a:rPr lang="en-US" sz="2400" b="1" dirty="0"/>
              <a:t> = </a:t>
            </a:r>
            <a:r>
              <a:rPr lang="en-US" sz="2400" b="1" dirty="0" err="1"/>
              <a:t>GridBagConstraints.BOTH</a:t>
            </a:r>
            <a:r>
              <a:rPr lang="en-US" sz="2400" b="1" dirty="0"/>
              <a:t>;</a:t>
            </a:r>
          </a:p>
          <a:p>
            <a:pPr marL="0" indent="0">
              <a:buNone/>
            </a:pPr>
            <a:r>
              <a:rPr lang="en-US" sz="2400" b="1" dirty="0"/>
              <a:t>    </a:t>
            </a:r>
            <a:r>
              <a:rPr lang="en-US" sz="2400" b="1" dirty="0" err="1"/>
              <a:t>gameConstraints.gridy</a:t>
            </a:r>
            <a:r>
              <a:rPr lang="en-US" sz="2400" b="1" dirty="0"/>
              <a:t> = 0;</a:t>
            </a:r>
          </a:p>
          <a:p>
            <a:pPr marL="0" indent="0">
              <a:buNone/>
            </a:pPr>
            <a:r>
              <a:rPr lang="en-US" sz="2400" b="1" dirty="0"/>
              <a:t>    </a:t>
            </a:r>
            <a:r>
              <a:rPr lang="en-US" sz="2400" b="1" dirty="0" err="1"/>
              <a:t>gameConstraints.gridx</a:t>
            </a:r>
            <a:r>
              <a:rPr lang="en-US" sz="2400" b="1" dirty="0"/>
              <a:t> = 0;</a:t>
            </a:r>
          </a:p>
          <a:p>
            <a:pPr marL="0" indent="0">
              <a:buNone/>
            </a:pPr>
            <a:r>
              <a:rPr lang="en-US" sz="2400" b="1" dirty="0"/>
              <a:t>    </a:t>
            </a:r>
            <a:r>
              <a:rPr lang="en-US" sz="2400" b="1" dirty="0" err="1"/>
              <a:t>gameConstraints.gridheight</a:t>
            </a:r>
            <a:r>
              <a:rPr lang="en-US" sz="2400" b="1" dirty="0"/>
              <a:t> = 1;</a:t>
            </a:r>
          </a:p>
          <a:p>
            <a:pPr marL="0" indent="0">
              <a:buNone/>
            </a:pPr>
            <a:r>
              <a:rPr lang="en-US" sz="2400" b="1" dirty="0"/>
              <a:t>    </a:t>
            </a:r>
            <a:r>
              <a:rPr lang="en-US" sz="2400" b="1" dirty="0" err="1"/>
              <a:t>gameConstraints.gridwidth</a:t>
            </a:r>
            <a:r>
              <a:rPr lang="en-US" sz="2400" b="1" dirty="0"/>
              <a:t> = 1;</a:t>
            </a:r>
          </a:p>
          <a:p>
            <a:pPr marL="0" indent="0">
              <a:buNone/>
            </a:pPr>
            <a:endParaRPr lang="en-US" sz="2400" b="1" dirty="0"/>
          </a:p>
          <a:p>
            <a:pPr marL="0" indent="0">
              <a:buNone/>
            </a:pPr>
            <a:r>
              <a:rPr lang="en-US" sz="2400" b="1" dirty="0"/>
              <a:t>    </a:t>
            </a:r>
            <a:r>
              <a:rPr lang="en-US" sz="2400" b="1" dirty="0" err="1"/>
              <a:t>JLabel</a:t>
            </a:r>
            <a:r>
              <a:rPr lang="en-US" sz="2400" b="1" dirty="0"/>
              <a:t> </a:t>
            </a:r>
            <a:r>
              <a:rPr lang="en-US" sz="2400" b="1" dirty="0" err="1"/>
              <a:t>scoreLabel</a:t>
            </a:r>
            <a:r>
              <a:rPr lang="en-US" sz="2400" b="1" dirty="0"/>
              <a:t> = new </a:t>
            </a:r>
            <a:r>
              <a:rPr lang="en-US" sz="2400" b="1" dirty="0" err="1"/>
              <a:t>JLabel</a:t>
            </a:r>
            <a:r>
              <a:rPr lang="en-US" sz="2400" b="1" dirty="0"/>
              <a:t>(" Player 1: 0");</a:t>
            </a:r>
          </a:p>
          <a:p>
            <a:pPr marL="0" indent="0">
              <a:buNone/>
            </a:pPr>
            <a:r>
              <a:rPr lang="en-US" sz="2400" b="1" dirty="0"/>
              <a:t>    </a:t>
            </a:r>
            <a:r>
              <a:rPr lang="en-US" sz="2400" b="1" dirty="0" err="1"/>
              <a:t>gamePane.add</a:t>
            </a:r>
            <a:r>
              <a:rPr lang="en-US" sz="2400" b="1" dirty="0"/>
              <a:t>(</a:t>
            </a:r>
            <a:r>
              <a:rPr lang="en-US" sz="2400" b="1" dirty="0" err="1"/>
              <a:t>scoreLabel</a:t>
            </a:r>
            <a:r>
              <a:rPr lang="en-US" sz="2400" b="1" dirty="0"/>
              <a:t>, </a:t>
            </a:r>
            <a:r>
              <a:rPr lang="en-US" sz="2400" b="1" dirty="0" err="1"/>
              <a:t>gameConstraints</a:t>
            </a:r>
            <a:r>
              <a:rPr lang="en-US" sz="2400" b="1" dirty="0"/>
              <a:t>);</a:t>
            </a:r>
          </a:p>
        </p:txBody>
      </p:sp>
    </p:spTree>
    <p:extLst>
      <p:ext uri="{BB962C8B-B14F-4D97-AF65-F5344CB8AC3E}">
        <p14:creationId xmlns:p14="http://schemas.microsoft.com/office/powerpoint/2010/main" val="32613252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20F4E-E7B5-3F61-467A-5674BCD978BC}"/>
              </a:ext>
            </a:extLst>
          </p:cNvPr>
          <p:cNvSpPr>
            <a:spLocks noGrp="1"/>
          </p:cNvSpPr>
          <p:nvPr>
            <p:ph type="title"/>
          </p:nvPr>
        </p:nvSpPr>
        <p:spPr/>
        <p:txBody>
          <a:bodyPr/>
          <a:lstStyle/>
          <a:p>
            <a:pPr algn="ctr"/>
            <a:r>
              <a:rPr lang="en-US" b="1" dirty="0"/>
              <a:t>DRY: Create a Function</a:t>
            </a:r>
          </a:p>
        </p:txBody>
      </p:sp>
      <p:sp>
        <p:nvSpPr>
          <p:cNvPr id="3" name="Content Placeholder 2">
            <a:extLst>
              <a:ext uri="{FF2B5EF4-FFF2-40B4-BE49-F238E27FC236}">
                <a16:creationId xmlns:a16="http://schemas.microsoft.com/office/drawing/2014/main" id="{5DBE9DAA-4872-F68D-BF9A-E5C658E47A42}"/>
              </a:ext>
            </a:extLst>
          </p:cNvPr>
          <p:cNvSpPr>
            <a:spLocks noGrp="1"/>
          </p:cNvSpPr>
          <p:nvPr>
            <p:ph idx="1"/>
          </p:nvPr>
        </p:nvSpPr>
        <p:spPr>
          <a:xfrm>
            <a:off x="2589212" y="1477108"/>
            <a:ext cx="8915400" cy="5228492"/>
          </a:xfrm>
        </p:spPr>
        <p:txBody>
          <a:bodyPr>
            <a:noAutofit/>
          </a:bodyPr>
          <a:lstStyle/>
          <a:p>
            <a:pPr marL="0" indent="0">
              <a:buNone/>
            </a:pPr>
            <a:r>
              <a:rPr lang="en-US" sz="2000" dirty="0"/>
              <a:t>Notice how similar the setup of the constraints is to how we handled the game field? Put them into a function:</a:t>
            </a:r>
          </a:p>
          <a:p>
            <a:pPr marL="0" indent="0">
              <a:buNone/>
            </a:pPr>
            <a:r>
              <a:rPr lang="en-US" sz="2000" b="1" dirty="0"/>
              <a:t> private </a:t>
            </a:r>
            <a:r>
              <a:rPr lang="en-US" sz="2000" b="1" dirty="0" err="1"/>
              <a:t>GridBagConstraints</a:t>
            </a:r>
            <a:r>
              <a:rPr lang="en-US" sz="2000" b="1" dirty="0"/>
              <a:t> </a:t>
            </a:r>
            <a:r>
              <a:rPr lang="en-US" sz="2000" b="1" dirty="0" err="1"/>
              <a:t>buildConstraints</a:t>
            </a:r>
            <a:r>
              <a:rPr lang="en-US" sz="2000" b="1" dirty="0"/>
              <a:t>(int row, int col,</a:t>
            </a:r>
          </a:p>
          <a:p>
            <a:pPr marL="0" indent="0">
              <a:buNone/>
            </a:pPr>
            <a:r>
              <a:rPr lang="en-US" sz="2000" b="1" dirty="0"/>
              <a:t>        int </a:t>
            </a:r>
            <a:r>
              <a:rPr lang="en-US" sz="2000" b="1" dirty="0" err="1"/>
              <a:t>rowspan</a:t>
            </a:r>
            <a:r>
              <a:rPr lang="en-US" sz="2000" b="1" dirty="0"/>
              <a:t>, int </a:t>
            </a:r>
            <a:r>
              <a:rPr lang="en-US" sz="2000" b="1" dirty="0" err="1"/>
              <a:t>colspan</a:t>
            </a:r>
            <a:r>
              <a:rPr lang="en-US" sz="2000" b="1" dirty="0"/>
              <a:t>)    {</a:t>
            </a:r>
          </a:p>
          <a:p>
            <a:pPr marL="0" indent="0">
              <a:buNone/>
            </a:pPr>
            <a:r>
              <a:rPr lang="en-US" sz="2000" b="1" dirty="0"/>
              <a:t>        // Use our global reference to the </a:t>
            </a:r>
            <a:r>
              <a:rPr lang="en-US" sz="2000" b="1" dirty="0" err="1"/>
              <a:t>gameConstraints</a:t>
            </a:r>
            <a:r>
              <a:rPr lang="en-US" sz="2000" b="1" dirty="0"/>
              <a:t> object</a:t>
            </a:r>
          </a:p>
          <a:p>
            <a:pPr marL="0" indent="0">
              <a:buNone/>
            </a:pPr>
            <a:r>
              <a:rPr lang="en-US" sz="2000" b="1" dirty="0"/>
              <a:t>        </a:t>
            </a:r>
            <a:r>
              <a:rPr lang="en-US" sz="2000" b="1" dirty="0" err="1"/>
              <a:t>gameConstraints.fill</a:t>
            </a:r>
            <a:r>
              <a:rPr lang="en-US" sz="2000" b="1" dirty="0"/>
              <a:t> = </a:t>
            </a:r>
            <a:r>
              <a:rPr lang="en-US" sz="2000" b="1" dirty="0" err="1"/>
              <a:t>GridBagConstraints.BOTH</a:t>
            </a:r>
            <a:r>
              <a:rPr lang="en-US" sz="2000" b="1" dirty="0"/>
              <a:t>;</a:t>
            </a:r>
          </a:p>
          <a:p>
            <a:pPr marL="0" indent="0">
              <a:buNone/>
            </a:pPr>
            <a:r>
              <a:rPr lang="en-US" sz="2000" b="1" dirty="0"/>
              <a:t>        </a:t>
            </a:r>
            <a:r>
              <a:rPr lang="en-US" sz="2000" b="1" dirty="0" err="1"/>
              <a:t>gameConstraints.gridy</a:t>
            </a:r>
            <a:r>
              <a:rPr lang="en-US" sz="2000" b="1" dirty="0"/>
              <a:t> = row;</a:t>
            </a:r>
          </a:p>
          <a:p>
            <a:pPr marL="0" indent="0">
              <a:buNone/>
            </a:pPr>
            <a:r>
              <a:rPr lang="en-US" sz="2000" b="1" dirty="0"/>
              <a:t>        </a:t>
            </a:r>
            <a:r>
              <a:rPr lang="en-US" sz="2000" b="1" dirty="0" err="1"/>
              <a:t>gameConstraints.gridx</a:t>
            </a:r>
            <a:r>
              <a:rPr lang="en-US" sz="2000" b="1" dirty="0"/>
              <a:t> = col;</a:t>
            </a:r>
          </a:p>
          <a:p>
            <a:pPr marL="0" indent="0">
              <a:buNone/>
            </a:pPr>
            <a:r>
              <a:rPr lang="en-US" sz="2000" b="1" dirty="0"/>
              <a:t>        </a:t>
            </a:r>
            <a:r>
              <a:rPr lang="en-US" sz="2000" b="1" dirty="0" err="1"/>
              <a:t>gameConstraints.gridheight</a:t>
            </a:r>
            <a:r>
              <a:rPr lang="en-US" sz="2000" b="1" dirty="0"/>
              <a:t> = </a:t>
            </a:r>
            <a:r>
              <a:rPr lang="en-US" sz="2000" b="1" dirty="0" err="1"/>
              <a:t>rowspan</a:t>
            </a:r>
            <a:r>
              <a:rPr lang="en-US" sz="2000" b="1" dirty="0"/>
              <a:t>;</a:t>
            </a:r>
          </a:p>
          <a:p>
            <a:pPr marL="0" indent="0">
              <a:buNone/>
            </a:pPr>
            <a:r>
              <a:rPr lang="en-US" sz="2000" b="1" dirty="0"/>
              <a:t>        </a:t>
            </a:r>
            <a:r>
              <a:rPr lang="en-US" sz="2000" b="1" dirty="0" err="1"/>
              <a:t>gameConstraints.gridwidth</a:t>
            </a:r>
            <a:r>
              <a:rPr lang="en-US" sz="2000" b="1" dirty="0"/>
              <a:t> = </a:t>
            </a:r>
            <a:r>
              <a:rPr lang="en-US" sz="2000" b="1" dirty="0" err="1"/>
              <a:t>colspan</a:t>
            </a:r>
            <a:r>
              <a:rPr lang="en-US" sz="2000" b="1" dirty="0"/>
              <a:t>;</a:t>
            </a:r>
          </a:p>
          <a:p>
            <a:pPr marL="0" indent="0">
              <a:buNone/>
            </a:pPr>
            <a:r>
              <a:rPr lang="en-US" sz="2000" b="1" dirty="0"/>
              <a:t>        return </a:t>
            </a:r>
            <a:r>
              <a:rPr lang="en-US" sz="2000" b="1" dirty="0" err="1"/>
              <a:t>gameConstraints</a:t>
            </a:r>
            <a:r>
              <a:rPr lang="en-US" sz="2000" b="1" dirty="0"/>
              <a:t>;</a:t>
            </a:r>
          </a:p>
          <a:p>
            <a:pPr marL="0" indent="0">
              <a:buNone/>
            </a:pPr>
            <a:r>
              <a:rPr lang="en-US" sz="2000" b="1" dirty="0"/>
              <a:t>    }</a:t>
            </a:r>
          </a:p>
        </p:txBody>
      </p:sp>
    </p:spTree>
    <p:extLst>
      <p:ext uri="{BB962C8B-B14F-4D97-AF65-F5344CB8AC3E}">
        <p14:creationId xmlns:p14="http://schemas.microsoft.com/office/powerpoint/2010/main" val="6713886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66E38-CD1B-865E-3B89-4620F5599310}"/>
              </a:ext>
            </a:extLst>
          </p:cNvPr>
          <p:cNvSpPr>
            <a:spLocks noGrp="1"/>
          </p:cNvSpPr>
          <p:nvPr>
            <p:ph type="title"/>
          </p:nvPr>
        </p:nvSpPr>
        <p:spPr/>
        <p:txBody>
          <a:bodyPr/>
          <a:lstStyle/>
          <a:p>
            <a:pPr algn="ctr"/>
            <a:r>
              <a:rPr lang="en-US" dirty="0"/>
              <a:t>Rewrite the Earlier Blocks of Code  for the score label and game field</a:t>
            </a:r>
          </a:p>
        </p:txBody>
      </p:sp>
      <p:sp>
        <p:nvSpPr>
          <p:cNvPr id="3" name="Content Placeholder 2">
            <a:extLst>
              <a:ext uri="{FF2B5EF4-FFF2-40B4-BE49-F238E27FC236}">
                <a16:creationId xmlns:a16="http://schemas.microsoft.com/office/drawing/2014/main" id="{41548F47-F551-6739-C3D4-1253A25AEA2F}"/>
              </a:ext>
            </a:extLst>
          </p:cNvPr>
          <p:cNvSpPr>
            <a:spLocks noGrp="1"/>
          </p:cNvSpPr>
          <p:nvPr>
            <p:ph idx="1"/>
          </p:nvPr>
        </p:nvSpPr>
        <p:spPr/>
        <p:txBody>
          <a:bodyPr>
            <a:normAutofit/>
          </a:bodyPr>
          <a:lstStyle/>
          <a:p>
            <a:pPr marL="0" indent="0">
              <a:buNone/>
            </a:pPr>
            <a:r>
              <a:rPr lang="en-US" sz="2400" b="1" dirty="0"/>
              <a:t> </a:t>
            </a:r>
            <a:r>
              <a:rPr lang="en-US" sz="2400" b="1" dirty="0" err="1"/>
              <a:t>GridBagConstraints</a:t>
            </a:r>
            <a:r>
              <a:rPr lang="en-US" sz="2400" b="1" dirty="0"/>
              <a:t> </a:t>
            </a:r>
            <a:r>
              <a:rPr lang="en-US" sz="2400" b="1" dirty="0" err="1"/>
              <a:t>gameConstraints</a:t>
            </a:r>
            <a:r>
              <a:rPr lang="en-US" sz="2400" b="1" dirty="0"/>
              <a:t> = new </a:t>
            </a:r>
            <a:r>
              <a:rPr lang="en-US" sz="2400" b="1" dirty="0" err="1"/>
              <a:t>GridBagConstraints</a:t>
            </a:r>
            <a:r>
              <a:rPr lang="en-US" sz="2400" b="1" dirty="0"/>
              <a:t>();</a:t>
            </a:r>
          </a:p>
          <a:p>
            <a:pPr marL="0" indent="0">
              <a:buNone/>
            </a:pPr>
            <a:endParaRPr lang="en-US" sz="2400" b="1" dirty="0"/>
          </a:p>
          <a:p>
            <a:pPr marL="0" indent="0">
              <a:buNone/>
            </a:pPr>
            <a:r>
              <a:rPr lang="en-US" sz="2400" b="1" dirty="0"/>
              <a:t>    </a:t>
            </a:r>
            <a:r>
              <a:rPr lang="en-US" sz="2400" b="1" dirty="0" err="1"/>
              <a:t>JLabel</a:t>
            </a:r>
            <a:r>
              <a:rPr lang="en-US" sz="2400" b="1" dirty="0"/>
              <a:t> </a:t>
            </a:r>
            <a:r>
              <a:rPr lang="en-US" sz="2400" b="1" dirty="0" err="1"/>
              <a:t>scoreLabel</a:t>
            </a:r>
            <a:r>
              <a:rPr lang="en-US" sz="2400" b="1" dirty="0"/>
              <a:t> = new </a:t>
            </a:r>
            <a:r>
              <a:rPr lang="en-US" sz="2400" b="1" dirty="0" err="1"/>
              <a:t>JLabel</a:t>
            </a:r>
            <a:r>
              <a:rPr lang="en-US" sz="2400" b="1" dirty="0"/>
              <a:t>(" Player 1: 0");</a:t>
            </a:r>
          </a:p>
          <a:p>
            <a:pPr marL="0" indent="0">
              <a:buNone/>
            </a:pPr>
            <a:r>
              <a:rPr lang="en-US" sz="2400" b="1" dirty="0"/>
              <a:t>    Field </a:t>
            </a:r>
            <a:r>
              <a:rPr lang="en-US" sz="2400" b="1" dirty="0" err="1"/>
              <a:t>field</a:t>
            </a:r>
            <a:r>
              <a:rPr lang="en-US" sz="2400" b="1" dirty="0"/>
              <a:t> = new Field();</a:t>
            </a:r>
          </a:p>
          <a:p>
            <a:pPr marL="0" indent="0">
              <a:buNone/>
            </a:pPr>
            <a:r>
              <a:rPr lang="en-US" sz="2400" b="1" dirty="0"/>
              <a:t>    </a:t>
            </a:r>
            <a:r>
              <a:rPr lang="en-US" sz="2400" b="1" dirty="0" err="1"/>
              <a:t>gamePane.add</a:t>
            </a:r>
            <a:r>
              <a:rPr lang="en-US" sz="2400" b="1" dirty="0"/>
              <a:t>(</a:t>
            </a:r>
            <a:r>
              <a:rPr lang="en-US" sz="2400" b="1" dirty="0" err="1"/>
              <a:t>scoreLabel</a:t>
            </a:r>
            <a:r>
              <a:rPr lang="en-US" sz="2400" b="1" dirty="0"/>
              <a:t>, </a:t>
            </a:r>
            <a:r>
              <a:rPr lang="en-US" sz="2400" b="1" dirty="0" err="1"/>
              <a:t>buildConstraints</a:t>
            </a:r>
            <a:r>
              <a:rPr lang="en-US" sz="2400" b="1" dirty="0"/>
              <a:t>(0,0,1,1));</a:t>
            </a:r>
          </a:p>
          <a:p>
            <a:pPr marL="0" indent="0">
              <a:buNone/>
            </a:pPr>
            <a:r>
              <a:rPr lang="en-US" sz="2400" b="1" dirty="0"/>
              <a:t>    </a:t>
            </a:r>
            <a:r>
              <a:rPr lang="en-US" sz="2400" b="1" dirty="0" err="1"/>
              <a:t>gamePane.add</a:t>
            </a:r>
            <a:r>
              <a:rPr lang="en-US" sz="2400" b="1" dirty="0"/>
              <a:t>(field, </a:t>
            </a:r>
            <a:r>
              <a:rPr lang="en-US" sz="2400" b="1" dirty="0" err="1"/>
              <a:t>buildConstraints</a:t>
            </a:r>
            <a:r>
              <a:rPr lang="en-US" sz="2400" b="1" dirty="0"/>
              <a:t>(1,0,1,3));</a:t>
            </a:r>
          </a:p>
        </p:txBody>
      </p:sp>
    </p:spTree>
    <p:extLst>
      <p:ext uri="{BB962C8B-B14F-4D97-AF65-F5344CB8AC3E}">
        <p14:creationId xmlns:p14="http://schemas.microsoft.com/office/powerpoint/2010/main" val="25976314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E0D99-87AF-205A-F17B-E75D37D9A607}"/>
              </a:ext>
            </a:extLst>
          </p:cNvPr>
          <p:cNvSpPr>
            <a:spLocks noGrp="1"/>
          </p:cNvSpPr>
          <p:nvPr>
            <p:ph type="title"/>
          </p:nvPr>
        </p:nvSpPr>
        <p:spPr/>
        <p:txBody>
          <a:bodyPr/>
          <a:lstStyle/>
          <a:p>
            <a:pPr algn="ctr"/>
            <a:r>
              <a:rPr lang="en-US" b="1" dirty="0"/>
              <a:t>Add other Components</a:t>
            </a:r>
          </a:p>
        </p:txBody>
      </p:sp>
      <p:sp>
        <p:nvSpPr>
          <p:cNvPr id="3" name="Content Placeholder 2">
            <a:extLst>
              <a:ext uri="{FF2B5EF4-FFF2-40B4-BE49-F238E27FC236}">
                <a16:creationId xmlns:a16="http://schemas.microsoft.com/office/drawing/2014/main" id="{E478398C-CA4E-C4F0-A36C-2DEF43DB4AA5}"/>
              </a:ext>
            </a:extLst>
          </p:cNvPr>
          <p:cNvSpPr>
            <a:spLocks noGrp="1"/>
          </p:cNvSpPr>
          <p:nvPr>
            <p:ph idx="1"/>
          </p:nvPr>
        </p:nvSpPr>
        <p:spPr/>
        <p:txBody>
          <a:bodyPr>
            <a:normAutofit/>
          </a:bodyPr>
          <a:lstStyle/>
          <a:p>
            <a:pPr marL="0" indent="0">
              <a:buNone/>
            </a:pPr>
            <a:r>
              <a:rPr lang="en-US" sz="2400" dirty="0"/>
              <a:t>With that function in place, we can quickly add the various other components and labels we want to complete our game interface. For example, the toss button in the lower-right corner of the layout can be set up like this:</a:t>
            </a:r>
          </a:p>
          <a:p>
            <a:pPr marL="0" indent="0">
              <a:buNone/>
            </a:pPr>
            <a:r>
              <a:rPr lang="en-US" sz="2400" dirty="0"/>
              <a:t>    </a:t>
            </a:r>
            <a:r>
              <a:rPr lang="en-US" sz="2400" b="1" dirty="0" err="1"/>
              <a:t>JLabel</a:t>
            </a:r>
            <a:r>
              <a:rPr lang="en-US" sz="2400" b="1" dirty="0"/>
              <a:t> </a:t>
            </a:r>
            <a:r>
              <a:rPr lang="en-US" sz="2400" b="1" dirty="0" err="1"/>
              <a:t>tossButton</a:t>
            </a:r>
            <a:r>
              <a:rPr lang="en-US" sz="2400" b="1" dirty="0"/>
              <a:t> = new </a:t>
            </a:r>
            <a:r>
              <a:rPr lang="en-US" sz="2400" b="1" dirty="0" err="1"/>
              <a:t>JButton</a:t>
            </a:r>
            <a:r>
              <a:rPr lang="en-US" sz="2400" b="1" dirty="0"/>
              <a:t>("Toss");</a:t>
            </a:r>
          </a:p>
          <a:p>
            <a:pPr marL="0" indent="0">
              <a:buNone/>
            </a:pPr>
            <a:r>
              <a:rPr lang="en-US" sz="2400" b="1" dirty="0"/>
              <a:t>    </a:t>
            </a:r>
            <a:r>
              <a:rPr lang="en-US" sz="2400" b="1" dirty="0" err="1"/>
              <a:t>gamePane.add</a:t>
            </a:r>
            <a:r>
              <a:rPr lang="en-US" sz="2400" b="1" dirty="0"/>
              <a:t>(</a:t>
            </a:r>
            <a:r>
              <a:rPr lang="en-US" sz="2400" b="1" dirty="0" err="1"/>
              <a:t>tossButton</a:t>
            </a:r>
            <a:r>
              <a:rPr lang="en-US" sz="2400" b="1" dirty="0"/>
              <a:t>, </a:t>
            </a:r>
            <a:r>
              <a:rPr lang="en-US" sz="2400" b="1" dirty="0" err="1"/>
              <a:t>buildConstraints</a:t>
            </a:r>
            <a:r>
              <a:rPr lang="en-US" sz="2400" b="1" dirty="0"/>
              <a:t>(2,2,2,1));</a:t>
            </a:r>
          </a:p>
        </p:txBody>
      </p:sp>
    </p:spTree>
    <p:extLst>
      <p:ext uri="{BB962C8B-B14F-4D97-AF65-F5344CB8AC3E}">
        <p14:creationId xmlns:p14="http://schemas.microsoft.com/office/powerpoint/2010/main" val="3571549291"/>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83</TotalTime>
  <Words>2729</Words>
  <Application>Microsoft Office PowerPoint</Application>
  <PresentationFormat>Widescreen</PresentationFormat>
  <Paragraphs>229</Paragraphs>
  <Slides>35</Slides>
  <Notes>2</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35</vt:i4>
      </vt:variant>
    </vt:vector>
  </HeadingPairs>
  <TitlesOfParts>
    <vt:vector size="43" baseType="lpstr">
      <vt:lpstr>Arial</vt:lpstr>
      <vt:lpstr>Calibri</vt:lpstr>
      <vt:lpstr>Courier New</vt:lpstr>
      <vt:lpstr>Tahoma</vt:lpstr>
      <vt:lpstr>Wingdings</vt:lpstr>
      <vt:lpstr>Wingdings 3</vt:lpstr>
      <vt:lpstr>Wisp</vt:lpstr>
      <vt:lpstr>Bitmap Image</vt:lpstr>
      <vt:lpstr>Layout Managers</vt:lpstr>
      <vt:lpstr>Layout Managers</vt:lpstr>
      <vt:lpstr>The Five Most Common LayoutManager Classes</vt:lpstr>
      <vt:lpstr>To Assign a LayoutManager to a JFrame</vt:lpstr>
      <vt:lpstr>FLowLayout</vt:lpstr>
      <vt:lpstr>FlowLayout Alignment</vt:lpstr>
      <vt:lpstr>BoxLayout</vt:lpstr>
      <vt:lpstr>BoxLayout Manager Example</vt:lpstr>
      <vt:lpstr>BorderLayout Manager</vt:lpstr>
      <vt:lpstr>BorderLayout Constructors</vt:lpstr>
      <vt:lpstr>PowerPoint Presentation</vt:lpstr>
      <vt:lpstr>How the Regions Resize</vt:lpstr>
      <vt:lpstr>Using Insets</vt:lpstr>
      <vt:lpstr>Additional Constants for the Border Layout</vt:lpstr>
      <vt:lpstr>Adding Multiple Components to a Region</vt:lpstr>
      <vt:lpstr>Label Alignment</vt:lpstr>
      <vt:lpstr>Swing Constants</vt:lpstr>
      <vt:lpstr>The GridLayout Manager</vt:lpstr>
      <vt:lpstr>Adding Components</vt:lpstr>
      <vt:lpstr>PowerPoint Presentation</vt:lpstr>
      <vt:lpstr>Specifying Number of Rows and Columns</vt:lpstr>
      <vt:lpstr>PowerPoint Presentation</vt:lpstr>
      <vt:lpstr>PowerPoint Presentation</vt:lpstr>
      <vt:lpstr>Common Errors</vt:lpstr>
      <vt:lpstr>Which Layout Manager Scheme Should be Used for this Calculator?</vt:lpstr>
      <vt:lpstr>Gridbag Layout</vt:lpstr>
      <vt:lpstr>PowerPoint Presentation</vt:lpstr>
      <vt:lpstr>Work on the Apple Game Layout</vt:lpstr>
      <vt:lpstr>Set up the Grid</vt:lpstr>
      <vt:lpstr>Add Game Components</vt:lpstr>
      <vt:lpstr>Setting Fields into Cells</vt:lpstr>
      <vt:lpstr>Add a ScoreKeeping Label at the Top</vt:lpstr>
      <vt:lpstr>DRY: Create a Function</vt:lpstr>
      <vt:lpstr>Rewrite the Earlier Blocks of Code  for the score label and game field</vt:lpstr>
      <vt:lpstr>Add other Components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Containers and Layouts</dc:title>
  <dc:creator>Ivonne Nelson</dc:creator>
  <cp:lastModifiedBy>NELSON, IVONNE</cp:lastModifiedBy>
  <cp:revision>5</cp:revision>
  <dcterms:created xsi:type="dcterms:W3CDTF">2022-12-27T23:44:02Z</dcterms:created>
  <dcterms:modified xsi:type="dcterms:W3CDTF">2024-06-23T20:43:17Z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8bb7484-22c2-4b98-9fb8-3ab13d821527_Enabled">
    <vt:lpwstr>true</vt:lpwstr>
  </property>
  <property fmtid="{D5CDD505-2E9C-101B-9397-08002B2CF9AE}" pid="3" name="MSIP_Label_d8bb7484-22c2-4b98-9fb8-3ab13d821527_SetDate">
    <vt:lpwstr>2024-06-23T20:43:17Z</vt:lpwstr>
  </property>
  <property fmtid="{D5CDD505-2E9C-101B-9397-08002B2CF9AE}" pid="4" name="MSIP_Label_d8bb7484-22c2-4b98-9fb8-3ab13d821527_Method">
    <vt:lpwstr>Standard</vt:lpwstr>
  </property>
  <property fmtid="{D5CDD505-2E9C-101B-9397-08002B2CF9AE}" pid="5" name="MSIP_Label_d8bb7484-22c2-4b98-9fb8-3ab13d821527_Name">
    <vt:lpwstr>defa4170-0d19-0005-0004-bc88714345d2</vt:lpwstr>
  </property>
  <property fmtid="{D5CDD505-2E9C-101B-9397-08002B2CF9AE}" pid="6" name="MSIP_Label_d8bb7484-22c2-4b98-9fb8-3ab13d821527_SiteId">
    <vt:lpwstr>f50e076b-86a5-45f3-87b0-3f4d0ec5e94e</vt:lpwstr>
  </property>
  <property fmtid="{D5CDD505-2E9C-101B-9397-08002B2CF9AE}" pid="7" name="MSIP_Label_d8bb7484-22c2-4b98-9fb8-3ab13d821527_ActionId">
    <vt:lpwstr>0f06d26d-46bc-4601-b5c3-b4859014d4f2</vt:lpwstr>
  </property>
  <property fmtid="{D5CDD505-2E9C-101B-9397-08002B2CF9AE}" pid="8" name="MSIP_Label_d8bb7484-22c2-4b98-9fb8-3ab13d821527_ContentBits">
    <vt:lpwstr>0</vt:lpwstr>
  </property>
</Properties>
</file>