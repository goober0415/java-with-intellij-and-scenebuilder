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193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1A3C6B-B444-43E3-B541-32C816944AE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1793872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1A3C6B-B444-43E3-B541-32C816944AE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2626907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A3C6B-B444-43E3-B541-32C816944AE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2463478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1A3C6B-B444-43E3-B541-32C816944AE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159181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1A3C6B-B444-43E3-B541-32C816944AE8}" type="datetimeFigureOut">
              <a:rPr lang="en-US" smtClean="0"/>
              <a:t>6/6/2024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361449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1A3C6B-B444-43E3-B541-32C816944AE8}" type="datetimeFigureOut">
              <a:rPr lang="en-US" smtClean="0"/>
              <a:t>6/6/2024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2339201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1A3C6B-B444-43E3-B541-32C816944AE8}" type="datetimeFigureOut">
              <a:rPr lang="en-US" smtClean="0"/>
              <a:t>6/6/2024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3719299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1A3C6B-B444-43E3-B541-32C816944AE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587264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1A3C6B-B444-43E3-B541-32C816944AE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1554179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A3C6B-B444-43E3-B541-32C816944AE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2564425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A3C6B-B444-43E3-B541-32C816944AE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3CC0951-B662-4EDC-A85E-D33750B4FCB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555319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B1A3C6B-B444-43E3-B541-32C816944AE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2746831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B1A3C6B-B444-43E3-B541-32C816944AE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3CC0951-B662-4EDC-A85E-D33750B4FCB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68362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B1A3C6B-B444-43E3-B541-32C816944AE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2810647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1A3C6B-B444-43E3-B541-32C816944AE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204740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1A3C6B-B444-43E3-B541-32C816944AE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3CC0951-B662-4EDC-A85E-D33750B4FCB6}" type="slidenum">
              <a:rPr lang="en-US" smtClean="0"/>
              <a:t>‹#›</a:t>
            </a:fld>
            <a:endParaRPr lang="en-US"/>
          </a:p>
        </p:txBody>
      </p:sp>
    </p:spTree>
    <p:extLst>
      <p:ext uri="{BB962C8B-B14F-4D97-AF65-F5344CB8AC3E}">
        <p14:creationId xmlns:p14="http://schemas.microsoft.com/office/powerpoint/2010/main" val="2638775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B1A3C6B-B444-43E3-B541-32C816944AE8}" type="datetimeFigureOut">
              <a:rPr lang="en-US" smtClean="0"/>
              <a:t>6/6/2024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3CC0951-B662-4EDC-A85E-D33750B4FCB6}" type="slidenum">
              <a:rPr lang="en-US" smtClean="0"/>
              <a:t>‹#›</a:t>
            </a:fld>
            <a:endParaRPr lang="en-US"/>
          </a:p>
        </p:txBody>
      </p:sp>
    </p:spTree>
    <p:extLst>
      <p:ext uri="{BB962C8B-B14F-4D97-AF65-F5344CB8AC3E}">
        <p14:creationId xmlns:p14="http://schemas.microsoft.com/office/powerpoint/2010/main" val="1420889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C89EF-9C13-E431-D984-6C6AEAAD92C8}"/>
              </a:ext>
            </a:extLst>
          </p:cNvPr>
          <p:cNvSpPr>
            <a:spLocks noGrp="1"/>
          </p:cNvSpPr>
          <p:nvPr>
            <p:ph type="ctrTitle"/>
          </p:nvPr>
        </p:nvSpPr>
        <p:spPr/>
        <p:txBody>
          <a:bodyPr/>
          <a:lstStyle/>
          <a:p>
            <a:r>
              <a:rPr lang="en-US" dirty="0"/>
              <a:t>Java’s Release Schedule</a:t>
            </a:r>
          </a:p>
        </p:txBody>
      </p:sp>
      <p:sp>
        <p:nvSpPr>
          <p:cNvPr id="3" name="Subtitle 2">
            <a:extLst>
              <a:ext uri="{FF2B5EF4-FFF2-40B4-BE49-F238E27FC236}">
                <a16:creationId xmlns:a16="http://schemas.microsoft.com/office/drawing/2014/main" id="{A2D15C87-ABB9-2022-802B-5DDAAB22D99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98663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2BDE-9B93-A7DE-33F6-FEFBCE240C90}"/>
              </a:ext>
            </a:extLst>
          </p:cNvPr>
          <p:cNvSpPr>
            <a:spLocks noGrp="1"/>
          </p:cNvSpPr>
          <p:nvPr>
            <p:ph type="title"/>
          </p:nvPr>
        </p:nvSpPr>
        <p:spPr/>
        <p:txBody>
          <a:bodyPr/>
          <a:lstStyle/>
          <a:p>
            <a:r>
              <a:rPr lang="en-US" dirty="0"/>
              <a:t>A recent Major Change in Java</a:t>
            </a:r>
          </a:p>
        </p:txBody>
      </p:sp>
      <p:sp>
        <p:nvSpPr>
          <p:cNvPr id="3" name="Content Placeholder 2">
            <a:extLst>
              <a:ext uri="{FF2B5EF4-FFF2-40B4-BE49-F238E27FC236}">
                <a16:creationId xmlns:a16="http://schemas.microsoft.com/office/drawing/2014/main" id="{237EABFB-BCF5-0630-210E-AA7326227420}"/>
              </a:ext>
            </a:extLst>
          </p:cNvPr>
          <p:cNvSpPr>
            <a:spLocks noGrp="1"/>
          </p:cNvSpPr>
          <p:nvPr>
            <p:ph idx="1"/>
          </p:nvPr>
        </p:nvSpPr>
        <p:spPr/>
        <p:txBody>
          <a:bodyPr>
            <a:normAutofit/>
          </a:bodyPr>
          <a:lstStyle/>
          <a:p>
            <a:pPr marL="0" indent="0">
              <a:buNone/>
            </a:pPr>
            <a:r>
              <a:rPr lang="en-US" sz="2400" dirty="0"/>
              <a:t>Another major change has recently occurred in Java.</a:t>
            </a:r>
          </a:p>
          <a:p>
            <a:pPr marL="0" indent="0">
              <a:buNone/>
            </a:pPr>
            <a:r>
              <a:rPr lang="en-US" sz="2400" dirty="0"/>
              <a:t>Each major release, called a feature release, includes those features ready at the time of the release. </a:t>
            </a:r>
          </a:p>
          <a:p>
            <a:pPr marL="0" indent="0">
              <a:buNone/>
            </a:pPr>
            <a:r>
              <a:rPr lang="en-US" sz="2400" dirty="0"/>
              <a:t>This increased release cadence enables new features and enhancements to be available to Java programmers in a timely fashion. </a:t>
            </a:r>
          </a:p>
          <a:p>
            <a:pPr marL="0" indent="0">
              <a:buNone/>
            </a:pPr>
            <a:r>
              <a:rPr lang="en-US" sz="2400" dirty="0"/>
              <a:t>Furthermore, it allows Java to respond quickly to the demands of an ever-changing programming environment. </a:t>
            </a:r>
          </a:p>
        </p:txBody>
      </p:sp>
    </p:spTree>
    <p:extLst>
      <p:ext uri="{BB962C8B-B14F-4D97-AF65-F5344CB8AC3E}">
        <p14:creationId xmlns:p14="http://schemas.microsoft.com/office/powerpoint/2010/main" val="2628925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2E902-A096-3904-18EA-94C52A48D513}"/>
              </a:ext>
            </a:extLst>
          </p:cNvPr>
          <p:cNvSpPr>
            <a:spLocks noGrp="1"/>
          </p:cNvSpPr>
          <p:nvPr>
            <p:ph type="title"/>
          </p:nvPr>
        </p:nvSpPr>
        <p:spPr/>
        <p:txBody>
          <a:bodyPr/>
          <a:lstStyle/>
          <a:p>
            <a:pPr algn="ctr"/>
            <a:r>
              <a:rPr lang="en-US" b="1" dirty="0"/>
              <a:t>Feature Releases</a:t>
            </a:r>
          </a:p>
        </p:txBody>
      </p:sp>
      <p:sp>
        <p:nvSpPr>
          <p:cNvPr id="3" name="Content Placeholder 2">
            <a:extLst>
              <a:ext uri="{FF2B5EF4-FFF2-40B4-BE49-F238E27FC236}">
                <a16:creationId xmlns:a16="http://schemas.microsoft.com/office/drawing/2014/main" id="{84D40ED7-2430-16CF-5EEB-74000F1C2199}"/>
              </a:ext>
            </a:extLst>
          </p:cNvPr>
          <p:cNvSpPr>
            <a:spLocks noGrp="1"/>
          </p:cNvSpPr>
          <p:nvPr>
            <p:ph idx="1"/>
          </p:nvPr>
        </p:nvSpPr>
        <p:spPr>
          <a:xfrm>
            <a:off x="2789237" y="1428750"/>
            <a:ext cx="8915400" cy="3777622"/>
          </a:xfrm>
        </p:spPr>
        <p:txBody>
          <a:bodyPr>
            <a:noAutofit/>
          </a:bodyPr>
          <a:lstStyle/>
          <a:p>
            <a:pPr marL="0" indent="0">
              <a:buNone/>
            </a:pPr>
            <a:r>
              <a:rPr lang="en-US" sz="2400" dirty="0"/>
              <a:t>Feature releases include new features that are available to developers if they explicitly enable them to try them out but that have not yet been finalized. There are two types of these features. </a:t>
            </a:r>
          </a:p>
          <a:p>
            <a:pPr marL="0" indent="0">
              <a:buNone/>
            </a:pPr>
            <a:r>
              <a:rPr lang="en-US" sz="2400" dirty="0"/>
              <a:t>First, Preview Features are APIs and/or new language syntax that are fully designed and implemented but may yet be refined before being formally included in a future release based on feedback from developers trying them out. </a:t>
            </a:r>
          </a:p>
          <a:p>
            <a:pPr marL="0" indent="0">
              <a:buNone/>
            </a:pPr>
            <a:r>
              <a:rPr lang="en-US" sz="2400" dirty="0"/>
              <a:t>Second type of feature is an Incubator Module, which is a feature that is still evolving significantly and may or may not make it into a future release. Both types of “nonfinal” features give strong indications of what is to come next in feature releases.</a:t>
            </a:r>
          </a:p>
        </p:txBody>
      </p:sp>
    </p:spTree>
    <p:extLst>
      <p:ext uri="{BB962C8B-B14F-4D97-AF65-F5344CB8AC3E}">
        <p14:creationId xmlns:p14="http://schemas.microsoft.com/office/powerpoint/2010/main" val="3619337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1F660-51C8-77DF-E4D3-4574938E6437}"/>
              </a:ext>
            </a:extLst>
          </p:cNvPr>
          <p:cNvSpPr>
            <a:spLocks noGrp="1"/>
          </p:cNvSpPr>
          <p:nvPr>
            <p:ph type="title"/>
          </p:nvPr>
        </p:nvSpPr>
        <p:spPr/>
        <p:txBody>
          <a:bodyPr/>
          <a:lstStyle/>
          <a:p>
            <a:pPr algn="ctr"/>
            <a:r>
              <a:rPr lang="en-US" b="1" dirty="0"/>
              <a:t>Long Term Support (LTS)</a:t>
            </a:r>
          </a:p>
        </p:txBody>
      </p:sp>
      <p:sp>
        <p:nvSpPr>
          <p:cNvPr id="3" name="Content Placeholder 2">
            <a:extLst>
              <a:ext uri="{FF2B5EF4-FFF2-40B4-BE49-F238E27FC236}">
                <a16:creationId xmlns:a16="http://schemas.microsoft.com/office/drawing/2014/main" id="{CBA489CE-2492-3CB1-B263-7CF268CF2491}"/>
              </a:ext>
            </a:extLst>
          </p:cNvPr>
          <p:cNvSpPr>
            <a:spLocks noGrp="1"/>
          </p:cNvSpPr>
          <p:nvPr>
            <p:ph idx="1"/>
          </p:nvPr>
        </p:nvSpPr>
        <p:spPr/>
        <p:txBody>
          <a:bodyPr>
            <a:normAutofit lnSpcReduction="10000"/>
          </a:bodyPr>
          <a:lstStyle/>
          <a:p>
            <a:pPr marL="0" indent="0">
              <a:buNone/>
            </a:pPr>
            <a:r>
              <a:rPr lang="en-US" dirty="0"/>
              <a:t>With a cadence that is now twice a year, a feature release will also be one that is supported (and thus remains viable) for a period of time longer than the six months until the next feature release. </a:t>
            </a:r>
          </a:p>
          <a:p>
            <a:pPr marL="0" indent="0">
              <a:buNone/>
            </a:pPr>
            <a:r>
              <a:rPr lang="en-US" dirty="0"/>
              <a:t>Such a release is called a long-term support release (LTS). An LTS release will be supported (and thus remain viable) for a period of time longer than six months. </a:t>
            </a:r>
          </a:p>
          <a:p>
            <a:pPr marL="0" indent="0">
              <a:buNone/>
            </a:pPr>
            <a:r>
              <a:rPr lang="en-US" dirty="0"/>
              <a:t>The first LTS release was JDK 11. The second LTS release was JDK 17 and </a:t>
            </a:r>
            <a:r>
              <a:rPr lang="en-US"/>
              <a:t>the third was  </a:t>
            </a:r>
            <a:r>
              <a:rPr lang="en-US" dirty="0"/>
              <a:t>JDK 21.</a:t>
            </a:r>
          </a:p>
          <a:p>
            <a:pPr marL="0" indent="0">
              <a:buNone/>
            </a:pPr>
            <a:r>
              <a:rPr lang="en-US" dirty="0"/>
              <a:t>There are a number of new Java features on the horizon. Because of the faster release schedule, it is very likely that several of them will be added to Java over the next few years. </a:t>
            </a:r>
          </a:p>
          <a:p>
            <a:pPr marL="0" indent="0">
              <a:buNone/>
            </a:pPr>
            <a:r>
              <a:rPr lang="en-US" dirty="0"/>
              <a:t>But the basic Java language remains the same.  These are features that are being added.</a:t>
            </a:r>
          </a:p>
        </p:txBody>
      </p:sp>
    </p:spTree>
    <p:extLst>
      <p:ext uri="{BB962C8B-B14F-4D97-AF65-F5344CB8AC3E}">
        <p14:creationId xmlns:p14="http://schemas.microsoft.com/office/powerpoint/2010/main" val="102529927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TotalTime>
  <Words>361</Words>
  <Application>Microsoft Office PowerPoint</Application>
  <PresentationFormat>Widescreen</PresentationFormat>
  <Paragraphs>16</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Wingdings 3</vt:lpstr>
      <vt:lpstr>Wisp</vt:lpstr>
      <vt:lpstr>Java’s Release Schedule</vt:lpstr>
      <vt:lpstr>A recent Major Change in Java</vt:lpstr>
      <vt:lpstr>Feature Releases</vt:lpstr>
      <vt:lpstr>Long Term Support (LTS)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 Release Schedule</dc:title>
  <dc:creator>NELSON, IVONNE</dc:creator>
  <cp:lastModifiedBy>NELSON, IVONNE</cp:lastModifiedBy>
  <cp:revision>2</cp:revision>
  <dcterms:created xsi:type="dcterms:W3CDTF">2024-05-24T19:38:33Z</dcterms:created>
  <dcterms:modified xsi:type="dcterms:W3CDTF">2024-06-06T17:02:24Z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2024-05-24T19:48:32Z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10b879fa-8711-4f9e-9964-3d9d9df210a9</vt:lpwstr>
  </property>
  <property fmtid="{D5CDD505-2E9C-101B-9397-08002B2CF9AE}" pid="8" name="MSIP_Label_d8bb7484-22c2-4b98-9fb8-3ab13d821527_ContentBits">
    <vt:lpwstr>0</vt:lpwstr>
  </property>
</Properties>
</file>