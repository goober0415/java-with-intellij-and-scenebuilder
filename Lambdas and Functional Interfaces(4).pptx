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72" r:id="rId14"/>
    <p:sldId id="273" r:id="rId15"/>
    <p:sldId id="274" r:id="rId16"/>
    <p:sldId id="264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7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2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7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0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5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0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3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1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5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8836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49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9948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94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41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0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8AEC2-B5D7-4F5C-BE76-E9F4C1CF61C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0C4F5F2-8244-45AE-9272-023CD42CD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8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961F-E2BF-843C-D556-33DD3C15F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Lambdas and Functional Interfaces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40202-816B-3D9A-E487-D694BA11B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0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A60E-179E-35D0-F57B-B7B7DE57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9233-9E9D-91D6-ACD8-8B82924D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Lambda functions have been an addition that came with Java 8, and was the language's first step towards functional programming, following a general trend toward implementing useful features of various compatible paradigms.</a:t>
            </a:r>
          </a:p>
          <a:p>
            <a:pPr marL="0" lvl="0" indent="0">
              <a:buNone/>
            </a:pPr>
            <a:r>
              <a:rPr lang="en-US" sz="2400" dirty="0"/>
              <a:t>The motivation for introducing lambda functions was mainly to reduce the cumbersome repetitive code that went into passing along class instances to simulate anonymous functions of other languages.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437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DEC5-0256-1016-E966-7EE7DE7A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DFF89-0BA3-D16A-2B68-932E8B7D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Java is, primarily, an object-oriented programming language. </a:t>
            </a:r>
          </a:p>
          <a:p>
            <a:pPr marL="0" lvl="0" indent="0">
              <a:buNone/>
            </a:pPr>
            <a:r>
              <a:rPr lang="en-US" sz="2400" dirty="0"/>
              <a:t>In both object-oriented and functional languages, basic values can dynamically encapsulate program behavior: object-oriented languages have objects with methods, and functional languages have functions. </a:t>
            </a:r>
          </a:p>
          <a:p>
            <a:pPr marL="0" lvl="0" indent="0">
              <a:buNone/>
            </a:pPr>
            <a:r>
              <a:rPr lang="en-US" sz="2400" dirty="0"/>
              <a:t>This similarity may not be obvious, however, because Java objects tend to be relatively heavyweight: instantiations of separately-declared classes wrapping a handful of fields and many methods.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962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FA99-A8FD-4507-719B-7E1EDFB7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Lambdas and 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E475-DD58-7ECB-E24A-3A4396EB2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427" y="1264555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Functional programming is a more declarative style of programming. You focus on writing functions—methods with some specific restrictions—rather than on manipulating objects.</a:t>
            </a:r>
          </a:p>
          <a:p>
            <a:pPr marL="0" indent="0">
              <a:buNone/>
            </a:pPr>
            <a:r>
              <a:rPr lang="en-US" sz="2400" dirty="0"/>
              <a:t>Lambdas can be compact and powerful expressions. The basic syntax of a lambda expression is simple:</a:t>
            </a:r>
          </a:p>
          <a:p>
            <a:pPr marL="914400" lvl="2" indent="0">
              <a:buNone/>
            </a:pPr>
            <a:r>
              <a:rPr lang="en-US" sz="2400" b="1" dirty="0"/>
              <a:t>(params) -&gt; expression or block</a:t>
            </a:r>
          </a:p>
          <a:p>
            <a:pPr marL="0" indent="0">
              <a:buNone/>
            </a:pPr>
            <a:r>
              <a:rPr lang="en-US" sz="2400" dirty="0"/>
              <a:t>The “params” are zero or more named (and possibly typed) parameters that are passed to the expression on the right side of the new → operator. </a:t>
            </a:r>
          </a:p>
          <a:p>
            <a:pPr marL="0" indent="0">
              <a:buNone/>
            </a:pPr>
            <a:r>
              <a:rPr lang="en-US" sz="2400" dirty="0"/>
              <a:t>The expression (or block of statements inside the usual pair of curly braces) can return a value or execute some code.</a:t>
            </a:r>
          </a:p>
        </p:txBody>
      </p:sp>
    </p:spTree>
    <p:extLst>
      <p:ext uri="{BB962C8B-B14F-4D97-AF65-F5344CB8AC3E}">
        <p14:creationId xmlns:p14="http://schemas.microsoft.com/office/powerpoint/2010/main" val="413277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A977-32D4-3D95-7742-DD7C6E1F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140" y="248972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Lambdas are frequently used for Event Handling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46B6-1C11-9627-8D72-E75BBECCD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3323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Users typically instantiates event handling classed inline, anonymously:</a:t>
            </a:r>
          </a:p>
          <a:p>
            <a:pPr marL="0" indent="0">
              <a:buNone/>
            </a:pPr>
            <a:r>
              <a:rPr lang="en-US" sz="2400" b="1" dirty="0" err="1"/>
              <a:t>JButton</a:t>
            </a:r>
            <a:r>
              <a:rPr lang="en-US" sz="2400" b="1" dirty="0"/>
              <a:t> button = new </a:t>
            </a:r>
            <a:r>
              <a:rPr lang="en-US" sz="2400" b="1" dirty="0" err="1"/>
              <a:t>JButton”OK</a:t>
            </a:r>
            <a:r>
              <a:rPr lang="en-US" sz="2400" b="1" dirty="0"/>
              <a:t>”);</a:t>
            </a:r>
          </a:p>
          <a:p>
            <a:pPr marL="0" lvl="0" indent="0">
              <a:buNone/>
            </a:pPr>
            <a:r>
              <a:rPr lang="en-US" sz="2400" b="1" dirty="0" err="1"/>
              <a:t>button.addActionListener</a:t>
            </a:r>
            <a:r>
              <a:rPr lang="en-US" sz="2400" b="1" dirty="0"/>
              <a:t>(new ActionListener() { </a:t>
            </a:r>
          </a:p>
          <a:p>
            <a:pPr marL="457200" lvl="1" indent="0">
              <a:buNone/>
            </a:pPr>
            <a:r>
              <a:rPr lang="en-US" sz="2400" b="1" dirty="0"/>
              <a:t>	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e) { </a:t>
            </a:r>
          </a:p>
          <a:p>
            <a:pPr marL="914400" lvl="2" indent="0">
              <a:buNone/>
            </a:pPr>
            <a:r>
              <a:rPr lang="en-US" sz="2400" b="1" dirty="0"/>
              <a:t>		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(“OK pressed!”);</a:t>
            </a:r>
          </a:p>
          <a:p>
            <a:pPr marL="914400" lvl="2" indent="0">
              <a:buNone/>
            </a:pPr>
            <a:r>
              <a:rPr lang="en-US" sz="2400" b="1" dirty="0"/>
              <a:t>}</a:t>
            </a:r>
          </a:p>
          <a:p>
            <a:pPr marL="0" lvl="0" indent="0">
              <a:buNone/>
            </a:pPr>
            <a:r>
              <a:rPr lang="en-US" sz="2400" b="1" dirty="0"/>
              <a:t>});</a:t>
            </a:r>
          </a:p>
          <a:p>
            <a:pPr marL="0" lvl="0" indent="0">
              <a:buNone/>
            </a:pPr>
            <a:r>
              <a:rPr lang="en-US" sz="2400" dirty="0"/>
              <a:t>Many useful libraries rely on this pattern.  Given the increasing relevance of callbacks and other functional-style idioms, it is important that modeling code as data in Java be as lightweight as possible.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934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7E9E-1D19-A607-2CF0-57506F03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660" y="659279"/>
            <a:ext cx="9434952" cy="128089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Anonymous classes are not really perfect,</a:t>
            </a:r>
            <a:br>
              <a:rPr lang="en-US" b="1" dirty="0"/>
            </a:br>
            <a:r>
              <a:rPr lang="en-US" b="1" dirty="0"/>
              <a:t>for these reasons primarily: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F2D9-B4F9-A4A1-37DE-57A8618AB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sz="2400" b="0" i="0" baseline="0" dirty="0"/>
              <a:t>Bulky syntax </a:t>
            </a:r>
            <a:endParaRPr lang="en-US" sz="24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b="0" i="0" baseline="0" dirty="0"/>
              <a:t>Confusion surrounding the meaning of names and this </a:t>
            </a:r>
            <a:endParaRPr lang="en-US" sz="24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b="0" i="0" baseline="0" dirty="0"/>
              <a:t>Inflexible class-loading and instance-creation semantics </a:t>
            </a:r>
            <a:endParaRPr lang="en-US" sz="24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b="0" i="0" baseline="0" dirty="0"/>
              <a:t>Inability to capture non-final local variables </a:t>
            </a:r>
            <a:endParaRPr lang="en-US" sz="24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b="0" i="0" baseline="0" dirty="0"/>
              <a:t>Inability to abstract over control flow 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121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51DD-3483-1D47-1852-53F41D2A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SAM Types alias Functional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EC85-B5AA-E679-60F3-4682F3624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76400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anonymous inner class approach, despite its limitations, has the nice property of fitting very cleanly into Java's type system: a function value with an interface type.</a:t>
            </a:r>
          </a:p>
          <a:p>
            <a:pPr marL="0" lvl="0" indent="0">
              <a:buNone/>
            </a:pPr>
            <a:r>
              <a:rPr lang="en-US" sz="2400" dirty="0"/>
              <a:t>The interface ActionListener, used above, has just one method. Many common callback interfaces have this property, such as Runnable and Comparator. </a:t>
            </a:r>
          </a:p>
          <a:p>
            <a:pPr marL="0" lvl="0" indent="0">
              <a:buNone/>
            </a:pPr>
            <a:r>
              <a:rPr lang="en-US" sz="2400" dirty="0"/>
              <a:t>We'll give all interfaces that have just one method a name: functional interfaces. </a:t>
            </a:r>
          </a:p>
          <a:p>
            <a:pPr marL="0" lvl="0" indent="0">
              <a:buNone/>
            </a:pPr>
            <a:r>
              <a:rPr lang="en-US" sz="2400" dirty="0"/>
              <a:t>These were previously called SAM Types, which stood for "Single Abstract Method".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818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28FE-DB9C-70FD-C5E2-513CCAC0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Enter Lambda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68C9-85AC-3363-D5EB-976FA600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The biggest pain point for anonymous classes is bulkiness. </a:t>
            </a:r>
          </a:p>
          <a:p>
            <a:pPr marL="0" lvl="0" indent="0">
              <a:buNone/>
            </a:pPr>
            <a:r>
              <a:rPr lang="en-US" sz="2400" dirty="0"/>
              <a:t>They have what we might call a "vertical problem": the ActionListener instance from the example uses five lines of source code to encapsulate a </a:t>
            </a:r>
            <a:r>
              <a:rPr lang="en-US" sz="2400" b="1" dirty="0"/>
              <a:t>single </a:t>
            </a:r>
            <a:r>
              <a:rPr lang="en-US" sz="2400" dirty="0"/>
              <a:t>aspect of behavior.</a:t>
            </a:r>
          </a:p>
          <a:p>
            <a:pPr marL="0" lvl="0" indent="0">
              <a:buNone/>
            </a:pPr>
            <a:r>
              <a:rPr lang="en-US" sz="2400" dirty="0"/>
              <a:t>Lambda expressions are anonymous methods, aimed at addressing the "vertical problem" by replacing the machinery of anonymous inner classes with a </a:t>
            </a:r>
            <a:r>
              <a:rPr lang="en-US" sz="2400" b="1" dirty="0"/>
              <a:t>lighter-weight</a:t>
            </a:r>
            <a:r>
              <a:rPr lang="en-US" sz="2400" dirty="0"/>
              <a:t> mechanism.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671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6EFA-E1F1-8ACF-F563-007FC7B0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479" y="342756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Let’s use a Java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53F2-30E0-5DFF-6E4B-D4660A2A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1086" y="1405232"/>
            <a:ext cx="9750914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We’ll use the ActionListener Interface that is used to handle many events.  Here is the interface:</a:t>
            </a:r>
          </a:p>
          <a:p>
            <a:pPr marL="0" indent="0">
              <a:buNone/>
            </a:pPr>
            <a:r>
              <a:rPr lang="en-US" sz="2400" b="1" dirty="0"/>
              <a:t>public interface ActionListener {</a:t>
            </a:r>
          </a:p>
          <a:p>
            <a:pPr marL="0" indent="0">
              <a:buNone/>
            </a:pPr>
            <a:r>
              <a:rPr lang="en-US" sz="2400" b="1" dirty="0"/>
              <a:t>   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event);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  <a:p>
            <a:pPr marL="0" indent="0">
              <a:buNone/>
            </a:pPr>
            <a:r>
              <a:rPr lang="en-US" sz="2400" dirty="0"/>
              <a:t>What do we do to use it to handle a click event?</a:t>
            </a:r>
          </a:p>
        </p:txBody>
      </p:sp>
    </p:spTree>
    <p:extLst>
      <p:ext uri="{BB962C8B-B14F-4D97-AF65-F5344CB8AC3E}">
        <p14:creationId xmlns:p14="http://schemas.microsoft.com/office/powerpoint/2010/main" val="132716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5686-C90E-8807-6089-DFDC26A0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Steps to use the Interface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A9DE4-12BC-0D23-A154-EC87D6AEA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612207"/>
            <a:ext cx="9446675" cy="5152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 Implement the interface with a class: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class </a:t>
            </a:r>
            <a:r>
              <a:rPr lang="en-US" sz="2400" b="1" dirty="0" err="1"/>
              <a:t>ClickAction</a:t>
            </a:r>
            <a:r>
              <a:rPr lang="en-US" sz="2400" b="1" dirty="0"/>
              <a:t> implements ActionListener {</a:t>
            </a:r>
          </a:p>
          <a:p>
            <a:pPr marL="0" indent="0">
              <a:buNone/>
            </a:pPr>
            <a:r>
              <a:rPr lang="en-US" sz="2400" b="1" dirty="0"/>
              <a:t>    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event) {</a:t>
            </a:r>
          </a:p>
          <a:p>
            <a:pPr marL="0" indent="0">
              <a:buNone/>
            </a:pPr>
            <a:r>
              <a:rPr lang="en-US" sz="2400" b="1" dirty="0"/>
              <a:t>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("Thanks for clicking!");</a:t>
            </a:r>
          </a:p>
          <a:p>
            <a:pPr marL="0" indent="0">
              <a:buNone/>
            </a:pPr>
            <a:r>
              <a:rPr lang="en-US" sz="2400" b="1" dirty="0"/>
              <a:t>    }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  <a:p>
            <a:pPr marL="0" indent="0">
              <a:buNone/>
            </a:pPr>
            <a:r>
              <a:rPr lang="en-US" sz="2400" dirty="0"/>
              <a:t> Make an object of that class and add it to the button object:</a:t>
            </a:r>
          </a:p>
          <a:p>
            <a:pPr marL="0" indent="0">
              <a:buNone/>
            </a:pPr>
            <a:r>
              <a:rPr lang="en-US" sz="2400" b="1" dirty="0"/>
              <a:t>var button = new </a:t>
            </a:r>
            <a:r>
              <a:rPr lang="en-US" sz="2400" b="1" dirty="0" err="1"/>
              <a:t>JButton</a:t>
            </a:r>
            <a:r>
              <a:rPr lang="en-US" sz="2400" b="1" dirty="0"/>
              <a:t>("Click me!");</a:t>
            </a:r>
          </a:p>
          <a:p>
            <a:pPr marL="0" indent="0">
              <a:buNone/>
            </a:pPr>
            <a:r>
              <a:rPr lang="en-US" sz="2400" b="1" dirty="0" err="1"/>
              <a:t>button.addActionListener</a:t>
            </a:r>
            <a:r>
              <a:rPr lang="en-US" sz="2400" b="1" dirty="0"/>
              <a:t>(new </a:t>
            </a:r>
            <a:r>
              <a:rPr lang="en-US" sz="2400" b="1" dirty="0" err="1"/>
              <a:t>ClickAction</a:t>
            </a:r>
            <a:r>
              <a:rPr lang="en-US" sz="2400" b="1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36121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9F76-EF22-8F1D-F1F0-143591A8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 could shorten this process with an Anonymous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11EEE-6733-677F-B119-BE38A33B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Here is our anonymous class implementation:</a:t>
            </a:r>
          </a:p>
          <a:p>
            <a:pPr marL="0" indent="0">
              <a:buNone/>
            </a:pPr>
            <a:r>
              <a:rPr lang="en-US" sz="2400" b="1" dirty="0"/>
              <a:t>    var button = new </a:t>
            </a:r>
            <a:r>
              <a:rPr lang="en-US" sz="2400" b="1" dirty="0" err="1"/>
              <a:t>JButton</a:t>
            </a:r>
            <a:r>
              <a:rPr lang="en-US" sz="2400" b="1" dirty="0"/>
              <a:t>(“Click me”);</a:t>
            </a:r>
          </a:p>
          <a:p>
            <a:pPr marL="0" indent="0">
              <a:buNone/>
            </a:pPr>
            <a:r>
              <a:rPr lang="en-US" sz="2400" b="1" dirty="0"/>
              <a:t>    </a:t>
            </a:r>
            <a:r>
              <a:rPr lang="en-US" sz="2400" b="1" dirty="0" err="1"/>
              <a:t>button.addActionListener</a:t>
            </a:r>
            <a:r>
              <a:rPr lang="en-US" sz="2400" b="1" dirty="0"/>
              <a:t>(new ActionListener() {</a:t>
            </a:r>
          </a:p>
          <a:p>
            <a:pPr marL="0" indent="0">
              <a:buNone/>
            </a:pPr>
            <a:r>
              <a:rPr lang="en-US" sz="2400" b="1" dirty="0"/>
              <a:t>        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ae) {</a:t>
            </a:r>
          </a:p>
          <a:p>
            <a:pPr marL="0" indent="0">
              <a:buNone/>
            </a:pPr>
            <a:r>
              <a:rPr lang="en-US" sz="2400" b="1" dirty="0"/>
              <a:t>    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(“Thanks for clicking!”);</a:t>
            </a:r>
          </a:p>
          <a:p>
            <a:pPr marL="0" indent="0">
              <a:buNone/>
            </a:pPr>
            <a:r>
              <a:rPr lang="en-US" sz="2400" b="1" dirty="0"/>
              <a:t>        }</a:t>
            </a:r>
          </a:p>
          <a:p>
            <a:pPr marL="0" indent="0">
              <a:buNone/>
            </a:pPr>
            <a:r>
              <a:rPr lang="en-US" sz="2400" b="1" dirty="0"/>
              <a:t>    });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758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DEAF-CB8B-FDBC-C078-AE080B4E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Syntax of a Lambda Expression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9CAA-E733-C7D7-0A1E-568C9D0C6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20" y="1540189"/>
            <a:ext cx="8915400" cy="377762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b="1" dirty="0"/>
              <a:t>(int x, int y) -&gt; x + y</a:t>
            </a:r>
          </a:p>
          <a:p>
            <a:pPr marL="0" lvl="0" indent="0">
              <a:buNone/>
            </a:pPr>
            <a:r>
              <a:rPr lang="en-US" sz="2400" b="1" dirty="0"/>
              <a:t>() -&gt; 42</a:t>
            </a:r>
          </a:p>
          <a:p>
            <a:pPr marL="0" lvl="0" indent="0">
              <a:buNone/>
            </a:pPr>
            <a:r>
              <a:rPr lang="en-US" sz="2400" b="1" dirty="0"/>
              <a:t>(String s) -&gt; { </a:t>
            </a:r>
            <a:r>
              <a:rPr lang="en-US" sz="2400" b="1" dirty="0" err="1"/>
              <a:t>System.out.println</a:t>
            </a:r>
            <a:r>
              <a:rPr lang="en-US" sz="2400" b="1" dirty="0"/>
              <a:t>(s); }</a:t>
            </a:r>
          </a:p>
          <a:p>
            <a:pPr marL="0" indent="0">
              <a:buNone/>
            </a:pPr>
            <a:r>
              <a:rPr lang="en-US" sz="2400" dirty="0"/>
              <a:t>The first expression takes two integer arguments, named x and y, and returns their sum. </a:t>
            </a:r>
          </a:p>
          <a:p>
            <a:pPr marL="0" indent="0">
              <a:buNone/>
            </a:pPr>
            <a:r>
              <a:rPr lang="en-US" sz="2400" dirty="0"/>
              <a:t>The second takes no arguments and returns the integer 42.</a:t>
            </a:r>
          </a:p>
          <a:p>
            <a:pPr marL="0" indent="0">
              <a:buNone/>
            </a:pPr>
            <a:r>
              <a:rPr lang="en-US" sz="2400" dirty="0"/>
              <a:t>The third takes a string and prints it to the console, returning nothing.</a:t>
            </a:r>
          </a:p>
          <a:p>
            <a:pPr marL="0" indent="0">
              <a:buNone/>
            </a:pPr>
            <a:r>
              <a:rPr lang="en-US" sz="2400" dirty="0"/>
              <a:t>The general syntax consists of an argument list, the arrow token -&gt;, and a body. The body can either be a single expression, or a statement block.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6139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2DDF-90A4-48A2-8D85-5100D62D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05E5-C9FA-48CA-B4CA-0D97BB2F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8707" y="1441142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compiler is responsible for inferring the type of each lambda expression. </a:t>
            </a:r>
          </a:p>
          <a:p>
            <a:pPr marL="0" indent="0">
              <a:buNone/>
            </a:pPr>
            <a:r>
              <a:rPr lang="en-US" sz="2400" dirty="0"/>
              <a:t>It uses the type expected in the context in which the expression appears; this type is called the target type. A lambda expression can only appear in a context whose target type is a functional interface.</a:t>
            </a:r>
          </a:p>
          <a:p>
            <a:pPr marL="0" indent="0">
              <a:buNone/>
            </a:pPr>
            <a:r>
              <a:rPr lang="en-US" sz="2400" dirty="0"/>
              <a:t>Of course, no lambda expression will be compatible with every possible target type. The compiler checks that the types used by the lambda expression are consistent with the target type's method signature.</a:t>
            </a:r>
          </a:p>
          <a:p>
            <a:pPr marL="0" indent="0">
              <a:buNone/>
            </a:pPr>
            <a:r>
              <a:rPr lang="en-US" sz="2400" dirty="0"/>
              <a:t>Since a functional interface target type already "knows" what types the lambda expression's formal parameters should have, it is often unnecessary to repeat them.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7017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8CAD-B9AF-49CC-8D78-982F92E1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Comparator Interface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AAD5-222F-411D-A1E9-013BDFAC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026" y="1627573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Since a functional interface target type already "knows" what types the lambda expression's formal parameters should have, it is often unnecessary to repeat them. </a:t>
            </a:r>
          </a:p>
          <a:p>
            <a:pPr marL="0" indent="0">
              <a:buNone/>
            </a:pPr>
            <a:r>
              <a:rPr lang="en-US" sz="2400" dirty="0"/>
              <a:t>The use of target typing enables the lambda parameters' types to be inferred.</a:t>
            </a:r>
          </a:p>
          <a:p>
            <a:pPr marL="0" indent="0">
              <a:buNone/>
            </a:pPr>
            <a:r>
              <a:rPr lang="en-US" sz="2400" dirty="0"/>
              <a:t>A comparator interface is used to order the objects of user-defined classes. A comparator object is capable of comparing two objects of the same class using the compare method.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/>
              <a:t>Comparator&lt;String&gt; c = (s1, s2) -&gt; s1.compareToIgnoreCase(s2);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397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EBA9-B2C3-407D-9332-2B8414D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965" y="178007"/>
            <a:ext cx="8911687" cy="692005"/>
          </a:xfrm>
        </p:spPr>
        <p:txBody>
          <a:bodyPr/>
          <a:lstStyle/>
          <a:p>
            <a:pPr algn="ctr"/>
            <a:r>
              <a:rPr lang="en-US" b="1" dirty="0"/>
              <a:t>The Long Version vs Using  a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F060-953E-4460-B212-C379B5C0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641" y="1458897"/>
            <a:ext cx="10061359" cy="50661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/>
              <a:t>The Long Version</a:t>
            </a:r>
          </a:p>
          <a:p>
            <a:pPr marL="0" indent="0">
              <a:buNone/>
            </a:pPr>
            <a:r>
              <a:rPr lang="en-US" sz="2400" b="1" dirty="0"/>
              <a:t>Comparator&lt;String&gt; comp = new Comparator&lt;String&gt;()</a:t>
            </a:r>
          </a:p>
          <a:p>
            <a:pPr marL="0" indent="0">
              <a:buNone/>
            </a:pPr>
            <a:r>
              <a:rPr lang="en-US" sz="2400" b="1" dirty="0"/>
              <a:t>{</a:t>
            </a:r>
          </a:p>
          <a:p>
            <a:pPr marL="0" indent="0">
              <a:buNone/>
            </a:pPr>
            <a:r>
              <a:rPr lang="en-US" sz="2400" b="1" dirty="0"/>
              <a:t>    @Override</a:t>
            </a:r>
          </a:p>
          <a:p>
            <a:pPr marL="0" indent="0">
              <a:buNone/>
            </a:pPr>
            <a:r>
              <a:rPr lang="en-US" sz="2400" b="1" dirty="0"/>
              <a:t>    public int compare(String s1, String s2) {</a:t>
            </a:r>
          </a:p>
          <a:p>
            <a:pPr marL="0" indent="0">
              <a:buNone/>
            </a:pPr>
            <a:r>
              <a:rPr lang="en-US" sz="2400" b="1" dirty="0"/>
              <a:t>        return s1. </a:t>
            </a:r>
            <a:r>
              <a:rPr lang="en-US" sz="2400" b="1" dirty="0" err="1"/>
              <a:t>compareToIgnoreCase</a:t>
            </a:r>
            <a:r>
              <a:rPr lang="en-US" sz="2400" b="1" dirty="0"/>
              <a:t>( s2);</a:t>
            </a:r>
          </a:p>
          <a:p>
            <a:pPr marL="0" indent="0">
              <a:buNone/>
            </a:pPr>
            <a:r>
              <a:rPr lang="en-US" sz="2400" b="1" dirty="0"/>
              <a:t>    }</a:t>
            </a:r>
          </a:p>
          <a:p>
            <a:pPr marL="0" indent="0">
              <a:buNone/>
            </a:pPr>
            <a:r>
              <a:rPr lang="en-US" sz="2400" b="1" dirty="0"/>
              <a:t>};</a:t>
            </a:r>
          </a:p>
          <a:p>
            <a:pPr marL="0" indent="0">
              <a:buNone/>
            </a:pPr>
            <a:r>
              <a:rPr lang="en-US" sz="2400" b="1" u="sng" dirty="0"/>
              <a:t>The Short Version with lambdas</a:t>
            </a:r>
          </a:p>
          <a:p>
            <a:pPr marL="0" indent="0">
              <a:buNone/>
            </a:pPr>
            <a:r>
              <a:rPr lang="en-US" sz="2400" b="1" dirty="0"/>
              <a:t> Comparator&lt;String&gt; c = (s1, s2) -&gt; s1.compareToIgnoreCase(s2);</a:t>
            </a:r>
          </a:p>
        </p:txBody>
      </p:sp>
    </p:spTree>
    <p:extLst>
      <p:ext uri="{BB962C8B-B14F-4D97-AF65-F5344CB8AC3E}">
        <p14:creationId xmlns:p14="http://schemas.microsoft.com/office/powerpoint/2010/main" val="1403918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7F1E-B631-2531-6C10-936BEF5A5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34" y="259299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Implement the ActionListener with a Lambda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66442-B6F9-026C-C7DE-E04F5805D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34" y="1773259"/>
            <a:ext cx="9309711" cy="4825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still need to create the Button object.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JButton</a:t>
            </a:r>
            <a:r>
              <a:rPr lang="en-US" sz="2400" b="1" dirty="0"/>
              <a:t> button = new </a:t>
            </a:r>
            <a:r>
              <a:rPr lang="en-US" sz="2400" b="1" dirty="0" err="1"/>
              <a:t>JButton</a:t>
            </a:r>
            <a:r>
              <a:rPr lang="en-US" sz="2400" b="1" dirty="0"/>
              <a:t>(“Click me!");</a:t>
            </a:r>
          </a:p>
          <a:p>
            <a:pPr marL="0" indent="0">
              <a:buNone/>
            </a:pPr>
            <a:r>
              <a:rPr lang="en-US" sz="2400" b="1" dirty="0"/>
              <a:t>    </a:t>
            </a:r>
            <a:r>
              <a:rPr lang="en-US" sz="2400" b="1" dirty="0" err="1"/>
              <a:t>button.addActionListener</a:t>
            </a:r>
            <a:r>
              <a:rPr lang="en-US" sz="2400" b="1" dirty="0"/>
              <a:t>(ae -&gt; 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(“Thanks for clicking!"));</a:t>
            </a:r>
          </a:p>
          <a:p>
            <a:pPr marL="0" lvl="0" indent="0">
              <a:buNone/>
            </a:pPr>
            <a:r>
              <a:rPr lang="en-US" sz="2400" dirty="0"/>
              <a:t>Note that the name of a functional interface is not part of the lambda expression syntax. </a:t>
            </a:r>
          </a:p>
          <a:p>
            <a:pPr marL="0" lvl="0" indent="0">
              <a:buNone/>
            </a:pPr>
            <a:r>
              <a:rPr lang="en-US" sz="2400" dirty="0"/>
              <a:t>So what kind of object does a lambda expression represent? Its type is inferred from the surrounding context – the target type.</a:t>
            </a:r>
          </a:p>
          <a:p>
            <a:pPr marL="0" indent="0">
              <a:buNone/>
            </a:pPr>
            <a:r>
              <a:rPr lang="en-US" sz="2400" dirty="0"/>
              <a:t>The compiler uses the type expected in the context in which the expression appears (target type).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09552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A8D-4844-5A50-3693-E19DA8FB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About Lambdas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42B0-C49C-E075-4A82-C6201CC13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602" y="1418491"/>
            <a:ext cx="8915400" cy="4958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Since a functional interface target type already "knows" what types the lambda expression's formal parameters should have, it is often unnecessary to repeat them. </a:t>
            </a:r>
          </a:p>
          <a:p>
            <a:pPr marL="0" indent="0">
              <a:buNone/>
            </a:pPr>
            <a:r>
              <a:rPr lang="en-US" sz="2000" dirty="0"/>
              <a:t>The use of target typing enables the lambda parameters' types to be inferred.</a:t>
            </a:r>
          </a:p>
          <a:p>
            <a:pPr marL="0" indent="0">
              <a:buNone/>
            </a:pPr>
            <a:r>
              <a:rPr lang="en-US" sz="2000" dirty="0"/>
              <a:t>Lambdas do not inherit from a supertype nor are they a new level of scoping. Names in the body of the lambda are interpreted as they are in the enclosing environment.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i="1" dirty="0"/>
              <a:t>this</a:t>
            </a:r>
            <a:r>
              <a:rPr lang="en-US" sz="2000" dirty="0"/>
              <a:t> keyword and references to its members have the same meaning as they would immediately outside the lambda expression.</a:t>
            </a:r>
          </a:p>
          <a:p>
            <a:pPr marL="0" indent="0">
              <a:buNone/>
            </a:pPr>
            <a:r>
              <a:rPr lang="en-US" sz="2000" dirty="0"/>
              <a:t>Consequently, the parameters of a lambda expression must not shadow any local variables in the enclosing context.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22052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</TotalTime>
  <Words>1341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Noto serif</vt:lpstr>
      <vt:lpstr>Wingdings</vt:lpstr>
      <vt:lpstr>Wingdings 3</vt:lpstr>
      <vt:lpstr>Wisp</vt:lpstr>
      <vt:lpstr>Lambdas and Functional Interfaces</vt:lpstr>
      <vt:lpstr>Introduction</vt:lpstr>
      <vt:lpstr>Background</vt:lpstr>
      <vt:lpstr>Lambdas and Functional Programming</vt:lpstr>
      <vt:lpstr>Lambdas are frequently used for Event Handling Code</vt:lpstr>
      <vt:lpstr>Anonymous classes are not really perfect, for these reasons primarily:</vt:lpstr>
      <vt:lpstr>SAM Types alias Functional Interfaces</vt:lpstr>
      <vt:lpstr>Enter Lambda Expressions</vt:lpstr>
      <vt:lpstr>Let’s use a Java Interface</vt:lpstr>
      <vt:lpstr>The Steps to use the Interface Callback</vt:lpstr>
      <vt:lpstr>We could shorten this process with an Anonymous class </vt:lpstr>
      <vt:lpstr>The Syntax of a Lambda Expression</vt:lpstr>
      <vt:lpstr>Type Inference</vt:lpstr>
      <vt:lpstr>Comparator Interface Example</vt:lpstr>
      <vt:lpstr>The Long Version vs Using  a lambda</vt:lpstr>
      <vt:lpstr>Implement the ActionListener with a Lambda Expression</vt:lpstr>
      <vt:lpstr>About Lambdas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Lambdas and Functional Interfaces</dc:title>
  <dc:creator>Ivonne Nelson</dc:creator>
  <cp:lastModifiedBy>Ivonne Nelson</cp:lastModifiedBy>
  <cp:revision>6</cp:revision>
  <dcterms:created xsi:type="dcterms:W3CDTF">2022-12-27T16:48:07Z</dcterms:created>
  <dcterms:modified xsi:type="dcterms:W3CDTF">2025-02-13T23:46:44Z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2024-06-10T22:15:27Z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5bcd888b-103c-4334-a064-bda99157bd5f</vt:lpwstr>
  </property>
  <property fmtid="{D5CDD505-2E9C-101B-9397-08002B2CF9AE}" pid="8" name="MSIP_Label_d8bb7484-22c2-4b98-9fb8-3ab13d821527_ContentBits">
    <vt:lpwstr>0</vt:lpwstr>
  </property>
</Properties>
</file>